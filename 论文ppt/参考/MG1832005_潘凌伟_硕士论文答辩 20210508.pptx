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63" r:id="rId5"/>
    <p:sldId id="302" r:id="rId6"/>
    <p:sldId id="303" r:id="rId7"/>
    <p:sldId id="304" r:id="rId8"/>
    <p:sldId id="305" r:id="rId9"/>
    <p:sldId id="323" r:id="rId10"/>
    <p:sldId id="306" r:id="rId11"/>
    <p:sldId id="322" r:id="rId12"/>
    <p:sldId id="308" r:id="rId13"/>
    <p:sldId id="307" r:id="rId14"/>
    <p:sldId id="309" r:id="rId15"/>
    <p:sldId id="324" r:id="rId16"/>
    <p:sldId id="325" r:id="rId17"/>
    <p:sldId id="326" r:id="rId18"/>
    <p:sldId id="311" r:id="rId19"/>
    <p:sldId id="310" r:id="rId20"/>
    <p:sldId id="328" r:id="rId21"/>
    <p:sldId id="329" r:id="rId22"/>
    <p:sldId id="330" r:id="rId23"/>
    <p:sldId id="314" r:id="rId24"/>
    <p:sldId id="312" r:id="rId25"/>
    <p:sldId id="315" r:id="rId26"/>
    <p:sldId id="331" r:id="rId27"/>
    <p:sldId id="332" r:id="rId28"/>
    <p:sldId id="336" r:id="rId29"/>
    <p:sldId id="333" r:id="rId30"/>
    <p:sldId id="316" r:id="rId31"/>
    <p:sldId id="335" r:id="rId32"/>
    <p:sldId id="334" r:id="rId33"/>
    <p:sldId id="318" r:id="rId34"/>
    <p:sldId id="337" r:id="rId35"/>
    <p:sldId id="319" r:id="rId36"/>
    <p:sldId id="320" r:id="rId37"/>
    <p:sldId id="321" r:id="rId38"/>
    <p:sldId id="271"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0F6D"/>
    <a:srgbClr val="F902FC"/>
    <a:srgbClr val="D518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7959" autoAdjust="0"/>
  </p:normalViewPr>
  <p:slideViewPr>
    <p:cSldViewPr snapToGrid="0">
      <p:cViewPr varScale="1">
        <p:scale>
          <a:sx n="89" d="100"/>
          <a:sy n="89" d="100"/>
        </p:scale>
        <p:origin x="13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5E79B3-641F-4835-B40E-968E608AC82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BFC682-73AF-47D0-AE06-BC0CBCFC170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老师</a:t>
            </a:r>
            <a:r>
              <a:rPr lang="zh-CN" altLang="en-US" sz="1200" kern="1200" dirty="0">
                <a:solidFill>
                  <a:schemeClr val="tx1"/>
                </a:solidFill>
                <a:effectLst/>
                <a:latin typeface="+mn-lt"/>
                <a:ea typeface="+mn-ea"/>
                <a:cs typeface="+mn-cs"/>
              </a:rPr>
              <a:t>同学</a:t>
            </a:r>
            <a:r>
              <a:rPr lang="zh-CN" altLang="zh-CN" sz="1200" kern="1200" dirty="0">
                <a:solidFill>
                  <a:schemeClr val="tx1"/>
                </a:solidFill>
                <a:effectLst/>
                <a:latin typeface="+mn-lt"/>
                <a:ea typeface="+mn-ea"/>
                <a:cs typeface="+mn-cs"/>
              </a:rPr>
              <a:t>们好，我是</a:t>
            </a:r>
            <a:r>
              <a:rPr lang="en-US" altLang="zh-CN" sz="1200" kern="1200" dirty="0">
                <a:solidFill>
                  <a:schemeClr val="tx1"/>
                </a:solidFill>
                <a:effectLst/>
                <a:latin typeface="+mn-lt"/>
                <a:ea typeface="+mn-ea"/>
                <a:cs typeface="+mn-cs"/>
              </a:rPr>
              <a:t>2018</a:t>
            </a:r>
            <a:r>
              <a:rPr lang="zh-CN" altLang="zh-CN" sz="1200" kern="1200" dirty="0">
                <a:solidFill>
                  <a:schemeClr val="tx1"/>
                </a:solidFill>
                <a:effectLst/>
                <a:latin typeface="+mn-lt"/>
                <a:ea typeface="+mn-ea"/>
                <a:cs typeface="+mn-cs"/>
              </a:rPr>
              <a:t>级</a:t>
            </a:r>
            <a:r>
              <a:rPr lang="zh-CN" altLang="en-US" sz="1200" kern="1200" dirty="0">
                <a:solidFill>
                  <a:schemeClr val="tx1"/>
                </a:solidFill>
                <a:effectLst/>
                <a:latin typeface="+mn-lt"/>
                <a:ea typeface="+mn-ea"/>
                <a:cs typeface="+mn-cs"/>
              </a:rPr>
              <a:t>研究生</a:t>
            </a:r>
            <a:r>
              <a:rPr lang="zh-CN" altLang="zh-CN" sz="1200" kern="1200" dirty="0">
                <a:solidFill>
                  <a:schemeClr val="tx1"/>
                </a:solidFill>
                <a:effectLst/>
                <a:latin typeface="+mn-lt"/>
                <a:ea typeface="+mn-ea"/>
                <a:cs typeface="+mn-cs"/>
              </a:rPr>
              <a:t>潘凌伟，我的论文题目是</a:t>
            </a:r>
            <a:r>
              <a:rPr lang="zh-CN" altLang="en-US" sz="1200" kern="1200" dirty="0">
                <a:solidFill>
                  <a:schemeClr val="tx1"/>
                </a:solidFill>
                <a:effectLst/>
                <a:latin typeface="+mn-lt"/>
                <a:ea typeface="+mn-ea"/>
                <a:cs typeface="+mn-cs"/>
              </a:rPr>
              <a:t>基于轮廓检测的可迁移模型图片识别技术</a:t>
            </a:r>
            <a:r>
              <a:rPr lang="zh-CN" altLang="zh-CN" sz="1200" kern="1200" dirty="0">
                <a:solidFill>
                  <a:schemeClr val="tx1"/>
                </a:solidFill>
                <a:effectLst/>
                <a:latin typeface="+mn-lt"/>
                <a:ea typeface="+mn-ea"/>
                <a:cs typeface="+mn-cs"/>
              </a:rPr>
              <a:t>，指导老师是葛季栋副教授</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我的介绍包括</a:t>
            </a:r>
            <a:r>
              <a:rPr lang="zh-CN" altLang="en-US" sz="1200" kern="1200" dirty="0">
                <a:solidFill>
                  <a:schemeClr val="tx1"/>
                </a:solidFill>
                <a:effectLst/>
                <a:latin typeface="+mn-lt"/>
                <a:ea typeface="+mn-ea"/>
                <a:cs typeface="+mn-cs"/>
              </a:rPr>
              <a:t>五</a:t>
            </a:r>
            <a:r>
              <a:rPr lang="zh-CN" altLang="zh-CN" sz="1200" kern="1200" dirty="0">
                <a:solidFill>
                  <a:schemeClr val="tx1"/>
                </a:solidFill>
                <a:effectLst/>
                <a:latin typeface="+mn-lt"/>
                <a:ea typeface="+mn-ea"/>
                <a:cs typeface="+mn-cs"/>
              </a:rPr>
              <a:t>个部分，</a:t>
            </a:r>
            <a:r>
              <a:rPr lang="zh-CN" altLang="en-US" sz="1200" kern="1200" dirty="0">
                <a:solidFill>
                  <a:schemeClr val="tx1"/>
                </a:solidFill>
                <a:effectLst/>
                <a:latin typeface="+mn-lt"/>
                <a:ea typeface="+mn-ea"/>
                <a:cs typeface="+mn-cs"/>
              </a:rPr>
              <a:t>研究背景与问题，问题分析与方法，方法流程与细节，实验评估与结果，研究总结与展望</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在现代软件工程中，可视化模型扮演着越来越重要的角色，它们具有出色的表达和抽象能力，架起了用户需求与软件开发间的桥梁。</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常见的模型图有很多，例如流程图，</a:t>
            </a:r>
            <a:r>
              <a:rPr lang="en-US" altLang="zh-CN" sz="1200" kern="1200" dirty="0">
                <a:solidFill>
                  <a:schemeClr val="tx1"/>
                </a:solidFill>
                <a:effectLst/>
                <a:latin typeface="+mn-lt"/>
                <a:ea typeface="+mn-ea"/>
                <a:cs typeface="+mn-cs"/>
              </a:rPr>
              <a:t>UML</a:t>
            </a:r>
            <a:r>
              <a:rPr lang="zh-CN" altLang="zh-CN" sz="1200" kern="1200" dirty="0">
                <a:solidFill>
                  <a:schemeClr val="tx1"/>
                </a:solidFill>
                <a:effectLst/>
                <a:latin typeface="+mn-lt"/>
                <a:ea typeface="+mn-ea"/>
                <a:cs typeface="+mn-cs"/>
              </a:rPr>
              <a:t>模型图，业务过程模型图等，它们都是由相应的建模标记绘制的</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随着建模工具的不断优化，模型的绘制也变得越来越简单和规范。</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一方面模型图片简洁明了，对阅读者来说是十分友好的。</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但从另一方面说，计算机不能直接解析图片中的模型语义，</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所以开发者复用模型时，要依据已有模型图片重新绘制修改模型，从而得到需要的定义文件来进行应用。</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因此我们需要一种自动化的模型图片识别方法。</a:t>
            </a:r>
            <a:endParaRPr lang="en-US" altLang="zh-CN" sz="1200" b="0" i="0" u="none" strike="noStrike" kern="1200" baseline="0" dirty="0">
              <a:solidFill>
                <a:schemeClr val="tx1"/>
              </a:solidFill>
              <a:latin typeface="+mn-lt"/>
              <a:ea typeface="+mn-ea"/>
              <a:cs typeface="+mn-cs"/>
            </a:endParaRPr>
          </a:p>
          <a:p>
            <a:endParaRPr lang="en-US" altLang="zh-CN" sz="1200" b="0" i="0" u="none" strike="noStrike" kern="1200" baseline="0" dirty="0">
              <a:solidFill>
                <a:schemeClr val="tx1"/>
              </a:solidFill>
              <a:latin typeface="+mn-lt"/>
              <a:ea typeface="+mn-ea"/>
              <a:cs typeface="+mn-cs"/>
            </a:endParaRPr>
          </a:p>
          <a:p>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这里展示了一些典型的模型图片，从这些示例中我们可以发现</a:t>
            </a:r>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模型图多是箭头连接的网络状图片，元素符号是闭合图形，同类符号标记大小基本一致，形状规范，符号间连接紧密。</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但不同模型也有一些差异，有的会用大的矩形框将元素分组，例如</a:t>
            </a:r>
            <a:r>
              <a:rPr lang="en-US" altLang="zh-CN" sz="1200" kern="1200" dirty="0">
                <a:solidFill>
                  <a:schemeClr val="tx1"/>
                </a:solidFill>
                <a:effectLst/>
                <a:latin typeface="+mn-lt"/>
                <a:ea typeface="+mn-ea"/>
                <a:cs typeface="+mn-cs"/>
              </a:rPr>
              <a:t>BPMN</a:t>
            </a:r>
            <a:r>
              <a:rPr lang="zh-CN" altLang="zh-CN" sz="1200" kern="1200" dirty="0">
                <a:solidFill>
                  <a:schemeClr val="tx1"/>
                </a:solidFill>
                <a:effectLst/>
                <a:latin typeface="+mn-lt"/>
                <a:ea typeface="+mn-ea"/>
                <a:cs typeface="+mn-cs"/>
              </a:rPr>
              <a:t>中的泳池</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而我们的研究目标，就是从模型图片中识别出图形符号元素的信息，解析模型语义，并将其保存成对应模型的定义文件，从而更好地对模型进行复用和管理。</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我们的输入是一张模型图片，输出的是图片对应模型的定义文件</a:t>
            </a:r>
            <a:endParaRPr lang="zh-CN"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要从图片中识别完整的模型语义，有几个难点</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首先是要对图片中的图形元素进行定位，确定每一个元素的大小，位置，以及它们之间的嵌套关系</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其次我们要对定位出的元素进行分类，符号的类别就是它在模型中的语义，在模型图片中使用的元素标记种类很多，部分标记之间还十分相似</a:t>
            </a:r>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图形元素识别完成后只是获得了一堆离散的符号，为了理清模型的结构和逻辑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就需要我们去识别模型元素之间连接线的路径以及每条连接线指向的方向，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最后我们还要识别出图片中的文字来对模型的细节进行补充</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然而我们在复用模型的时候往往只是复用它的逻辑结构，其中的细节信息往往需要根据应用场景进行适配，而且图片文本识别本身也是一个比较复杂的研究领域，它不是我们研究的重点</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对于模型图片中的元素符号定位与分类，就是计算机视觉中的目标检测任务。</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在传统的图片识别中，研究者更多是基于人工定义的描述子来表示图形并分类，而近年来，深度卷积神经网络因其极佳的特征提取能力，成为主流的图像领域特征提取方法</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而基于它的目标检测系统就能准确定位并识别图片中的对象</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但是，目标检测系统并不能检测模型图片中的连接线。不能判断连接线的路径和方向，所以不能直接应用在模型图片的识别上。</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基于现有的研究，我们提出了一种基于轮廓检测的可迁移模型图片识别方法，方法的总体流程如图所示，</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主要包括六个模块，主要的是符号元素定位，连接关系检测</a:t>
            </a:r>
            <a:r>
              <a:rPr lang="zh-CN" altLang="en-US" sz="1200" kern="1200" dirty="0">
                <a:solidFill>
                  <a:schemeClr val="tx1"/>
                </a:solidFill>
                <a:effectLst/>
                <a:latin typeface="+mn-lt"/>
                <a:ea typeface="+mn-ea"/>
                <a:cs typeface="+mn-cs"/>
              </a:rPr>
              <a:t>， 以及</a:t>
            </a:r>
            <a:r>
              <a:rPr lang="zh-CN" altLang="zh-CN" sz="1200" kern="1200" dirty="0">
                <a:solidFill>
                  <a:schemeClr val="tx1"/>
                </a:solidFill>
                <a:effectLst/>
                <a:latin typeface="+mn-lt"/>
                <a:ea typeface="+mn-ea"/>
                <a:cs typeface="+mn-cs"/>
              </a:rPr>
              <a:t>符号元素分类这三个部分</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在元素定位部分，我们首先对图像进行分割，使得模型中元素独立，再进行轮廓检测，并筛选出模型中的的图形元素</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我们是使用形态学图像处理中的黑色顶帽变换操作来分割图像</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对于输入的示例模型图片进行操作之后我们可以看到，一开始连通的模型图在箭头部分都被“切割”开了。</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a:p>
            <a:r>
              <a:rPr lang="zh-CN" altLang="en-US" dirty="0"/>
              <a:t>如果我们不分割图像，直接进行轮廓检测，得到的轮廓层次树如图，</a:t>
            </a:r>
            <a:endParaRPr lang="en-US" altLang="zh-CN" dirty="0"/>
          </a:p>
          <a:p>
            <a:r>
              <a:rPr lang="zh-CN" altLang="en-US" sz="1200" b="0" i="0" u="none" strike="noStrike" kern="1200" baseline="0" dirty="0">
                <a:solidFill>
                  <a:schemeClr val="tx1"/>
                </a:solidFill>
                <a:latin typeface="+mn-lt"/>
                <a:ea typeface="+mn-ea"/>
                <a:cs typeface="+mn-cs"/>
              </a:rPr>
              <a:t>我们会检测到一些并不包含模型元素的轮廓如</a:t>
            </a:r>
            <a:r>
              <a:rPr lang="en-US" altLang="zh-CN" sz="1200" b="0" i="0" u="none" strike="noStrike" kern="1200" baseline="0" dirty="0">
                <a:solidFill>
                  <a:schemeClr val="tx1"/>
                </a:solidFill>
                <a:latin typeface="+mn-lt"/>
                <a:ea typeface="+mn-ea"/>
                <a:cs typeface="+mn-cs"/>
              </a:rPr>
              <a:t>A </a:t>
            </a:r>
            <a:r>
              <a:rPr lang="zh-CN" altLang="en-US" sz="1200" b="0" i="0" u="none" strike="noStrike" kern="1200" baseline="0" dirty="0">
                <a:solidFill>
                  <a:schemeClr val="tx1"/>
                </a:solidFill>
                <a:latin typeface="+mn-lt"/>
                <a:ea typeface="+mn-ea"/>
                <a:cs typeface="+mn-cs"/>
              </a:rPr>
              <a:t>和</a:t>
            </a:r>
            <a:r>
              <a:rPr lang="en-US" altLang="zh-CN" sz="1200" b="0" i="0" u="none" strike="noStrike" kern="1200" baseline="0" dirty="0">
                <a:solidFill>
                  <a:schemeClr val="tx1"/>
                </a:solidFill>
                <a:latin typeface="+mn-lt"/>
                <a:ea typeface="+mn-ea"/>
                <a:cs typeface="+mn-cs"/>
              </a:rPr>
              <a:t>H</a:t>
            </a:r>
            <a:r>
              <a:rPr lang="zh-CN" altLang="en-US" sz="1200" b="0" i="0" u="none" strike="noStrike" kern="1200" baseline="0" dirty="0">
                <a:solidFill>
                  <a:schemeClr val="tx1"/>
                </a:solidFill>
                <a:latin typeface="+mn-lt"/>
                <a:ea typeface="+mn-ea"/>
                <a:cs typeface="+mn-cs"/>
              </a:rPr>
              <a:t>，</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它们只是由元素和连接线围起来的空白区域。这些轮廓会给我们后续的筛选带来干扰</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而分割后的图像，</a:t>
            </a:r>
            <a:r>
              <a:rPr lang="zh-CN" altLang="en-US" sz="1200" b="0" i="0" u="none" strike="noStrike" kern="1200" baseline="0" dirty="0">
                <a:solidFill>
                  <a:schemeClr val="tx1"/>
                </a:solidFill>
                <a:latin typeface="+mn-lt"/>
                <a:ea typeface="+mn-ea"/>
                <a:cs typeface="+mn-cs"/>
              </a:rPr>
              <a:t>每个独立的部分只包含一个元素以及从这个元素发出的连接线，</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effectLst/>
                <a:latin typeface="+mn-lt"/>
                <a:ea typeface="+mn-ea"/>
                <a:cs typeface="+mn-cs"/>
              </a:rPr>
              <a:t>检测出的轮廓层次树就更加直接，减少了大量的干扰项</a:t>
            </a:r>
            <a:endParaRPr lang="en-US" altLang="zh-CN" sz="1200" b="0" i="0" u="none" strike="noStrike"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依据轮廓层次树，我们对模型中的轮廓进行筛选，我们只需要从一棵子树中，选择出需要的元素轮廓就行</a:t>
            </a:r>
            <a:endParaRPr lang="zh-CN"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完成元素符号的识别之后，我们就需要进行连接关系的检测，</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在检测前，我们会将元素从图片中去除，使图片中仅剩连接线</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我们通过箭头来定位连接线，并判断它的方向</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我们还是用图像形态学变化，使得图片中只剩箭头，从而确定箭头的位置，接着使用霍夫变换来检测图片中的直线段，</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最后将线段与箭头拼接即可得到完整连接线</a:t>
            </a:r>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在不同的模型中使用的箭头有很多种，主要有实心箭头，空心箭头，和鱼骨箭头，我们可以使用形态学图像处理，将空心和鱼骨箭头都转换成实心箭头。</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定位箭头之后，我们就要拼接连接线。</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首先我们找到图片中的六个箭头，</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通过拼接与箭头直接连接的线段，得到初始的连接线例如</a:t>
            </a:r>
            <a:r>
              <a:rPr lang="en-US" altLang="zh-CN" sz="1200" kern="1200" dirty="0">
                <a:solidFill>
                  <a:schemeClr val="tx1"/>
                </a:solidFill>
                <a:effectLst/>
                <a:latin typeface="+mn-lt"/>
                <a:ea typeface="+mn-ea"/>
                <a:cs typeface="+mn-cs"/>
              </a:rPr>
              <a:t>OB</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接着我们将其余连接线拼接上去，</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对于有一个端点在已有连接线上的线段，我们直接拼接，例如</a:t>
            </a:r>
            <a:r>
              <a:rPr lang="en-US" altLang="zh-CN" sz="1200" kern="1200" dirty="0">
                <a:solidFill>
                  <a:schemeClr val="tx1"/>
                </a:solidFill>
                <a:effectLst/>
                <a:latin typeface="+mn-lt"/>
                <a:ea typeface="+mn-ea"/>
                <a:cs typeface="+mn-cs"/>
              </a:rPr>
              <a:t>ONM</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OBA</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而像</a:t>
            </a:r>
            <a:r>
              <a:rPr lang="en-US" altLang="zh-CN" sz="1200" kern="1200" dirty="0">
                <a:solidFill>
                  <a:schemeClr val="tx1"/>
                </a:solidFill>
                <a:effectLst/>
                <a:latin typeface="+mn-lt"/>
                <a:ea typeface="+mn-ea"/>
                <a:cs typeface="+mn-cs"/>
              </a:rPr>
              <a:t>HJ</a:t>
            </a:r>
            <a:r>
              <a:rPr lang="zh-CN" altLang="zh-CN" sz="1200" kern="1200" dirty="0">
                <a:solidFill>
                  <a:schemeClr val="tx1"/>
                </a:solidFill>
                <a:effectLst/>
                <a:latin typeface="+mn-lt"/>
                <a:ea typeface="+mn-ea"/>
                <a:cs typeface="+mn-cs"/>
              </a:rPr>
              <a:t>这样的线段，是与</a:t>
            </a:r>
            <a:r>
              <a:rPr lang="en-US" altLang="zh-CN" sz="1200" kern="1200" dirty="0">
                <a:solidFill>
                  <a:schemeClr val="tx1"/>
                </a:solidFill>
                <a:effectLst/>
                <a:latin typeface="+mn-lt"/>
                <a:ea typeface="+mn-ea"/>
                <a:cs typeface="+mn-cs"/>
              </a:rPr>
              <a:t>OB</a:t>
            </a:r>
            <a:r>
              <a:rPr lang="zh-CN" altLang="zh-CN" sz="1200" kern="1200" dirty="0">
                <a:solidFill>
                  <a:schemeClr val="tx1"/>
                </a:solidFill>
                <a:effectLst/>
                <a:latin typeface="+mn-lt"/>
                <a:ea typeface="+mn-ea"/>
                <a:cs typeface="+mn-cs"/>
              </a:rPr>
              <a:t>相交的，我们就计算交点</a:t>
            </a:r>
            <a:r>
              <a:rPr lang="en-US" altLang="zh-CN" sz="1200" kern="1200" dirty="0">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然后拼接得到</a:t>
            </a:r>
            <a:r>
              <a:rPr lang="en-US" altLang="zh-CN" sz="1200" kern="1200" dirty="0">
                <a:solidFill>
                  <a:schemeClr val="tx1"/>
                </a:solidFill>
                <a:effectLst/>
                <a:latin typeface="+mn-lt"/>
                <a:ea typeface="+mn-ea"/>
                <a:cs typeface="+mn-cs"/>
              </a:rPr>
              <a:t>OIH</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OIJ</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到这里，我们还有一些未找到起始元素的连接线，</a:t>
            </a:r>
            <a:r>
              <a:rPr lang="en-US" altLang="zh-CN" sz="1200" kern="1200" dirty="0">
                <a:solidFill>
                  <a:schemeClr val="tx1"/>
                </a:solidFill>
                <a:effectLst/>
                <a:latin typeface="+mn-lt"/>
                <a:ea typeface="+mn-ea"/>
                <a:cs typeface="+mn-cs"/>
              </a:rPr>
              <a:t>YXR, WV</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SRX,</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此时我们判断这些连接线是否和已有的完整连接线相交，若相交，则按照完整连接线延长，例如，</a:t>
            </a:r>
            <a:r>
              <a:rPr lang="en-US" altLang="zh-CN" sz="1200" kern="1200" dirty="0">
                <a:solidFill>
                  <a:schemeClr val="tx1"/>
                </a:solidFill>
                <a:effectLst/>
                <a:latin typeface="+mn-lt"/>
                <a:ea typeface="+mn-ea"/>
                <a:cs typeface="+mn-cs"/>
              </a:rPr>
              <a:t>YXR</a:t>
            </a:r>
            <a:r>
              <a:rPr lang="zh-CN" altLang="zh-CN" sz="1200" kern="1200" dirty="0">
                <a:solidFill>
                  <a:schemeClr val="tx1"/>
                </a:solidFill>
                <a:effectLst/>
                <a:latin typeface="+mn-lt"/>
                <a:ea typeface="+mn-ea"/>
                <a:cs typeface="+mn-cs"/>
              </a:rPr>
              <a:t>延长成</a:t>
            </a:r>
            <a:r>
              <a:rPr lang="en-US" altLang="zh-CN" sz="1200" kern="1200" dirty="0">
                <a:solidFill>
                  <a:schemeClr val="tx1"/>
                </a:solidFill>
                <a:effectLst/>
                <a:latin typeface="+mn-lt"/>
                <a:ea typeface="+mn-ea"/>
                <a:cs typeface="+mn-cs"/>
              </a:rPr>
              <a:t>YXTQPZ</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这一步需要多次执行，至所有连接线连接完成</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有的时候两个元素靠得很近，连接线过短，在直线检测时，线段会被忽略，我们需要通过箭头方向来判断连接线的方向。</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经过二值化之后，箭头表现为一些像素点，我们先找到箭头的中轴线，在中轴线两边各找一个离中轴线最远的点，连接这两个点，然后计算它和中轴线的交点。依据这个交点和中轴线中点的位置关系，我们可以判断箭头的方向</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接下来，就是对模型中图形符号的分类</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经过对比我们使用的还是当下主流的基于</a:t>
            </a:r>
            <a:r>
              <a:rPr lang="en-US" altLang="zh-CN" sz="1200" kern="1200" dirty="0">
                <a:solidFill>
                  <a:schemeClr val="tx1"/>
                </a:solidFill>
                <a:effectLst/>
                <a:latin typeface="+mn-lt"/>
                <a:ea typeface="+mn-ea"/>
                <a:cs typeface="+mn-cs"/>
              </a:rPr>
              <a:t>CNN</a:t>
            </a:r>
            <a:r>
              <a:rPr lang="zh-CN" altLang="zh-CN" sz="1200" kern="1200" dirty="0">
                <a:solidFill>
                  <a:schemeClr val="tx1"/>
                </a:solidFill>
                <a:effectLst/>
                <a:latin typeface="+mn-lt"/>
                <a:ea typeface="+mn-ea"/>
                <a:cs typeface="+mn-cs"/>
              </a:rPr>
              <a:t>的图形分类器，使用的是最简单的</a:t>
            </a:r>
            <a:r>
              <a:rPr lang="en-US" altLang="zh-CN" sz="1200" kern="1200" dirty="0">
                <a:solidFill>
                  <a:schemeClr val="tx1"/>
                </a:solidFill>
                <a:effectLst/>
                <a:latin typeface="+mn-lt"/>
                <a:ea typeface="+mn-ea"/>
                <a:cs typeface="+mn-cs"/>
              </a:rPr>
              <a:t>VGG16</a:t>
            </a:r>
            <a:r>
              <a:rPr lang="zh-CN" altLang="zh-CN" sz="1200" kern="1200" dirty="0">
                <a:solidFill>
                  <a:schemeClr val="tx1"/>
                </a:solidFill>
                <a:effectLst/>
                <a:latin typeface="+mn-lt"/>
                <a:ea typeface="+mn-ea"/>
                <a:cs typeface="+mn-cs"/>
              </a:rPr>
              <a:t>结构</a:t>
            </a:r>
            <a:r>
              <a:rPr lang="zh-CN" altLang="en-US" sz="1200" kern="1200" dirty="0">
                <a:solidFill>
                  <a:schemeClr val="tx1"/>
                </a:solidFill>
                <a:effectLst/>
                <a:latin typeface="+mn-lt"/>
                <a:ea typeface="+mn-ea"/>
                <a:cs typeface="+mn-cs"/>
              </a:rPr>
              <a:t>，就能得到很好的分类效果</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同时我们也使用</a:t>
            </a:r>
            <a:r>
              <a:rPr lang="en-US" altLang="zh-CN" sz="1200" kern="1200" dirty="0">
                <a:solidFill>
                  <a:schemeClr val="tx1"/>
                </a:solidFill>
                <a:effectLst/>
                <a:latin typeface="+mn-lt"/>
                <a:ea typeface="+mn-ea"/>
                <a:cs typeface="+mn-cs"/>
              </a:rPr>
              <a:t>Tesseract-OCR</a:t>
            </a:r>
            <a:r>
              <a:rPr lang="zh-CN" altLang="zh-CN" sz="1200" kern="1200" dirty="0">
                <a:solidFill>
                  <a:schemeClr val="tx1"/>
                </a:solidFill>
                <a:effectLst/>
                <a:latin typeface="+mn-lt"/>
                <a:ea typeface="+mn-ea"/>
                <a:cs typeface="+mn-cs"/>
              </a:rPr>
              <a:t>来识别元素内部的文字，从而对一些细节信息进行补充。</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之后我们就可以将识别的信息整理成对应模型的定义文件，得到输出结果</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为了评估我们识别方法的有效性，我们搜集了大量真实模型数据，进行了对比实验。</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之所以我们要收集大量数据，是因为现有数据集有很多不足。</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首先我们需要的是模型图片和对应定义文件对，而现有数据集往往只有图片或定义文件</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其次已有数据集中的模型数量少，不利于我们训练分类器</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最后对图片数据进行人工标注也十分耗时。</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a:solidFill>
                  <a:schemeClr val="tx1"/>
                </a:solidFill>
                <a:effectLst/>
                <a:latin typeface="+mn-lt"/>
                <a:ea typeface="+mn-ea"/>
                <a:cs typeface="+mn-cs"/>
              </a:rPr>
              <a:t>为了解决这些问题，我们从</a:t>
            </a:r>
            <a:r>
              <a:rPr lang="en-US" altLang="zh-CN" sz="1200" kern="1200" dirty="0" err="1">
                <a:solidFill>
                  <a:schemeClr val="tx1"/>
                </a:solidFill>
                <a:effectLst/>
                <a:latin typeface="+mn-lt"/>
                <a:ea typeface="+mn-ea"/>
                <a:cs typeface="+mn-cs"/>
              </a:rPr>
              <a:t>GenMyModel</a:t>
            </a:r>
            <a:r>
              <a:rPr lang="zh-CN" altLang="zh-CN" sz="1200" kern="1200" dirty="0">
                <a:solidFill>
                  <a:schemeClr val="tx1"/>
                </a:solidFill>
                <a:effectLst/>
                <a:latin typeface="+mn-lt"/>
                <a:ea typeface="+mn-ea"/>
                <a:cs typeface="+mn-cs"/>
              </a:rPr>
              <a:t>在线建模平台上爬取了大量的模型数据，不仅包含模型图片和对应定义文件，还有</a:t>
            </a:r>
            <a:r>
              <a:rPr lang="en-US" altLang="zh-CN" sz="1200" kern="1200" dirty="0" err="1">
                <a:solidFill>
                  <a:schemeClr val="tx1"/>
                </a:solidFill>
                <a:effectLst/>
                <a:latin typeface="+mn-lt"/>
                <a:ea typeface="+mn-ea"/>
                <a:cs typeface="+mn-cs"/>
              </a:rPr>
              <a:t>svg</a:t>
            </a:r>
            <a:r>
              <a:rPr lang="zh-CN" altLang="zh-CN" sz="1200" kern="1200" dirty="0">
                <a:solidFill>
                  <a:schemeClr val="tx1"/>
                </a:solidFill>
                <a:effectLst/>
                <a:latin typeface="+mn-lt"/>
                <a:ea typeface="+mn-ea"/>
                <a:cs typeface="+mn-cs"/>
              </a:rPr>
              <a:t>格式的矢量图，可以借助它完成自动图片标注</a:t>
            </a:r>
            <a:endParaRPr lang="zh-CN"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和流程图以及</a:t>
            </a:r>
            <a:r>
              <a:rPr lang="en-US" altLang="zh-CN" sz="1200" kern="1200" dirty="0">
                <a:solidFill>
                  <a:schemeClr val="tx1"/>
                </a:solidFill>
                <a:effectLst/>
                <a:latin typeface="+mn-lt"/>
                <a:ea typeface="+mn-ea"/>
                <a:cs typeface="+mn-cs"/>
              </a:rPr>
              <a:t>UML</a:t>
            </a:r>
            <a:r>
              <a:rPr lang="zh-CN" altLang="zh-CN" sz="1200" kern="1200" dirty="0">
                <a:solidFill>
                  <a:schemeClr val="tx1"/>
                </a:solidFill>
                <a:effectLst/>
                <a:latin typeface="+mn-lt"/>
                <a:ea typeface="+mn-ea"/>
                <a:cs typeface="+mn-cs"/>
              </a:rPr>
              <a:t>模型图相比，用</a:t>
            </a:r>
            <a:r>
              <a:rPr lang="en-US" altLang="zh-CN" sz="1200" kern="1200" dirty="0">
                <a:solidFill>
                  <a:schemeClr val="tx1"/>
                </a:solidFill>
                <a:effectLst/>
                <a:latin typeface="+mn-lt"/>
                <a:ea typeface="+mn-ea"/>
                <a:cs typeface="+mn-cs"/>
              </a:rPr>
              <a:t>BPMN</a:t>
            </a:r>
            <a:r>
              <a:rPr lang="zh-CN" altLang="zh-CN" sz="1200" kern="1200" dirty="0">
                <a:solidFill>
                  <a:schemeClr val="tx1"/>
                </a:solidFill>
                <a:effectLst/>
                <a:latin typeface="+mn-lt"/>
                <a:ea typeface="+mn-ea"/>
                <a:cs typeface="+mn-cs"/>
              </a:rPr>
              <a:t>绘制的业务过程模型图，更加复杂，包含的图形标记种类更多，而且模型定义文件中本身包含各元素的位置和大小，便于我们去精确对比识别结果。</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所以我们选择</a:t>
            </a:r>
            <a:r>
              <a:rPr lang="en-US" altLang="zh-CN" sz="1200" kern="1200" dirty="0">
                <a:solidFill>
                  <a:schemeClr val="tx1"/>
                </a:solidFill>
                <a:effectLst/>
                <a:latin typeface="+mn-lt"/>
                <a:ea typeface="+mn-ea"/>
                <a:cs typeface="+mn-cs"/>
              </a:rPr>
              <a:t>BPMN</a:t>
            </a:r>
            <a:r>
              <a:rPr lang="zh-CN" altLang="zh-CN" sz="1200" kern="1200" dirty="0">
                <a:solidFill>
                  <a:schemeClr val="tx1"/>
                </a:solidFill>
                <a:effectLst/>
                <a:latin typeface="+mn-lt"/>
                <a:ea typeface="+mn-ea"/>
                <a:cs typeface="+mn-cs"/>
              </a:rPr>
              <a:t>模型图为主要实验对象。</a:t>
            </a:r>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在我们搜集到的</a:t>
            </a:r>
            <a:r>
              <a:rPr lang="en-US" altLang="zh-CN" sz="1200" kern="1200" dirty="0">
                <a:solidFill>
                  <a:schemeClr val="tx1"/>
                </a:solidFill>
                <a:effectLst/>
                <a:latin typeface="+mn-lt"/>
                <a:ea typeface="+mn-ea"/>
                <a:cs typeface="+mn-cs"/>
              </a:rPr>
              <a:t>BPMN</a:t>
            </a:r>
            <a:r>
              <a:rPr lang="zh-CN" altLang="en-US" sz="1200" kern="1200" dirty="0">
                <a:solidFill>
                  <a:schemeClr val="tx1"/>
                </a:solidFill>
                <a:effectLst/>
                <a:latin typeface="+mn-lt"/>
                <a:ea typeface="+mn-ea"/>
                <a:cs typeface="+mn-cs"/>
              </a:rPr>
              <a:t>模型数据中，主要包含</a:t>
            </a:r>
            <a:r>
              <a:rPr lang="en-US" altLang="zh-CN" sz="1200" kern="1200" dirty="0">
                <a:solidFill>
                  <a:schemeClr val="tx1"/>
                </a:solidFill>
                <a:effectLst/>
                <a:latin typeface="+mn-lt"/>
                <a:ea typeface="+mn-ea"/>
                <a:cs typeface="+mn-cs"/>
              </a:rPr>
              <a:t>9</a:t>
            </a:r>
            <a:r>
              <a:rPr lang="zh-CN" altLang="en-US" sz="1200" kern="1200" dirty="0">
                <a:solidFill>
                  <a:schemeClr val="tx1"/>
                </a:solidFill>
                <a:effectLst/>
                <a:latin typeface="+mn-lt"/>
                <a:ea typeface="+mn-ea"/>
                <a:cs typeface="+mn-cs"/>
              </a:rPr>
              <a:t>大类，共</a:t>
            </a:r>
            <a:r>
              <a:rPr lang="en-US" altLang="zh-CN" sz="1200" kern="1200" dirty="0">
                <a:solidFill>
                  <a:schemeClr val="tx1"/>
                </a:solidFill>
                <a:effectLst/>
                <a:latin typeface="+mn-lt"/>
                <a:ea typeface="+mn-ea"/>
                <a:cs typeface="+mn-cs"/>
              </a:rPr>
              <a:t>52</a:t>
            </a:r>
            <a:r>
              <a:rPr lang="zh-CN" altLang="en-US" sz="1200" kern="1200" dirty="0">
                <a:solidFill>
                  <a:schemeClr val="tx1"/>
                </a:solidFill>
                <a:effectLst/>
                <a:latin typeface="+mn-lt"/>
                <a:ea typeface="+mn-ea"/>
                <a:cs typeface="+mn-cs"/>
              </a:rPr>
              <a:t>个小类别的图形符号元素，这些元素是按出现频率排列在表格中，其中任务，网关，和五类事件是模型中主要的图形元素</a:t>
            </a:r>
            <a:endParaRPr lang="zh-CN" altLang="zh-CN" sz="1200" kern="1200" dirty="0">
              <a:solidFill>
                <a:schemeClr val="tx1"/>
              </a:solidFill>
              <a:effectLst/>
              <a:latin typeface="+mn-lt"/>
              <a:ea typeface="+mn-ea"/>
              <a:cs typeface="+mn-cs"/>
            </a:endParaRPr>
          </a:p>
          <a:p>
            <a:r>
              <a:rPr lang="zh-CN" altLang="en-US" dirty="0"/>
              <a:t>， </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通过统计我们可以发现不同类别的图形符号元素使用频率差异很大</a:t>
            </a:r>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数据分布极其不均衡，大部分的模型图包含的图形符号数量都不超过四十个</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我们首先对不同的图片分类器进行了对比，</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我们对比了基于</a:t>
            </a:r>
            <a:r>
              <a:rPr lang="en-US" altLang="zh-CN" sz="1200" kern="1200" dirty="0">
                <a:solidFill>
                  <a:schemeClr val="tx1"/>
                </a:solidFill>
                <a:effectLst/>
                <a:latin typeface="+mn-lt"/>
                <a:ea typeface="+mn-ea"/>
                <a:cs typeface="+mn-cs"/>
              </a:rPr>
              <a:t>CNN</a:t>
            </a:r>
            <a:r>
              <a:rPr lang="zh-CN" altLang="en-US" sz="1200" kern="1200" dirty="0">
                <a:solidFill>
                  <a:schemeClr val="tx1"/>
                </a:solidFill>
                <a:effectLst/>
                <a:latin typeface="+mn-lt"/>
                <a:ea typeface="+mn-ea"/>
                <a:cs typeface="+mn-cs"/>
              </a:rPr>
              <a:t>的图像分类方法</a:t>
            </a:r>
            <a:r>
              <a:rPr lang="en-US" altLang="zh-CN" sz="1200" kern="1200" dirty="0">
                <a:solidFill>
                  <a:schemeClr val="tx1"/>
                </a:solidFill>
                <a:effectLst/>
                <a:latin typeface="+mn-lt"/>
                <a:ea typeface="+mn-ea"/>
                <a:cs typeface="+mn-cs"/>
              </a:rPr>
              <a:t>VGG16</a:t>
            </a:r>
            <a:r>
              <a:rPr lang="zh-CN" altLang="en-US" sz="1200" kern="1200" dirty="0">
                <a:solidFill>
                  <a:schemeClr val="tx1"/>
                </a:solidFill>
                <a:effectLst/>
                <a:latin typeface="+mn-lt"/>
                <a:ea typeface="+mn-ea"/>
                <a:cs typeface="+mn-cs"/>
              </a:rPr>
              <a:t>和使用图形轮廓特征的</a:t>
            </a:r>
            <a:r>
              <a:rPr lang="en-US" altLang="zh-CN" sz="1200" kern="1200" dirty="0" err="1">
                <a:solidFill>
                  <a:schemeClr val="tx1"/>
                </a:solidFill>
                <a:effectLst/>
                <a:latin typeface="+mn-lt"/>
                <a:ea typeface="+mn-ea"/>
                <a:cs typeface="+mn-cs"/>
              </a:rPr>
              <a:t>BoCF</a:t>
            </a:r>
            <a:r>
              <a:rPr lang="zh-CN" altLang="en-US" sz="1200" kern="1200" dirty="0">
                <a:solidFill>
                  <a:schemeClr val="tx1"/>
                </a:solidFill>
                <a:effectLst/>
                <a:latin typeface="+mn-lt"/>
                <a:ea typeface="+mn-ea"/>
                <a:cs typeface="+mn-cs"/>
              </a:rPr>
              <a:t>人工特征方法</a:t>
            </a:r>
            <a:endParaRPr lang="en-US" altLang="zh-CN" dirty="0"/>
          </a:p>
          <a:p>
            <a:r>
              <a:rPr lang="zh-CN" altLang="en-US" dirty="0"/>
              <a:t>我们也在不同的元素图片数据集上进行了实验</a:t>
            </a:r>
            <a:endParaRPr lang="en-US" altLang="zh-CN" dirty="0"/>
          </a:p>
          <a:p>
            <a:r>
              <a:rPr lang="zh-CN" altLang="zh-CN" sz="1200" kern="1200" dirty="0">
                <a:solidFill>
                  <a:schemeClr val="tx1"/>
                </a:solidFill>
                <a:effectLst/>
                <a:latin typeface="+mn-lt"/>
                <a:ea typeface="+mn-ea"/>
                <a:cs typeface="+mn-cs"/>
              </a:rPr>
              <a:t>同时为了应对数据不均衡的问题，我们进行了抽样和数据增强，使用增强后的数据来训练模型 </a:t>
            </a:r>
            <a:endParaRPr lang="zh-CN" altLang="zh-CN" sz="1200" kern="1200" dirty="0">
              <a:solidFill>
                <a:schemeClr val="tx1"/>
              </a:solidFill>
              <a:effectLst/>
              <a:latin typeface="+mn-lt"/>
              <a:ea typeface="+mn-ea"/>
              <a:cs typeface="+mn-cs"/>
            </a:endParaRPr>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对比实验结果如图</a:t>
            </a:r>
            <a:endParaRPr lang="en-US" altLang="zh-CN" sz="1200" kern="1200" dirty="0">
              <a:solidFill>
                <a:schemeClr val="tx1"/>
              </a:solidFill>
              <a:effectLst/>
              <a:latin typeface="+mn-lt"/>
              <a:ea typeface="+mn-ea"/>
              <a:cs typeface="+mn-cs"/>
            </a:endParaRPr>
          </a:p>
          <a:p>
            <a:r>
              <a:rPr lang="en-US" altLang="zh-CN" sz="1200" b="0" i="0" u="none" strike="noStrike" kern="1200" baseline="0" dirty="0">
                <a:solidFill>
                  <a:schemeClr val="tx1"/>
                </a:solidFill>
                <a:latin typeface="+mn-lt"/>
                <a:ea typeface="+mn-ea"/>
                <a:cs typeface="+mn-cs"/>
              </a:rPr>
              <a:t>VGG16 </a:t>
            </a:r>
            <a:r>
              <a:rPr lang="zh-CN" altLang="en-US" sz="1200" b="0" i="0" u="none" strike="noStrike" kern="1200" baseline="0" dirty="0">
                <a:solidFill>
                  <a:schemeClr val="tx1"/>
                </a:solidFill>
                <a:latin typeface="+mn-lt"/>
                <a:ea typeface="+mn-ea"/>
                <a:cs typeface="+mn-cs"/>
              </a:rPr>
              <a:t>分类器在黑白图片上的分类准确率为</a:t>
            </a:r>
            <a:r>
              <a:rPr lang="en-US" altLang="zh-CN" sz="1200" b="0" i="0" u="none" strike="noStrike" kern="1200" baseline="0" dirty="0">
                <a:solidFill>
                  <a:schemeClr val="tx1"/>
                </a:solidFill>
                <a:latin typeface="+mn-lt"/>
                <a:ea typeface="+mn-ea"/>
                <a:cs typeface="+mn-cs"/>
              </a:rPr>
              <a:t>97%</a:t>
            </a:r>
            <a:r>
              <a:rPr lang="zh-CN" altLang="en-US" sz="1200" b="0" i="0" u="none" strike="noStrike" kern="1200" baseline="0" dirty="0">
                <a:solidFill>
                  <a:schemeClr val="tx1"/>
                </a:solidFill>
                <a:latin typeface="+mn-lt"/>
                <a:ea typeface="+mn-ea"/>
                <a:cs typeface="+mn-cs"/>
              </a:rPr>
              <a:t>左右，在彩色图片上的分类准确率为</a:t>
            </a:r>
            <a:r>
              <a:rPr lang="en-US" altLang="zh-CN" sz="1200" b="0" i="0" u="none" strike="noStrike" kern="1200" baseline="0" dirty="0">
                <a:solidFill>
                  <a:schemeClr val="tx1"/>
                </a:solidFill>
                <a:latin typeface="+mn-lt"/>
                <a:ea typeface="+mn-ea"/>
                <a:cs typeface="+mn-cs"/>
              </a:rPr>
              <a:t>95%</a:t>
            </a:r>
            <a:r>
              <a:rPr lang="zh-CN" altLang="en-US" sz="1200" b="0" i="0" u="none" strike="noStrike" kern="1200" baseline="0" dirty="0">
                <a:solidFill>
                  <a:schemeClr val="tx1"/>
                </a:solidFill>
                <a:latin typeface="+mn-lt"/>
                <a:ea typeface="+mn-ea"/>
                <a:cs typeface="+mn-cs"/>
              </a:rPr>
              <a:t>左右。与之相比，</a:t>
            </a:r>
            <a:r>
              <a:rPr lang="en-US" altLang="zh-CN" sz="1200" b="0" i="0" u="none" strike="noStrike" kern="1200" baseline="0" dirty="0" err="1">
                <a:solidFill>
                  <a:schemeClr val="tx1"/>
                </a:solidFill>
                <a:latin typeface="+mn-lt"/>
                <a:ea typeface="+mn-ea"/>
                <a:cs typeface="+mn-cs"/>
              </a:rPr>
              <a:t>BoCF</a:t>
            </a:r>
            <a:r>
              <a:rPr lang="en-US" altLang="zh-CN" sz="1200" b="0" i="0" u="none" strike="noStrike" kern="1200" baseline="0" dirty="0">
                <a:solidFill>
                  <a:schemeClr val="tx1"/>
                </a:solidFill>
                <a:latin typeface="+mn-lt"/>
                <a:ea typeface="+mn-ea"/>
                <a:cs typeface="+mn-cs"/>
              </a:rPr>
              <a:t> </a:t>
            </a:r>
            <a:r>
              <a:rPr lang="zh-CN" altLang="en-US" sz="1200" b="0" i="0" u="none" strike="noStrike" kern="1200" baseline="0" dirty="0">
                <a:solidFill>
                  <a:schemeClr val="tx1"/>
                </a:solidFill>
                <a:latin typeface="+mn-lt"/>
                <a:ea typeface="+mn-ea"/>
                <a:cs typeface="+mn-cs"/>
              </a:rPr>
              <a:t>分类器在黑白图片上的分类准确率只有</a:t>
            </a:r>
            <a:r>
              <a:rPr lang="en-US" altLang="zh-CN" sz="1200" b="0" i="0" u="none" strike="noStrike" kern="1200" baseline="0" dirty="0">
                <a:solidFill>
                  <a:schemeClr val="tx1"/>
                </a:solidFill>
                <a:latin typeface="+mn-lt"/>
                <a:ea typeface="+mn-ea"/>
                <a:cs typeface="+mn-cs"/>
              </a:rPr>
              <a:t>86.5%</a:t>
            </a:r>
            <a:r>
              <a:rPr lang="zh-CN" altLang="en-US" sz="1200" b="0" i="0" u="none" strike="noStrike" kern="1200" baseline="0" dirty="0">
                <a:solidFill>
                  <a:schemeClr val="tx1"/>
                </a:solidFill>
                <a:latin typeface="+mn-lt"/>
                <a:ea typeface="+mn-ea"/>
                <a:cs typeface="+mn-cs"/>
              </a:rPr>
              <a:t>，在彩色图片上的分类准确率更低，不到</a:t>
            </a:r>
            <a:r>
              <a:rPr lang="en-US" altLang="zh-CN" sz="1200" b="0" i="0" u="none" strike="noStrike" kern="1200" baseline="0" dirty="0">
                <a:solidFill>
                  <a:schemeClr val="tx1"/>
                </a:solidFill>
                <a:latin typeface="+mn-lt"/>
                <a:ea typeface="+mn-ea"/>
                <a:cs typeface="+mn-cs"/>
              </a:rPr>
              <a:t>60%</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从图中可以看出，几乎在每一个类别上都是</a:t>
            </a:r>
            <a:r>
              <a:rPr lang="en-US" altLang="zh-CN" sz="1200" b="0" i="0" u="none" strike="noStrike" kern="1200" baseline="0" dirty="0">
                <a:solidFill>
                  <a:schemeClr val="tx1"/>
                </a:solidFill>
                <a:latin typeface="+mn-lt"/>
                <a:ea typeface="+mn-ea"/>
                <a:cs typeface="+mn-cs"/>
              </a:rPr>
              <a:t>VGG16</a:t>
            </a:r>
            <a:r>
              <a:rPr lang="zh-CN" altLang="en-US" sz="1200" b="0" i="0" u="none" strike="noStrike" kern="1200" baseline="0" dirty="0">
                <a:solidFill>
                  <a:schemeClr val="tx1"/>
                </a:solidFill>
                <a:latin typeface="+mn-lt"/>
                <a:ea typeface="+mn-ea"/>
                <a:cs typeface="+mn-cs"/>
              </a:rPr>
              <a:t>的表现更好，在不同类别标记以及不同风格图片上</a:t>
            </a:r>
            <a:r>
              <a:rPr lang="en-US" altLang="zh-CN" sz="1200" b="0" i="0" u="none" strike="noStrike" kern="1200" baseline="0" dirty="0">
                <a:solidFill>
                  <a:schemeClr val="tx1"/>
                </a:solidFill>
                <a:latin typeface="+mn-lt"/>
                <a:ea typeface="+mn-ea"/>
                <a:cs typeface="+mn-cs"/>
              </a:rPr>
              <a:t>VGG16</a:t>
            </a:r>
            <a:r>
              <a:rPr lang="zh-CN" altLang="en-US" sz="1200" b="0" i="0" u="none" strike="noStrike" kern="1200" baseline="0" dirty="0">
                <a:solidFill>
                  <a:schemeClr val="tx1"/>
                </a:solidFill>
                <a:latin typeface="+mn-lt"/>
                <a:ea typeface="+mn-ea"/>
                <a:cs typeface="+mn-cs"/>
              </a:rPr>
              <a:t>的表现也更为稳定。</a:t>
            </a:r>
            <a:endParaRPr lang="en-US" altLang="zh-CN" sz="1200" b="0" i="0" u="none" strike="noStrike" kern="1200" baseline="0" dirty="0">
              <a:solidFill>
                <a:schemeClr val="tx1"/>
              </a:solidFill>
              <a:latin typeface="+mn-lt"/>
              <a:ea typeface="+mn-ea"/>
              <a:cs typeface="+mn-cs"/>
            </a:endParaRPr>
          </a:p>
          <a:p>
            <a:endParaRPr lang="en-US" altLang="zh-CN" sz="1200" b="0" i="0" u="none" strike="noStrike" kern="1200" baseline="0" dirty="0">
              <a:solidFill>
                <a:schemeClr val="tx1"/>
              </a:solidFill>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mn-lt"/>
                <a:ea typeface="+mn-ea"/>
                <a:cs typeface="+mn-cs"/>
              </a:rPr>
              <a:t>事实上，我们仍然是使用了基于深度神经网络的方法来识别图片。那为什么我们不直接使用目标检测方法</a:t>
            </a:r>
            <a:endParaRPr lang="zh-CN" altLang="en-US"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来检测图片中的元素呢？我们使用轮廓检测的方法来对元素定位是否足够精确？</a:t>
            </a:r>
            <a:endParaRPr lang="en-US" altLang="zh-CN" sz="1200" b="0" i="0" u="none" strike="noStrike" kern="1200" baseline="0" dirty="0">
              <a:solidFill>
                <a:schemeClr val="tx1"/>
              </a:solidFill>
              <a:latin typeface="+mn-lt"/>
              <a:ea typeface="+mn-ea"/>
              <a:cs typeface="+mn-cs"/>
            </a:endParaRPr>
          </a:p>
          <a:p>
            <a:endParaRPr lang="en-US" altLang="zh-CN" sz="1200" b="0" i="0" u="none" strike="noStrike" kern="1200" baseline="0" dirty="0">
              <a:solidFill>
                <a:schemeClr val="tx1"/>
              </a:solidFill>
              <a:effectLst/>
              <a:latin typeface="+mn-lt"/>
              <a:ea typeface="+mn-ea"/>
              <a:cs typeface="+mn-cs"/>
            </a:endParaRPr>
          </a:p>
          <a:p>
            <a:r>
              <a:rPr lang="zh-CN" altLang="en-US" sz="1200" b="0" i="0" u="none" strike="noStrike" kern="1200" baseline="0" dirty="0">
                <a:solidFill>
                  <a:schemeClr val="tx1"/>
                </a:solidFill>
                <a:latin typeface="+mn-lt"/>
                <a:ea typeface="+mn-ea"/>
                <a:cs typeface="+mn-cs"/>
              </a:rPr>
              <a:t>为了回答上述问题，我们对比了我们的方法</a:t>
            </a:r>
            <a:r>
              <a:rPr lang="en-US" altLang="zh-CN" sz="1200" b="0" i="0" u="none" strike="noStrike" kern="1200" baseline="0" dirty="0">
                <a:solidFill>
                  <a:schemeClr val="tx1"/>
                </a:solidFill>
                <a:latin typeface="+mn-lt"/>
                <a:ea typeface="+mn-ea"/>
                <a:cs typeface="+mn-cs"/>
              </a:rPr>
              <a:t>TMPR</a:t>
            </a:r>
            <a:r>
              <a:rPr lang="zh-CN" altLang="en-US" sz="1200" b="0" i="0" u="none" strike="noStrike" kern="1200" baseline="0" dirty="0">
                <a:solidFill>
                  <a:schemeClr val="tx1"/>
                </a:solidFill>
                <a:latin typeface="+mn-lt"/>
                <a:ea typeface="+mn-ea"/>
                <a:cs typeface="+mn-cs"/>
              </a:rPr>
              <a:t>（</a:t>
            </a:r>
            <a:r>
              <a:rPr lang="en-US" altLang="zh-CN" sz="1200" b="0" i="0" u="none" strike="noStrike" kern="1200" baseline="0" dirty="0">
                <a:solidFill>
                  <a:schemeClr val="tx1"/>
                </a:solidFill>
                <a:latin typeface="+mn-lt"/>
                <a:ea typeface="+mn-ea"/>
                <a:cs typeface="+mn-cs"/>
              </a:rPr>
              <a:t>Transferable Model Picture Recognition</a:t>
            </a:r>
            <a:r>
              <a:rPr lang="zh-CN" altLang="en-US" sz="1200" b="0" i="0" u="none" strike="noStrike" kern="1200" baseline="0" dirty="0">
                <a:solidFill>
                  <a:schemeClr val="tx1"/>
                </a:solidFill>
                <a:latin typeface="+mn-lt"/>
                <a:ea typeface="+mn-ea"/>
                <a:cs typeface="+mn-cs"/>
              </a:rPr>
              <a:t>）和目标检测方法</a:t>
            </a:r>
            <a:r>
              <a:rPr lang="en-US" altLang="zh-CN" sz="1200" b="0" i="0" u="none" strike="noStrike" kern="1200" baseline="0" dirty="0">
                <a:solidFill>
                  <a:schemeClr val="tx1"/>
                </a:solidFill>
                <a:latin typeface="+mn-lt"/>
                <a:ea typeface="+mn-ea"/>
                <a:cs typeface="+mn-cs"/>
              </a:rPr>
              <a:t>SSD </a:t>
            </a:r>
            <a:r>
              <a:rPr lang="zh-CN" altLang="en-US" sz="1200" b="0" i="0" u="none" strike="noStrike" kern="1200" baseline="0" dirty="0">
                <a:solidFill>
                  <a:schemeClr val="tx1"/>
                </a:solidFill>
                <a:latin typeface="+mn-lt"/>
                <a:ea typeface="+mn-ea"/>
                <a:cs typeface="+mn-cs"/>
              </a:rPr>
              <a:t>在图形元素的定位和分类上的效果</a:t>
            </a:r>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a:p>
            <a:r>
              <a:rPr lang="zh-CN" altLang="en-US" dirty="0"/>
              <a:t>我们使用了如下评估指标</a:t>
            </a:r>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实验结果如表所示，通过表格我们可以看到，</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在泳池，泳道，活动，网关，事件等这些主要元素的识别上，我们的方法召回率准确率更高，定位更精准</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在扩展子过程和数据项元素的检测上也和目标检测方法十分接近。</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通过观察我们也可以发现，我们的方法在定位活动，网关，事件这些主要图形符号元素时它们的宽高误差</a:t>
            </a:r>
            <a:r>
              <a:rPr lang="zh-CN" altLang="zh-CN" sz="1200" kern="1200" dirty="0">
                <a:solidFill>
                  <a:schemeClr val="tx1"/>
                </a:solidFill>
                <a:effectLst/>
                <a:latin typeface="+mn-lt"/>
                <a:ea typeface="+mn-ea"/>
                <a:cs typeface="+mn-cs"/>
              </a:rPr>
              <a:t>是几乎一致</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，这主要是因为我们在轮廓筛选的过程中有的选择的是外轮廓，有的选择的是内轮廓，从而在宽高上产生同样的偏差，</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这一特点对我们截取图像是十分有利的。</a:t>
            </a:r>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最后我们对方法的整体识别效果进行评估</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我们使用如下评估指标来进行评估</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a:p>
            <a:r>
              <a:rPr lang="zh-CN" altLang="en-US" sz="1200" b="0" i="0" u="none" strike="noStrike" kern="1200" baseline="0" dirty="0">
                <a:solidFill>
                  <a:schemeClr val="tx1"/>
                </a:solidFill>
                <a:latin typeface="+mn-lt"/>
                <a:ea typeface="+mn-ea"/>
                <a:cs typeface="+mn-cs"/>
              </a:rPr>
              <a:t>从结果表中可以看出，我们能</a:t>
            </a:r>
            <a:endParaRPr lang="zh-CN" altLang="en-US"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够定位大约</a:t>
            </a:r>
            <a:r>
              <a:rPr lang="en-US" altLang="zh-CN" sz="1200" b="0" i="0" u="none" strike="noStrike" kern="1200" baseline="0" dirty="0">
                <a:solidFill>
                  <a:schemeClr val="tx1"/>
                </a:solidFill>
                <a:latin typeface="+mn-lt"/>
                <a:ea typeface="+mn-ea"/>
                <a:cs typeface="+mn-cs"/>
              </a:rPr>
              <a:t>95% </a:t>
            </a:r>
            <a:r>
              <a:rPr lang="zh-CN" altLang="en-US" sz="1200" b="0" i="0" u="none" strike="noStrike" kern="1200" baseline="0" dirty="0">
                <a:solidFill>
                  <a:schemeClr val="tx1"/>
                </a:solidFill>
                <a:latin typeface="+mn-lt"/>
                <a:ea typeface="+mn-ea"/>
                <a:cs typeface="+mn-cs"/>
              </a:rPr>
              <a:t>的节点和</a:t>
            </a:r>
            <a:r>
              <a:rPr lang="en-US" altLang="zh-CN" sz="1200" b="0" i="0" u="none" strike="noStrike" kern="1200" baseline="0" dirty="0">
                <a:solidFill>
                  <a:schemeClr val="tx1"/>
                </a:solidFill>
                <a:latin typeface="+mn-lt"/>
                <a:ea typeface="+mn-ea"/>
                <a:cs typeface="+mn-cs"/>
              </a:rPr>
              <a:t>90% </a:t>
            </a:r>
            <a:r>
              <a:rPr lang="zh-CN" altLang="en-US" sz="1200" b="0" i="0" u="none" strike="noStrike" kern="1200" baseline="0" dirty="0">
                <a:solidFill>
                  <a:schemeClr val="tx1"/>
                </a:solidFill>
                <a:latin typeface="+mn-lt"/>
                <a:ea typeface="+mn-ea"/>
                <a:cs typeface="+mn-cs"/>
              </a:rPr>
              <a:t>的连接线。我们可以正确地定位并识别模型中</a:t>
            </a:r>
            <a:endParaRPr lang="zh-CN" altLang="en-US" sz="1200" b="0" i="0" u="none" strike="noStrike" kern="1200" baseline="0" dirty="0">
              <a:solidFill>
                <a:schemeClr val="tx1"/>
              </a:solidFill>
              <a:latin typeface="+mn-lt"/>
              <a:ea typeface="+mn-ea"/>
              <a:cs typeface="+mn-cs"/>
            </a:endParaRPr>
          </a:p>
          <a:p>
            <a:r>
              <a:rPr lang="en-US" altLang="zh-CN" sz="1200" b="0" i="0" u="none" strike="noStrike" kern="1200" baseline="0" dirty="0">
                <a:solidFill>
                  <a:schemeClr val="tx1"/>
                </a:solidFill>
                <a:latin typeface="+mn-lt"/>
                <a:ea typeface="+mn-ea"/>
                <a:cs typeface="+mn-cs"/>
              </a:rPr>
              <a:t>80% </a:t>
            </a:r>
            <a:r>
              <a:rPr lang="zh-CN" altLang="en-US" sz="1200" b="0" i="0" u="none" strike="noStrike" kern="1200" baseline="0" dirty="0">
                <a:solidFill>
                  <a:schemeClr val="tx1"/>
                </a:solidFill>
                <a:latin typeface="+mn-lt"/>
                <a:ea typeface="+mn-ea"/>
                <a:cs typeface="+mn-cs"/>
              </a:rPr>
              <a:t>以上的元素，同时，我们方法的误报率较低，我们检测到的</a:t>
            </a:r>
            <a:r>
              <a:rPr lang="en-US" altLang="zh-CN" sz="1200" b="0" i="0" u="none" strike="noStrike" kern="1200" baseline="0" dirty="0">
                <a:solidFill>
                  <a:schemeClr val="tx1"/>
                </a:solidFill>
                <a:latin typeface="+mn-lt"/>
                <a:ea typeface="+mn-ea"/>
                <a:cs typeface="+mn-cs"/>
              </a:rPr>
              <a:t>95% </a:t>
            </a:r>
            <a:r>
              <a:rPr lang="zh-CN" altLang="en-US" sz="1200" b="0" i="0" u="none" strike="noStrike" kern="1200" baseline="0" dirty="0">
                <a:solidFill>
                  <a:schemeClr val="tx1"/>
                </a:solidFill>
                <a:latin typeface="+mn-lt"/>
                <a:ea typeface="+mn-ea"/>
                <a:cs typeface="+mn-cs"/>
              </a:rPr>
              <a:t>以上的元素都是有效的。</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当我们复用模型时， 基于识别结果，最多也只需要画出原始模型的剩余</a:t>
            </a:r>
            <a:r>
              <a:rPr lang="en-US" altLang="zh-CN" sz="1200" b="0" i="0" u="none" strike="noStrike" kern="1200" baseline="0" dirty="0">
                <a:solidFill>
                  <a:schemeClr val="tx1"/>
                </a:solidFill>
                <a:latin typeface="+mn-lt"/>
                <a:ea typeface="+mn-ea"/>
                <a:cs typeface="+mn-cs"/>
              </a:rPr>
              <a:t>20%</a:t>
            </a:r>
            <a:r>
              <a:rPr lang="zh-CN" altLang="en-US" sz="1200" b="0" i="0" u="none" strike="noStrike" kern="1200" baseline="0" dirty="0">
                <a:solidFill>
                  <a:schemeClr val="tx1"/>
                </a:solidFill>
                <a:latin typeface="+mn-lt"/>
                <a:ea typeface="+mn-ea"/>
                <a:cs typeface="+mn-cs"/>
              </a:rPr>
              <a:t>，同时再对识别结果的</a:t>
            </a:r>
            <a:r>
              <a:rPr lang="en-US" altLang="zh-CN" sz="1200" b="0" i="0" u="none" strike="noStrike" kern="1200" baseline="0" dirty="0">
                <a:solidFill>
                  <a:schemeClr val="tx1"/>
                </a:solidFill>
                <a:latin typeface="+mn-lt"/>
                <a:ea typeface="+mn-ea"/>
                <a:cs typeface="+mn-cs"/>
              </a:rPr>
              <a:t>5% </a:t>
            </a:r>
            <a:r>
              <a:rPr lang="zh-CN" altLang="en-US" sz="1200" b="0" i="0" u="none" strike="noStrike" kern="1200" baseline="0" dirty="0">
                <a:solidFill>
                  <a:schemeClr val="tx1"/>
                </a:solidFill>
                <a:latin typeface="+mn-lt"/>
                <a:ea typeface="+mn-ea"/>
                <a:cs typeface="+mn-cs"/>
              </a:rPr>
              <a:t>进</a:t>
            </a:r>
            <a:endParaRPr lang="zh-CN" altLang="en-US"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行调整和修改。这样，我们的工作效率将提高四倍。</a:t>
            </a:r>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我们的方法在业务过程模型图的识别上取得了极好的效果，如果要将其迁移到流程图和</a:t>
            </a:r>
            <a:r>
              <a:rPr lang="en-US" altLang="zh-CN" sz="1200" kern="1200" dirty="0">
                <a:solidFill>
                  <a:schemeClr val="tx1"/>
                </a:solidFill>
                <a:effectLst/>
                <a:latin typeface="+mn-lt"/>
                <a:ea typeface="+mn-ea"/>
                <a:cs typeface="+mn-cs"/>
              </a:rPr>
              <a:t>UML</a:t>
            </a:r>
            <a:r>
              <a:rPr lang="zh-CN" altLang="en-US" sz="1200" kern="1200" dirty="0">
                <a:solidFill>
                  <a:schemeClr val="tx1"/>
                </a:solidFill>
                <a:effectLst/>
                <a:latin typeface="+mn-lt"/>
                <a:ea typeface="+mn-ea"/>
                <a:cs typeface="+mn-cs"/>
              </a:rPr>
              <a:t>模型图上，主要要做三个方面的调整。</a:t>
            </a:r>
            <a:endParaRPr lang="en-US" altLang="zh-CN" sz="1200" kern="1200" dirty="0">
              <a:solidFill>
                <a:schemeClr val="tx1"/>
              </a:solidFill>
              <a:effectLst/>
              <a:latin typeface="+mn-lt"/>
              <a:ea typeface="+mn-ea"/>
              <a:cs typeface="+mn-cs"/>
            </a:endParaRPr>
          </a:p>
          <a:p>
            <a:r>
              <a:rPr lang="zh-CN" altLang="en-US" sz="1200" b="0" i="0" u="none" strike="noStrike" kern="1200" baseline="0" dirty="0">
                <a:solidFill>
                  <a:schemeClr val="tx1"/>
                </a:solidFill>
                <a:latin typeface="+mn-lt"/>
                <a:ea typeface="+mn-ea"/>
                <a:cs typeface="+mn-cs"/>
              </a:rPr>
              <a:t>首先是轮廓检测中的图片预处理，</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我们要选择合适类型和大小的结构单元来进行图像处理</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接着我们要针对模型类别，训练不同的图形分类器</a:t>
            </a:r>
            <a:endParaRPr lang="en-US" altLang="zh-CN" sz="1200" b="0" i="0" u="none" strike="noStrike" kern="1200" baseline="0" dirty="0">
              <a:solidFill>
                <a:schemeClr val="tx1"/>
              </a:solidFill>
              <a:latin typeface="+mn-lt"/>
              <a:ea typeface="+mn-ea"/>
              <a:cs typeface="+mn-cs"/>
            </a:endParaRPr>
          </a:p>
          <a:p>
            <a:r>
              <a:rPr lang="zh-CN" altLang="en-US" sz="1200" b="0" i="0" u="none" strike="noStrike" kern="1200" baseline="0" dirty="0">
                <a:solidFill>
                  <a:schemeClr val="tx1"/>
                </a:solidFill>
                <a:latin typeface="+mn-lt"/>
                <a:ea typeface="+mn-ea"/>
                <a:cs typeface="+mn-cs"/>
              </a:rPr>
              <a:t>最后，我们要按照不同的方式解释和保存模型语义</a:t>
            </a:r>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在本次毕设中</a:t>
            </a:r>
            <a:endParaRPr lang="zh-CN" altLang="zh-CN" sz="1200" kern="1200" dirty="0">
              <a:solidFill>
                <a:schemeClr val="tx1"/>
              </a:solidFill>
              <a:effectLst/>
              <a:latin typeface="+mn-lt"/>
              <a:ea typeface="+mn-ea"/>
              <a:cs typeface="+mn-cs"/>
            </a:endParaRPr>
          </a:p>
          <a:p>
            <a:endParaRPr lang="en-US" altLang="zh-CN" dirty="0"/>
          </a:p>
          <a:p>
            <a:r>
              <a:rPr lang="zh-CN" altLang="en-US" dirty="0"/>
              <a:t>首先制作了包含大量模型且信息丰富的数据集</a:t>
            </a:r>
            <a:endParaRPr lang="zh-CN" altLang="en-US" dirty="0"/>
          </a:p>
          <a:p>
            <a:r>
              <a:rPr lang="zh-CN" altLang="en-US" dirty="0"/>
              <a:t>接着提出了一种模型识别方法，可用于多种模型图片检测</a:t>
            </a:r>
            <a:endParaRPr lang="zh-CN" altLang="en-US" dirty="0"/>
          </a:p>
          <a:p>
            <a:r>
              <a:rPr lang="zh-CN" altLang="en-US"/>
              <a:t>最后我们将</a:t>
            </a:r>
            <a:r>
              <a:rPr lang="zh-CN" altLang="en-US" dirty="0"/>
              <a:t>自己的方法与多种方法对比，在大量的真实模型图上验证了方法的有效性</a:t>
            </a:r>
            <a:endParaRPr lang="zh-CN" altLang="en-US"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但是仍有一些不足</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我们的方法对箭头特征的依赖性较高</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当前直线检测对于虚线的检测是没有效果的</a:t>
            </a:r>
            <a:endParaRPr lang="zh-CN" altLang="en-US"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模型中孤立文本与元素的对应，还没有完善的解决方案</a:t>
            </a:r>
            <a:endParaRPr lang="zh-CN" altLang="en-US" sz="1200" kern="1200" dirty="0">
              <a:solidFill>
                <a:schemeClr val="tx1"/>
              </a:solidFill>
              <a:effectLst/>
              <a:latin typeface="+mn-lt"/>
              <a:ea typeface="+mn-ea"/>
              <a:cs typeface="+mn-cs"/>
            </a:endParaRPr>
          </a:p>
          <a:p>
            <a:r>
              <a:rPr lang="zh-CN" altLang="en-US" sz="1200" kern="1200">
                <a:solidFill>
                  <a:schemeClr val="tx1"/>
                </a:solidFill>
                <a:effectLst/>
                <a:latin typeface="+mn-lt"/>
                <a:ea typeface="+mn-ea"/>
                <a:cs typeface="+mn-cs"/>
              </a:rPr>
              <a:t>与建模工具的结合，丰富现有工具的功能</a:t>
            </a:r>
            <a:endParaRPr lang="zh-CN" altLang="en-US" sz="1200" kern="120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如果能解决这些问题，我们的方法将更加完善，之后可以和一些建模工具相结合，丰富现有工具的功能</a:t>
            </a:r>
            <a:endParaRPr lang="zh-CN" altLang="zh-CN" sz="1200" kern="1200" dirty="0">
              <a:solidFill>
                <a:schemeClr val="tx1"/>
              </a:solidFill>
              <a:effectLst/>
              <a:latin typeface="+mn-lt"/>
              <a:ea typeface="+mn-ea"/>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我的展示到此结束，感谢各位老师</a:t>
            </a:r>
            <a:endParaRPr lang="zh-CN" altLang="en-US" dirty="0"/>
          </a:p>
        </p:txBody>
      </p:sp>
      <p:sp>
        <p:nvSpPr>
          <p:cNvPr id="4" name="灯片编号占位符 3"/>
          <p:cNvSpPr>
            <a:spLocks noGrp="1"/>
          </p:cNvSpPr>
          <p:nvPr>
            <p:ph type="sldNum" sz="quarter" idx="10"/>
          </p:nvPr>
        </p:nvSpPr>
        <p:spPr/>
        <p:txBody>
          <a:bodyPr/>
          <a:lstStyle/>
          <a:p>
            <a:fld id="{BFBFC682-73AF-47D0-AE06-BC0CBCFC170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1"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40"/>
            <a:ext cx="10515601"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5"/>
            <a:ext cx="105156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7" y="365127"/>
            <a:ext cx="10515601"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9"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9"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9"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9"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9"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5"/>
            <a:ext cx="2628899"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248CF55-D078-45DB-B7C8-2308C3F6230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629BE4-5BEC-4CF7-84BD-657ED7A9700E}"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1"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1"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48CF55-D078-45DB-B7C8-2308C3F62305}" type="datetimeFigureOut">
              <a:rPr lang="zh-CN" altLang="en-US" smtClean="0"/>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629BE4-5BEC-4CF7-84BD-657ED7A970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xml"/><Relationship Id="rId7" Type="http://schemas.openxmlformats.org/officeDocument/2006/relationships/image" Target="../media/image11.jpe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0" Type="http://schemas.openxmlformats.org/officeDocument/2006/relationships/notesSlide" Target="../notesSlides/notesSlide14.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0" Type="http://schemas.openxmlformats.org/officeDocument/2006/relationships/notesSlide" Target="../notesSlides/notesSlide15.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xml"/><Relationship Id="rId5" Type="http://schemas.openxmlformats.org/officeDocument/2006/relationships/image" Target="../media/image22.emf"/><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xml"/><Relationship Id="rId5" Type="http://schemas.openxmlformats.org/officeDocument/2006/relationships/image" Target="../media/image25.emf"/><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1.xml"/><Relationship Id="rId5" Type="http://schemas.openxmlformats.org/officeDocument/2006/relationships/image" Target="../media/image27.emf"/><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85000">
              <a:srgbClr val="DB05DD"/>
            </a:gs>
            <a:gs pos="65000">
              <a:srgbClr val="BC08BD"/>
            </a:gs>
            <a:gs pos="14000">
              <a:srgbClr val="6E0F6D"/>
            </a:gs>
            <a:gs pos="99000">
              <a:srgbClr val="F902FC"/>
            </a:gs>
          </a:gsLst>
          <a:lin ang="2400000" scaled="0"/>
        </a:gra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1" y="762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1" y="2372837"/>
            <a:ext cx="10058399" cy="1808908"/>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41" y="1370833"/>
            <a:ext cx="1620983" cy="693820"/>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2399" y="450583"/>
            <a:ext cx="617467" cy="774073"/>
          </a:xfrm>
          <a:prstGeom prst="rect">
            <a:avLst/>
          </a:prstGeom>
        </p:spPr>
      </p:pic>
      <p:sp>
        <p:nvSpPr>
          <p:cNvPr id="12" name="文本框 11"/>
          <p:cNvSpPr txBox="1"/>
          <p:nvPr/>
        </p:nvSpPr>
        <p:spPr>
          <a:xfrm>
            <a:off x="4580126" y="4795464"/>
            <a:ext cx="3408844" cy="400110"/>
          </a:xfrm>
          <a:prstGeom prst="rect">
            <a:avLst/>
          </a:prstGeom>
          <a:noFill/>
        </p:spPr>
        <p:txBody>
          <a:bodyPr wrap="square" rtlCol="0">
            <a:spAutoFit/>
          </a:bodyPr>
          <a:lstStyle/>
          <a:p>
            <a:r>
              <a:rPr lang="zh-CN" altLang="en-US" sz="2000" b="1" dirty="0">
                <a:solidFill>
                  <a:srgbClr val="6E0F6D"/>
                </a:solidFill>
                <a:latin typeface="微软雅黑" panose="020B0503020204020204" pitchFamily="34" charset="-122"/>
                <a:ea typeface="微软雅黑" panose="020B0503020204020204" pitchFamily="34" charset="-122"/>
              </a:rPr>
              <a:t>答辩人：潘凌伟</a:t>
            </a:r>
            <a:endParaRPr lang="en-US" altLang="zh-CN" sz="2000" b="1" dirty="0">
              <a:solidFill>
                <a:srgbClr val="6E0F6D"/>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4580126" y="5290408"/>
            <a:ext cx="3406105" cy="400110"/>
          </a:xfrm>
          <a:prstGeom prst="rect">
            <a:avLst/>
          </a:prstGeom>
          <a:noFill/>
        </p:spPr>
        <p:txBody>
          <a:bodyPr wrap="square" rtlCol="0">
            <a:spAutoFit/>
          </a:bodyPr>
          <a:lstStyle/>
          <a:p>
            <a:r>
              <a:rPr lang="zh-CN" altLang="en-US" sz="2000" b="1" dirty="0">
                <a:solidFill>
                  <a:srgbClr val="6E0F6D"/>
                </a:solidFill>
                <a:latin typeface="微软雅黑" panose="020B0503020204020204" pitchFamily="34" charset="-122"/>
                <a:ea typeface="微软雅黑" panose="020B0503020204020204" pitchFamily="34" charset="-122"/>
              </a:rPr>
              <a:t>导　师：葛季栋 副教授</a:t>
            </a:r>
            <a:endParaRPr lang="en-US" altLang="zh-CN" sz="2000" b="1" dirty="0">
              <a:solidFill>
                <a:srgbClr val="6E0F6D"/>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1314701" y="2945283"/>
            <a:ext cx="9562598" cy="707886"/>
          </a:xfrm>
          <a:prstGeom prst="rect">
            <a:avLst/>
          </a:prstGeom>
          <a:noFill/>
        </p:spPr>
        <p:txBody>
          <a:bodyPr wrap="square" rtlCol="0">
            <a:spAutoFit/>
          </a:bodyPr>
          <a:lstStyle/>
          <a:p>
            <a:r>
              <a:rPr lang="zh-CN" altLang="en-US" sz="4000" b="1" dirty="0">
                <a:solidFill>
                  <a:schemeClr val="bg1"/>
                </a:solidFill>
                <a:ea typeface="微软雅黑" panose="020B0503020204020204" pitchFamily="34" charset="-122"/>
              </a:rPr>
              <a:t>基于轮廓检测的可迁移模型图片识别技术</a:t>
            </a:r>
            <a:endParaRPr lang="zh-CN" altLang="en-US" sz="4000" b="1" dirty="0">
              <a:solidFill>
                <a:schemeClr val="bg1"/>
              </a:solidFill>
              <a:ea typeface="微软雅黑" panose="020B0503020204020204" pitchFamily="34" charset="-122"/>
            </a:endParaRPr>
          </a:p>
        </p:txBody>
      </p:sp>
      <p:sp>
        <p:nvSpPr>
          <p:cNvPr id="27" name="文本框 26"/>
          <p:cNvSpPr txBox="1"/>
          <p:nvPr/>
        </p:nvSpPr>
        <p:spPr>
          <a:xfrm>
            <a:off x="492400" y="4211941"/>
            <a:ext cx="11207201" cy="338554"/>
          </a:xfrm>
          <a:prstGeom prst="rect">
            <a:avLst/>
          </a:prstGeom>
          <a:noFill/>
        </p:spPr>
        <p:txBody>
          <a:bodyPr wrap="square" rtlCol="0">
            <a:spAutoFit/>
          </a:bodyPr>
          <a:lstStyle/>
          <a:p>
            <a:pPr algn="ctr"/>
            <a:r>
              <a:rPr lang="en-US" altLang="zh-CN" sz="1600" b="1" dirty="0">
                <a:solidFill>
                  <a:srgbClr val="6E0F6D"/>
                </a:solidFill>
                <a:latin typeface="黑体" panose="02010609060101010101" pitchFamily="49" charset="-122"/>
                <a:ea typeface="黑体" panose="02010609060101010101" pitchFamily="49" charset="-122"/>
              </a:rPr>
              <a:t>Transferable Model Picture Recognition Technology Based on Contour Detection</a:t>
            </a:r>
            <a:endParaRPr lang="zh-CN" altLang="en-US" sz="1600" b="1" dirty="0">
              <a:solidFill>
                <a:srgbClr val="6E0F6D"/>
              </a:solidFill>
              <a:latin typeface="黑体" panose="02010609060101010101" pitchFamily="49" charset="-122"/>
              <a:ea typeface="黑体" panose="02010609060101010101" pitchFamily="49" charset="-122"/>
            </a:endParaRPr>
          </a:p>
        </p:txBody>
      </p:sp>
      <p:sp>
        <p:nvSpPr>
          <p:cNvPr id="14" name="文本框 13"/>
          <p:cNvSpPr txBox="1"/>
          <p:nvPr/>
        </p:nvSpPr>
        <p:spPr>
          <a:xfrm>
            <a:off x="4580126" y="5824622"/>
            <a:ext cx="3406105" cy="400110"/>
          </a:xfrm>
          <a:prstGeom prst="rect">
            <a:avLst/>
          </a:prstGeom>
          <a:noFill/>
        </p:spPr>
        <p:txBody>
          <a:bodyPr wrap="square" rtlCol="0">
            <a:spAutoFit/>
          </a:bodyPr>
          <a:lstStyle/>
          <a:p>
            <a:r>
              <a:rPr lang="zh-CN" altLang="en-US" sz="2000" b="1" dirty="0">
                <a:solidFill>
                  <a:srgbClr val="6E0F6D"/>
                </a:solidFill>
                <a:latin typeface="微软雅黑" panose="020B0503020204020204" pitchFamily="34" charset="-122"/>
                <a:ea typeface="微软雅黑" panose="020B0503020204020204" pitchFamily="34" charset="-122"/>
              </a:rPr>
              <a:t>日　期：</a:t>
            </a:r>
            <a:r>
              <a:rPr lang="en-US" altLang="zh-CN" sz="2000" b="1" dirty="0">
                <a:solidFill>
                  <a:srgbClr val="6E0F6D"/>
                </a:solidFill>
                <a:latin typeface="微软雅黑" panose="020B0503020204020204" pitchFamily="34" charset="-122"/>
                <a:ea typeface="微软雅黑" panose="020B0503020204020204" pitchFamily="34" charset="-122"/>
              </a:rPr>
              <a:t>2021</a:t>
            </a:r>
            <a:r>
              <a:rPr lang="zh-CN" altLang="en-US" sz="2000" b="1" dirty="0">
                <a:solidFill>
                  <a:srgbClr val="6E0F6D"/>
                </a:solidFill>
                <a:latin typeface="微软雅黑" panose="020B0503020204020204" pitchFamily="34" charset="-122"/>
                <a:ea typeface="微软雅黑" panose="020B0503020204020204" pitchFamily="34" charset="-122"/>
              </a:rPr>
              <a:t>年</a:t>
            </a:r>
            <a:r>
              <a:rPr lang="en-US" altLang="zh-CN" sz="2000" b="1" dirty="0">
                <a:solidFill>
                  <a:srgbClr val="6E0F6D"/>
                </a:solidFill>
                <a:latin typeface="微软雅黑" panose="020B0503020204020204" pitchFamily="34" charset="-122"/>
                <a:ea typeface="微软雅黑" panose="020B0503020204020204" pitchFamily="34" charset="-122"/>
              </a:rPr>
              <a:t>05</a:t>
            </a:r>
            <a:r>
              <a:rPr lang="zh-CN" altLang="en-US" sz="2000" b="1" dirty="0">
                <a:solidFill>
                  <a:srgbClr val="6E0F6D"/>
                </a:solidFill>
                <a:latin typeface="微软雅黑" panose="020B0503020204020204" pitchFamily="34" charset="-122"/>
                <a:ea typeface="微软雅黑" panose="020B0503020204020204" pitchFamily="34" charset="-122"/>
              </a:rPr>
              <a:t>月</a:t>
            </a:r>
            <a:r>
              <a:rPr lang="en-US" altLang="zh-CN" sz="2000" b="1" dirty="0">
                <a:solidFill>
                  <a:srgbClr val="6E0F6D"/>
                </a:solidFill>
                <a:latin typeface="微软雅黑" panose="020B0503020204020204" pitchFamily="34" charset="-122"/>
                <a:ea typeface="微软雅黑" panose="020B0503020204020204" pitchFamily="34" charset="-122"/>
              </a:rPr>
              <a:t>11</a:t>
            </a:r>
            <a:r>
              <a:rPr lang="zh-CN" altLang="en-US" sz="2000" b="1" dirty="0">
                <a:solidFill>
                  <a:srgbClr val="6E0F6D"/>
                </a:solidFill>
                <a:latin typeface="微软雅黑" panose="020B0503020204020204" pitchFamily="34" charset="-122"/>
                <a:ea typeface="微软雅黑" panose="020B0503020204020204" pitchFamily="34" charset="-122"/>
              </a:rPr>
              <a:t>日</a:t>
            </a:r>
            <a:endParaRPr lang="en-US" altLang="zh-CN" sz="2000" b="1" dirty="0">
              <a:solidFill>
                <a:srgbClr val="6E0F6D"/>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1"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 name="文本框 3"/>
          <p:cNvSpPr txBox="1"/>
          <p:nvPr/>
        </p:nvSpPr>
        <p:spPr>
          <a:xfrm>
            <a:off x="5006926" y="413843"/>
            <a:ext cx="2178149" cy="1107996"/>
          </a:xfrm>
          <a:prstGeom prst="rect">
            <a:avLst/>
          </a:prstGeom>
          <a:noFill/>
        </p:spPr>
        <p:txBody>
          <a:bodyPr wrap="square" rtlCol="0">
            <a:spAutoFit/>
          </a:bodyPr>
          <a:lstStyle/>
          <a:p>
            <a:pPr algn="ctr"/>
            <a:r>
              <a:rPr lang="zh-CN" altLang="en-US" sz="6600" b="1" dirty="0">
                <a:latin typeface="黑体" panose="02010609060101010101" pitchFamily="49" charset="-122"/>
                <a:ea typeface="黑体" panose="02010609060101010101" pitchFamily="49" charset="-122"/>
              </a:rPr>
              <a:t>目录</a:t>
            </a:r>
            <a:endParaRPr lang="zh-CN" altLang="en-US" sz="6600" b="1" dirty="0">
              <a:latin typeface="黑体" panose="02010609060101010101" pitchFamily="49" charset="-122"/>
              <a:ea typeface="黑体" panose="02010609060101010101" pitchFamily="49" charset="-122"/>
            </a:endParaRPr>
          </a:p>
        </p:txBody>
      </p:sp>
      <p:grpSp>
        <p:nvGrpSpPr>
          <p:cNvPr id="9" name="组合 8"/>
          <p:cNvGrpSpPr/>
          <p:nvPr/>
        </p:nvGrpSpPr>
        <p:grpSpPr>
          <a:xfrm>
            <a:off x="3302794" y="2055587"/>
            <a:ext cx="5514976" cy="640928"/>
            <a:chOff x="3338512" y="2335286"/>
            <a:chExt cx="5514976" cy="640928"/>
          </a:xfrm>
        </p:grpSpPr>
        <p:pic>
          <p:nvPicPr>
            <p:cNvPr id="49" name="图片 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38512" y="2335286"/>
              <a:ext cx="5514976" cy="640928"/>
            </a:xfrm>
            <a:prstGeom prst="rect">
              <a:avLst/>
            </a:prstGeom>
          </p:spPr>
        </p:pic>
        <p:sp>
          <p:nvSpPr>
            <p:cNvPr id="12" name="文本框 11"/>
            <p:cNvSpPr txBox="1"/>
            <p:nvPr/>
          </p:nvSpPr>
          <p:spPr>
            <a:xfrm>
              <a:off x="3638352" y="2354188"/>
              <a:ext cx="647699" cy="584775"/>
            </a:xfrm>
            <a:prstGeom prst="rect">
              <a:avLst/>
            </a:prstGeom>
            <a:noFill/>
          </p:spPr>
          <p:txBody>
            <a:bodyPr wrap="square" rtlCol="0">
              <a:spAutoFit/>
            </a:bodyPr>
            <a:lstStyle/>
            <a:p>
              <a:r>
                <a:rPr lang="en-US" altLang="zh-CN" sz="3200" b="1" dirty="0">
                  <a:solidFill>
                    <a:schemeClr val="bg1"/>
                  </a:solidFill>
                </a:rPr>
                <a:t>01</a:t>
              </a:r>
              <a:endParaRPr lang="zh-CN" altLang="en-US" sz="3200" b="1" dirty="0">
                <a:solidFill>
                  <a:schemeClr val="bg1"/>
                </a:solidFill>
              </a:endParaRPr>
            </a:p>
          </p:txBody>
        </p:sp>
        <p:cxnSp>
          <p:nvCxnSpPr>
            <p:cNvPr id="14" name="直接连接符 13"/>
            <p:cNvCxnSpPr/>
            <p:nvPr/>
          </p:nvCxnSpPr>
          <p:spPr>
            <a:xfrm>
              <a:off x="4352725" y="2496263"/>
              <a:ext cx="0" cy="31897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4677579" y="2354187"/>
              <a:ext cx="3669333"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研究背景与问题</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grpSp>
        <p:nvGrpSpPr>
          <p:cNvPr id="24" name="组合 23"/>
          <p:cNvGrpSpPr/>
          <p:nvPr/>
        </p:nvGrpSpPr>
        <p:grpSpPr>
          <a:xfrm>
            <a:off x="3302794" y="2905675"/>
            <a:ext cx="5514976" cy="640928"/>
            <a:chOff x="3338512" y="2335286"/>
            <a:chExt cx="5514976" cy="640928"/>
          </a:xfrm>
        </p:grpSpPr>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38512" y="2335286"/>
              <a:ext cx="5514976" cy="640928"/>
            </a:xfrm>
            <a:prstGeom prst="rect">
              <a:avLst/>
            </a:prstGeom>
          </p:spPr>
        </p:pic>
        <p:sp>
          <p:nvSpPr>
            <p:cNvPr id="26" name="文本框 25"/>
            <p:cNvSpPr txBox="1"/>
            <p:nvPr/>
          </p:nvSpPr>
          <p:spPr>
            <a:xfrm>
              <a:off x="3638352" y="2354188"/>
              <a:ext cx="647699" cy="584775"/>
            </a:xfrm>
            <a:prstGeom prst="rect">
              <a:avLst/>
            </a:prstGeom>
            <a:noFill/>
          </p:spPr>
          <p:txBody>
            <a:bodyPr wrap="square" rtlCol="0">
              <a:spAutoFit/>
            </a:bodyPr>
            <a:lstStyle/>
            <a:p>
              <a:r>
                <a:rPr lang="en-US" altLang="zh-CN" sz="3200" b="1" dirty="0">
                  <a:solidFill>
                    <a:schemeClr val="bg1"/>
                  </a:solidFill>
                </a:rPr>
                <a:t>02</a:t>
              </a:r>
              <a:endParaRPr lang="zh-CN" altLang="en-US" sz="3200" b="1" dirty="0">
                <a:solidFill>
                  <a:schemeClr val="bg1"/>
                </a:solidFill>
              </a:endParaRPr>
            </a:p>
          </p:txBody>
        </p:sp>
        <p:cxnSp>
          <p:nvCxnSpPr>
            <p:cNvPr id="27" name="直接连接符 26"/>
            <p:cNvCxnSpPr/>
            <p:nvPr/>
          </p:nvCxnSpPr>
          <p:spPr>
            <a:xfrm>
              <a:off x="4352725" y="2496263"/>
              <a:ext cx="0" cy="31897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677579" y="2354187"/>
              <a:ext cx="3669333"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问题分析与方法</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3302794" y="3755763"/>
            <a:ext cx="5514976" cy="640928"/>
            <a:chOff x="3338512" y="2335286"/>
            <a:chExt cx="5514976" cy="640928"/>
          </a:xfrm>
        </p:grpSpPr>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38512" y="2335286"/>
              <a:ext cx="5514976" cy="640928"/>
            </a:xfrm>
            <a:prstGeom prst="rect">
              <a:avLst/>
            </a:prstGeom>
          </p:spPr>
        </p:pic>
        <p:sp>
          <p:nvSpPr>
            <p:cNvPr id="31" name="文本框 30"/>
            <p:cNvSpPr txBox="1"/>
            <p:nvPr/>
          </p:nvSpPr>
          <p:spPr>
            <a:xfrm>
              <a:off x="3638352" y="2354188"/>
              <a:ext cx="647699" cy="584775"/>
            </a:xfrm>
            <a:prstGeom prst="rect">
              <a:avLst/>
            </a:prstGeom>
            <a:noFill/>
          </p:spPr>
          <p:txBody>
            <a:bodyPr wrap="square" rtlCol="0">
              <a:spAutoFit/>
            </a:bodyPr>
            <a:lstStyle/>
            <a:p>
              <a:r>
                <a:rPr lang="en-US" altLang="zh-CN" sz="3200" b="1" dirty="0">
                  <a:solidFill>
                    <a:schemeClr val="bg1"/>
                  </a:solidFill>
                </a:rPr>
                <a:t>03</a:t>
              </a:r>
              <a:endParaRPr lang="zh-CN" altLang="en-US" sz="3200" b="1" dirty="0">
                <a:solidFill>
                  <a:schemeClr val="bg1"/>
                </a:solidFill>
              </a:endParaRPr>
            </a:p>
          </p:txBody>
        </p:sp>
        <p:cxnSp>
          <p:nvCxnSpPr>
            <p:cNvPr id="32" name="直接连接符 31"/>
            <p:cNvCxnSpPr/>
            <p:nvPr/>
          </p:nvCxnSpPr>
          <p:spPr>
            <a:xfrm>
              <a:off x="4352725" y="2496263"/>
              <a:ext cx="0" cy="31897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677579" y="2354187"/>
              <a:ext cx="3669333"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方法流程与细节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grpSp>
        <p:nvGrpSpPr>
          <p:cNvPr id="34" name="组合 33"/>
          <p:cNvGrpSpPr/>
          <p:nvPr/>
        </p:nvGrpSpPr>
        <p:grpSpPr>
          <a:xfrm>
            <a:off x="3302794" y="4605851"/>
            <a:ext cx="5514976" cy="640928"/>
            <a:chOff x="3338512" y="2335286"/>
            <a:chExt cx="5514976" cy="640928"/>
          </a:xfrm>
        </p:grpSpPr>
        <p:pic>
          <p:nvPicPr>
            <p:cNvPr id="35" name="图片 3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38512" y="2335286"/>
              <a:ext cx="5514976" cy="640928"/>
            </a:xfrm>
            <a:prstGeom prst="rect">
              <a:avLst/>
            </a:prstGeom>
          </p:spPr>
        </p:pic>
        <p:sp>
          <p:nvSpPr>
            <p:cNvPr id="36" name="文本框 35"/>
            <p:cNvSpPr txBox="1"/>
            <p:nvPr/>
          </p:nvSpPr>
          <p:spPr>
            <a:xfrm>
              <a:off x="3638352" y="2354188"/>
              <a:ext cx="647699" cy="584775"/>
            </a:xfrm>
            <a:prstGeom prst="rect">
              <a:avLst/>
            </a:prstGeom>
            <a:noFill/>
          </p:spPr>
          <p:txBody>
            <a:bodyPr wrap="square" rtlCol="0">
              <a:spAutoFit/>
            </a:bodyPr>
            <a:lstStyle/>
            <a:p>
              <a:r>
                <a:rPr lang="en-US" altLang="zh-CN" sz="3200" b="1" dirty="0">
                  <a:solidFill>
                    <a:schemeClr val="bg1"/>
                  </a:solidFill>
                </a:rPr>
                <a:t>04</a:t>
              </a:r>
              <a:endParaRPr lang="zh-CN" altLang="en-US" sz="3200" b="1" dirty="0">
                <a:solidFill>
                  <a:schemeClr val="bg1"/>
                </a:solidFill>
              </a:endParaRPr>
            </a:p>
          </p:txBody>
        </p:sp>
        <p:cxnSp>
          <p:nvCxnSpPr>
            <p:cNvPr id="37" name="直接连接符 36"/>
            <p:cNvCxnSpPr/>
            <p:nvPr/>
          </p:nvCxnSpPr>
          <p:spPr>
            <a:xfrm>
              <a:off x="4352725" y="2496263"/>
              <a:ext cx="0" cy="31897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677579" y="2354187"/>
              <a:ext cx="3669333"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实验评估与结果</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3302794" y="5455938"/>
            <a:ext cx="5514976" cy="640928"/>
            <a:chOff x="3338512" y="2335286"/>
            <a:chExt cx="5514976" cy="640928"/>
          </a:xfrm>
        </p:grpSpPr>
        <p:pic>
          <p:nvPicPr>
            <p:cNvPr id="40" name="图片 3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38512" y="2335286"/>
              <a:ext cx="5514976" cy="640928"/>
            </a:xfrm>
            <a:prstGeom prst="rect">
              <a:avLst/>
            </a:prstGeom>
          </p:spPr>
        </p:pic>
        <p:sp>
          <p:nvSpPr>
            <p:cNvPr id="41" name="文本框 40"/>
            <p:cNvSpPr txBox="1"/>
            <p:nvPr/>
          </p:nvSpPr>
          <p:spPr>
            <a:xfrm>
              <a:off x="3638352" y="2354188"/>
              <a:ext cx="647699" cy="584775"/>
            </a:xfrm>
            <a:prstGeom prst="rect">
              <a:avLst/>
            </a:prstGeom>
            <a:noFill/>
          </p:spPr>
          <p:txBody>
            <a:bodyPr wrap="square" rtlCol="0">
              <a:spAutoFit/>
            </a:bodyPr>
            <a:lstStyle/>
            <a:p>
              <a:r>
                <a:rPr lang="en-US" altLang="zh-CN" sz="3200" b="1" dirty="0">
                  <a:solidFill>
                    <a:schemeClr val="bg1"/>
                  </a:solidFill>
                </a:rPr>
                <a:t>05</a:t>
              </a:r>
              <a:endParaRPr lang="zh-CN" altLang="en-US" sz="3200" b="1" dirty="0">
                <a:solidFill>
                  <a:schemeClr val="bg1"/>
                </a:solidFill>
              </a:endParaRPr>
            </a:p>
          </p:txBody>
        </p:sp>
        <p:cxnSp>
          <p:nvCxnSpPr>
            <p:cNvPr id="42" name="直接连接符 41"/>
            <p:cNvCxnSpPr/>
            <p:nvPr/>
          </p:nvCxnSpPr>
          <p:spPr>
            <a:xfrm>
              <a:off x="4352725" y="2496263"/>
              <a:ext cx="0" cy="31897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4677579" y="2354187"/>
              <a:ext cx="3669333" cy="58477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研究总结与展望</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01</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研究背景与问题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59920"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研究背景</a:t>
            </a:r>
            <a:endParaRPr lang="zh-CN" altLang="en-US" b="1" dirty="0">
              <a:solidFill>
                <a:schemeClr val="bg1"/>
              </a:solidFill>
            </a:endParaRPr>
          </a:p>
        </p:txBody>
      </p:sp>
      <p:sp>
        <p:nvSpPr>
          <p:cNvPr id="16" name="文本框 15"/>
          <p:cNvSpPr txBox="1"/>
          <p:nvPr/>
        </p:nvSpPr>
        <p:spPr>
          <a:xfrm>
            <a:off x="1523998" y="1651268"/>
            <a:ext cx="7620001" cy="4770537"/>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可视化模型是一种极佳的描述软件的方式</a:t>
            </a:r>
            <a:endParaRPr lang="en-US" altLang="zh-CN" sz="2400" b="1" dirty="0"/>
          </a:p>
          <a:p>
            <a:pPr marL="742950" lvl="1" indent="-285750">
              <a:lnSpc>
                <a:spcPct val="150000"/>
              </a:lnSpc>
              <a:buFont typeface="Arial" panose="020B0604020202020204" pitchFamily="34" charset="0"/>
              <a:buChar char="•"/>
            </a:pPr>
            <a:r>
              <a:rPr lang="zh-CN" altLang="en-US" sz="2400" dirty="0"/>
              <a:t>出色的表达和抽象能力</a:t>
            </a:r>
            <a:endParaRPr lang="en-US" altLang="zh-CN" sz="2400" dirty="0"/>
          </a:p>
          <a:p>
            <a:pPr marL="742950" lvl="1" indent="-285750">
              <a:lnSpc>
                <a:spcPct val="150000"/>
              </a:lnSpc>
              <a:buFont typeface="Arial" panose="020B0604020202020204" pitchFamily="34" charset="0"/>
              <a:buChar char="•"/>
            </a:pPr>
            <a:r>
              <a:rPr lang="zh-CN" altLang="en-US" sz="2400" dirty="0"/>
              <a:t>架起了用户需求与软件开发间的桥梁</a:t>
            </a:r>
            <a:endParaRPr lang="en-US" altLang="zh-CN" sz="2400" dirty="0"/>
          </a:p>
          <a:p>
            <a:pPr marL="285750" indent="-285750">
              <a:lnSpc>
                <a:spcPct val="150000"/>
              </a:lnSpc>
              <a:buFont typeface="Arial" panose="020B0604020202020204" pitchFamily="34" charset="0"/>
              <a:buChar char="•"/>
            </a:pPr>
            <a:r>
              <a:rPr lang="zh-CN" altLang="en-US" sz="2400" b="1" dirty="0"/>
              <a:t>可视化建模标记</a:t>
            </a:r>
            <a:endParaRPr lang="en-US" altLang="zh-CN" sz="2400" b="1" dirty="0"/>
          </a:p>
          <a:p>
            <a:pPr marL="742950" lvl="1" indent="-285750">
              <a:lnSpc>
                <a:spcPct val="150000"/>
              </a:lnSpc>
              <a:buFont typeface="Arial" panose="020B0604020202020204" pitchFamily="34" charset="0"/>
              <a:buChar char="•"/>
            </a:pPr>
            <a:r>
              <a:rPr lang="zh-CN" altLang="en-US" sz="2400" dirty="0"/>
              <a:t>流程图标记</a:t>
            </a:r>
            <a:endParaRPr lang="en-US" altLang="zh-CN" sz="2400" dirty="0"/>
          </a:p>
          <a:p>
            <a:pPr marL="742950" lvl="1" indent="-285750">
              <a:lnSpc>
                <a:spcPct val="150000"/>
              </a:lnSpc>
              <a:buFont typeface="Arial" panose="020B0604020202020204" pitchFamily="34" charset="0"/>
              <a:buChar char="•"/>
            </a:pPr>
            <a:r>
              <a:rPr lang="zh-CN" altLang="en-US" sz="2400" dirty="0"/>
              <a:t>统一建模语言（</a:t>
            </a:r>
            <a:r>
              <a:rPr lang="en-US" altLang="zh-CN" sz="2400" dirty="0"/>
              <a:t>UML)</a:t>
            </a:r>
            <a:endParaRPr lang="en-US" altLang="zh-CN" sz="2400" dirty="0"/>
          </a:p>
          <a:p>
            <a:pPr marL="742950" lvl="1" indent="-285750">
              <a:lnSpc>
                <a:spcPct val="150000"/>
              </a:lnSpc>
              <a:buFont typeface="Arial" panose="020B0604020202020204" pitchFamily="34" charset="0"/>
              <a:buChar char="•"/>
            </a:pPr>
            <a:r>
              <a:rPr lang="zh-CN" altLang="en-US" sz="2400" dirty="0"/>
              <a:t>业务过程建模标记（</a:t>
            </a:r>
            <a:r>
              <a:rPr lang="en-US" altLang="zh-CN" sz="2400" dirty="0"/>
              <a:t>BPMN)</a:t>
            </a:r>
            <a:endParaRPr lang="en-US" altLang="zh-CN" sz="2400" dirty="0"/>
          </a:p>
          <a:p>
            <a:pPr>
              <a:lnSpc>
                <a:spcPct val="150000"/>
              </a:lnSpc>
            </a:pP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01</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研究背景与问题</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59920"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发现问题</a:t>
            </a:r>
            <a:endParaRPr lang="zh-CN" altLang="en-US" b="1" dirty="0">
              <a:solidFill>
                <a:schemeClr val="bg1"/>
              </a:solidFill>
            </a:endParaRPr>
          </a:p>
        </p:txBody>
      </p:sp>
      <p:sp>
        <p:nvSpPr>
          <p:cNvPr id="16" name="文本框 15"/>
          <p:cNvSpPr txBox="1"/>
          <p:nvPr/>
        </p:nvSpPr>
        <p:spPr>
          <a:xfrm>
            <a:off x="1523998" y="1506890"/>
            <a:ext cx="7620001" cy="5324535"/>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模型图对于人而言易于理解</a:t>
            </a:r>
            <a:endParaRPr lang="en-US" altLang="zh-CN" sz="2400" b="1" dirty="0"/>
          </a:p>
          <a:p>
            <a:pPr marL="742950" lvl="1" indent="-285750">
              <a:lnSpc>
                <a:spcPct val="150000"/>
              </a:lnSpc>
              <a:buFont typeface="Arial" panose="020B0604020202020204" pitchFamily="34" charset="0"/>
              <a:buChar char="•"/>
            </a:pPr>
            <a:r>
              <a:rPr lang="zh-CN" altLang="en-US" sz="2400" dirty="0"/>
              <a:t>有许多建模工具，易于绘制</a:t>
            </a:r>
            <a:endParaRPr lang="en-US" altLang="zh-CN" sz="2400" b="1" dirty="0"/>
          </a:p>
          <a:p>
            <a:pPr marL="742950" lvl="1" indent="-285750">
              <a:lnSpc>
                <a:spcPct val="150000"/>
              </a:lnSpc>
              <a:buFont typeface="Arial" panose="020B0604020202020204" pitchFamily="34" charset="0"/>
              <a:buChar char="•"/>
            </a:pPr>
            <a:r>
              <a:rPr lang="zh-CN" altLang="en-US" sz="2400" dirty="0"/>
              <a:t>符号简单明了</a:t>
            </a:r>
            <a:endParaRPr lang="en-US" altLang="zh-CN" sz="2400" dirty="0"/>
          </a:p>
          <a:p>
            <a:pPr marL="742950" lvl="1" indent="-285750">
              <a:lnSpc>
                <a:spcPct val="150000"/>
              </a:lnSpc>
              <a:buFont typeface="Arial" panose="020B0604020202020204" pitchFamily="34" charset="0"/>
              <a:buChar char="•"/>
            </a:pPr>
            <a:r>
              <a:rPr lang="zh-CN" altLang="en-US" sz="2400" dirty="0"/>
              <a:t>结构层次清晰</a:t>
            </a:r>
            <a:endParaRPr lang="en-US" altLang="zh-CN" sz="2400" dirty="0"/>
          </a:p>
          <a:p>
            <a:pPr marL="285750" indent="-285750">
              <a:lnSpc>
                <a:spcPct val="150000"/>
              </a:lnSpc>
              <a:buFont typeface="Arial" panose="020B0604020202020204" pitchFamily="34" charset="0"/>
              <a:buChar char="•"/>
            </a:pPr>
            <a:r>
              <a:rPr lang="zh-CN" altLang="en-US" sz="2400" b="1" dirty="0"/>
              <a:t>计算机不能直接从模型图中识别模型语义</a:t>
            </a:r>
            <a:endParaRPr lang="en-US" altLang="zh-CN" sz="2400" b="1" dirty="0"/>
          </a:p>
          <a:p>
            <a:pPr marL="742950" lvl="1" indent="-285750">
              <a:lnSpc>
                <a:spcPct val="150000"/>
              </a:lnSpc>
              <a:buFont typeface="Arial" panose="020B0604020202020204" pitchFamily="34" charset="0"/>
              <a:buChar char="•"/>
            </a:pPr>
            <a:r>
              <a:rPr lang="zh-CN" altLang="en-US" sz="2400" dirty="0"/>
              <a:t>手工重绘费时费力，难以批量复用</a:t>
            </a:r>
            <a:endParaRPr lang="en-US" altLang="zh-CN" sz="2400" b="1" dirty="0"/>
          </a:p>
          <a:p>
            <a:pPr marL="742950" lvl="1" indent="-285750">
              <a:lnSpc>
                <a:spcPct val="150000"/>
              </a:lnSpc>
              <a:buFont typeface="Arial" panose="020B0604020202020204" pitchFamily="34" charset="0"/>
              <a:buChar char="•"/>
            </a:pPr>
            <a:r>
              <a:rPr lang="zh-CN" altLang="en-US" sz="2400" dirty="0"/>
              <a:t>需要基于模型定义文件来对模型进行应用</a:t>
            </a:r>
            <a:endParaRPr lang="en-US" altLang="zh-CN" sz="2400" dirty="0"/>
          </a:p>
          <a:p>
            <a:pPr marL="742950" lvl="1" indent="-285750">
              <a:lnSpc>
                <a:spcPct val="150000"/>
              </a:lnSpc>
              <a:buFont typeface="Arial" panose="020B0604020202020204" pitchFamily="34" charset="0"/>
              <a:buChar char="•"/>
            </a:pPr>
            <a:r>
              <a:rPr lang="zh-CN" altLang="en-US" sz="2400" dirty="0"/>
              <a:t>当前建模工具不能直接识别模型图片</a:t>
            </a:r>
            <a:endParaRPr lang="en-US" altLang="zh-CN" sz="2400" dirty="0"/>
          </a:p>
          <a:p>
            <a:pPr marL="285750" indent="-285750">
              <a:lnSpc>
                <a:spcPct val="150000"/>
              </a:lnSpc>
              <a:buFont typeface="Arial" panose="020B0604020202020204" pitchFamily="34" charset="0"/>
              <a:buChar char="•"/>
            </a:pPr>
            <a:r>
              <a:rPr lang="zh-CN" altLang="en-US" sz="2400" b="1" dirty="0"/>
              <a:t>需要一种自动化的模型图片识别方法</a:t>
            </a: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问题分析与方法</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59920"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常见模型</a:t>
            </a:r>
            <a:endParaRPr lang="zh-CN" altLang="en-US" b="1" dirty="0">
              <a:solidFill>
                <a:schemeClr val="bg1"/>
              </a:solidFill>
            </a:endParaRPr>
          </a:p>
        </p:txBody>
      </p:sp>
      <p:pic>
        <p:nvPicPr>
          <p:cNvPr id="7" name="图片 6"/>
          <p:cNvPicPr>
            <a:picLocks noChangeAspect="1"/>
          </p:cNvPicPr>
          <p:nvPr/>
        </p:nvPicPr>
        <p:blipFill>
          <a:blip r:embed="rId5"/>
          <a:stretch>
            <a:fillRect/>
          </a:stretch>
        </p:blipFill>
        <p:spPr>
          <a:xfrm>
            <a:off x="1006169" y="2536348"/>
            <a:ext cx="4360703" cy="2942047"/>
          </a:xfrm>
          <a:prstGeom prst="rect">
            <a:avLst/>
          </a:prstGeom>
        </p:spPr>
      </p:pic>
      <p:pic>
        <p:nvPicPr>
          <p:cNvPr id="2" name="图片 1"/>
          <p:cNvPicPr>
            <a:picLocks noChangeAspect="1"/>
          </p:cNvPicPr>
          <p:nvPr/>
        </p:nvPicPr>
        <p:blipFill>
          <a:blip r:embed="rId6"/>
          <a:stretch>
            <a:fillRect/>
          </a:stretch>
        </p:blipFill>
        <p:spPr>
          <a:xfrm>
            <a:off x="5823121" y="1345328"/>
            <a:ext cx="2112086" cy="4167343"/>
          </a:xfrm>
          <a:prstGeom prst="rect">
            <a:avLst/>
          </a:prstGeom>
        </p:spPr>
      </p:pic>
      <p:pic>
        <p:nvPicPr>
          <p:cNvPr id="1026" name="Picture 2" descr="https://gimg2.baidu.com/image_search/src=http%3A%2F%2Fyzhtml01.book118.com%2F2016%2F09%2F28%2F05%2F29146104%2F14.files%2Ffile0001.png&amp;refer=http%3A%2F%2Fyzhtml01.book118.com&amp;app=2002&amp;size=f9999,10000&amp;q=a80&amp;n=0&amp;g=0n&amp;fmt=jpeg?sec=1623243464&amp;t=c4d1cb0f1ef8839b6ee5fa7a0e732ac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91457" y="2519784"/>
            <a:ext cx="3250760" cy="2975176"/>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1925254" y="5606543"/>
            <a:ext cx="1936376" cy="430567"/>
          </a:xfrm>
          <a:prstGeom prst="rect">
            <a:avLst/>
          </a:prstGeom>
          <a:noFill/>
          <a:ln>
            <a:noFill/>
          </a:ln>
        </p:spPr>
        <p:txBody>
          <a:bodyPr wrap="square" rtlCol="0">
            <a:spAutoFit/>
          </a:bodyPr>
          <a:lstStyle/>
          <a:p>
            <a:pPr algn="ctr">
              <a:lnSpc>
                <a:spcPct val="150000"/>
              </a:lnSpc>
            </a:pPr>
            <a:r>
              <a:rPr lang="zh-CN" altLang="en-US" sz="1600" b="1" dirty="0"/>
              <a:t>业务过程图</a:t>
            </a:r>
            <a:endParaRPr lang="zh-CN" altLang="en-US" sz="1600" b="1" dirty="0"/>
          </a:p>
        </p:txBody>
      </p:sp>
      <p:sp>
        <p:nvSpPr>
          <p:cNvPr id="19" name="文本框 18"/>
          <p:cNvSpPr txBox="1"/>
          <p:nvPr/>
        </p:nvSpPr>
        <p:spPr>
          <a:xfrm>
            <a:off x="5910976" y="5606542"/>
            <a:ext cx="1936376" cy="430567"/>
          </a:xfrm>
          <a:prstGeom prst="rect">
            <a:avLst/>
          </a:prstGeom>
          <a:noFill/>
          <a:ln>
            <a:noFill/>
          </a:ln>
        </p:spPr>
        <p:txBody>
          <a:bodyPr wrap="square" rtlCol="0">
            <a:spAutoFit/>
          </a:bodyPr>
          <a:lstStyle/>
          <a:p>
            <a:pPr algn="ctr">
              <a:lnSpc>
                <a:spcPct val="150000"/>
              </a:lnSpc>
            </a:pPr>
            <a:r>
              <a:rPr lang="zh-CN" altLang="en-US" sz="1600" b="1" dirty="0"/>
              <a:t>流程图</a:t>
            </a:r>
            <a:endParaRPr lang="zh-CN" altLang="en-US" sz="1600" b="1" dirty="0"/>
          </a:p>
        </p:txBody>
      </p:sp>
      <p:sp>
        <p:nvSpPr>
          <p:cNvPr id="20" name="文本框 19"/>
          <p:cNvSpPr txBox="1"/>
          <p:nvPr/>
        </p:nvSpPr>
        <p:spPr>
          <a:xfrm>
            <a:off x="9051488" y="5606541"/>
            <a:ext cx="1936376" cy="430567"/>
          </a:xfrm>
          <a:prstGeom prst="rect">
            <a:avLst/>
          </a:prstGeom>
          <a:noFill/>
          <a:ln>
            <a:noFill/>
          </a:ln>
        </p:spPr>
        <p:txBody>
          <a:bodyPr wrap="square" rtlCol="0">
            <a:spAutoFit/>
          </a:bodyPr>
          <a:lstStyle/>
          <a:p>
            <a:pPr algn="ctr">
              <a:lnSpc>
                <a:spcPct val="150000"/>
              </a:lnSpc>
            </a:pPr>
            <a:r>
              <a:rPr lang="en-US" altLang="zh-CN" sz="1600" b="1" dirty="0"/>
              <a:t>UML</a:t>
            </a:r>
            <a:r>
              <a:rPr lang="zh-CN" altLang="en-US" sz="1600" b="1" dirty="0"/>
              <a:t>类图</a:t>
            </a:r>
            <a:endParaRPr lang="zh-CN" altLang="en-US" sz="16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问题分析与方法</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360514"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模型图特点</a:t>
            </a:r>
            <a:endParaRPr lang="zh-CN" altLang="en-US" b="1" dirty="0">
              <a:solidFill>
                <a:schemeClr val="bg1"/>
              </a:solidFill>
            </a:endParaRPr>
          </a:p>
        </p:txBody>
      </p:sp>
      <p:sp>
        <p:nvSpPr>
          <p:cNvPr id="16" name="文本框 15"/>
          <p:cNvSpPr txBox="1"/>
          <p:nvPr/>
        </p:nvSpPr>
        <p:spPr>
          <a:xfrm>
            <a:off x="1523998" y="1651268"/>
            <a:ext cx="7620001" cy="5324535"/>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箭头连接</a:t>
            </a:r>
            <a:endParaRPr lang="en-US" altLang="zh-CN" sz="2400" b="1" dirty="0"/>
          </a:p>
          <a:p>
            <a:pPr marL="742950" lvl="1" indent="-285750">
              <a:lnSpc>
                <a:spcPct val="150000"/>
              </a:lnSpc>
              <a:buFont typeface="Arial" panose="020B0604020202020204" pitchFamily="34" charset="0"/>
              <a:buChar char="•"/>
            </a:pPr>
            <a:r>
              <a:rPr lang="zh-CN" altLang="en-US" sz="2400" dirty="0"/>
              <a:t>网络状图片</a:t>
            </a:r>
            <a:endParaRPr lang="en-US" altLang="zh-CN" sz="2400" dirty="0"/>
          </a:p>
          <a:p>
            <a:pPr marL="285750" indent="-285750">
              <a:lnSpc>
                <a:spcPct val="150000"/>
              </a:lnSpc>
              <a:buFont typeface="Arial" panose="020B0604020202020204" pitchFamily="34" charset="0"/>
              <a:buChar char="•"/>
            </a:pPr>
            <a:r>
              <a:rPr lang="zh-CN" altLang="en-US" sz="2400" b="1" dirty="0"/>
              <a:t>元素符号是闭合图形</a:t>
            </a:r>
            <a:endParaRPr lang="en-US" altLang="zh-CN" sz="2400" b="1" dirty="0"/>
          </a:p>
          <a:p>
            <a:pPr marL="742950" lvl="1" indent="-285750">
              <a:lnSpc>
                <a:spcPct val="150000"/>
              </a:lnSpc>
              <a:buFont typeface="Arial" panose="020B0604020202020204" pitchFamily="34" charset="0"/>
              <a:buChar char="•"/>
            </a:pPr>
            <a:r>
              <a:rPr lang="zh-CN" altLang="en-US" sz="2400" dirty="0"/>
              <a:t>大小基本一致</a:t>
            </a:r>
            <a:endParaRPr lang="en-US" altLang="zh-CN" sz="2400" dirty="0"/>
          </a:p>
          <a:p>
            <a:pPr marL="742950" lvl="1" indent="-285750">
              <a:lnSpc>
                <a:spcPct val="150000"/>
              </a:lnSpc>
              <a:buFont typeface="Arial" panose="020B0604020202020204" pitchFamily="34" charset="0"/>
              <a:buChar char="•"/>
            </a:pPr>
            <a:r>
              <a:rPr lang="zh-CN" altLang="en-US" sz="2400" dirty="0"/>
              <a:t>形状规范</a:t>
            </a:r>
            <a:endParaRPr lang="en-US" altLang="zh-CN" sz="2400" dirty="0"/>
          </a:p>
          <a:p>
            <a:pPr marL="742950" lvl="1" indent="-285750">
              <a:lnSpc>
                <a:spcPct val="150000"/>
              </a:lnSpc>
              <a:buFont typeface="Arial" panose="020B0604020202020204" pitchFamily="34" charset="0"/>
              <a:buChar char="•"/>
            </a:pPr>
            <a:r>
              <a:rPr lang="zh-CN" altLang="en-US" sz="2400" dirty="0"/>
              <a:t>连接紧密</a:t>
            </a:r>
            <a:endParaRPr lang="en-US" altLang="zh-CN" sz="2400" dirty="0"/>
          </a:p>
          <a:p>
            <a:pPr marL="285750" indent="-285750">
              <a:lnSpc>
                <a:spcPct val="150000"/>
              </a:lnSpc>
              <a:buFont typeface="Arial" panose="020B0604020202020204" pitchFamily="34" charset="0"/>
              <a:buChar char="•"/>
            </a:pPr>
            <a:r>
              <a:rPr lang="zh-CN" altLang="en-US" sz="2400" b="1" dirty="0"/>
              <a:t>泳池差异</a:t>
            </a:r>
            <a:endParaRPr lang="en-US" altLang="zh-CN" sz="2400" b="1" dirty="0"/>
          </a:p>
          <a:p>
            <a:pPr marL="742950" lvl="1" indent="-285750">
              <a:lnSpc>
                <a:spcPct val="150000"/>
              </a:lnSpc>
              <a:buFont typeface="Arial" panose="020B0604020202020204" pitchFamily="34" charset="0"/>
              <a:buChar char="•"/>
            </a:pPr>
            <a:r>
              <a:rPr lang="zh-CN" altLang="en-US" sz="2400" dirty="0"/>
              <a:t>分组矩形框</a:t>
            </a:r>
            <a:endParaRPr lang="en-US" altLang="zh-CN" sz="2400" dirty="0"/>
          </a:p>
          <a:p>
            <a:pPr marL="285750" indent="-285750">
              <a:lnSpc>
                <a:spcPct val="150000"/>
              </a:lnSpc>
              <a:buFont typeface="Arial" panose="020B0604020202020204" pitchFamily="34" charset="0"/>
              <a:buChar char="•"/>
            </a:pPr>
            <a:endParaRPr lang="en-US" altLang="zh-CN" sz="2400" b="1" dirty="0"/>
          </a:p>
          <a:p>
            <a:pPr marL="285750" indent="-285750">
              <a:buFont typeface="Arial" panose="020B0604020202020204" pitchFamily="34" charset="0"/>
              <a:buChar char="•"/>
            </a:pPr>
            <a:endParaRPr lang="zh-CN" altLang="en-US" sz="1600" b="1" dirty="0"/>
          </a:p>
        </p:txBody>
      </p:sp>
      <p:pic>
        <p:nvPicPr>
          <p:cNvPr id="19" name="图片 18"/>
          <p:cNvPicPr>
            <a:picLocks noChangeAspect="1"/>
          </p:cNvPicPr>
          <p:nvPr/>
        </p:nvPicPr>
        <p:blipFill>
          <a:blip r:embed="rId5"/>
          <a:stretch>
            <a:fillRect/>
          </a:stretch>
        </p:blipFill>
        <p:spPr>
          <a:xfrm>
            <a:off x="5227114" y="1651268"/>
            <a:ext cx="5440883" cy="36708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问题分析与方法</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360514"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问题定义</a:t>
            </a:r>
            <a:endParaRPr lang="zh-CN" altLang="en-US" b="1" dirty="0">
              <a:solidFill>
                <a:schemeClr val="bg1"/>
              </a:solidFill>
            </a:endParaRPr>
          </a:p>
        </p:txBody>
      </p:sp>
      <p:sp>
        <p:nvSpPr>
          <p:cNvPr id="16" name="文本框 15"/>
          <p:cNvSpPr txBox="1"/>
          <p:nvPr/>
        </p:nvSpPr>
        <p:spPr>
          <a:xfrm>
            <a:off x="1523998" y="1651268"/>
            <a:ext cx="8997621" cy="5022016"/>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研究目标</a:t>
            </a:r>
            <a:endParaRPr lang="en-US" altLang="zh-CN" sz="2400" b="1" dirty="0"/>
          </a:p>
          <a:p>
            <a:pPr marL="742950" lvl="1" indent="-285750">
              <a:lnSpc>
                <a:spcPct val="150000"/>
              </a:lnSpc>
              <a:buFont typeface="Arial" panose="020B0604020202020204" pitchFamily="34" charset="0"/>
              <a:buChar char="•"/>
            </a:pPr>
            <a:r>
              <a:rPr lang="zh-CN" altLang="en-US" sz="2400" dirty="0"/>
              <a:t>从模型图片中识别出图形符号元素的信息，解析模型语义，并将其保存成对应模型的定义文件</a:t>
            </a:r>
            <a:endParaRPr lang="en-US" altLang="zh-CN" sz="2400" dirty="0"/>
          </a:p>
          <a:p>
            <a:pPr marL="285750" indent="-285750">
              <a:lnSpc>
                <a:spcPct val="150000"/>
              </a:lnSpc>
              <a:buFont typeface="Arial" panose="020B0604020202020204" pitchFamily="34" charset="0"/>
              <a:buChar char="•"/>
            </a:pPr>
            <a:r>
              <a:rPr lang="zh-CN" altLang="en-US" sz="2400" b="1" dirty="0"/>
              <a:t>研究意义</a:t>
            </a:r>
            <a:endParaRPr lang="en-US" altLang="zh-CN" sz="2400" b="1" dirty="0"/>
          </a:p>
          <a:p>
            <a:pPr marL="742950" lvl="1" indent="-285750">
              <a:lnSpc>
                <a:spcPct val="150000"/>
              </a:lnSpc>
              <a:buFont typeface="Arial" panose="020B0604020202020204" pitchFamily="34" charset="0"/>
              <a:buChar char="•"/>
            </a:pPr>
            <a:r>
              <a:rPr lang="zh-CN" altLang="en-US" sz="2400" dirty="0"/>
              <a:t>更好地对模型进行复用和管理</a:t>
            </a:r>
            <a:endParaRPr lang="zh-CN" altLang="en-US" sz="2400" dirty="0"/>
          </a:p>
          <a:p>
            <a:pPr marL="285750" indent="-285750">
              <a:lnSpc>
                <a:spcPct val="150000"/>
              </a:lnSpc>
              <a:buFont typeface="Arial" panose="020B0604020202020204" pitchFamily="34" charset="0"/>
              <a:buChar char="•"/>
            </a:pPr>
            <a:r>
              <a:rPr lang="zh-CN" altLang="en-US" sz="2400" b="1" dirty="0"/>
              <a:t>输入</a:t>
            </a:r>
            <a:endParaRPr lang="en-US" altLang="zh-CN" sz="2400" b="1" dirty="0"/>
          </a:p>
          <a:p>
            <a:pPr marL="742950" lvl="1" indent="-285750">
              <a:lnSpc>
                <a:spcPct val="150000"/>
              </a:lnSpc>
              <a:buFont typeface="Arial" panose="020B0604020202020204" pitchFamily="34" charset="0"/>
              <a:buChar char="•"/>
            </a:pPr>
            <a:r>
              <a:rPr lang="zh-CN" altLang="en-US" sz="2400" dirty="0"/>
              <a:t>模型图片</a:t>
            </a:r>
            <a:endParaRPr lang="en-US" altLang="zh-CN" sz="2400" dirty="0"/>
          </a:p>
          <a:p>
            <a:pPr marL="285750" indent="-285750">
              <a:lnSpc>
                <a:spcPct val="150000"/>
              </a:lnSpc>
              <a:buFont typeface="Arial" panose="020B0604020202020204" pitchFamily="34" charset="0"/>
              <a:buChar char="•"/>
            </a:pPr>
            <a:r>
              <a:rPr lang="zh-CN" altLang="en-US" sz="2400" b="1" dirty="0"/>
              <a:t>输出</a:t>
            </a:r>
            <a:endParaRPr lang="en-US" altLang="zh-CN" sz="2400" b="1" dirty="0"/>
          </a:p>
          <a:p>
            <a:pPr marL="742950" lvl="1" indent="-285750">
              <a:lnSpc>
                <a:spcPct val="150000"/>
              </a:lnSpc>
              <a:buFont typeface="Arial" panose="020B0604020202020204" pitchFamily="34" charset="0"/>
              <a:buChar char="•"/>
            </a:pPr>
            <a:r>
              <a:rPr lang="zh-CN" altLang="en-US" sz="2400" dirty="0"/>
              <a:t>模型定义文件</a:t>
            </a:r>
            <a:endParaRPr lang="en-US" altLang="zh-CN"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问题分析与方法</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2384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问题难点</a:t>
            </a:r>
            <a:endParaRPr lang="zh-CN" altLang="en-US" b="1" dirty="0">
              <a:solidFill>
                <a:schemeClr val="bg1"/>
              </a:solidFill>
            </a:endParaRPr>
          </a:p>
        </p:txBody>
      </p:sp>
      <p:sp>
        <p:nvSpPr>
          <p:cNvPr id="16" name="文本框 15"/>
          <p:cNvSpPr txBox="1"/>
          <p:nvPr/>
        </p:nvSpPr>
        <p:spPr>
          <a:xfrm>
            <a:off x="1523998" y="1651268"/>
            <a:ext cx="7620001" cy="4216539"/>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元素定位</a:t>
            </a:r>
            <a:endParaRPr lang="en-US" altLang="zh-CN" sz="2400" b="1" dirty="0"/>
          </a:p>
          <a:p>
            <a:pPr marL="742950" lvl="1" indent="-285750">
              <a:lnSpc>
                <a:spcPct val="150000"/>
              </a:lnSpc>
              <a:buFont typeface="Arial" panose="020B0604020202020204" pitchFamily="34" charset="0"/>
              <a:buChar char="•"/>
            </a:pPr>
            <a:r>
              <a:rPr lang="zh-CN" altLang="en-US" sz="2400" dirty="0"/>
              <a:t>元素大小</a:t>
            </a:r>
            <a:endParaRPr lang="en-US" altLang="zh-CN" sz="2400" dirty="0"/>
          </a:p>
          <a:p>
            <a:pPr marL="742950" lvl="1" indent="-285750">
              <a:lnSpc>
                <a:spcPct val="150000"/>
              </a:lnSpc>
              <a:buFont typeface="Arial" panose="020B0604020202020204" pitchFamily="34" charset="0"/>
              <a:buChar char="•"/>
            </a:pPr>
            <a:r>
              <a:rPr lang="zh-CN" altLang="en-US" sz="2400" dirty="0"/>
              <a:t>元素位置</a:t>
            </a:r>
            <a:endParaRPr lang="en-US" altLang="zh-CN" sz="2400" dirty="0"/>
          </a:p>
          <a:p>
            <a:pPr marL="742950" lvl="1" indent="-285750">
              <a:lnSpc>
                <a:spcPct val="150000"/>
              </a:lnSpc>
              <a:buFont typeface="Arial" panose="020B0604020202020204" pitchFamily="34" charset="0"/>
              <a:buChar char="•"/>
            </a:pPr>
            <a:r>
              <a:rPr lang="zh-CN" altLang="en-US" sz="2400" dirty="0"/>
              <a:t>嵌套关系</a:t>
            </a:r>
            <a:endParaRPr lang="en-US" altLang="zh-CN" sz="2400" dirty="0"/>
          </a:p>
          <a:p>
            <a:pPr marL="285750" indent="-285750">
              <a:lnSpc>
                <a:spcPct val="150000"/>
              </a:lnSpc>
              <a:buFont typeface="Arial" panose="020B0604020202020204" pitchFamily="34" charset="0"/>
              <a:buChar char="•"/>
            </a:pPr>
            <a:r>
              <a:rPr lang="zh-CN" altLang="en-US" sz="2400" b="1" dirty="0"/>
              <a:t>元素分类</a:t>
            </a:r>
            <a:endParaRPr lang="en-US" altLang="zh-CN" sz="2400" b="1" dirty="0"/>
          </a:p>
          <a:p>
            <a:pPr marL="742950" lvl="1" indent="-285750">
              <a:lnSpc>
                <a:spcPct val="150000"/>
              </a:lnSpc>
              <a:buFont typeface="Arial" panose="020B0604020202020204" pitchFamily="34" charset="0"/>
              <a:buChar char="•"/>
            </a:pPr>
            <a:r>
              <a:rPr lang="zh-CN" altLang="en-US" sz="2400" dirty="0"/>
              <a:t>元素标记种类多</a:t>
            </a:r>
            <a:endParaRPr lang="en-US" altLang="zh-CN" sz="2400" dirty="0"/>
          </a:p>
          <a:p>
            <a:pPr marL="742950" lvl="1" indent="-285750">
              <a:lnSpc>
                <a:spcPct val="150000"/>
              </a:lnSpc>
              <a:buFont typeface="Arial" panose="020B0604020202020204" pitchFamily="34" charset="0"/>
              <a:buChar char="•"/>
            </a:pPr>
            <a:r>
              <a:rPr lang="zh-CN" altLang="en-US" sz="2400" dirty="0"/>
              <a:t>部分标记很相似</a:t>
            </a:r>
            <a:endParaRPr lang="en-US" altLang="zh-CN" sz="2400"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问题分析与方法</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2384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问题难点</a:t>
            </a:r>
            <a:endParaRPr lang="zh-CN" altLang="en-US" b="1" dirty="0">
              <a:solidFill>
                <a:schemeClr val="bg1"/>
              </a:solidFill>
            </a:endParaRPr>
          </a:p>
        </p:txBody>
      </p:sp>
      <p:sp>
        <p:nvSpPr>
          <p:cNvPr id="16" name="文本框 15"/>
          <p:cNvSpPr txBox="1"/>
          <p:nvPr/>
        </p:nvSpPr>
        <p:spPr>
          <a:xfrm>
            <a:off x="1523998" y="1651268"/>
            <a:ext cx="7620001" cy="4770537"/>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连接关系检测</a:t>
            </a:r>
            <a:endParaRPr lang="en-US" altLang="zh-CN" sz="2400" b="1" dirty="0"/>
          </a:p>
          <a:p>
            <a:pPr marL="742950" lvl="1" indent="-285750">
              <a:lnSpc>
                <a:spcPct val="150000"/>
              </a:lnSpc>
              <a:buFont typeface="Arial" panose="020B0604020202020204" pitchFamily="34" charset="0"/>
              <a:buChar char="•"/>
            </a:pPr>
            <a:r>
              <a:rPr lang="zh-CN" altLang="en-US" sz="2400" dirty="0"/>
              <a:t>连接路径</a:t>
            </a:r>
            <a:endParaRPr lang="en-US" altLang="zh-CN" sz="2400" dirty="0"/>
          </a:p>
          <a:p>
            <a:pPr marL="742950" lvl="1" indent="-285750">
              <a:lnSpc>
                <a:spcPct val="150000"/>
              </a:lnSpc>
              <a:buFont typeface="Arial" panose="020B0604020202020204" pitchFamily="34" charset="0"/>
              <a:buChar char="•"/>
            </a:pPr>
            <a:r>
              <a:rPr lang="zh-CN" altLang="en-US" sz="2400" dirty="0"/>
              <a:t>连接方向</a:t>
            </a:r>
            <a:endParaRPr lang="en-US" altLang="zh-CN" sz="2400" dirty="0"/>
          </a:p>
          <a:p>
            <a:pPr marL="285750" indent="-285750">
              <a:lnSpc>
                <a:spcPct val="150000"/>
              </a:lnSpc>
              <a:buFont typeface="Arial" panose="020B0604020202020204" pitchFamily="34" charset="0"/>
              <a:buChar char="•"/>
            </a:pPr>
            <a:r>
              <a:rPr lang="zh-CN" altLang="en-US" sz="2400" b="1" dirty="0"/>
              <a:t>图片文本识别</a:t>
            </a:r>
            <a:endParaRPr lang="en-US" altLang="zh-CN" sz="2400" b="1" dirty="0"/>
          </a:p>
          <a:p>
            <a:pPr marL="742950" lvl="1" indent="-285750">
              <a:lnSpc>
                <a:spcPct val="150000"/>
              </a:lnSpc>
              <a:buFont typeface="Arial" panose="020B0604020202020204" pitchFamily="34" charset="0"/>
              <a:buChar char="•"/>
            </a:pPr>
            <a:r>
              <a:rPr lang="zh-CN" altLang="en-US" sz="2400" dirty="0"/>
              <a:t>文本定位</a:t>
            </a:r>
            <a:endParaRPr lang="en-US" altLang="zh-CN" sz="2400" dirty="0"/>
          </a:p>
          <a:p>
            <a:pPr marL="742950" lvl="1" indent="-285750">
              <a:lnSpc>
                <a:spcPct val="150000"/>
              </a:lnSpc>
              <a:buFont typeface="Arial" panose="020B0604020202020204" pitchFamily="34" charset="0"/>
              <a:buChar char="•"/>
            </a:pPr>
            <a:r>
              <a:rPr lang="zh-CN" altLang="en-US" sz="2400" dirty="0"/>
              <a:t>文本识别</a:t>
            </a:r>
            <a:endParaRPr lang="en-US" altLang="zh-CN" sz="2400" dirty="0"/>
          </a:p>
          <a:p>
            <a:pPr marL="742950" lvl="1" indent="-285750">
              <a:lnSpc>
                <a:spcPct val="150000"/>
              </a:lnSpc>
              <a:buFont typeface="Arial" panose="020B0604020202020204" pitchFamily="34" charset="0"/>
              <a:buChar char="•"/>
            </a:pPr>
            <a:endParaRPr lang="en-US" altLang="zh-CN" sz="2400" b="1" dirty="0"/>
          </a:p>
          <a:p>
            <a:pPr marL="742950" lvl="1" indent="-285750">
              <a:lnSpc>
                <a:spcPct val="150000"/>
              </a:lnSpc>
              <a:buFont typeface="Arial" panose="020B0604020202020204" pitchFamily="34" charset="0"/>
              <a:buChar char="•"/>
            </a:pP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02</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问题分析与方法</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2384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研究现状</a:t>
            </a:r>
            <a:endParaRPr lang="zh-CN" altLang="en-US" b="1" dirty="0">
              <a:solidFill>
                <a:schemeClr val="bg1"/>
              </a:solidFill>
            </a:endParaRPr>
          </a:p>
        </p:txBody>
      </p:sp>
      <p:sp>
        <p:nvSpPr>
          <p:cNvPr id="16" name="文本框 15"/>
          <p:cNvSpPr txBox="1"/>
          <p:nvPr/>
        </p:nvSpPr>
        <p:spPr>
          <a:xfrm>
            <a:off x="1523998" y="1651268"/>
            <a:ext cx="8824116" cy="2000548"/>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传统的图片识别中，更多基于人工特征来表示图形并分类</a:t>
            </a:r>
            <a:endParaRPr lang="en-US" altLang="zh-CN" sz="2400" b="1" dirty="0"/>
          </a:p>
          <a:p>
            <a:pPr marL="285750" indent="-285750">
              <a:lnSpc>
                <a:spcPct val="150000"/>
              </a:lnSpc>
              <a:buFont typeface="Arial" panose="020B0604020202020204" pitchFamily="34" charset="0"/>
              <a:buChar char="•"/>
            </a:pPr>
            <a:r>
              <a:rPr lang="zh-CN" altLang="en-US" sz="2400" b="1" dirty="0"/>
              <a:t>深度卷积神经网络的出现，使得图像分类准确率极大提升</a:t>
            </a:r>
            <a:endParaRPr lang="en-US" altLang="zh-CN" sz="2400" b="1" dirty="0"/>
          </a:p>
          <a:p>
            <a:pPr marL="285750" indent="-285750">
              <a:lnSpc>
                <a:spcPct val="150000"/>
              </a:lnSpc>
              <a:buFont typeface="Arial" panose="020B0604020202020204" pitchFamily="34" charset="0"/>
              <a:buChar char="•"/>
            </a:pPr>
            <a:r>
              <a:rPr lang="zh-CN" altLang="en-US" sz="2400" b="1" dirty="0"/>
              <a:t>当前目标检测系统能准确定位并识别图片中的对象</a:t>
            </a:r>
            <a:endParaRPr lang="en-US" altLang="zh-CN" sz="2400" b="1" dirty="0"/>
          </a:p>
          <a:p>
            <a:pPr marL="285750" indent="-285750">
              <a:buFont typeface="Arial" panose="020B0604020202020204" pitchFamily="34" charset="0"/>
              <a:buChar char="•"/>
            </a:pPr>
            <a:endParaRPr lang="zh-CN" altLang="en-US" sz="1600" b="1" dirty="0"/>
          </a:p>
        </p:txBody>
      </p:sp>
      <p:sp>
        <p:nvSpPr>
          <p:cNvPr id="19" name="文本框 18"/>
          <p:cNvSpPr txBox="1"/>
          <p:nvPr/>
        </p:nvSpPr>
        <p:spPr>
          <a:xfrm>
            <a:off x="1006169" y="3758637"/>
            <a:ext cx="112384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当前不足</a:t>
            </a:r>
            <a:endParaRPr lang="zh-CN" altLang="en-US" b="1" dirty="0">
              <a:solidFill>
                <a:schemeClr val="bg1"/>
              </a:solidFill>
            </a:endParaRPr>
          </a:p>
        </p:txBody>
      </p:sp>
      <p:sp>
        <p:nvSpPr>
          <p:cNvPr id="20" name="文本框 19"/>
          <p:cNvSpPr txBox="1"/>
          <p:nvPr/>
        </p:nvSpPr>
        <p:spPr>
          <a:xfrm>
            <a:off x="1568091" y="4233737"/>
            <a:ext cx="7620001" cy="2000548"/>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目标检测系统无法检测连接线</a:t>
            </a:r>
            <a:endParaRPr lang="en-US" altLang="zh-CN" sz="2400" b="1" dirty="0"/>
          </a:p>
          <a:p>
            <a:pPr marL="285750" indent="-285750">
              <a:lnSpc>
                <a:spcPct val="150000"/>
              </a:lnSpc>
              <a:buFont typeface="Arial" panose="020B0604020202020204" pitchFamily="34" charset="0"/>
              <a:buChar char="•"/>
            </a:pPr>
            <a:r>
              <a:rPr lang="zh-CN" altLang="en-US" sz="2400" b="1" dirty="0"/>
              <a:t>不能判断连接线的路径和方向</a:t>
            </a:r>
            <a:endParaRPr lang="en-US" altLang="zh-CN" sz="2400" b="1" dirty="0"/>
          </a:p>
          <a:p>
            <a:pPr marL="285750" indent="-285750">
              <a:lnSpc>
                <a:spcPct val="150000"/>
              </a:lnSpc>
              <a:buFont typeface="Arial" panose="020B0604020202020204" pitchFamily="34" charset="0"/>
              <a:buChar char="•"/>
            </a:pPr>
            <a:r>
              <a:rPr lang="zh-CN" altLang="en-US" sz="2400" b="1" dirty="0"/>
              <a:t>针对计算机绘制的模型图的识别方法较少</a:t>
            </a: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2384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方法框架</a:t>
            </a:r>
            <a:endParaRPr lang="zh-CN" altLang="en-US" b="1" dirty="0">
              <a:solidFill>
                <a:schemeClr val="bg1"/>
              </a:solidFill>
            </a:endParaRPr>
          </a:p>
        </p:txBody>
      </p:sp>
      <p:sp>
        <p:nvSpPr>
          <p:cNvPr id="19" name="圆角矩形 3"/>
          <p:cNvSpPr/>
          <p:nvPr/>
        </p:nvSpPr>
        <p:spPr>
          <a:xfrm>
            <a:off x="1974698" y="3426064"/>
            <a:ext cx="1079252" cy="864000"/>
          </a:xfrm>
          <a:prstGeom prst="round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rPr>
              <a:t>轮廓检测</a:t>
            </a:r>
            <a:endParaRPr lang="zh-CN" altLang="en-US" b="1" dirty="0">
              <a:solidFill>
                <a:schemeClr val="tx1"/>
              </a:solidFill>
            </a:endParaRPr>
          </a:p>
        </p:txBody>
      </p:sp>
      <p:sp>
        <p:nvSpPr>
          <p:cNvPr id="20" name="圆角矩形 4"/>
          <p:cNvSpPr/>
          <p:nvPr/>
        </p:nvSpPr>
        <p:spPr>
          <a:xfrm>
            <a:off x="3399850" y="3426064"/>
            <a:ext cx="1096842" cy="864000"/>
          </a:xfrm>
          <a:prstGeom prst="round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rPr>
              <a:t>元素过滤</a:t>
            </a:r>
            <a:endParaRPr lang="zh-CN" altLang="en-US" b="1" dirty="0">
              <a:solidFill>
                <a:schemeClr val="tx1"/>
              </a:solidFill>
            </a:endParaRPr>
          </a:p>
        </p:txBody>
      </p:sp>
      <p:sp>
        <p:nvSpPr>
          <p:cNvPr id="22" name="圆角矩形 6"/>
          <p:cNvSpPr/>
          <p:nvPr/>
        </p:nvSpPr>
        <p:spPr>
          <a:xfrm>
            <a:off x="4867446" y="3429000"/>
            <a:ext cx="1160614" cy="864000"/>
          </a:xfrm>
          <a:prstGeom prst="round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rPr>
              <a:t>连接检测</a:t>
            </a:r>
            <a:endParaRPr lang="zh-CN" altLang="en-US" b="1" dirty="0">
              <a:solidFill>
                <a:schemeClr val="tx1"/>
              </a:solidFill>
            </a:endParaRPr>
          </a:p>
        </p:txBody>
      </p:sp>
      <p:sp>
        <p:nvSpPr>
          <p:cNvPr id="23" name="圆角矩形 7"/>
          <p:cNvSpPr/>
          <p:nvPr/>
        </p:nvSpPr>
        <p:spPr>
          <a:xfrm>
            <a:off x="6373960" y="3429000"/>
            <a:ext cx="1047708" cy="864000"/>
          </a:xfrm>
          <a:prstGeom prst="round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rPr>
              <a:t>元素分类</a:t>
            </a:r>
            <a:endParaRPr lang="zh-CN" altLang="en-US" b="1" dirty="0">
              <a:solidFill>
                <a:schemeClr val="tx1"/>
              </a:solidFill>
            </a:endParaRPr>
          </a:p>
        </p:txBody>
      </p:sp>
      <p:sp>
        <p:nvSpPr>
          <p:cNvPr id="24" name="圆角矩形 8"/>
          <p:cNvSpPr/>
          <p:nvPr/>
        </p:nvSpPr>
        <p:spPr>
          <a:xfrm>
            <a:off x="9396351" y="3429000"/>
            <a:ext cx="1113966" cy="864000"/>
          </a:xfrm>
          <a:prstGeom prst="roundRect">
            <a:avLst/>
          </a:prstGeom>
          <a:solidFill>
            <a:schemeClr val="bg1"/>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rPr>
              <a:t>模型导出</a:t>
            </a:r>
            <a:endParaRPr lang="zh-CN" altLang="en-US" b="1" dirty="0">
              <a:solidFill>
                <a:schemeClr val="tx1"/>
              </a:solidFill>
            </a:endParaRPr>
          </a:p>
        </p:txBody>
      </p:sp>
      <p:cxnSp>
        <p:nvCxnSpPr>
          <p:cNvPr id="25" name="直接箭头连接符 24"/>
          <p:cNvCxnSpPr>
            <a:stCxn id="19" idx="3"/>
            <a:endCxn id="20" idx="1"/>
          </p:cNvCxnSpPr>
          <p:nvPr/>
        </p:nvCxnSpPr>
        <p:spPr>
          <a:xfrm>
            <a:off x="3053950" y="3858064"/>
            <a:ext cx="345900" cy="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3" idx="3"/>
            <a:endCxn id="33" idx="1"/>
          </p:cNvCxnSpPr>
          <p:nvPr/>
        </p:nvCxnSpPr>
        <p:spPr>
          <a:xfrm>
            <a:off x="7421668" y="3861000"/>
            <a:ext cx="345901" cy="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22" idx="3"/>
            <a:endCxn id="23" idx="1"/>
          </p:cNvCxnSpPr>
          <p:nvPr/>
        </p:nvCxnSpPr>
        <p:spPr>
          <a:xfrm>
            <a:off x="6028060" y="3861000"/>
            <a:ext cx="345900" cy="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33" idx="3"/>
            <a:endCxn id="24" idx="1"/>
          </p:cNvCxnSpPr>
          <p:nvPr/>
        </p:nvCxnSpPr>
        <p:spPr>
          <a:xfrm>
            <a:off x="8948421" y="3861000"/>
            <a:ext cx="447930" cy="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流程图: 磁盘 28"/>
          <p:cNvSpPr/>
          <p:nvPr/>
        </p:nvSpPr>
        <p:spPr>
          <a:xfrm>
            <a:off x="6409554" y="2162807"/>
            <a:ext cx="976519" cy="939338"/>
          </a:xfrm>
          <a:prstGeom prst="flowChartMagneticDisk">
            <a:avLst/>
          </a:prstGeom>
          <a:solidFill>
            <a:schemeClr val="bg1"/>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dirty="0">
                <a:solidFill>
                  <a:schemeClr val="tx1"/>
                </a:solidFill>
              </a:rPr>
              <a:t>分类模型</a:t>
            </a:r>
            <a:endParaRPr lang="zh-CN" altLang="en-US" sz="1400" b="1" dirty="0">
              <a:solidFill>
                <a:schemeClr val="tx1"/>
              </a:solidFill>
            </a:endParaRPr>
          </a:p>
        </p:txBody>
      </p:sp>
      <p:cxnSp>
        <p:nvCxnSpPr>
          <p:cNvPr id="30" name="直接箭头连接符 29"/>
          <p:cNvCxnSpPr>
            <a:stCxn id="29" idx="3"/>
            <a:endCxn id="23" idx="0"/>
          </p:cNvCxnSpPr>
          <p:nvPr/>
        </p:nvCxnSpPr>
        <p:spPr>
          <a:xfrm>
            <a:off x="6897814" y="3102145"/>
            <a:ext cx="0" cy="326855"/>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4" idx="3"/>
            <a:endCxn id="37" idx="2"/>
          </p:cNvCxnSpPr>
          <p:nvPr/>
        </p:nvCxnSpPr>
        <p:spPr>
          <a:xfrm flipV="1">
            <a:off x="10510317" y="3860999"/>
            <a:ext cx="345897" cy="1"/>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流程图: 磁盘 31"/>
          <p:cNvSpPr/>
          <p:nvPr/>
        </p:nvSpPr>
        <p:spPr>
          <a:xfrm>
            <a:off x="7874333" y="2166625"/>
            <a:ext cx="955006" cy="939338"/>
          </a:xfrm>
          <a:prstGeom prst="flowChartMagneticDisk">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dirty="0">
                <a:solidFill>
                  <a:schemeClr val="tx1"/>
                </a:solidFill>
              </a:rPr>
              <a:t>Tesseract-OCR</a:t>
            </a:r>
            <a:endParaRPr lang="zh-CN" altLang="en-US" sz="1400" b="1" dirty="0">
              <a:solidFill>
                <a:schemeClr val="tx1"/>
              </a:solidFill>
            </a:endParaRPr>
          </a:p>
        </p:txBody>
      </p:sp>
      <p:sp>
        <p:nvSpPr>
          <p:cNvPr id="33" name="圆角矩形 18"/>
          <p:cNvSpPr/>
          <p:nvPr/>
        </p:nvSpPr>
        <p:spPr>
          <a:xfrm>
            <a:off x="7767569" y="3429000"/>
            <a:ext cx="1180852" cy="864000"/>
          </a:xfrm>
          <a:prstGeom prst="round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rPr>
              <a:t>文本识别</a:t>
            </a:r>
            <a:endParaRPr lang="zh-CN" altLang="en-US" b="1" dirty="0">
              <a:solidFill>
                <a:schemeClr val="tx1"/>
              </a:solidFill>
            </a:endParaRPr>
          </a:p>
        </p:txBody>
      </p:sp>
      <p:cxnSp>
        <p:nvCxnSpPr>
          <p:cNvPr id="34" name="直接箭头连接符 33"/>
          <p:cNvCxnSpPr>
            <a:endCxn id="22" idx="1"/>
          </p:cNvCxnSpPr>
          <p:nvPr/>
        </p:nvCxnSpPr>
        <p:spPr>
          <a:xfrm>
            <a:off x="4521546" y="3861000"/>
            <a:ext cx="345900" cy="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32" idx="3"/>
            <a:endCxn id="33" idx="0"/>
          </p:cNvCxnSpPr>
          <p:nvPr/>
        </p:nvCxnSpPr>
        <p:spPr>
          <a:xfrm>
            <a:off x="8351836" y="3105963"/>
            <a:ext cx="6159" cy="323037"/>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剪去单角的矩形 21"/>
          <p:cNvSpPr/>
          <p:nvPr/>
        </p:nvSpPr>
        <p:spPr>
          <a:xfrm>
            <a:off x="685823" y="3475013"/>
            <a:ext cx="942975" cy="766101"/>
          </a:xfrm>
          <a:prstGeom prst="snip1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ormAutofit/>
          </a:bodyPr>
          <a:lstStyle/>
          <a:p>
            <a:pPr algn="ctr"/>
            <a:r>
              <a:rPr lang="zh-CN" altLang="en-US" sz="1400" b="1" dirty="0">
                <a:solidFill>
                  <a:schemeClr val="tx1"/>
                </a:solidFill>
              </a:rPr>
              <a:t>模型图片</a:t>
            </a:r>
            <a:endParaRPr lang="zh-CN" altLang="en-US" sz="1400" b="1" dirty="0">
              <a:solidFill>
                <a:schemeClr val="tx1"/>
              </a:solidFill>
            </a:endParaRPr>
          </a:p>
        </p:txBody>
      </p:sp>
      <p:sp>
        <p:nvSpPr>
          <p:cNvPr id="37" name="剪去单角的矩形 22"/>
          <p:cNvSpPr/>
          <p:nvPr/>
        </p:nvSpPr>
        <p:spPr>
          <a:xfrm>
            <a:off x="10856214" y="3484736"/>
            <a:ext cx="949569" cy="752526"/>
          </a:xfrm>
          <a:prstGeom prst="snip1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pPr algn="ctr"/>
            <a:r>
              <a:rPr lang="zh-CN" altLang="en-US" sz="1400" b="1" dirty="0">
                <a:solidFill>
                  <a:schemeClr val="tx1"/>
                </a:solidFill>
              </a:rPr>
              <a:t>模型定义文件</a:t>
            </a:r>
            <a:endParaRPr lang="zh-CN" altLang="en-US" sz="1400" b="1" dirty="0">
              <a:solidFill>
                <a:schemeClr val="tx1"/>
              </a:solidFill>
            </a:endParaRPr>
          </a:p>
        </p:txBody>
      </p:sp>
      <p:cxnSp>
        <p:nvCxnSpPr>
          <p:cNvPr id="38" name="直接箭头连接符 37"/>
          <p:cNvCxnSpPr>
            <a:stCxn id="36" idx="0"/>
            <a:endCxn id="19" idx="1"/>
          </p:cNvCxnSpPr>
          <p:nvPr/>
        </p:nvCxnSpPr>
        <p:spPr>
          <a:xfrm>
            <a:off x="1628798" y="3858064"/>
            <a:ext cx="345900" cy="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9" name="圆角矩形 24"/>
          <p:cNvSpPr/>
          <p:nvPr/>
        </p:nvSpPr>
        <p:spPr>
          <a:xfrm>
            <a:off x="1734673" y="3206859"/>
            <a:ext cx="2942348" cy="1450668"/>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200" b="1" dirty="0">
              <a:solidFill>
                <a:schemeClr val="tx1"/>
              </a:solidFill>
            </a:endParaRPr>
          </a:p>
        </p:txBody>
      </p:sp>
      <p:sp>
        <p:nvSpPr>
          <p:cNvPr id="40" name="圆角矩形 25"/>
          <p:cNvSpPr/>
          <p:nvPr/>
        </p:nvSpPr>
        <p:spPr>
          <a:xfrm>
            <a:off x="6203773" y="3206858"/>
            <a:ext cx="3019511" cy="1450667"/>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200" b="1" dirty="0">
              <a:solidFill>
                <a:schemeClr val="tx1"/>
              </a:solidFill>
            </a:endParaRPr>
          </a:p>
        </p:txBody>
      </p:sp>
      <p:sp>
        <p:nvSpPr>
          <p:cNvPr id="41" name="文本框 40"/>
          <p:cNvSpPr txBox="1"/>
          <p:nvPr/>
        </p:nvSpPr>
        <p:spPr>
          <a:xfrm>
            <a:off x="2411079" y="4319907"/>
            <a:ext cx="1631642" cy="307777"/>
          </a:xfrm>
          <a:prstGeom prst="rect">
            <a:avLst/>
          </a:prstGeom>
          <a:noFill/>
        </p:spPr>
        <p:txBody>
          <a:bodyPr vert="horz" wrap="square" lIns="0" tIns="0" rIns="0" bIns="0" rtlCol="0">
            <a:spAutoFit/>
          </a:bodyPr>
          <a:lstStyle/>
          <a:p>
            <a:pPr algn="ctr"/>
            <a:r>
              <a:rPr lang="zh-CN" altLang="en-US" sz="2000" b="1" dirty="0"/>
              <a:t>定位</a:t>
            </a:r>
            <a:endParaRPr lang="zh-CN" altLang="en-US" sz="2000" b="1" dirty="0"/>
          </a:p>
        </p:txBody>
      </p:sp>
      <p:sp>
        <p:nvSpPr>
          <p:cNvPr id="42" name="文本框 41"/>
          <p:cNvSpPr txBox="1"/>
          <p:nvPr/>
        </p:nvSpPr>
        <p:spPr>
          <a:xfrm>
            <a:off x="6939272" y="4308864"/>
            <a:ext cx="1631642" cy="307777"/>
          </a:xfrm>
          <a:prstGeom prst="rect">
            <a:avLst/>
          </a:prstGeom>
          <a:noFill/>
        </p:spPr>
        <p:txBody>
          <a:bodyPr vert="horz" wrap="square" lIns="0" tIns="0" rIns="0" bIns="0" rtlCol="0">
            <a:spAutoFit/>
          </a:bodyPr>
          <a:lstStyle/>
          <a:p>
            <a:pPr algn="ctr"/>
            <a:r>
              <a:rPr lang="zh-CN" altLang="en-US" sz="2000" b="1" dirty="0"/>
              <a:t>分类</a:t>
            </a:r>
            <a:endParaRPr lang="zh-CN" altLang="en-US" sz="20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817242"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元素定位关键点</a:t>
            </a:r>
            <a:endParaRPr lang="zh-CN" altLang="en-US" b="1" dirty="0">
              <a:solidFill>
                <a:schemeClr val="bg1"/>
              </a:solidFill>
            </a:endParaRPr>
          </a:p>
        </p:txBody>
      </p:sp>
      <p:sp>
        <p:nvSpPr>
          <p:cNvPr id="16" name="文本框 15"/>
          <p:cNvSpPr txBox="1"/>
          <p:nvPr/>
        </p:nvSpPr>
        <p:spPr>
          <a:xfrm>
            <a:off x="1523998" y="1651268"/>
            <a:ext cx="7620001" cy="3662541"/>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图像分割</a:t>
            </a:r>
            <a:endParaRPr lang="en-US" altLang="zh-CN" sz="2400" b="1" dirty="0"/>
          </a:p>
          <a:p>
            <a:pPr marL="742950" lvl="1" indent="-285750">
              <a:lnSpc>
                <a:spcPct val="150000"/>
              </a:lnSpc>
              <a:buFont typeface="Arial" panose="020B0604020202020204" pitchFamily="34" charset="0"/>
              <a:buChar char="•"/>
            </a:pPr>
            <a:r>
              <a:rPr lang="zh-CN" altLang="en-US" sz="2400" dirty="0"/>
              <a:t>使用形态学图像处理分割模型图</a:t>
            </a:r>
            <a:endParaRPr lang="en-US" altLang="zh-CN" sz="2400" dirty="0"/>
          </a:p>
          <a:p>
            <a:pPr marL="285750" indent="-285750">
              <a:lnSpc>
                <a:spcPct val="150000"/>
              </a:lnSpc>
              <a:buFont typeface="Arial" panose="020B0604020202020204" pitchFamily="34" charset="0"/>
              <a:buChar char="•"/>
            </a:pPr>
            <a:r>
              <a:rPr lang="zh-CN" altLang="en-US" sz="2400" b="1" dirty="0"/>
              <a:t>轮廓检测</a:t>
            </a:r>
            <a:endParaRPr lang="en-US" altLang="zh-CN" sz="2400" b="1" dirty="0"/>
          </a:p>
          <a:p>
            <a:pPr marL="742950" lvl="1" indent="-285750">
              <a:lnSpc>
                <a:spcPct val="150000"/>
              </a:lnSpc>
              <a:buFont typeface="Arial" panose="020B0604020202020204" pitchFamily="34" charset="0"/>
              <a:buChar char="•"/>
            </a:pPr>
            <a:r>
              <a:rPr lang="zh-CN" altLang="en-US" sz="2400" dirty="0"/>
              <a:t>检测图形轮廓</a:t>
            </a:r>
            <a:endParaRPr lang="en-US" altLang="zh-CN" sz="2400" dirty="0"/>
          </a:p>
          <a:p>
            <a:pPr marL="285750" indent="-285750">
              <a:lnSpc>
                <a:spcPct val="150000"/>
              </a:lnSpc>
              <a:buFont typeface="Arial" panose="020B0604020202020204" pitchFamily="34" charset="0"/>
              <a:buChar char="•"/>
            </a:pPr>
            <a:r>
              <a:rPr lang="zh-CN" altLang="en-US" sz="2400" b="1" dirty="0"/>
              <a:t>轮廓筛选</a:t>
            </a:r>
            <a:endParaRPr lang="en-US" altLang="zh-CN" sz="2400" b="1" dirty="0"/>
          </a:p>
          <a:p>
            <a:pPr marL="742950" lvl="1" indent="-285750">
              <a:lnSpc>
                <a:spcPct val="150000"/>
              </a:lnSpc>
              <a:buFont typeface="Arial" panose="020B0604020202020204" pitchFamily="34" charset="0"/>
              <a:buChar char="•"/>
            </a:pPr>
            <a:r>
              <a:rPr lang="zh-CN" altLang="en-US" sz="2400" dirty="0"/>
              <a:t>筛选出模型中的图形元素</a:t>
            </a:r>
            <a:endParaRPr lang="en-US" altLang="zh-CN" sz="2400"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3"/>
            <a:ext cx="1111389" cy="378327"/>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图像分割</a:t>
            </a:r>
            <a:endParaRPr lang="zh-CN" altLang="en-US" b="1" dirty="0">
              <a:solidFill>
                <a:schemeClr val="bg1"/>
              </a:solidFill>
            </a:endParaRPr>
          </a:p>
        </p:txBody>
      </p:sp>
      <p:pic>
        <p:nvPicPr>
          <p:cNvPr id="19" name="图片 18"/>
          <p:cNvPicPr/>
          <p:nvPr/>
        </p:nvPicPr>
        <p:blipFill>
          <a:blip r:embed="rId5">
            <a:extLst>
              <a:ext uri="{28A0092B-C50C-407E-A947-70E740481C1C}">
                <a14:useLocalDpi xmlns:a14="http://schemas.microsoft.com/office/drawing/2010/main" val="0"/>
              </a:ext>
            </a:extLst>
          </a:blip>
          <a:stretch>
            <a:fillRect/>
          </a:stretch>
        </p:blipFill>
        <p:spPr>
          <a:xfrm>
            <a:off x="972083" y="2334099"/>
            <a:ext cx="4680000" cy="2520000"/>
          </a:xfrm>
          <a:prstGeom prst="rect">
            <a:avLst/>
          </a:prstGeom>
        </p:spPr>
      </p:pic>
      <p:pic>
        <p:nvPicPr>
          <p:cNvPr id="20" name="图片 19"/>
          <p:cNvPicPr/>
          <p:nvPr/>
        </p:nvPicPr>
        <p:blipFill>
          <a:blip r:embed="rId6">
            <a:extLst>
              <a:ext uri="{28A0092B-C50C-407E-A947-70E740481C1C}">
                <a14:useLocalDpi xmlns:a14="http://schemas.microsoft.com/office/drawing/2010/main" val="0"/>
              </a:ext>
            </a:extLst>
          </a:blip>
          <a:stretch>
            <a:fillRect/>
          </a:stretch>
        </p:blipFill>
        <p:spPr>
          <a:xfrm>
            <a:off x="6270172" y="2334100"/>
            <a:ext cx="4680000" cy="2520000"/>
          </a:xfrm>
          <a:prstGeom prst="rect">
            <a:avLst/>
          </a:prstGeom>
        </p:spPr>
      </p:pic>
      <p:sp>
        <p:nvSpPr>
          <p:cNvPr id="22" name="文本框 21"/>
          <p:cNvSpPr txBox="1"/>
          <p:nvPr/>
        </p:nvSpPr>
        <p:spPr>
          <a:xfrm>
            <a:off x="2275595" y="4960912"/>
            <a:ext cx="2072975" cy="369332"/>
          </a:xfrm>
          <a:prstGeom prst="rect">
            <a:avLst/>
          </a:prstGeom>
          <a:noFill/>
        </p:spPr>
        <p:txBody>
          <a:bodyPr wrap="square" rtlCol="0">
            <a:spAutoFit/>
          </a:bodyPr>
          <a:lstStyle/>
          <a:p>
            <a:pPr algn="ctr"/>
            <a:r>
              <a:rPr lang="en-US" altLang="zh-CN" b="1" dirty="0"/>
              <a:t>A. </a:t>
            </a:r>
            <a:r>
              <a:rPr lang="zh-CN" altLang="en-US" b="1" dirty="0"/>
              <a:t>输入图片</a:t>
            </a:r>
            <a:endParaRPr lang="zh-CN" altLang="en-US" b="1" dirty="0"/>
          </a:p>
        </p:txBody>
      </p:sp>
      <p:sp>
        <p:nvSpPr>
          <p:cNvPr id="23" name="文本框 22"/>
          <p:cNvSpPr txBox="1"/>
          <p:nvPr/>
        </p:nvSpPr>
        <p:spPr>
          <a:xfrm>
            <a:off x="7573684" y="4960912"/>
            <a:ext cx="2072975" cy="369332"/>
          </a:xfrm>
          <a:prstGeom prst="rect">
            <a:avLst/>
          </a:prstGeom>
          <a:noFill/>
        </p:spPr>
        <p:txBody>
          <a:bodyPr wrap="square" rtlCol="0">
            <a:spAutoFit/>
          </a:bodyPr>
          <a:lstStyle/>
          <a:p>
            <a:pPr algn="ctr"/>
            <a:r>
              <a:rPr lang="en-US" altLang="zh-CN" b="1" dirty="0"/>
              <a:t>B. </a:t>
            </a:r>
            <a:r>
              <a:rPr lang="zh-CN" altLang="en-US" b="1" dirty="0"/>
              <a:t>处理结果</a:t>
            </a:r>
            <a:endParaRPr lang="zh-CN" altLang="en-US" b="1" dirty="0"/>
          </a:p>
        </p:txBody>
      </p:sp>
      <p:sp>
        <p:nvSpPr>
          <p:cNvPr id="3" name="矩形 2"/>
          <p:cNvSpPr/>
          <p:nvPr/>
        </p:nvSpPr>
        <p:spPr>
          <a:xfrm>
            <a:off x="8031759" y="2725812"/>
            <a:ext cx="126403" cy="1301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226897" y="3529049"/>
            <a:ext cx="126403" cy="1301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592983" y="3204198"/>
            <a:ext cx="126403" cy="1301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395216" y="3529049"/>
            <a:ext cx="126403" cy="1301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8031759" y="4332289"/>
            <a:ext cx="126403" cy="1301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9592983" y="3852710"/>
            <a:ext cx="126403" cy="1301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8" y="1165863"/>
            <a:ext cx="3470737"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轮廓检测</a:t>
            </a:r>
            <a:r>
              <a:rPr lang="en-US" altLang="zh-CN" b="1" dirty="0">
                <a:solidFill>
                  <a:schemeClr val="bg1"/>
                </a:solidFill>
              </a:rPr>
              <a:t>—</a:t>
            </a:r>
            <a:r>
              <a:rPr lang="zh-CN" altLang="en-US" b="1" dirty="0">
                <a:solidFill>
                  <a:schemeClr val="bg1"/>
                </a:solidFill>
              </a:rPr>
              <a:t>图像未分割检测结果</a:t>
            </a:r>
            <a:endParaRPr lang="zh-CN" altLang="en-US" b="1" dirty="0">
              <a:solidFill>
                <a:schemeClr val="bg1"/>
              </a:solidFill>
            </a:endParaRPr>
          </a:p>
        </p:txBody>
      </p:sp>
      <p:pic>
        <p:nvPicPr>
          <p:cNvPr id="29" name="图片 2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6207" y="1813660"/>
            <a:ext cx="2981107" cy="1950827"/>
          </a:xfrm>
          <a:prstGeom prst="rect">
            <a:avLst/>
          </a:prstGeom>
        </p:spPr>
      </p:pic>
      <p:pic>
        <p:nvPicPr>
          <p:cNvPr id="30" name="图片 2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7866" y="1813659"/>
            <a:ext cx="2981106" cy="1950827"/>
          </a:xfrm>
          <a:prstGeom prst="rect">
            <a:avLst/>
          </a:prstGeom>
        </p:spPr>
      </p:pic>
      <p:pic>
        <p:nvPicPr>
          <p:cNvPr id="31" name="图片 3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56207" y="3906003"/>
            <a:ext cx="2981107" cy="1950826"/>
          </a:xfrm>
          <a:prstGeom prst="rect">
            <a:avLst/>
          </a:prstGeom>
        </p:spPr>
      </p:pic>
      <p:pic>
        <p:nvPicPr>
          <p:cNvPr id="32" name="图片 3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97866" y="3906003"/>
            <a:ext cx="2981108" cy="1950826"/>
          </a:xfrm>
          <a:prstGeom prst="rect">
            <a:avLst/>
          </a:prstGeom>
        </p:spPr>
      </p:pic>
      <p:sp>
        <p:nvSpPr>
          <p:cNvPr id="33" name="文本框 32"/>
          <p:cNvSpPr txBox="1"/>
          <p:nvPr/>
        </p:nvSpPr>
        <p:spPr>
          <a:xfrm>
            <a:off x="2653156" y="2505365"/>
            <a:ext cx="324196" cy="523220"/>
          </a:xfrm>
          <a:prstGeom prst="rect">
            <a:avLst/>
          </a:prstGeom>
          <a:noFill/>
        </p:spPr>
        <p:txBody>
          <a:bodyPr wrap="square" rtlCol="0">
            <a:spAutoFit/>
          </a:bodyPr>
          <a:lstStyle/>
          <a:p>
            <a:r>
              <a:rPr lang="en-US" altLang="zh-CN" sz="2800" b="1" dirty="0">
                <a:solidFill>
                  <a:schemeClr val="bg1"/>
                </a:solidFill>
              </a:rPr>
              <a:t>A</a:t>
            </a:r>
            <a:endParaRPr lang="zh-CN" altLang="en-US" sz="2800" b="1" dirty="0">
              <a:solidFill>
                <a:schemeClr val="bg1"/>
              </a:solidFill>
            </a:endParaRPr>
          </a:p>
        </p:txBody>
      </p:sp>
      <p:sp>
        <p:nvSpPr>
          <p:cNvPr id="34" name="文本框 33"/>
          <p:cNvSpPr txBox="1"/>
          <p:nvPr/>
        </p:nvSpPr>
        <p:spPr>
          <a:xfrm>
            <a:off x="5776443" y="2505365"/>
            <a:ext cx="324196" cy="523220"/>
          </a:xfrm>
          <a:prstGeom prst="rect">
            <a:avLst/>
          </a:prstGeom>
          <a:noFill/>
        </p:spPr>
        <p:txBody>
          <a:bodyPr wrap="square" rtlCol="0">
            <a:spAutoFit/>
          </a:bodyPr>
          <a:lstStyle/>
          <a:p>
            <a:r>
              <a:rPr lang="en-US" altLang="zh-CN" sz="2800" b="1" dirty="0">
                <a:solidFill>
                  <a:schemeClr val="bg1"/>
                </a:solidFill>
              </a:rPr>
              <a:t>A</a:t>
            </a:r>
            <a:endParaRPr lang="zh-CN" altLang="en-US" sz="2800" b="1" dirty="0">
              <a:solidFill>
                <a:schemeClr val="bg1"/>
              </a:solidFill>
            </a:endParaRPr>
          </a:p>
        </p:txBody>
      </p:sp>
      <p:sp>
        <p:nvSpPr>
          <p:cNvPr id="35" name="文本框 34"/>
          <p:cNvSpPr txBox="1"/>
          <p:nvPr/>
        </p:nvSpPr>
        <p:spPr>
          <a:xfrm>
            <a:off x="1356207" y="4898039"/>
            <a:ext cx="324196" cy="523220"/>
          </a:xfrm>
          <a:prstGeom prst="rect">
            <a:avLst/>
          </a:prstGeom>
          <a:noFill/>
        </p:spPr>
        <p:txBody>
          <a:bodyPr wrap="square" rtlCol="0">
            <a:spAutoFit/>
          </a:bodyPr>
          <a:lstStyle/>
          <a:p>
            <a:r>
              <a:rPr lang="en-US" altLang="zh-CN" sz="2800" b="1" dirty="0">
                <a:solidFill>
                  <a:schemeClr val="bg1"/>
                </a:solidFill>
              </a:rPr>
              <a:t>B</a:t>
            </a:r>
            <a:endParaRPr lang="zh-CN" altLang="en-US" sz="2800" b="1" dirty="0">
              <a:solidFill>
                <a:schemeClr val="bg1"/>
              </a:solidFill>
            </a:endParaRPr>
          </a:p>
        </p:txBody>
      </p:sp>
      <p:sp>
        <p:nvSpPr>
          <p:cNvPr id="36" name="文本框 35"/>
          <p:cNvSpPr txBox="1"/>
          <p:nvPr/>
        </p:nvSpPr>
        <p:spPr>
          <a:xfrm>
            <a:off x="1871598" y="4898039"/>
            <a:ext cx="324196" cy="523220"/>
          </a:xfrm>
          <a:prstGeom prst="rect">
            <a:avLst/>
          </a:prstGeom>
          <a:noFill/>
        </p:spPr>
        <p:txBody>
          <a:bodyPr wrap="square" rtlCol="0">
            <a:spAutoFit/>
          </a:bodyPr>
          <a:lstStyle/>
          <a:p>
            <a:r>
              <a:rPr lang="en-US" altLang="zh-CN" sz="2800" b="1" dirty="0">
                <a:solidFill>
                  <a:schemeClr val="bg1"/>
                </a:solidFill>
              </a:rPr>
              <a:t>C</a:t>
            </a:r>
            <a:endParaRPr lang="zh-CN" altLang="en-US" sz="2800" b="1" dirty="0">
              <a:solidFill>
                <a:schemeClr val="bg1"/>
              </a:solidFill>
            </a:endParaRPr>
          </a:p>
        </p:txBody>
      </p:sp>
      <p:sp>
        <p:nvSpPr>
          <p:cNvPr id="37" name="文本框 36"/>
          <p:cNvSpPr txBox="1"/>
          <p:nvPr/>
        </p:nvSpPr>
        <p:spPr>
          <a:xfrm>
            <a:off x="3403911" y="4898039"/>
            <a:ext cx="324196" cy="523220"/>
          </a:xfrm>
          <a:prstGeom prst="rect">
            <a:avLst/>
          </a:prstGeom>
          <a:noFill/>
        </p:spPr>
        <p:txBody>
          <a:bodyPr wrap="square" rtlCol="0">
            <a:spAutoFit/>
          </a:bodyPr>
          <a:lstStyle/>
          <a:p>
            <a:r>
              <a:rPr lang="en-US" altLang="zh-CN" sz="2800" b="1" dirty="0">
                <a:solidFill>
                  <a:schemeClr val="bg1"/>
                </a:solidFill>
              </a:rPr>
              <a:t>D</a:t>
            </a:r>
            <a:endParaRPr lang="zh-CN" altLang="en-US" sz="2800" b="1" dirty="0">
              <a:solidFill>
                <a:schemeClr val="bg1"/>
              </a:solidFill>
            </a:endParaRPr>
          </a:p>
        </p:txBody>
      </p:sp>
      <p:sp>
        <p:nvSpPr>
          <p:cNvPr id="38" name="文本框 37"/>
          <p:cNvSpPr txBox="1"/>
          <p:nvPr/>
        </p:nvSpPr>
        <p:spPr>
          <a:xfrm>
            <a:off x="3921913" y="4898039"/>
            <a:ext cx="324196" cy="523220"/>
          </a:xfrm>
          <a:prstGeom prst="rect">
            <a:avLst/>
          </a:prstGeom>
          <a:noFill/>
        </p:spPr>
        <p:txBody>
          <a:bodyPr wrap="square" rtlCol="0">
            <a:spAutoFit/>
          </a:bodyPr>
          <a:lstStyle/>
          <a:p>
            <a:r>
              <a:rPr lang="en-US" altLang="zh-CN" sz="2800" b="1" dirty="0">
                <a:solidFill>
                  <a:schemeClr val="bg1"/>
                </a:solidFill>
              </a:rPr>
              <a:t>E</a:t>
            </a:r>
            <a:endParaRPr lang="zh-CN" altLang="en-US" sz="2800" b="1" dirty="0">
              <a:solidFill>
                <a:schemeClr val="bg1"/>
              </a:solidFill>
            </a:endParaRPr>
          </a:p>
        </p:txBody>
      </p:sp>
      <p:sp>
        <p:nvSpPr>
          <p:cNvPr id="39" name="文本框 38"/>
          <p:cNvSpPr txBox="1"/>
          <p:nvPr/>
        </p:nvSpPr>
        <p:spPr>
          <a:xfrm>
            <a:off x="2669782" y="4083456"/>
            <a:ext cx="324196" cy="523220"/>
          </a:xfrm>
          <a:prstGeom prst="rect">
            <a:avLst/>
          </a:prstGeom>
          <a:noFill/>
        </p:spPr>
        <p:txBody>
          <a:bodyPr wrap="square" rtlCol="0">
            <a:spAutoFit/>
          </a:bodyPr>
          <a:lstStyle/>
          <a:p>
            <a:r>
              <a:rPr lang="en-US" altLang="zh-CN" sz="2800" b="1" dirty="0">
                <a:solidFill>
                  <a:schemeClr val="bg1"/>
                </a:solidFill>
              </a:rPr>
              <a:t>F</a:t>
            </a:r>
            <a:endParaRPr lang="zh-CN" altLang="en-US" sz="2800" b="1" dirty="0">
              <a:solidFill>
                <a:schemeClr val="bg1"/>
              </a:solidFill>
            </a:endParaRPr>
          </a:p>
        </p:txBody>
      </p:sp>
      <p:sp>
        <p:nvSpPr>
          <p:cNvPr id="40" name="文本框 39"/>
          <p:cNvSpPr txBox="1"/>
          <p:nvPr/>
        </p:nvSpPr>
        <p:spPr>
          <a:xfrm>
            <a:off x="2653156" y="5132580"/>
            <a:ext cx="324196" cy="523220"/>
          </a:xfrm>
          <a:prstGeom prst="rect">
            <a:avLst/>
          </a:prstGeom>
          <a:noFill/>
        </p:spPr>
        <p:txBody>
          <a:bodyPr wrap="square" rtlCol="0">
            <a:spAutoFit/>
          </a:bodyPr>
          <a:lstStyle/>
          <a:p>
            <a:r>
              <a:rPr lang="en-US" altLang="zh-CN" sz="2800" b="1" dirty="0">
                <a:solidFill>
                  <a:schemeClr val="bg1"/>
                </a:solidFill>
              </a:rPr>
              <a:t>G</a:t>
            </a:r>
            <a:endParaRPr lang="zh-CN" altLang="en-US" sz="2800" b="1" dirty="0">
              <a:solidFill>
                <a:schemeClr val="bg1"/>
              </a:solidFill>
            </a:endParaRPr>
          </a:p>
        </p:txBody>
      </p:sp>
      <p:sp>
        <p:nvSpPr>
          <p:cNvPr id="41" name="文本框 40"/>
          <p:cNvSpPr txBox="1"/>
          <p:nvPr/>
        </p:nvSpPr>
        <p:spPr>
          <a:xfrm>
            <a:off x="2649826" y="4603522"/>
            <a:ext cx="294273" cy="523220"/>
          </a:xfrm>
          <a:prstGeom prst="rect">
            <a:avLst/>
          </a:prstGeom>
          <a:noFill/>
        </p:spPr>
        <p:txBody>
          <a:bodyPr wrap="square" rtlCol="0">
            <a:spAutoFit/>
          </a:bodyPr>
          <a:lstStyle/>
          <a:p>
            <a:r>
              <a:rPr lang="en-US" altLang="zh-CN" sz="2800" b="1" dirty="0">
                <a:solidFill>
                  <a:schemeClr val="bg1"/>
                </a:solidFill>
              </a:rPr>
              <a:t>H</a:t>
            </a:r>
            <a:endParaRPr lang="zh-CN" altLang="en-US" sz="2800" b="1" dirty="0">
              <a:solidFill>
                <a:schemeClr val="bg1"/>
              </a:solidFill>
            </a:endParaRPr>
          </a:p>
        </p:txBody>
      </p:sp>
      <p:sp>
        <p:nvSpPr>
          <p:cNvPr id="42" name="文本框 41"/>
          <p:cNvSpPr txBox="1"/>
          <p:nvPr/>
        </p:nvSpPr>
        <p:spPr>
          <a:xfrm>
            <a:off x="4492644" y="4898039"/>
            <a:ext cx="324196" cy="523220"/>
          </a:xfrm>
          <a:prstGeom prst="rect">
            <a:avLst/>
          </a:prstGeom>
          <a:noFill/>
        </p:spPr>
        <p:txBody>
          <a:bodyPr wrap="square" rtlCol="0">
            <a:spAutoFit/>
          </a:bodyPr>
          <a:lstStyle/>
          <a:p>
            <a:r>
              <a:rPr lang="en-US" altLang="zh-CN" sz="2800" b="1" dirty="0">
                <a:solidFill>
                  <a:schemeClr val="bg1"/>
                </a:solidFill>
              </a:rPr>
              <a:t>B</a:t>
            </a:r>
            <a:endParaRPr lang="zh-CN" altLang="en-US" sz="2800" b="1" dirty="0">
              <a:solidFill>
                <a:schemeClr val="bg1"/>
              </a:solidFill>
            </a:endParaRPr>
          </a:p>
        </p:txBody>
      </p:sp>
      <p:sp>
        <p:nvSpPr>
          <p:cNvPr id="43" name="文本框 42"/>
          <p:cNvSpPr txBox="1"/>
          <p:nvPr/>
        </p:nvSpPr>
        <p:spPr>
          <a:xfrm>
            <a:off x="5008035" y="4898039"/>
            <a:ext cx="324196" cy="523220"/>
          </a:xfrm>
          <a:prstGeom prst="rect">
            <a:avLst/>
          </a:prstGeom>
          <a:noFill/>
        </p:spPr>
        <p:txBody>
          <a:bodyPr wrap="square" rtlCol="0">
            <a:spAutoFit/>
          </a:bodyPr>
          <a:lstStyle/>
          <a:p>
            <a:r>
              <a:rPr lang="en-US" altLang="zh-CN" sz="2800" b="1" dirty="0">
                <a:solidFill>
                  <a:schemeClr val="bg1"/>
                </a:solidFill>
              </a:rPr>
              <a:t>C</a:t>
            </a:r>
            <a:endParaRPr lang="zh-CN" altLang="en-US" sz="2800" b="1" dirty="0">
              <a:solidFill>
                <a:schemeClr val="bg1"/>
              </a:solidFill>
            </a:endParaRPr>
          </a:p>
        </p:txBody>
      </p:sp>
      <p:sp>
        <p:nvSpPr>
          <p:cNvPr id="44" name="文本框 43"/>
          <p:cNvSpPr txBox="1"/>
          <p:nvPr/>
        </p:nvSpPr>
        <p:spPr>
          <a:xfrm>
            <a:off x="6540348" y="4898039"/>
            <a:ext cx="324196" cy="523220"/>
          </a:xfrm>
          <a:prstGeom prst="rect">
            <a:avLst/>
          </a:prstGeom>
          <a:noFill/>
        </p:spPr>
        <p:txBody>
          <a:bodyPr wrap="square" rtlCol="0">
            <a:spAutoFit/>
          </a:bodyPr>
          <a:lstStyle/>
          <a:p>
            <a:r>
              <a:rPr lang="en-US" altLang="zh-CN" sz="2800" b="1" dirty="0">
                <a:solidFill>
                  <a:schemeClr val="bg1"/>
                </a:solidFill>
              </a:rPr>
              <a:t>D</a:t>
            </a:r>
            <a:endParaRPr lang="zh-CN" altLang="en-US" sz="2800" b="1" dirty="0">
              <a:solidFill>
                <a:schemeClr val="bg1"/>
              </a:solidFill>
            </a:endParaRPr>
          </a:p>
        </p:txBody>
      </p:sp>
      <p:sp>
        <p:nvSpPr>
          <p:cNvPr id="45" name="文本框 44"/>
          <p:cNvSpPr txBox="1"/>
          <p:nvPr/>
        </p:nvSpPr>
        <p:spPr>
          <a:xfrm>
            <a:off x="7058350" y="4898039"/>
            <a:ext cx="324196" cy="523220"/>
          </a:xfrm>
          <a:prstGeom prst="rect">
            <a:avLst/>
          </a:prstGeom>
          <a:noFill/>
        </p:spPr>
        <p:txBody>
          <a:bodyPr wrap="square" rtlCol="0">
            <a:spAutoFit/>
          </a:bodyPr>
          <a:lstStyle/>
          <a:p>
            <a:r>
              <a:rPr lang="en-US" altLang="zh-CN" sz="2800" b="1" dirty="0">
                <a:solidFill>
                  <a:schemeClr val="bg1"/>
                </a:solidFill>
              </a:rPr>
              <a:t>E</a:t>
            </a:r>
            <a:endParaRPr lang="zh-CN" altLang="en-US" sz="2800" b="1" dirty="0">
              <a:solidFill>
                <a:schemeClr val="bg1"/>
              </a:solidFill>
            </a:endParaRPr>
          </a:p>
        </p:txBody>
      </p:sp>
      <p:sp>
        <p:nvSpPr>
          <p:cNvPr id="46" name="文本框 45"/>
          <p:cNvSpPr txBox="1"/>
          <p:nvPr/>
        </p:nvSpPr>
        <p:spPr>
          <a:xfrm>
            <a:off x="5806219" y="4083456"/>
            <a:ext cx="324196" cy="523220"/>
          </a:xfrm>
          <a:prstGeom prst="rect">
            <a:avLst/>
          </a:prstGeom>
          <a:noFill/>
        </p:spPr>
        <p:txBody>
          <a:bodyPr wrap="square" rtlCol="0">
            <a:spAutoFit/>
          </a:bodyPr>
          <a:lstStyle/>
          <a:p>
            <a:r>
              <a:rPr lang="en-US" altLang="zh-CN" sz="2800" b="1" dirty="0">
                <a:solidFill>
                  <a:schemeClr val="bg1"/>
                </a:solidFill>
              </a:rPr>
              <a:t>F</a:t>
            </a:r>
            <a:endParaRPr lang="zh-CN" altLang="en-US" sz="2800" b="1" dirty="0">
              <a:solidFill>
                <a:schemeClr val="bg1"/>
              </a:solidFill>
            </a:endParaRPr>
          </a:p>
        </p:txBody>
      </p:sp>
      <p:sp>
        <p:nvSpPr>
          <p:cNvPr id="47" name="文本框 46"/>
          <p:cNvSpPr txBox="1"/>
          <p:nvPr/>
        </p:nvSpPr>
        <p:spPr>
          <a:xfrm>
            <a:off x="5789593" y="5132580"/>
            <a:ext cx="324196" cy="523220"/>
          </a:xfrm>
          <a:prstGeom prst="rect">
            <a:avLst/>
          </a:prstGeom>
          <a:noFill/>
        </p:spPr>
        <p:txBody>
          <a:bodyPr wrap="square" rtlCol="0">
            <a:spAutoFit/>
          </a:bodyPr>
          <a:lstStyle/>
          <a:p>
            <a:r>
              <a:rPr lang="en-US" altLang="zh-CN" sz="2800" b="1" dirty="0">
                <a:solidFill>
                  <a:schemeClr val="bg1"/>
                </a:solidFill>
              </a:rPr>
              <a:t>G</a:t>
            </a:r>
            <a:endParaRPr lang="zh-CN" altLang="en-US" sz="2800" b="1" dirty="0">
              <a:solidFill>
                <a:schemeClr val="bg1"/>
              </a:solidFill>
            </a:endParaRPr>
          </a:p>
        </p:txBody>
      </p:sp>
      <p:sp>
        <p:nvSpPr>
          <p:cNvPr id="48" name="文本框 47"/>
          <p:cNvSpPr txBox="1"/>
          <p:nvPr/>
        </p:nvSpPr>
        <p:spPr>
          <a:xfrm>
            <a:off x="5786263" y="4603522"/>
            <a:ext cx="294273" cy="523220"/>
          </a:xfrm>
          <a:prstGeom prst="rect">
            <a:avLst/>
          </a:prstGeom>
          <a:noFill/>
        </p:spPr>
        <p:txBody>
          <a:bodyPr wrap="square" rtlCol="0">
            <a:spAutoFit/>
          </a:bodyPr>
          <a:lstStyle/>
          <a:p>
            <a:r>
              <a:rPr lang="en-US" altLang="zh-CN" sz="2800" b="1" dirty="0">
                <a:solidFill>
                  <a:schemeClr val="bg1"/>
                </a:solidFill>
              </a:rPr>
              <a:t>H</a:t>
            </a:r>
            <a:endParaRPr lang="zh-CN" altLang="en-US" sz="2800" b="1" dirty="0">
              <a:solidFill>
                <a:schemeClr val="bg1"/>
              </a:solidFill>
            </a:endParaRPr>
          </a:p>
        </p:txBody>
      </p:sp>
      <p:sp>
        <p:nvSpPr>
          <p:cNvPr id="49" name="文本框 48"/>
          <p:cNvSpPr txBox="1"/>
          <p:nvPr/>
        </p:nvSpPr>
        <p:spPr>
          <a:xfrm>
            <a:off x="480208" y="2604406"/>
            <a:ext cx="905653" cy="369332"/>
          </a:xfrm>
          <a:prstGeom prst="rect">
            <a:avLst/>
          </a:prstGeom>
          <a:noFill/>
        </p:spPr>
        <p:txBody>
          <a:bodyPr wrap="square" rtlCol="0">
            <a:spAutoFit/>
          </a:bodyPr>
          <a:lstStyle/>
          <a:p>
            <a:r>
              <a:rPr lang="zh-CN" altLang="en-US" b="1" dirty="0"/>
              <a:t>第一层</a:t>
            </a:r>
            <a:endParaRPr lang="zh-CN" altLang="en-US" b="1" dirty="0"/>
          </a:p>
        </p:txBody>
      </p:sp>
      <p:sp>
        <p:nvSpPr>
          <p:cNvPr id="50" name="文本框 49"/>
          <p:cNvSpPr txBox="1"/>
          <p:nvPr/>
        </p:nvSpPr>
        <p:spPr>
          <a:xfrm>
            <a:off x="480779" y="4655180"/>
            <a:ext cx="891143" cy="369332"/>
          </a:xfrm>
          <a:prstGeom prst="rect">
            <a:avLst/>
          </a:prstGeom>
          <a:noFill/>
        </p:spPr>
        <p:txBody>
          <a:bodyPr wrap="square" rtlCol="0">
            <a:spAutoFit/>
          </a:bodyPr>
          <a:lstStyle/>
          <a:p>
            <a:r>
              <a:rPr lang="zh-CN" altLang="en-US" b="1" dirty="0"/>
              <a:t>第二层</a:t>
            </a:r>
            <a:endParaRPr lang="zh-CN" altLang="en-US" b="1" dirty="0"/>
          </a:p>
        </p:txBody>
      </p:sp>
      <p:sp>
        <p:nvSpPr>
          <p:cNvPr id="51" name="文本框 50"/>
          <p:cNvSpPr txBox="1"/>
          <p:nvPr/>
        </p:nvSpPr>
        <p:spPr>
          <a:xfrm>
            <a:off x="2247991" y="5896606"/>
            <a:ext cx="1134526" cy="369332"/>
          </a:xfrm>
          <a:prstGeom prst="rect">
            <a:avLst/>
          </a:prstGeom>
          <a:noFill/>
        </p:spPr>
        <p:txBody>
          <a:bodyPr wrap="square" rtlCol="0">
            <a:spAutoFit/>
          </a:bodyPr>
          <a:lstStyle/>
          <a:p>
            <a:pPr algn="ctr"/>
            <a:r>
              <a:rPr lang="zh-CN" altLang="en-US" b="1" dirty="0"/>
              <a:t>轮廓</a:t>
            </a:r>
            <a:endParaRPr lang="zh-CN" altLang="en-US" b="1" dirty="0"/>
          </a:p>
        </p:txBody>
      </p:sp>
      <p:sp>
        <p:nvSpPr>
          <p:cNvPr id="52" name="文本框 51"/>
          <p:cNvSpPr txBox="1"/>
          <p:nvPr/>
        </p:nvSpPr>
        <p:spPr>
          <a:xfrm>
            <a:off x="5030962" y="5900583"/>
            <a:ext cx="1874710" cy="369332"/>
          </a:xfrm>
          <a:prstGeom prst="rect">
            <a:avLst/>
          </a:prstGeom>
          <a:noFill/>
        </p:spPr>
        <p:txBody>
          <a:bodyPr wrap="square" rtlCol="0">
            <a:spAutoFit/>
          </a:bodyPr>
          <a:lstStyle/>
          <a:p>
            <a:pPr algn="ctr"/>
            <a:r>
              <a:rPr lang="zh-CN" altLang="en-US" b="1" dirty="0"/>
              <a:t>边界框</a:t>
            </a:r>
            <a:endParaRPr lang="zh-CN" altLang="en-US" b="1" dirty="0"/>
          </a:p>
        </p:txBody>
      </p:sp>
      <p:sp>
        <p:nvSpPr>
          <p:cNvPr id="53" name="矩形 52"/>
          <p:cNvSpPr/>
          <p:nvPr/>
        </p:nvSpPr>
        <p:spPr>
          <a:xfrm>
            <a:off x="9921335" y="2620723"/>
            <a:ext cx="844561"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600" b="1" dirty="0"/>
              <a:t>模型图</a:t>
            </a:r>
            <a:endParaRPr lang="zh-CN" altLang="en-US" sz="1600" b="1" dirty="0"/>
          </a:p>
        </p:txBody>
      </p:sp>
      <p:sp>
        <p:nvSpPr>
          <p:cNvPr id="54" name="矩形 53"/>
          <p:cNvSpPr/>
          <p:nvPr/>
        </p:nvSpPr>
        <p:spPr>
          <a:xfrm>
            <a:off x="8920395" y="4903602"/>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B</a:t>
            </a:r>
            <a:endParaRPr lang="zh-CN" altLang="en-US" sz="1600" b="1" dirty="0"/>
          </a:p>
        </p:txBody>
      </p:sp>
      <p:sp>
        <p:nvSpPr>
          <p:cNvPr id="55" name="矩形 54"/>
          <p:cNvSpPr/>
          <p:nvPr/>
        </p:nvSpPr>
        <p:spPr>
          <a:xfrm>
            <a:off x="9360969" y="4903602"/>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C</a:t>
            </a:r>
            <a:endParaRPr lang="zh-CN" altLang="en-US" sz="1600" b="1" dirty="0"/>
          </a:p>
        </p:txBody>
      </p:sp>
      <p:sp>
        <p:nvSpPr>
          <p:cNvPr id="56" name="矩形 55"/>
          <p:cNvSpPr/>
          <p:nvPr/>
        </p:nvSpPr>
        <p:spPr>
          <a:xfrm>
            <a:off x="9796554" y="4903601"/>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D</a:t>
            </a:r>
            <a:endParaRPr lang="zh-CN" altLang="en-US" sz="1600" b="1" dirty="0"/>
          </a:p>
        </p:txBody>
      </p:sp>
      <p:sp>
        <p:nvSpPr>
          <p:cNvPr id="57" name="矩形 56"/>
          <p:cNvSpPr/>
          <p:nvPr/>
        </p:nvSpPr>
        <p:spPr>
          <a:xfrm>
            <a:off x="10210152" y="4899384"/>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E</a:t>
            </a:r>
            <a:endParaRPr lang="zh-CN" altLang="en-US" sz="1600" b="1" dirty="0"/>
          </a:p>
        </p:txBody>
      </p:sp>
      <p:sp>
        <p:nvSpPr>
          <p:cNvPr id="58" name="矩形 57"/>
          <p:cNvSpPr/>
          <p:nvPr/>
        </p:nvSpPr>
        <p:spPr>
          <a:xfrm>
            <a:off x="10667724" y="4899386"/>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F</a:t>
            </a:r>
            <a:endParaRPr lang="zh-CN" altLang="en-US" sz="1600" b="1" dirty="0"/>
          </a:p>
        </p:txBody>
      </p:sp>
      <p:sp>
        <p:nvSpPr>
          <p:cNvPr id="59" name="矩形 58"/>
          <p:cNvSpPr/>
          <p:nvPr/>
        </p:nvSpPr>
        <p:spPr>
          <a:xfrm>
            <a:off x="11103309" y="4899385"/>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G</a:t>
            </a:r>
            <a:endParaRPr lang="zh-CN" altLang="en-US" sz="1600" b="1" dirty="0"/>
          </a:p>
        </p:txBody>
      </p:sp>
      <p:sp>
        <p:nvSpPr>
          <p:cNvPr id="60" name="矩形 59"/>
          <p:cNvSpPr/>
          <p:nvPr/>
        </p:nvSpPr>
        <p:spPr>
          <a:xfrm>
            <a:off x="11538894" y="4899384"/>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H</a:t>
            </a:r>
            <a:endParaRPr lang="zh-CN" altLang="en-US" sz="1600" b="1" dirty="0"/>
          </a:p>
        </p:txBody>
      </p:sp>
      <p:sp>
        <p:nvSpPr>
          <p:cNvPr id="61" name="矩形 60"/>
          <p:cNvSpPr/>
          <p:nvPr/>
        </p:nvSpPr>
        <p:spPr>
          <a:xfrm>
            <a:off x="10210152" y="3463696"/>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600" b="1" dirty="0"/>
              <a:t>A</a:t>
            </a:r>
            <a:endParaRPr lang="zh-CN" altLang="en-US" sz="1600" b="1" dirty="0"/>
          </a:p>
        </p:txBody>
      </p:sp>
      <p:cxnSp>
        <p:nvCxnSpPr>
          <p:cNvPr id="62" name="直接箭头连接符 61"/>
          <p:cNvCxnSpPr>
            <a:stCxn id="53" idx="2"/>
            <a:endCxn id="61" idx="0"/>
          </p:cNvCxnSpPr>
          <p:nvPr/>
        </p:nvCxnSpPr>
        <p:spPr>
          <a:xfrm>
            <a:off x="10343616" y="2870980"/>
            <a:ext cx="2311" cy="5927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61" idx="2"/>
            <a:endCxn id="54" idx="0"/>
          </p:cNvCxnSpPr>
          <p:nvPr/>
        </p:nvCxnSpPr>
        <p:spPr>
          <a:xfrm flipH="1">
            <a:off x="9056170" y="3713953"/>
            <a:ext cx="1289757" cy="11896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61" idx="2"/>
            <a:endCxn id="55" idx="0"/>
          </p:cNvCxnSpPr>
          <p:nvPr/>
        </p:nvCxnSpPr>
        <p:spPr>
          <a:xfrm flipH="1">
            <a:off x="9496744" y="3713953"/>
            <a:ext cx="849183" cy="11896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61" idx="2"/>
            <a:endCxn id="57" idx="0"/>
          </p:cNvCxnSpPr>
          <p:nvPr/>
        </p:nvCxnSpPr>
        <p:spPr>
          <a:xfrm>
            <a:off x="10345927" y="3713953"/>
            <a:ext cx="0" cy="11854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61" idx="2"/>
            <a:endCxn id="56" idx="0"/>
          </p:cNvCxnSpPr>
          <p:nvPr/>
        </p:nvCxnSpPr>
        <p:spPr>
          <a:xfrm flipH="1">
            <a:off x="9932329" y="3713953"/>
            <a:ext cx="413598" cy="11896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61" idx="2"/>
            <a:endCxn id="58" idx="0"/>
          </p:cNvCxnSpPr>
          <p:nvPr/>
        </p:nvCxnSpPr>
        <p:spPr>
          <a:xfrm>
            <a:off x="10345927" y="3713953"/>
            <a:ext cx="457572" cy="118543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stCxn id="61" idx="2"/>
            <a:endCxn id="59" idx="0"/>
          </p:cNvCxnSpPr>
          <p:nvPr/>
        </p:nvCxnSpPr>
        <p:spPr>
          <a:xfrm>
            <a:off x="10345927" y="3713953"/>
            <a:ext cx="893157" cy="11854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61" idx="2"/>
            <a:endCxn id="60" idx="0"/>
          </p:cNvCxnSpPr>
          <p:nvPr/>
        </p:nvCxnSpPr>
        <p:spPr>
          <a:xfrm>
            <a:off x="10345927" y="3713953"/>
            <a:ext cx="1328742" cy="11854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右箭头 57"/>
          <p:cNvSpPr/>
          <p:nvPr/>
        </p:nvSpPr>
        <p:spPr>
          <a:xfrm>
            <a:off x="8029551" y="3588824"/>
            <a:ext cx="958732" cy="40452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3"/>
            <a:ext cx="31721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轮廓检测</a:t>
            </a:r>
            <a:r>
              <a:rPr lang="en-US" altLang="zh-CN" b="1" dirty="0">
                <a:solidFill>
                  <a:schemeClr val="bg1"/>
                </a:solidFill>
              </a:rPr>
              <a:t>—</a:t>
            </a:r>
            <a:r>
              <a:rPr lang="zh-CN" altLang="en-US" b="1" dirty="0">
                <a:solidFill>
                  <a:schemeClr val="bg1"/>
                </a:solidFill>
              </a:rPr>
              <a:t>图像分割检测结果</a:t>
            </a:r>
            <a:endParaRPr lang="zh-CN" altLang="en-US" b="1" dirty="0">
              <a:solidFill>
                <a:schemeClr val="bg1"/>
              </a:solidFill>
            </a:endParaRPr>
          </a:p>
        </p:txBody>
      </p:sp>
      <p:sp>
        <p:nvSpPr>
          <p:cNvPr id="71" name="文本框 70"/>
          <p:cNvSpPr txBox="1"/>
          <p:nvPr/>
        </p:nvSpPr>
        <p:spPr>
          <a:xfrm>
            <a:off x="2682006" y="2582100"/>
            <a:ext cx="324196" cy="369332"/>
          </a:xfrm>
          <a:prstGeom prst="rect">
            <a:avLst/>
          </a:prstGeom>
          <a:noFill/>
        </p:spPr>
        <p:txBody>
          <a:bodyPr wrap="square" rtlCol="0">
            <a:spAutoFit/>
          </a:bodyPr>
          <a:lstStyle/>
          <a:p>
            <a:r>
              <a:rPr lang="en-US" altLang="zh-CN" dirty="0">
                <a:solidFill>
                  <a:schemeClr val="bg1"/>
                </a:solidFill>
              </a:rPr>
              <a:t>A</a:t>
            </a:r>
            <a:endParaRPr lang="zh-CN" altLang="en-US" dirty="0">
              <a:solidFill>
                <a:schemeClr val="bg1"/>
              </a:solidFill>
            </a:endParaRPr>
          </a:p>
        </p:txBody>
      </p:sp>
      <p:sp>
        <p:nvSpPr>
          <p:cNvPr id="72" name="文本框 71"/>
          <p:cNvSpPr txBox="1"/>
          <p:nvPr/>
        </p:nvSpPr>
        <p:spPr>
          <a:xfrm>
            <a:off x="5805293" y="2582100"/>
            <a:ext cx="324196" cy="369332"/>
          </a:xfrm>
          <a:prstGeom prst="rect">
            <a:avLst/>
          </a:prstGeom>
          <a:noFill/>
        </p:spPr>
        <p:txBody>
          <a:bodyPr wrap="square" rtlCol="0">
            <a:spAutoFit/>
          </a:bodyPr>
          <a:lstStyle/>
          <a:p>
            <a:r>
              <a:rPr lang="en-US" altLang="zh-CN" dirty="0">
                <a:solidFill>
                  <a:schemeClr val="bg1"/>
                </a:solidFill>
              </a:rPr>
              <a:t>A</a:t>
            </a:r>
            <a:endParaRPr lang="zh-CN" altLang="en-US" dirty="0">
              <a:solidFill>
                <a:schemeClr val="bg1"/>
              </a:solidFill>
            </a:endParaRPr>
          </a:p>
        </p:txBody>
      </p:sp>
      <p:sp>
        <p:nvSpPr>
          <p:cNvPr id="73" name="文本框 72"/>
          <p:cNvSpPr txBox="1"/>
          <p:nvPr/>
        </p:nvSpPr>
        <p:spPr>
          <a:xfrm>
            <a:off x="1376744" y="4941522"/>
            <a:ext cx="324196" cy="369332"/>
          </a:xfrm>
          <a:prstGeom prst="rect">
            <a:avLst/>
          </a:prstGeom>
          <a:noFill/>
        </p:spPr>
        <p:txBody>
          <a:bodyPr wrap="square" rtlCol="0">
            <a:spAutoFit/>
          </a:bodyPr>
          <a:lstStyle/>
          <a:p>
            <a:r>
              <a:rPr lang="en-US" altLang="zh-CN" dirty="0">
                <a:solidFill>
                  <a:schemeClr val="bg1"/>
                </a:solidFill>
              </a:rPr>
              <a:t>B</a:t>
            </a:r>
            <a:endParaRPr lang="zh-CN" altLang="en-US" dirty="0">
              <a:solidFill>
                <a:schemeClr val="bg1"/>
              </a:solidFill>
            </a:endParaRPr>
          </a:p>
        </p:txBody>
      </p:sp>
      <p:sp>
        <p:nvSpPr>
          <p:cNvPr id="74" name="文本框 73"/>
          <p:cNvSpPr txBox="1"/>
          <p:nvPr/>
        </p:nvSpPr>
        <p:spPr>
          <a:xfrm>
            <a:off x="1892135" y="4941522"/>
            <a:ext cx="324196" cy="369332"/>
          </a:xfrm>
          <a:prstGeom prst="rect">
            <a:avLst/>
          </a:prstGeom>
          <a:noFill/>
        </p:spPr>
        <p:txBody>
          <a:bodyPr wrap="square" rtlCol="0">
            <a:spAutoFit/>
          </a:bodyPr>
          <a:lstStyle/>
          <a:p>
            <a:r>
              <a:rPr lang="en-US" altLang="zh-CN" dirty="0">
                <a:solidFill>
                  <a:schemeClr val="bg1"/>
                </a:solidFill>
              </a:rPr>
              <a:t>C</a:t>
            </a:r>
            <a:endParaRPr lang="zh-CN" altLang="en-US" dirty="0">
              <a:solidFill>
                <a:schemeClr val="bg1"/>
              </a:solidFill>
            </a:endParaRPr>
          </a:p>
        </p:txBody>
      </p:sp>
      <p:sp>
        <p:nvSpPr>
          <p:cNvPr id="75" name="文本框 74"/>
          <p:cNvSpPr txBox="1"/>
          <p:nvPr/>
        </p:nvSpPr>
        <p:spPr>
          <a:xfrm>
            <a:off x="3424448" y="4941522"/>
            <a:ext cx="324196" cy="369332"/>
          </a:xfrm>
          <a:prstGeom prst="rect">
            <a:avLst/>
          </a:prstGeom>
          <a:noFill/>
        </p:spPr>
        <p:txBody>
          <a:bodyPr wrap="square" rtlCol="0">
            <a:spAutoFit/>
          </a:bodyPr>
          <a:lstStyle/>
          <a:p>
            <a:r>
              <a:rPr lang="en-US" altLang="zh-CN" dirty="0">
                <a:solidFill>
                  <a:schemeClr val="bg1"/>
                </a:solidFill>
              </a:rPr>
              <a:t>D</a:t>
            </a:r>
            <a:endParaRPr lang="zh-CN" altLang="en-US" dirty="0">
              <a:solidFill>
                <a:schemeClr val="bg1"/>
              </a:solidFill>
            </a:endParaRPr>
          </a:p>
        </p:txBody>
      </p:sp>
      <p:sp>
        <p:nvSpPr>
          <p:cNvPr id="76" name="文本框 75"/>
          <p:cNvSpPr txBox="1"/>
          <p:nvPr/>
        </p:nvSpPr>
        <p:spPr>
          <a:xfrm>
            <a:off x="3942450" y="4941522"/>
            <a:ext cx="324196" cy="369332"/>
          </a:xfrm>
          <a:prstGeom prst="rect">
            <a:avLst/>
          </a:prstGeom>
          <a:noFill/>
        </p:spPr>
        <p:txBody>
          <a:bodyPr wrap="square" rtlCol="0">
            <a:spAutoFit/>
          </a:bodyPr>
          <a:lstStyle/>
          <a:p>
            <a:r>
              <a:rPr lang="en-US" altLang="zh-CN" dirty="0">
                <a:solidFill>
                  <a:schemeClr val="bg1"/>
                </a:solidFill>
              </a:rPr>
              <a:t>E</a:t>
            </a:r>
            <a:endParaRPr lang="zh-CN" altLang="en-US" dirty="0">
              <a:solidFill>
                <a:schemeClr val="bg1"/>
              </a:solidFill>
            </a:endParaRPr>
          </a:p>
        </p:txBody>
      </p:sp>
      <p:sp>
        <p:nvSpPr>
          <p:cNvPr id="77" name="文本框 76"/>
          <p:cNvSpPr txBox="1"/>
          <p:nvPr/>
        </p:nvSpPr>
        <p:spPr>
          <a:xfrm>
            <a:off x="2698632" y="4160191"/>
            <a:ext cx="324196" cy="369332"/>
          </a:xfrm>
          <a:prstGeom prst="rect">
            <a:avLst/>
          </a:prstGeom>
          <a:noFill/>
        </p:spPr>
        <p:txBody>
          <a:bodyPr wrap="square" rtlCol="0">
            <a:spAutoFit/>
          </a:bodyPr>
          <a:lstStyle/>
          <a:p>
            <a:r>
              <a:rPr lang="en-US" altLang="zh-CN" dirty="0">
                <a:solidFill>
                  <a:schemeClr val="bg1"/>
                </a:solidFill>
              </a:rPr>
              <a:t>F</a:t>
            </a:r>
            <a:endParaRPr lang="zh-CN" altLang="en-US" dirty="0">
              <a:solidFill>
                <a:schemeClr val="bg1"/>
              </a:solidFill>
            </a:endParaRPr>
          </a:p>
        </p:txBody>
      </p:sp>
      <p:sp>
        <p:nvSpPr>
          <p:cNvPr id="78" name="文本框 77"/>
          <p:cNvSpPr txBox="1"/>
          <p:nvPr/>
        </p:nvSpPr>
        <p:spPr>
          <a:xfrm>
            <a:off x="2682006" y="5209315"/>
            <a:ext cx="324196" cy="369332"/>
          </a:xfrm>
          <a:prstGeom prst="rect">
            <a:avLst/>
          </a:prstGeom>
          <a:noFill/>
        </p:spPr>
        <p:txBody>
          <a:bodyPr wrap="square" rtlCol="0">
            <a:spAutoFit/>
          </a:bodyPr>
          <a:lstStyle/>
          <a:p>
            <a:r>
              <a:rPr lang="en-US" altLang="zh-CN" dirty="0">
                <a:solidFill>
                  <a:schemeClr val="bg1"/>
                </a:solidFill>
              </a:rPr>
              <a:t>G</a:t>
            </a:r>
            <a:endParaRPr lang="zh-CN" altLang="en-US" dirty="0">
              <a:solidFill>
                <a:schemeClr val="bg1"/>
              </a:solidFill>
            </a:endParaRPr>
          </a:p>
        </p:txBody>
      </p:sp>
      <p:sp>
        <p:nvSpPr>
          <p:cNvPr id="79" name="文本框 78"/>
          <p:cNvSpPr txBox="1"/>
          <p:nvPr/>
        </p:nvSpPr>
        <p:spPr>
          <a:xfrm>
            <a:off x="2678676" y="4680257"/>
            <a:ext cx="294273" cy="369332"/>
          </a:xfrm>
          <a:prstGeom prst="rect">
            <a:avLst/>
          </a:prstGeom>
          <a:noFill/>
        </p:spPr>
        <p:txBody>
          <a:bodyPr wrap="square" rtlCol="0">
            <a:spAutoFit/>
          </a:bodyPr>
          <a:lstStyle/>
          <a:p>
            <a:r>
              <a:rPr lang="en-US" altLang="zh-CN" dirty="0">
                <a:solidFill>
                  <a:schemeClr val="bg1"/>
                </a:solidFill>
              </a:rPr>
              <a:t>H</a:t>
            </a:r>
            <a:endParaRPr lang="zh-CN" altLang="en-US" dirty="0">
              <a:solidFill>
                <a:schemeClr val="bg1"/>
              </a:solidFill>
            </a:endParaRPr>
          </a:p>
        </p:txBody>
      </p:sp>
      <p:sp>
        <p:nvSpPr>
          <p:cNvPr id="80" name="文本框 79"/>
          <p:cNvSpPr txBox="1"/>
          <p:nvPr/>
        </p:nvSpPr>
        <p:spPr>
          <a:xfrm>
            <a:off x="4513181" y="4941522"/>
            <a:ext cx="324196" cy="369332"/>
          </a:xfrm>
          <a:prstGeom prst="rect">
            <a:avLst/>
          </a:prstGeom>
          <a:noFill/>
        </p:spPr>
        <p:txBody>
          <a:bodyPr wrap="square" rtlCol="0">
            <a:spAutoFit/>
          </a:bodyPr>
          <a:lstStyle/>
          <a:p>
            <a:r>
              <a:rPr lang="en-US" altLang="zh-CN" dirty="0">
                <a:solidFill>
                  <a:schemeClr val="bg1"/>
                </a:solidFill>
              </a:rPr>
              <a:t>B</a:t>
            </a:r>
            <a:endParaRPr lang="zh-CN" altLang="en-US" dirty="0">
              <a:solidFill>
                <a:schemeClr val="bg1"/>
              </a:solidFill>
            </a:endParaRPr>
          </a:p>
        </p:txBody>
      </p:sp>
      <p:sp>
        <p:nvSpPr>
          <p:cNvPr id="81" name="文本框 80"/>
          <p:cNvSpPr txBox="1"/>
          <p:nvPr/>
        </p:nvSpPr>
        <p:spPr>
          <a:xfrm>
            <a:off x="5028572" y="4941522"/>
            <a:ext cx="324196" cy="369332"/>
          </a:xfrm>
          <a:prstGeom prst="rect">
            <a:avLst/>
          </a:prstGeom>
          <a:noFill/>
        </p:spPr>
        <p:txBody>
          <a:bodyPr wrap="square" rtlCol="0">
            <a:spAutoFit/>
          </a:bodyPr>
          <a:lstStyle/>
          <a:p>
            <a:r>
              <a:rPr lang="en-US" altLang="zh-CN" dirty="0">
                <a:solidFill>
                  <a:schemeClr val="bg1"/>
                </a:solidFill>
              </a:rPr>
              <a:t>C</a:t>
            </a:r>
            <a:endParaRPr lang="zh-CN" altLang="en-US" dirty="0">
              <a:solidFill>
                <a:schemeClr val="bg1"/>
              </a:solidFill>
            </a:endParaRPr>
          </a:p>
        </p:txBody>
      </p:sp>
      <p:sp>
        <p:nvSpPr>
          <p:cNvPr id="82" name="文本框 81"/>
          <p:cNvSpPr txBox="1"/>
          <p:nvPr/>
        </p:nvSpPr>
        <p:spPr>
          <a:xfrm>
            <a:off x="6560885" y="4941522"/>
            <a:ext cx="324196" cy="369332"/>
          </a:xfrm>
          <a:prstGeom prst="rect">
            <a:avLst/>
          </a:prstGeom>
          <a:noFill/>
        </p:spPr>
        <p:txBody>
          <a:bodyPr wrap="square" rtlCol="0">
            <a:spAutoFit/>
          </a:bodyPr>
          <a:lstStyle/>
          <a:p>
            <a:r>
              <a:rPr lang="en-US" altLang="zh-CN" dirty="0">
                <a:solidFill>
                  <a:schemeClr val="bg1"/>
                </a:solidFill>
              </a:rPr>
              <a:t>D</a:t>
            </a:r>
            <a:endParaRPr lang="zh-CN" altLang="en-US" dirty="0">
              <a:solidFill>
                <a:schemeClr val="bg1"/>
              </a:solidFill>
            </a:endParaRPr>
          </a:p>
        </p:txBody>
      </p:sp>
      <p:sp>
        <p:nvSpPr>
          <p:cNvPr id="83" name="文本框 82"/>
          <p:cNvSpPr txBox="1"/>
          <p:nvPr/>
        </p:nvSpPr>
        <p:spPr>
          <a:xfrm>
            <a:off x="7078887" y="4941522"/>
            <a:ext cx="324196" cy="369332"/>
          </a:xfrm>
          <a:prstGeom prst="rect">
            <a:avLst/>
          </a:prstGeom>
          <a:noFill/>
        </p:spPr>
        <p:txBody>
          <a:bodyPr wrap="square" rtlCol="0">
            <a:spAutoFit/>
          </a:bodyPr>
          <a:lstStyle/>
          <a:p>
            <a:r>
              <a:rPr lang="en-US" altLang="zh-CN" dirty="0">
                <a:solidFill>
                  <a:schemeClr val="bg1"/>
                </a:solidFill>
              </a:rPr>
              <a:t>E</a:t>
            </a:r>
            <a:endParaRPr lang="zh-CN" altLang="en-US" dirty="0">
              <a:solidFill>
                <a:schemeClr val="bg1"/>
              </a:solidFill>
            </a:endParaRPr>
          </a:p>
        </p:txBody>
      </p:sp>
      <p:sp>
        <p:nvSpPr>
          <p:cNvPr id="84" name="文本框 83"/>
          <p:cNvSpPr txBox="1"/>
          <p:nvPr/>
        </p:nvSpPr>
        <p:spPr>
          <a:xfrm>
            <a:off x="5835069" y="4160191"/>
            <a:ext cx="324196" cy="369332"/>
          </a:xfrm>
          <a:prstGeom prst="rect">
            <a:avLst/>
          </a:prstGeom>
          <a:noFill/>
        </p:spPr>
        <p:txBody>
          <a:bodyPr wrap="square" rtlCol="0">
            <a:spAutoFit/>
          </a:bodyPr>
          <a:lstStyle/>
          <a:p>
            <a:r>
              <a:rPr lang="en-US" altLang="zh-CN" dirty="0">
                <a:solidFill>
                  <a:schemeClr val="bg1"/>
                </a:solidFill>
              </a:rPr>
              <a:t>F</a:t>
            </a:r>
            <a:endParaRPr lang="zh-CN" altLang="en-US" dirty="0">
              <a:solidFill>
                <a:schemeClr val="bg1"/>
              </a:solidFill>
            </a:endParaRPr>
          </a:p>
        </p:txBody>
      </p:sp>
      <p:sp>
        <p:nvSpPr>
          <p:cNvPr id="85" name="文本框 84"/>
          <p:cNvSpPr txBox="1"/>
          <p:nvPr/>
        </p:nvSpPr>
        <p:spPr>
          <a:xfrm>
            <a:off x="5818443" y="5209315"/>
            <a:ext cx="324196" cy="369332"/>
          </a:xfrm>
          <a:prstGeom prst="rect">
            <a:avLst/>
          </a:prstGeom>
          <a:noFill/>
        </p:spPr>
        <p:txBody>
          <a:bodyPr wrap="square" rtlCol="0">
            <a:spAutoFit/>
          </a:bodyPr>
          <a:lstStyle/>
          <a:p>
            <a:r>
              <a:rPr lang="en-US" altLang="zh-CN" dirty="0">
                <a:solidFill>
                  <a:schemeClr val="bg1"/>
                </a:solidFill>
              </a:rPr>
              <a:t>G</a:t>
            </a:r>
            <a:endParaRPr lang="zh-CN" altLang="en-US" dirty="0">
              <a:solidFill>
                <a:schemeClr val="bg1"/>
              </a:solidFill>
            </a:endParaRPr>
          </a:p>
        </p:txBody>
      </p:sp>
      <p:sp>
        <p:nvSpPr>
          <p:cNvPr id="86" name="文本框 85"/>
          <p:cNvSpPr txBox="1"/>
          <p:nvPr/>
        </p:nvSpPr>
        <p:spPr>
          <a:xfrm>
            <a:off x="5815113" y="4680257"/>
            <a:ext cx="294273" cy="369332"/>
          </a:xfrm>
          <a:prstGeom prst="rect">
            <a:avLst/>
          </a:prstGeom>
          <a:noFill/>
        </p:spPr>
        <p:txBody>
          <a:bodyPr wrap="square" rtlCol="0">
            <a:spAutoFit/>
          </a:bodyPr>
          <a:lstStyle/>
          <a:p>
            <a:r>
              <a:rPr lang="en-US" altLang="zh-CN" dirty="0">
                <a:solidFill>
                  <a:schemeClr val="bg1"/>
                </a:solidFill>
              </a:rPr>
              <a:t>H</a:t>
            </a:r>
            <a:endParaRPr lang="zh-CN" altLang="en-US" dirty="0">
              <a:solidFill>
                <a:schemeClr val="bg1"/>
              </a:solidFill>
            </a:endParaRPr>
          </a:p>
        </p:txBody>
      </p:sp>
      <p:sp>
        <p:nvSpPr>
          <p:cNvPr id="87" name="文本框 86"/>
          <p:cNvSpPr txBox="1"/>
          <p:nvPr/>
        </p:nvSpPr>
        <p:spPr>
          <a:xfrm>
            <a:off x="2119666" y="5872227"/>
            <a:ext cx="1157932" cy="369332"/>
          </a:xfrm>
          <a:prstGeom prst="rect">
            <a:avLst/>
          </a:prstGeom>
          <a:noFill/>
        </p:spPr>
        <p:txBody>
          <a:bodyPr wrap="square" rtlCol="0">
            <a:spAutoFit/>
          </a:bodyPr>
          <a:lstStyle/>
          <a:p>
            <a:pPr algn="ctr"/>
            <a:r>
              <a:rPr lang="zh-CN" altLang="en-US" b="1" dirty="0"/>
              <a:t>轮廓</a:t>
            </a:r>
            <a:endParaRPr lang="zh-CN" altLang="en-US" b="1" dirty="0"/>
          </a:p>
        </p:txBody>
      </p:sp>
      <p:sp>
        <p:nvSpPr>
          <p:cNvPr id="88" name="文本框 87"/>
          <p:cNvSpPr txBox="1"/>
          <p:nvPr/>
        </p:nvSpPr>
        <p:spPr>
          <a:xfrm>
            <a:off x="4858420" y="5889107"/>
            <a:ext cx="1913386" cy="369332"/>
          </a:xfrm>
          <a:prstGeom prst="rect">
            <a:avLst/>
          </a:prstGeom>
          <a:noFill/>
        </p:spPr>
        <p:txBody>
          <a:bodyPr wrap="square" rtlCol="0">
            <a:spAutoFit/>
          </a:bodyPr>
          <a:lstStyle/>
          <a:p>
            <a:pPr algn="ctr"/>
            <a:r>
              <a:rPr lang="zh-CN" altLang="en-US" b="1" dirty="0"/>
              <a:t>边界框</a:t>
            </a:r>
            <a:endParaRPr lang="zh-CN" altLang="en-US" b="1" dirty="0"/>
          </a:p>
        </p:txBody>
      </p:sp>
      <p:sp>
        <p:nvSpPr>
          <p:cNvPr id="89" name="矩形 88"/>
          <p:cNvSpPr/>
          <p:nvPr/>
        </p:nvSpPr>
        <p:spPr>
          <a:xfrm>
            <a:off x="10071593" y="2407150"/>
            <a:ext cx="992162" cy="300354"/>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t>模型图</a:t>
            </a:r>
            <a:endParaRPr lang="zh-CN" altLang="en-US" b="1" dirty="0"/>
          </a:p>
        </p:txBody>
      </p:sp>
      <p:sp>
        <p:nvSpPr>
          <p:cNvPr id="90" name="矩形 89"/>
          <p:cNvSpPr/>
          <p:nvPr/>
        </p:nvSpPr>
        <p:spPr>
          <a:xfrm>
            <a:off x="9780818" y="3649446"/>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B</a:t>
            </a:r>
            <a:endParaRPr lang="zh-CN" altLang="en-US" b="1" dirty="0"/>
          </a:p>
        </p:txBody>
      </p:sp>
      <p:sp>
        <p:nvSpPr>
          <p:cNvPr id="91" name="矩形 90"/>
          <p:cNvSpPr/>
          <p:nvPr/>
        </p:nvSpPr>
        <p:spPr>
          <a:xfrm>
            <a:off x="10221392" y="3649446"/>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C</a:t>
            </a:r>
            <a:endParaRPr lang="zh-CN" altLang="en-US" b="1" dirty="0"/>
          </a:p>
        </p:txBody>
      </p:sp>
      <p:sp>
        <p:nvSpPr>
          <p:cNvPr id="92" name="矩形 91"/>
          <p:cNvSpPr/>
          <p:nvPr/>
        </p:nvSpPr>
        <p:spPr>
          <a:xfrm>
            <a:off x="10656977" y="3649445"/>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D</a:t>
            </a:r>
            <a:endParaRPr lang="zh-CN" altLang="en-US" b="1" dirty="0"/>
          </a:p>
        </p:txBody>
      </p:sp>
      <p:sp>
        <p:nvSpPr>
          <p:cNvPr id="93" name="矩形 92"/>
          <p:cNvSpPr/>
          <p:nvPr/>
        </p:nvSpPr>
        <p:spPr>
          <a:xfrm>
            <a:off x="11092562" y="3645231"/>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E</a:t>
            </a:r>
            <a:endParaRPr lang="zh-CN" altLang="en-US" b="1" dirty="0"/>
          </a:p>
        </p:txBody>
      </p:sp>
      <p:sp>
        <p:nvSpPr>
          <p:cNvPr id="94" name="矩形 93"/>
          <p:cNvSpPr/>
          <p:nvPr/>
        </p:nvSpPr>
        <p:spPr>
          <a:xfrm>
            <a:off x="11534234" y="3645230"/>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F</a:t>
            </a:r>
            <a:endParaRPr lang="zh-CN" altLang="en-US" b="1" dirty="0"/>
          </a:p>
        </p:txBody>
      </p:sp>
      <p:sp>
        <p:nvSpPr>
          <p:cNvPr id="95" name="矩形 94"/>
          <p:cNvSpPr/>
          <p:nvPr/>
        </p:nvSpPr>
        <p:spPr>
          <a:xfrm>
            <a:off x="9340244" y="3645231"/>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A</a:t>
            </a:r>
            <a:endParaRPr lang="zh-CN" altLang="en-US" b="1" dirty="0"/>
          </a:p>
        </p:txBody>
      </p:sp>
      <p:sp>
        <p:nvSpPr>
          <p:cNvPr id="96" name="右箭头 57"/>
          <p:cNvSpPr/>
          <p:nvPr/>
        </p:nvSpPr>
        <p:spPr>
          <a:xfrm>
            <a:off x="8008523" y="3590742"/>
            <a:ext cx="958732" cy="40452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97" name="图片 9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35179" y="1816923"/>
            <a:ext cx="2979051" cy="1949481"/>
          </a:xfrm>
          <a:prstGeom prst="rect">
            <a:avLst/>
          </a:prstGeom>
        </p:spPr>
      </p:pic>
      <p:pic>
        <p:nvPicPr>
          <p:cNvPr id="98" name="图片 9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76838" y="1813659"/>
            <a:ext cx="2984038" cy="1952745"/>
          </a:xfrm>
          <a:prstGeom prst="rect">
            <a:avLst/>
          </a:prstGeom>
        </p:spPr>
      </p:pic>
      <p:sp>
        <p:nvSpPr>
          <p:cNvPr id="99" name="文本框 98"/>
          <p:cNvSpPr txBox="1"/>
          <p:nvPr/>
        </p:nvSpPr>
        <p:spPr>
          <a:xfrm>
            <a:off x="1360118" y="2811055"/>
            <a:ext cx="324196" cy="461665"/>
          </a:xfrm>
          <a:prstGeom prst="rect">
            <a:avLst/>
          </a:prstGeom>
          <a:noFill/>
        </p:spPr>
        <p:txBody>
          <a:bodyPr wrap="square" rtlCol="0">
            <a:spAutoFit/>
          </a:bodyPr>
          <a:lstStyle/>
          <a:p>
            <a:r>
              <a:rPr lang="en-US" altLang="zh-CN" sz="2400" b="1" dirty="0">
                <a:solidFill>
                  <a:schemeClr val="bg1"/>
                </a:solidFill>
              </a:rPr>
              <a:t>B</a:t>
            </a:r>
            <a:endParaRPr lang="zh-CN" altLang="en-US" sz="2400" b="1" dirty="0">
              <a:solidFill>
                <a:schemeClr val="bg1"/>
              </a:solidFill>
            </a:endParaRPr>
          </a:p>
        </p:txBody>
      </p:sp>
      <p:sp>
        <p:nvSpPr>
          <p:cNvPr id="100" name="文本框 99"/>
          <p:cNvSpPr txBox="1"/>
          <p:nvPr/>
        </p:nvSpPr>
        <p:spPr>
          <a:xfrm>
            <a:off x="1875509" y="2811055"/>
            <a:ext cx="324196" cy="461665"/>
          </a:xfrm>
          <a:prstGeom prst="rect">
            <a:avLst/>
          </a:prstGeom>
          <a:noFill/>
        </p:spPr>
        <p:txBody>
          <a:bodyPr wrap="square" rtlCol="0">
            <a:spAutoFit/>
          </a:bodyPr>
          <a:lstStyle/>
          <a:p>
            <a:r>
              <a:rPr lang="en-US" altLang="zh-CN" sz="2400" b="1" dirty="0">
                <a:solidFill>
                  <a:schemeClr val="bg1"/>
                </a:solidFill>
              </a:rPr>
              <a:t>C</a:t>
            </a:r>
            <a:endParaRPr lang="zh-CN" altLang="en-US" sz="2400" b="1" dirty="0">
              <a:solidFill>
                <a:schemeClr val="bg1"/>
              </a:solidFill>
            </a:endParaRPr>
          </a:p>
        </p:txBody>
      </p:sp>
      <p:sp>
        <p:nvSpPr>
          <p:cNvPr id="101" name="文本框 100"/>
          <p:cNvSpPr txBox="1"/>
          <p:nvPr/>
        </p:nvSpPr>
        <p:spPr>
          <a:xfrm>
            <a:off x="3407822" y="2811055"/>
            <a:ext cx="324196" cy="461665"/>
          </a:xfrm>
          <a:prstGeom prst="rect">
            <a:avLst/>
          </a:prstGeom>
          <a:noFill/>
        </p:spPr>
        <p:txBody>
          <a:bodyPr wrap="square" rtlCol="0">
            <a:spAutoFit/>
          </a:bodyPr>
          <a:lstStyle/>
          <a:p>
            <a:r>
              <a:rPr lang="en-US" altLang="zh-CN" sz="2400" b="1" dirty="0">
                <a:solidFill>
                  <a:schemeClr val="bg1"/>
                </a:solidFill>
              </a:rPr>
              <a:t>D</a:t>
            </a:r>
            <a:endParaRPr lang="zh-CN" altLang="en-US" sz="2400" b="1" dirty="0">
              <a:solidFill>
                <a:schemeClr val="bg1"/>
              </a:solidFill>
            </a:endParaRPr>
          </a:p>
        </p:txBody>
      </p:sp>
      <p:sp>
        <p:nvSpPr>
          <p:cNvPr id="102" name="文本框 101"/>
          <p:cNvSpPr txBox="1"/>
          <p:nvPr/>
        </p:nvSpPr>
        <p:spPr>
          <a:xfrm>
            <a:off x="3925824" y="2811055"/>
            <a:ext cx="324196" cy="461665"/>
          </a:xfrm>
          <a:prstGeom prst="rect">
            <a:avLst/>
          </a:prstGeom>
          <a:noFill/>
        </p:spPr>
        <p:txBody>
          <a:bodyPr wrap="square" rtlCol="0">
            <a:spAutoFit/>
          </a:bodyPr>
          <a:lstStyle/>
          <a:p>
            <a:r>
              <a:rPr lang="en-US" altLang="zh-CN" sz="2400" b="1" dirty="0">
                <a:solidFill>
                  <a:schemeClr val="bg1"/>
                </a:solidFill>
              </a:rPr>
              <a:t>E</a:t>
            </a:r>
            <a:endParaRPr lang="zh-CN" altLang="en-US" sz="2400" b="1" dirty="0">
              <a:solidFill>
                <a:schemeClr val="bg1"/>
              </a:solidFill>
            </a:endParaRPr>
          </a:p>
        </p:txBody>
      </p:sp>
      <p:sp>
        <p:nvSpPr>
          <p:cNvPr id="103" name="文本框 102"/>
          <p:cNvSpPr txBox="1"/>
          <p:nvPr/>
        </p:nvSpPr>
        <p:spPr>
          <a:xfrm>
            <a:off x="2657067" y="2062976"/>
            <a:ext cx="324196" cy="461665"/>
          </a:xfrm>
          <a:prstGeom prst="rect">
            <a:avLst/>
          </a:prstGeom>
          <a:noFill/>
        </p:spPr>
        <p:txBody>
          <a:bodyPr wrap="square" rtlCol="0">
            <a:spAutoFit/>
          </a:bodyPr>
          <a:lstStyle/>
          <a:p>
            <a:r>
              <a:rPr lang="en-US" altLang="zh-CN" sz="2400" b="1" dirty="0">
                <a:solidFill>
                  <a:schemeClr val="bg1"/>
                </a:solidFill>
              </a:rPr>
              <a:t>A</a:t>
            </a:r>
            <a:endParaRPr lang="zh-CN" altLang="en-US" sz="2400" b="1" dirty="0">
              <a:solidFill>
                <a:schemeClr val="bg1"/>
              </a:solidFill>
            </a:endParaRPr>
          </a:p>
        </p:txBody>
      </p:sp>
      <p:sp>
        <p:nvSpPr>
          <p:cNvPr id="104" name="文本框 103"/>
          <p:cNvSpPr txBox="1"/>
          <p:nvPr/>
        </p:nvSpPr>
        <p:spPr>
          <a:xfrm>
            <a:off x="2682006" y="3062222"/>
            <a:ext cx="324196" cy="461665"/>
          </a:xfrm>
          <a:prstGeom prst="rect">
            <a:avLst/>
          </a:prstGeom>
          <a:noFill/>
        </p:spPr>
        <p:txBody>
          <a:bodyPr wrap="square" rtlCol="0">
            <a:spAutoFit/>
          </a:bodyPr>
          <a:lstStyle/>
          <a:p>
            <a:r>
              <a:rPr lang="en-US" altLang="zh-CN" sz="2400" b="1" dirty="0">
                <a:solidFill>
                  <a:schemeClr val="bg1"/>
                </a:solidFill>
              </a:rPr>
              <a:t>F</a:t>
            </a:r>
            <a:endParaRPr lang="zh-CN" altLang="en-US" sz="2400" b="1" dirty="0">
              <a:solidFill>
                <a:schemeClr val="bg1"/>
              </a:solidFill>
            </a:endParaRPr>
          </a:p>
        </p:txBody>
      </p:sp>
      <p:sp>
        <p:nvSpPr>
          <p:cNvPr id="105" name="文本框 104"/>
          <p:cNvSpPr txBox="1"/>
          <p:nvPr/>
        </p:nvSpPr>
        <p:spPr>
          <a:xfrm>
            <a:off x="4672011" y="2553294"/>
            <a:ext cx="324196" cy="461665"/>
          </a:xfrm>
          <a:prstGeom prst="rect">
            <a:avLst/>
          </a:prstGeom>
          <a:noFill/>
        </p:spPr>
        <p:txBody>
          <a:bodyPr wrap="square" rtlCol="0">
            <a:spAutoFit/>
          </a:bodyPr>
          <a:lstStyle/>
          <a:p>
            <a:r>
              <a:rPr lang="en-US" altLang="zh-CN" sz="2400" b="1" dirty="0">
                <a:solidFill>
                  <a:schemeClr val="bg1"/>
                </a:solidFill>
              </a:rPr>
              <a:t>B</a:t>
            </a:r>
            <a:endParaRPr lang="zh-CN" altLang="en-US" sz="2400" b="1" dirty="0">
              <a:solidFill>
                <a:schemeClr val="bg1"/>
              </a:solidFill>
            </a:endParaRPr>
          </a:p>
        </p:txBody>
      </p:sp>
      <p:sp>
        <p:nvSpPr>
          <p:cNvPr id="106" name="文本框 105"/>
          <p:cNvSpPr txBox="1"/>
          <p:nvPr/>
        </p:nvSpPr>
        <p:spPr>
          <a:xfrm>
            <a:off x="5230339" y="2553473"/>
            <a:ext cx="324196" cy="461665"/>
          </a:xfrm>
          <a:prstGeom prst="rect">
            <a:avLst/>
          </a:prstGeom>
          <a:noFill/>
        </p:spPr>
        <p:txBody>
          <a:bodyPr wrap="square" rtlCol="0">
            <a:spAutoFit/>
          </a:bodyPr>
          <a:lstStyle/>
          <a:p>
            <a:r>
              <a:rPr lang="en-US" altLang="zh-CN" sz="2400" b="1" dirty="0">
                <a:solidFill>
                  <a:schemeClr val="bg1"/>
                </a:solidFill>
              </a:rPr>
              <a:t>C</a:t>
            </a:r>
            <a:endParaRPr lang="zh-CN" altLang="en-US" sz="2400" b="1" dirty="0">
              <a:solidFill>
                <a:schemeClr val="bg1"/>
              </a:solidFill>
            </a:endParaRPr>
          </a:p>
        </p:txBody>
      </p:sp>
      <p:sp>
        <p:nvSpPr>
          <p:cNvPr id="107" name="文本框 106"/>
          <p:cNvSpPr txBox="1"/>
          <p:nvPr/>
        </p:nvSpPr>
        <p:spPr>
          <a:xfrm>
            <a:off x="6565640" y="2552419"/>
            <a:ext cx="324196" cy="461665"/>
          </a:xfrm>
          <a:prstGeom prst="rect">
            <a:avLst/>
          </a:prstGeom>
          <a:noFill/>
        </p:spPr>
        <p:txBody>
          <a:bodyPr wrap="square" rtlCol="0">
            <a:spAutoFit/>
          </a:bodyPr>
          <a:lstStyle/>
          <a:p>
            <a:r>
              <a:rPr lang="en-US" altLang="zh-CN" sz="2400" b="1" dirty="0">
                <a:solidFill>
                  <a:schemeClr val="bg1"/>
                </a:solidFill>
              </a:rPr>
              <a:t>D</a:t>
            </a:r>
            <a:endParaRPr lang="zh-CN" altLang="en-US" sz="2400" b="1" dirty="0">
              <a:solidFill>
                <a:schemeClr val="bg1"/>
              </a:solidFill>
            </a:endParaRPr>
          </a:p>
        </p:txBody>
      </p:sp>
      <p:sp>
        <p:nvSpPr>
          <p:cNvPr id="108" name="文本框 107"/>
          <p:cNvSpPr txBox="1"/>
          <p:nvPr/>
        </p:nvSpPr>
        <p:spPr>
          <a:xfrm>
            <a:off x="7073083" y="2552419"/>
            <a:ext cx="324196" cy="461665"/>
          </a:xfrm>
          <a:prstGeom prst="rect">
            <a:avLst/>
          </a:prstGeom>
          <a:noFill/>
        </p:spPr>
        <p:txBody>
          <a:bodyPr wrap="square" rtlCol="0">
            <a:spAutoFit/>
          </a:bodyPr>
          <a:lstStyle/>
          <a:p>
            <a:r>
              <a:rPr lang="en-US" altLang="zh-CN" sz="2400" b="1" dirty="0">
                <a:solidFill>
                  <a:schemeClr val="bg1"/>
                </a:solidFill>
              </a:rPr>
              <a:t>E</a:t>
            </a:r>
            <a:endParaRPr lang="zh-CN" altLang="en-US" sz="2400" b="1" dirty="0">
              <a:solidFill>
                <a:schemeClr val="bg1"/>
              </a:solidFill>
            </a:endParaRPr>
          </a:p>
        </p:txBody>
      </p:sp>
      <p:sp>
        <p:nvSpPr>
          <p:cNvPr id="109" name="文本框 108"/>
          <p:cNvSpPr txBox="1"/>
          <p:nvPr/>
        </p:nvSpPr>
        <p:spPr>
          <a:xfrm>
            <a:off x="5947289" y="2062976"/>
            <a:ext cx="324196" cy="461665"/>
          </a:xfrm>
          <a:prstGeom prst="rect">
            <a:avLst/>
          </a:prstGeom>
          <a:noFill/>
        </p:spPr>
        <p:txBody>
          <a:bodyPr wrap="square" rtlCol="0">
            <a:spAutoFit/>
          </a:bodyPr>
          <a:lstStyle/>
          <a:p>
            <a:r>
              <a:rPr lang="en-US" altLang="zh-CN" sz="2400" b="1" dirty="0">
                <a:solidFill>
                  <a:schemeClr val="bg1"/>
                </a:solidFill>
              </a:rPr>
              <a:t>A</a:t>
            </a:r>
            <a:endParaRPr lang="zh-CN" altLang="en-US" sz="2400" b="1" dirty="0">
              <a:solidFill>
                <a:schemeClr val="bg1"/>
              </a:solidFill>
            </a:endParaRPr>
          </a:p>
        </p:txBody>
      </p:sp>
      <p:sp>
        <p:nvSpPr>
          <p:cNvPr id="110" name="文本框 109"/>
          <p:cNvSpPr txBox="1"/>
          <p:nvPr/>
        </p:nvSpPr>
        <p:spPr>
          <a:xfrm>
            <a:off x="5976661" y="3043975"/>
            <a:ext cx="324196" cy="461665"/>
          </a:xfrm>
          <a:prstGeom prst="rect">
            <a:avLst/>
          </a:prstGeom>
          <a:noFill/>
        </p:spPr>
        <p:txBody>
          <a:bodyPr wrap="square" rtlCol="0">
            <a:spAutoFit/>
          </a:bodyPr>
          <a:lstStyle/>
          <a:p>
            <a:r>
              <a:rPr lang="en-US" altLang="zh-CN" sz="2400" b="1" dirty="0">
                <a:solidFill>
                  <a:schemeClr val="bg1"/>
                </a:solidFill>
              </a:rPr>
              <a:t>F</a:t>
            </a:r>
            <a:endParaRPr lang="zh-CN" altLang="en-US" sz="2400" b="1" dirty="0">
              <a:solidFill>
                <a:schemeClr val="bg1"/>
              </a:solidFill>
            </a:endParaRPr>
          </a:p>
        </p:txBody>
      </p:sp>
      <p:pic>
        <p:nvPicPr>
          <p:cNvPr id="111" name="图片 1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31856" y="3907921"/>
            <a:ext cx="2981106" cy="1950826"/>
          </a:xfrm>
          <a:prstGeom prst="rect">
            <a:avLst/>
          </a:prstGeom>
        </p:spPr>
      </p:pic>
      <p:pic>
        <p:nvPicPr>
          <p:cNvPr id="112" name="图片 11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75418" y="3907921"/>
            <a:ext cx="2981106" cy="1950826"/>
          </a:xfrm>
          <a:prstGeom prst="rect">
            <a:avLst/>
          </a:prstGeom>
        </p:spPr>
      </p:pic>
      <p:sp>
        <p:nvSpPr>
          <p:cNvPr id="113" name="文本框 112"/>
          <p:cNvSpPr txBox="1"/>
          <p:nvPr/>
        </p:nvSpPr>
        <p:spPr>
          <a:xfrm>
            <a:off x="1345246" y="4883331"/>
            <a:ext cx="293322" cy="461665"/>
          </a:xfrm>
          <a:prstGeom prst="rect">
            <a:avLst/>
          </a:prstGeom>
          <a:noFill/>
        </p:spPr>
        <p:txBody>
          <a:bodyPr wrap="square" rtlCol="0">
            <a:spAutoFit/>
          </a:bodyPr>
          <a:lstStyle/>
          <a:p>
            <a:r>
              <a:rPr lang="en-US" altLang="zh-CN" sz="2400" b="1" dirty="0">
                <a:solidFill>
                  <a:schemeClr val="bg1"/>
                </a:solidFill>
              </a:rPr>
              <a:t>H</a:t>
            </a:r>
            <a:endParaRPr lang="zh-CN" altLang="en-US" sz="2400" b="1" dirty="0">
              <a:solidFill>
                <a:schemeClr val="bg1"/>
              </a:solidFill>
            </a:endParaRPr>
          </a:p>
        </p:txBody>
      </p:sp>
      <p:sp>
        <p:nvSpPr>
          <p:cNvPr id="114" name="文本框 113"/>
          <p:cNvSpPr txBox="1"/>
          <p:nvPr/>
        </p:nvSpPr>
        <p:spPr>
          <a:xfrm>
            <a:off x="1960393" y="4883331"/>
            <a:ext cx="293322" cy="461665"/>
          </a:xfrm>
          <a:prstGeom prst="rect">
            <a:avLst/>
          </a:prstGeom>
          <a:noFill/>
        </p:spPr>
        <p:txBody>
          <a:bodyPr wrap="square" rtlCol="0">
            <a:spAutoFit/>
          </a:bodyPr>
          <a:lstStyle/>
          <a:p>
            <a:r>
              <a:rPr lang="en-US" altLang="zh-CN" sz="2400" b="1" dirty="0">
                <a:solidFill>
                  <a:schemeClr val="bg1"/>
                </a:solidFill>
              </a:rPr>
              <a:t>I</a:t>
            </a:r>
            <a:endParaRPr lang="zh-CN" altLang="en-US" sz="2400" b="1" dirty="0">
              <a:solidFill>
                <a:schemeClr val="bg1"/>
              </a:solidFill>
            </a:endParaRPr>
          </a:p>
        </p:txBody>
      </p:sp>
      <p:sp>
        <p:nvSpPr>
          <p:cNvPr id="115" name="文本框 114"/>
          <p:cNvSpPr txBox="1"/>
          <p:nvPr/>
        </p:nvSpPr>
        <p:spPr>
          <a:xfrm>
            <a:off x="3409576" y="4883331"/>
            <a:ext cx="293322" cy="461665"/>
          </a:xfrm>
          <a:prstGeom prst="rect">
            <a:avLst/>
          </a:prstGeom>
          <a:noFill/>
        </p:spPr>
        <p:txBody>
          <a:bodyPr wrap="square" rtlCol="0">
            <a:spAutoFit/>
          </a:bodyPr>
          <a:lstStyle/>
          <a:p>
            <a:r>
              <a:rPr lang="en-US" altLang="zh-CN" sz="2400" b="1" dirty="0">
                <a:solidFill>
                  <a:schemeClr val="bg1"/>
                </a:solidFill>
              </a:rPr>
              <a:t>J</a:t>
            </a:r>
            <a:endParaRPr lang="zh-CN" altLang="en-US" sz="2400" b="1" dirty="0">
              <a:solidFill>
                <a:schemeClr val="bg1"/>
              </a:solidFill>
            </a:endParaRPr>
          </a:p>
        </p:txBody>
      </p:sp>
      <p:sp>
        <p:nvSpPr>
          <p:cNvPr id="116" name="文本框 115"/>
          <p:cNvSpPr txBox="1"/>
          <p:nvPr/>
        </p:nvSpPr>
        <p:spPr>
          <a:xfrm>
            <a:off x="3927578" y="4883331"/>
            <a:ext cx="293322" cy="461665"/>
          </a:xfrm>
          <a:prstGeom prst="rect">
            <a:avLst/>
          </a:prstGeom>
          <a:noFill/>
        </p:spPr>
        <p:txBody>
          <a:bodyPr wrap="square" rtlCol="0">
            <a:spAutoFit/>
          </a:bodyPr>
          <a:lstStyle/>
          <a:p>
            <a:r>
              <a:rPr lang="en-US" altLang="zh-CN" sz="2400" b="1" dirty="0">
                <a:solidFill>
                  <a:schemeClr val="bg1"/>
                </a:solidFill>
              </a:rPr>
              <a:t>K</a:t>
            </a:r>
            <a:endParaRPr lang="zh-CN" altLang="en-US" sz="2400" b="1" dirty="0">
              <a:solidFill>
                <a:schemeClr val="bg1"/>
              </a:solidFill>
            </a:endParaRPr>
          </a:p>
        </p:txBody>
      </p:sp>
      <p:sp>
        <p:nvSpPr>
          <p:cNvPr id="117" name="文本框 116"/>
          <p:cNvSpPr txBox="1"/>
          <p:nvPr/>
        </p:nvSpPr>
        <p:spPr>
          <a:xfrm>
            <a:off x="2667134" y="4135252"/>
            <a:ext cx="293322" cy="461665"/>
          </a:xfrm>
          <a:prstGeom prst="rect">
            <a:avLst/>
          </a:prstGeom>
          <a:noFill/>
        </p:spPr>
        <p:txBody>
          <a:bodyPr wrap="square" rtlCol="0">
            <a:spAutoFit/>
          </a:bodyPr>
          <a:lstStyle/>
          <a:p>
            <a:r>
              <a:rPr lang="en-US" altLang="zh-CN" sz="2400" b="1" dirty="0">
                <a:solidFill>
                  <a:schemeClr val="bg1"/>
                </a:solidFill>
              </a:rPr>
              <a:t>G</a:t>
            </a:r>
            <a:endParaRPr lang="zh-CN" altLang="en-US" sz="2400" b="1" dirty="0">
              <a:solidFill>
                <a:schemeClr val="bg1"/>
              </a:solidFill>
            </a:endParaRPr>
          </a:p>
        </p:txBody>
      </p:sp>
      <p:sp>
        <p:nvSpPr>
          <p:cNvPr id="118" name="文本框 117"/>
          <p:cNvSpPr txBox="1"/>
          <p:nvPr/>
        </p:nvSpPr>
        <p:spPr>
          <a:xfrm>
            <a:off x="2700386" y="5134498"/>
            <a:ext cx="293322" cy="461665"/>
          </a:xfrm>
          <a:prstGeom prst="rect">
            <a:avLst/>
          </a:prstGeom>
          <a:noFill/>
        </p:spPr>
        <p:txBody>
          <a:bodyPr wrap="square" rtlCol="0">
            <a:spAutoFit/>
          </a:bodyPr>
          <a:lstStyle/>
          <a:p>
            <a:r>
              <a:rPr lang="en-US" altLang="zh-CN" sz="2400" b="1" dirty="0">
                <a:solidFill>
                  <a:schemeClr val="bg1"/>
                </a:solidFill>
              </a:rPr>
              <a:t>L</a:t>
            </a:r>
            <a:endParaRPr lang="zh-CN" altLang="en-US" sz="2400" b="1" dirty="0">
              <a:solidFill>
                <a:schemeClr val="bg1"/>
              </a:solidFill>
            </a:endParaRPr>
          </a:p>
        </p:txBody>
      </p:sp>
      <p:sp>
        <p:nvSpPr>
          <p:cNvPr id="119" name="文本框 118"/>
          <p:cNvSpPr txBox="1"/>
          <p:nvPr/>
        </p:nvSpPr>
        <p:spPr>
          <a:xfrm>
            <a:off x="4506213" y="4917163"/>
            <a:ext cx="293322" cy="461665"/>
          </a:xfrm>
          <a:prstGeom prst="rect">
            <a:avLst/>
          </a:prstGeom>
          <a:noFill/>
        </p:spPr>
        <p:txBody>
          <a:bodyPr wrap="square" rtlCol="0">
            <a:spAutoFit/>
          </a:bodyPr>
          <a:lstStyle/>
          <a:p>
            <a:r>
              <a:rPr lang="en-US" altLang="zh-CN" sz="2400" b="1" dirty="0">
                <a:solidFill>
                  <a:schemeClr val="bg1"/>
                </a:solidFill>
              </a:rPr>
              <a:t>H</a:t>
            </a:r>
            <a:endParaRPr lang="zh-CN" altLang="en-US" sz="2400" b="1" dirty="0">
              <a:solidFill>
                <a:schemeClr val="bg1"/>
              </a:solidFill>
            </a:endParaRPr>
          </a:p>
        </p:txBody>
      </p:sp>
      <p:sp>
        <p:nvSpPr>
          <p:cNvPr id="120" name="文本框 119"/>
          <p:cNvSpPr txBox="1"/>
          <p:nvPr/>
        </p:nvSpPr>
        <p:spPr>
          <a:xfrm>
            <a:off x="5221113" y="4933789"/>
            <a:ext cx="293322" cy="461665"/>
          </a:xfrm>
          <a:prstGeom prst="rect">
            <a:avLst/>
          </a:prstGeom>
          <a:noFill/>
        </p:spPr>
        <p:txBody>
          <a:bodyPr wrap="square" rtlCol="0">
            <a:spAutoFit/>
          </a:bodyPr>
          <a:lstStyle/>
          <a:p>
            <a:r>
              <a:rPr lang="en-US" altLang="zh-CN" sz="2400" b="1" dirty="0">
                <a:solidFill>
                  <a:schemeClr val="bg1"/>
                </a:solidFill>
              </a:rPr>
              <a:t>I</a:t>
            </a:r>
            <a:endParaRPr lang="zh-CN" altLang="en-US" sz="2400" b="1" dirty="0">
              <a:solidFill>
                <a:schemeClr val="bg1"/>
              </a:solidFill>
            </a:endParaRPr>
          </a:p>
        </p:txBody>
      </p:sp>
      <p:sp>
        <p:nvSpPr>
          <p:cNvPr id="121" name="文本框 120"/>
          <p:cNvSpPr txBox="1"/>
          <p:nvPr/>
        </p:nvSpPr>
        <p:spPr>
          <a:xfrm>
            <a:off x="6495727" y="4933789"/>
            <a:ext cx="293322" cy="461665"/>
          </a:xfrm>
          <a:prstGeom prst="rect">
            <a:avLst/>
          </a:prstGeom>
          <a:noFill/>
        </p:spPr>
        <p:txBody>
          <a:bodyPr wrap="square" rtlCol="0">
            <a:spAutoFit/>
          </a:bodyPr>
          <a:lstStyle/>
          <a:p>
            <a:r>
              <a:rPr lang="en-US" altLang="zh-CN" sz="2400" b="1" dirty="0">
                <a:solidFill>
                  <a:schemeClr val="bg1"/>
                </a:solidFill>
              </a:rPr>
              <a:t>J</a:t>
            </a:r>
            <a:endParaRPr lang="zh-CN" altLang="en-US" sz="2400" b="1" dirty="0">
              <a:solidFill>
                <a:schemeClr val="bg1"/>
              </a:solidFill>
            </a:endParaRPr>
          </a:p>
        </p:txBody>
      </p:sp>
      <p:sp>
        <p:nvSpPr>
          <p:cNvPr id="122" name="文本框 121"/>
          <p:cNvSpPr txBox="1"/>
          <p:nvPr/>
        </p:nvSpPr>
        <p:spPr>
          <a:xfrm>
            <a:off x="7088545" y="4917163"/>
            <a:ext cx="293322" cy="461665"/>
          </a:xfrm>
          <a:prstGeom prst="rect">
            <a:avLst/>
          </a:prstGeom>
          <a:noFill/>
        </p:spPr>
        <p:txBody>
          <a:bodyPr wrap="square" rtlCol="0">
            <a:spAutoFit/>
          </a:bodyPr>
          <a:lstStyle/>
          <a:p>
            <a:r>
              <a:rPr lang="en-US" altLang="zh-CN" sz="2400" b="1" dirty="0">
                <a:solidFill>
                  <a:schemeClr val="bg1"/>
                </a:solidFill>
              </a:rPr>
              <a:t>K</a:t>
            </a:r>
            <a:endParaRPr lang="zh-CN" altLang="en-US" sz="2400" b="1" dirty="0">
              <a:solidFill>
                <a:schemeClr val="bg1"/>
              </a:solidFill>
            </a:endParaRPr>
          </a:p>
        </p:txBody>
      </p:sp>
      <p:sp>
        <p:nvSpPr>
          <p:cNvPr id="123" name="文本框 122"/>
          <p:cNvSpPr txBox="1"/>
          <p:nvPr/>
        </p:nvSpPr>
        <p:spPr>
          <a:xfrm>
            <a:off x="5811475" y="4160771"/>
            <a:ext cx="293322" cy="461665"/>
          </a:xfrm>
          <a:prstGeom prst="rect">
            <a:avLst/>
          </a:prstGeom>
          <a:noFill/>
        </p:spPr>
        <p:txBody>
          <a:bodyPr wrap="square" rtlCol="0">
            <a:spAutoFit/>
          </a:bodyPr>
          <a:lstStyle/>
          <a:p>
            <a:r>
              <a:rPr lang="en-US" altLang="zh-CN" sz="2400" b="1" dirty="0">
                <a:solidFill>
                  <a:schemeClr val="bg1"/>
                </a:solidFill>
              </a:rPr>
              <a:t>G</a:t>
            </a:r>
            <a:endParaRPr lang="zh-CN" altLang="en-US" sz="2400" b="1" dirty="0">
              <a:solidFill>
                <a:schemeClr val="bg1"/>
              </a:solidFill>
            </a:endParaRPr>
          </a:p>
        </p:txBody>
      </p:sp>
      <p:sp>
        <p:nvSpPr>
          <p:cNvPr id="124" name="文本框 123"/>
          <p:cNvSpPr txBox="1"/>
          <p:nvPr/>
        </p:nvSpPr>
        <p:spPr>
          <a:xfrm>
            <a:off x="5853040" y="5135078"/>
            <a:ext cx="293322" cy="461665"/>
          </a:xfrm>
          <a:prstGeom prst="rect">
            <a:avLst/>
          </a:prstGeom>
          <a:noFill/>
        </p:spPr>
        <p:txBody>
          <a:bodyPr wrap="square" rtlCol="0">
            <a:spAutoFit/>
          </a:bodyPr>
          <a:lstStyle/>
          <a:p>
            <a:r>
              <a:rPr lang="en-US" altLang="zh-CN" sz="2400" b="1" dirty="0">
                <a:solidFill>
                  <a:schemeClr val="bg1"/>
                </a:solidFill>
              </a:rPr>
              <a:t>L</a:t>
            </a:r>
            <a:endParaRPr lang="zh-CN" altLang="en-US" sz="2400" b="1" dirty="0">
              <a:solidFill>
                <a:schemeClr val="bg1"/>
              </a:solidFill>
            </a:endParaRPr>
          </a:p>
        </p:txBody>
      </p:sp>
      <p:sp>
        <p:nvSpPr>
          <p:cNvPr id="125" name="矩形 124"/>
          <p:cNvSpPr/>
          <p:nvPr/>
        </p:nvSpPr>
        <p:spPr>
          <a:xfrm>
            <a:off x="9780818" y="4715745"/>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H</a:t>
            </a:r>
            <a:endParaRPr lang="zh-CN" altLang="en-US" b="1" dirty="0"/>
          </a:p>
        </p:txBody>
      </p:sp>
      <p:sp>
        <p:nvSpPr>
          <p:cNvPr id="126" name="矩形 125"/>
          <p:cNvSpPr/>
          <p:nvPr/>
        </p:nvSpPr>
        <p:spPr>
          <a:xfrm>
            <a:off x="10221392" y="4715745"/>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I</a:t>
            </a:r>
            <a:endParaRPr lang="zh-CN" altLang="en-US" b="1" dirty="0"/>
          </a:p>
        </p:txBody>
      </p:sp>
      <p:sp>
        <p:nvSpPr>
          <p:cNvPr id="127" name="矩形 126"/>
          <p:cNvSpPr/>
          <p:nvPr/>
        </p:nvSpPr>
        <p:spPr>
          <a:xfrm>
            <a:off x="10656977" y="4715744"/>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J</a:t>
            </a:r>
            <a:endParaRPr lang="zh-CN" altLang="en-US" b="1" dirty="0"/>
          </a:p>
        </p:txBody>
      </p:sp>
      <p:sp>
        <p:nvSpPr>
          <p:cNvPr id="128" name="矩形 127"/>
          <p:cNvSpPr/>
          <p:nvPr/>
        </p:nvSpPr>
        <p:spPr>
          <a:xfrm>
            <a:off x="11092562" y="4711530"/>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K</a:t>
            </a:r>
            <a:endParaRPr lang="zh-CN" altLang="en-US" b="1" dirty="0"/>
          </a:p>
        </p:txBody>
      </p:sp>
      <p:sp>
        <p:nvSpPr>
          <p:cNvPr id="129" name="矩形 128"/>
          <p:cNvSpPr/>
          <p:nvPr/>
        </p:nvSpPr>
        <p:spPr>
          <a:xfrm>
            <a:off x="11534234" y="4711529"/>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L</a:t>
            </a:r>
            <a:endParaRPr lang="zh-CN" altLang="en-US" b="1" dirty="0"/>
          </a:p>
        </p:txBody>
      </p:sp>
      <p:sp>
        <p:nvSpPr>
          <p:cNvPr id="130" name="矩形 129"/>
          <p:cNvSpPr/>
          <p:nvPr/>
        </p:nvSpPr>
        <p:spPr>
          <a:xfrm>
            <a:off x="9340244" y="4711530"/>
            <a:ext cx="271549" cy="250257"/>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b="1" dirty="0"/>
              <a:t>G</a:t>
            </a:r>
            <a:endParaRPr lang="zh-CN" altLang="en-US" b="1" dirty="0"/>
          </a:p>
        </p:txBody>
      </p:sp>
      <p:cxnSp>
        <p:nvCxnSpPr>
          <p:cNvPr id="131" name="直接箭头连接符 130"/>
          <p:cNvCxnSpPr>
            <a:stCxn id="89" idx="2"/>
            <a:endCxn id="95" idx="0"/>
          </p:cNvCxnSpPr>
          <p:nvPr/>
        </p:nvCxnSpPr>
        <p:spPr>
          <a:xfrm flipH="1">
            <a:off x="9476019" y="2707504"/>
            <a:ext cx="1091655" cy="9377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p:cNvCxnSpPr>
            <a:stCxn id="89" idx="2"/>
            <a:endCxn id="90" idx="0"/>
          </p:cNvCxnSpPr>
          <p:nvPr/>
        </p:nvCxnSpPr>
        <p:spPr>
          <a:xfrm flipH="1">
            <a:off x="9916593" y="2707504"/>
            <a:ext cx="651081" cy="9419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a:stCxn id="89" idx="2"/>
            <a:endCxn id="91" idx="0"/>
          </p:cNvCxnSpPr>
          <p:nvPr/>
        </p:nvCxnSpPr>
        <p:spPr>
          <a:xfrm flipH="1">
            <a:off x="10357167" y="2707504"/>
            <a:ext cx="210507" cy="9419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a:stCxn id="89" idx="2"/>
            <a:endCxn id="92" idx="0"/>
          </p:cNvCxnSpPr>
          <p:nvPr/>
        </p:nvCxnSpPr>
        <p:spPr>
          <a:xfrm>
            <a:off x="10567674" y="2707504"/>
            <a:ext cx="225078" cy="9419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a:stCxn id="89" idx="2"/>
            <a:endCxn id="93" idx="0"/>
          </p:cNvCxnSpPr>
          <p:nvPr/>
        </p:nvCxnSpPr>
        <p:spPr>
          <a:xfrm>
            <a:off x="10567674" y="2707504"/>
            <a:ext cx="660663" cy="9377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p:cNvCxnSpPr>
            <a:stCxn id="89" idx="2"/>
            <a:endCxn id="94" idx="0"/>
          </p:cNvCxnSpPr>
          <p:nvPr/>
        </p:nvCxnSpPr>
        <p:spPr>
          <a:xfrm>
            <a:off x="10567674" y="2707504"/>
            <a:ext cx="1102335" cy="9377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直接箭头连接符 136"/>
          <p:cNvCxnSpPr>
            <a:stCxn id="95" idx="2"/>
            <a:endCxn id="130" idx="0"/>
          </p:cNvCxnSpPr>
          <p:nvPr/>
        </p:nvCxnSpPr>
        <p:spPr>
          <a:xfrm>
            <a:off x="9476019" y="3895488"/>
            <a:ext cx="0" cy="8160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a:stCxn id="90" idx="2"/>
            <a:endCxn id="125" idx="0"/>
          </p:cNvCxnSpPr>
          <p:nvPr/>
        </p:nvCxnSpPr>
        <p:spPr>
          <a:xfrm>
            <a:off x="9916593" y="3899703"/>
            <a:ext cx="0" cy="8160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直接箭头连接符 138"/>
          <p:cNvCxnSpPr>
            <a:stCxn id="91" idx="2"/>
            <a:endCxn id="126" idx="0"/>
          </p:cNvCxnSpPr>
          <p:nvPr/>
        </p:nvCxnSpPr>
        <p:spPr>
          <a:xfrm>
            <a:off x="10357167" y="3899703"/>
            <a:ext cx="0" cy="8160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a:stCxn id="92" idx="2"/>
            <a:endCxn id="127" idx="0"/>
          </p:cNvCxnSpPr>
          <p:nvPr/>
        </p:nvCxnSpPr>
        <p:spPr>
          <a:xfrm>
            <a:off x="10792752" y="3899702"/>
            <a:ext cx="0" cy="8160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a:stCxn id="93" idx="2"/>
            <a:endCxn id="128" idx="0"/>
          </p:cNvCxnSpPr>
          <p:nvPr/>
        </p:nvCxnSpPr>
        <p:spPr>
          <a:xfrm>
            <a:off x="11228337" y="3895488"/>
            <a:ext cx="0" cy="8160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a:stCxn id="94" idx="2"/>
            <a:endCxn id="129" idx="0"/>
          </p:cNvCxnSpPr>
          <p:nvPr/>
        </p:nvCxnSpPr>
        <p:spPr>
          <a:xfrm>
            <a:off x="11670009" y="3895487"/>
            <a:ext cx="0" cy="8160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3" name="文本框 142"/>
          <p:cNvSpPr txBox="1"/>
          <p:nvPr/>
        </p:nvSpPr>
        <p:spPr>
          <a:xfrm>
            <a:off x="440496" y="2606324"/>
            <a:ext cx="924337" cy="369332"/>
          </a:xfrm>
          <a:prstGeom prst="rect">
            <a:avLst/>
          </a:prstGeom>
          <a:noFill/>
        </p:spPr>
        <p:txBody>
          <a:bodyPr wrap="square" rtlCol="0">
            <a:spAutoFit/>
          </a:bodyPr>
          <a:lstStyle/>
          <a:p>
            <a:r>
              <a:rPr lang="zh-CN" altLang="en-US" b="1" dirty="0"/>
              <a:t>第一层</a:t>
            </a:r>
            <a:endParaRPr lang="zh-CN" altLang="en-US" b="1" dirty="0"/>
          </a:p>
        </p:txBody>
      </p:sp>
      <p:sp>
        <p:nvSpPr>
          <p:cNvPr id="144" name="文本框 143"/>
          <p:cNvSpPr txBox="1"/>
          <p:nvPr/>
        </p:nvSpPr>
        <p:spPr>
          <a:xfrm>
            <a:off x="441366" y="4657098"/>
            <a:ext cx="909528" cy="369332"/>
          </a:xfrm>
          <a:prstGeom prst="rect">
            <a:avLst/>
          </a:prstGeom>
          <a:noFill/>
        </p:spPr>
        <p:txBody>
          <a:bodyPr wrap="square" rtlCol="0">
            <a:spAutoFit/>
          </a:bodyPr>
          <a:lstStyle/>
          <a:p>
            <a:r>
              <a:rPr lang="zh-CN" altLang="en-US" b="1" dirty="0"/>
              <a:t>第二层</a:t>
            </a:r>
            <a:endParaRPr lang="zh-CN" alt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8" y="1165864"/>
            <a:ext cx="23847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连接关系检测关键点</a:t>
            </a:r>
            <a:endParaRPr lang="zh-CN" altLang="en-US" b="1" dirty="0">
              <a:solidFill>
                <a:schemeClr val="bg1"/>
              </a:solidFill>
            </a:endParaRPr>
          </a:p>
        </p:txBody>
      </p:sp>
      <p:sp>
        <p:nvSpPr>
          <p:cNvPr id="16" name="文本框 15"/>
          <p:cNvSpPr txBox="1"/>
          <p:nvPr/>
        </p:nvSpPr>
        <p:spPr>
          <a:xfrm>
            <a:off x="1523998" y="1651268"/>
            <a:ext cx="7620001" cy="3662541"/>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箭头检测</a:t>
            </a:r>
            <a:endParaRPr lang="en-US" altLang="zh-CN" sz="2400" b="1" dirty="0"/>
          </a:p>
          <a:p>
            <a:pPr marL="742950" lvl="1" indent="-285750">
              <a:lnSpc>
                <a:spcPct val="150000"/>
              </a:lnSpc>
              <a:buFont typeface="Arial" panose="020B0604020202020204" pitchFamily="34" charset="0"/>
              <a:buChar char="•"/>
            </a:pPr>
            <a:r>
              <a:rPr lang="zh-CN" altLang="en-US" sz="2400" dirty="0"/>
              <a:t>多种箭头处理</a:t>
            </a:r>
            <a:endParaRPr lang="en-US" altLang="zh-CN" sz="2400" dirty="0"/>
          </a:p>
          <a:p>
            <a:pPr marL="285750" indent="-285750">
              <a:lnSpc>
                <a:spcPct val="150000"/>
              </a:lnSpc>
              <a:buFont typeface="Arial" panose="020B0604020202020204" pitchFamily="34" charset="0"/>
              <a:buChar char="•"/>
            </a:pPr>
            <a:r>
              <a:rPr lang="zh-CN" altLang="en-US" sz="2400" b="1" dirty="0"/>
              <a:t>直线检测</a:t>
            </a:r>
            <a:endParaRPr lang="en-US" altLang="zh-CN" sz="2400" b="1" dirty="0"/>
          </a:p>
          <a:p>
            <a:pPr marL="742950" lvl="1" indent="-285750">
              <a:lnSpc>
                <a:spcPct val="150000"/>
              </a:lnSpc>
              <a:buFont typeface="Arial" panose="020B0604020202020204" pitchFamily="34" charset="0"/>
              <a:buChar char="•"/>
            </a:pPr>
            <a:r>
              <a:rPr lang="zh-CN" altLang="en-US" sz="2400" dirty="0"/>
              <a:t>霍夫变换</a:t>
            </a:r>
            <a:endParaRPr lang="en-US" altLang="zh-CN" sz="2400" dirty="0"/>
          </a:p>
          <a:p>
            <a:pPr marL="285750" indent="-285750">
              <a:lnSpc>
                <a:spcPct val="150000"/>
              </a:lnSpc>
              <a:buFont typeface="Arial" panose="020B0604020202020204" pitchFamily="34" charset="0"/>
              <a:buChar char="•"/>
            </a:pPr>
            <a:r>
              <a:rPr lang="zh-CN" altLang="en-US" sz="2400" b="1" dirty="0"/>
              <a:t>连接线拼接</a:t>
            </a:r>
            <a:endParaRPr lang="en-US" altLang="zh-CN" sz="2400" b="1" dirty="0"/>
          </a:p>
          <a:p>
            <a:pPr marL="742950" lvl="1" indent="-285750">
              <a:lnSpc>
                <a:spcPct val="150000"/>
              </a:lnSpc>
              <a:buFont typeface="Arial" panose="020B0604020202020204" pitchFamily="34" charset="0"/>
              <a:buChar char="•"/>
            </a:pPr>
            <a:r>
              <a:rPr lang="zh-CN" altLang="en-US" sz="2400" dirty="0"/>
              <a:t>箭头方向判断</a:t>
            </a:r>
            <a:endParaRPr lang="en-US" altLang="zh-CN" sz="2400" dirty="0"/>
          </a:p>
          <a:p>
            <a:pPr marL="285750" indent="-285750">
              <a:buFont typeface="Arial" panose="020B0604020202020204" pitchFamily="34" charset="0"/>
              <a:buChar char="•"/>
            </a:pPr>
            <a:endParaRPr lang="zh-CN" altLang="en-US" sz="1600" b="1" dirty="0"/>
          </a:p>
        </p:txBody>
      </p:sp>
      <p:grpSp>
        <p:nvGrpSpPr>
          <p:cNvPr id="3" name="组合 2"/>
          <p:cNvGrpSpPr/>
          <p:nvPr/>
        </p:nvGrpSpPr>
        <p:grpSpPr>
          <a:xfrm>
            <a:off x="5384796" y="1969824"/>
            <a:ext cx="5419798" cy="2918352"/>
            <a:chOff x="5384796" y="1969824"/>
            <a:chExt cx="5419798" cy="2918352"/>
          </a:xfrm>
        </p:grpSpPr>
        <p:pic>
          <p:nvPicPr>
            <p:cNvPr id="19" name="图片 18"/>
            <p:cNvPicPr/>
            <p:nvPr/>
          </p:nvPicPr>
          <p:blipFill>
            <a:blip r:embed="rId5">
              <a:extLst>
                <a:ext uri="{28A0092B-C50C-407E-A947-70E740481C1C}">
                  <a14:useLocalDpi xmlns:a14="http://schemas.microsoft.com/office/drawing/2010/main" val="0"/>
                </a:ext>
              </a:extLst>
            </a:blip>
            <a:stretch>
              <a:fillRect/>
            </a:stretch>
          </p:blipFill>
          <p:spPr>
            <a:xfrm>
              <a:off x="5384797" y="1969824"/>
              <a:ext cx="5419797" cy="2918352"/>
            </a:xfrm>
            <a:prstGeom prst="rect">
              <a:avLst/>
            </a:prstGeom>
            <a:ln>
              <a:solidFill>
                <a:schemeClr val="bg1"/>
              </a:solidFill>
            </a:ln>
          </p:spPr>
        </p:pic>
        <p:sp>
          <p:nvSpPr>
            <p:cNvPr id="2" name="矩形 1"/>
            <p:cNvSpPr/>
            <p:nvPr/>
          </p:nvSpPr>
          <p:spPr>
            <a:xfrm>
              <a:off x="5384796" y="3208537"/>
              <a:ext cx="484094" cy="440926"/>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647698" y="3140464"/>
              <a:ext cx="584951" cy="574285"/>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8992025" y="3140464"/>
              <a:ext cx="609175" cy="574285"/>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0299699" y="3140464"/>
              <a:ext cx="504895" cy="549654"/>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558900" y="3883414"/>
              <a:ext cx="1191400" cy="955286"/>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7558900" y="2019300"/>
              <a:ext cx="1191400" cy="955286"/>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2384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箭头检测</a:t>
            </a:r>
            <a:endParaRPr lang="zh-CN" altLang="en-US" b="1" dirty="0">
              <a:solidFill>
                <a:schemeClr val="bg1"/>
              </a:solidFill>
            </a:endParaRPr>
          </a:p>
        </p:txBody>
      </p:sp>
      <p:grpSp>
        <p:nvGrpSpPr>
          <p:cNvPr id="611" name="组合 610"/>
          <p:cNvGrpSpPr/>
          <p:nvPr/>
        </p:nvGrpSpPr>
        <p:grpSpPr>
          <a:xfrm>
            <a:off x="1814179" y="2169000"/>
            <a:ext cx="2520000" cy="2520000"/>
            <a:chOff x="968825" y="1020333"/>
            <a:chExt cx="2520000" cy="2520000"/>
          </a:xfrm>
        </p:grpSpPr>
        <p:sp>
          <p:nvSpPr>
            <p:cNvPr id="612" name="矩形 611"/>
            <p:cNvSpPr/>
            <p:nvPr/>
          </p:nvSpPr>
          <p:spPr>
            <a:xfrm>
              <a:off x="96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3" name="矩形 612"/>
            <p:cNvSpPr/>
            <p:nvPr/>
          </p:nvSpPr>
          <p:spPr>
            <a:xfrm>
              <a:off x="132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4" name="矩形 613"/>
            <p:cNvSpPr/>
            <p:nvPr/>
          </p:nvSpPr>
          <p:spPr>
            <a:xfrm>
              <a:off x="168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5" name="矩形 614"/>
            <p:cNvSpPr/>
            <p:nvPr/>
          </p:nvSpPr>
          <p:spPr>
            <a:xfrm>
              <a:off x="204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6" name="矩形 615"/>
            <p:cNvSpPr/>
            <p:nvPr/>
          </p:nvSpPr>
          <p:spPr>
            <a:xfrm>
              <a:off x="240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7" name="矩形 616"/>
            <p:cNvSpPr/>
            <p:nvPr/>
          </p:nvSpPr>
          <p:spPr>
            <a:xfrm>
              <a:off x="96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8" name="矩形 617"/>
            <p:cNvSpPr/>
            <p:nvPr/>
          </p:nvSpPr>
          <p:spPr>
            <a:xfrm>
              <a:off x="132882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19" name="矩形 618"/>
            <p:cNvSpPr/>
            <p:nvPr/>
          </p:nvSpPr>
          <p:spPr>
            <a:xfrm>
              <a:off x="168882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0" name="矩形 619"/>
            <p:cNvSpPr/>
            <p:nvPr/>
          </p:nvSpPr>
          <p:spPr>
            <a:xfrm>
              <a:off x="204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1" name="矩形 620"/>
            <p:cNvSpPr/>
            <p:nvPr/>
          </p:nvSpPr>
          <p:spPr>
            <a:xfrm>
              <a:off x="240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2" name="矩形 621"/>
            <p:cNvSpPr/>
            <p:nvPr/>
          </p:nvSpPr>
          <p:spPr>
            <a:xfrm>
              <a:off x="96882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3" name="矩形 622"/>
            <p:cNvSpPr/>
            <p:nvPr/>
          </p:nvSpPr>
          <p:spPr>
            <a:xfrm>
              <a:off x="132882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4" name="矩形 623"/>
            <p:cNvSpPr/>
            <p:nvPr/>
          </p:nvSpPr>
          <p:spPr>
            <a:xfrm>
              <a:off x="168882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5" name="矩形 624"/>
            <p:cNvSpPr/>
            <p:nvPr/>
          </p:nvSpPr>
          <p:spPr>
            <a:xfrm>
              <a:off x="204882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6" name="矩形 625"/>
            <p:cNvSpPr/>
            <p:nvPr/>
          </p:nvSpPr>
          <p:spPr>
            <a:xfrm>
              <a:off x="240882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7" name="矩形 626"/>
            <p:cNvSpPr/>
            <p:nvPr/>
          </p:nvSpPr>
          <p:spPr>
            <a:xfrm>
              <a:off x="96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8" name="矩形 627"/>
            <p:cNvSpPr/>
            <p:nvPr/>
          </p:nvSpPr>
          <p:spPr>
            <a:xfrm>
              <a:off x="132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29" name="矩形 628"/>
            <p:cNvSpPr/>
            <p:nvPr/>
          </p:nvSpPr>
          <p:spPr>
            <a:xfrm>
              <a:off x="168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0" name="矩形 629"/>
            <p:cNvSpPr/>
            <p:nvPr/>
          </p:nvSpPr>
          <p:spPr>
            <a:xfrm>
              <a:off x="204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1" name="矩形 630"/>
            <p:cNvSpPr/>
            <p:nvPr/>
          </p:nvSpPr>
          <p:spPr>
            <a:xfrm>
              <a:off x="240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2" name="矩形 631"/>
            <p:cNvSpPr/>
            <p:nvPr/>
          </p:nvSpPr>
          <p:spPr>
            <a:xfrm>
              <a:off x="96882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3" name="矩形 632"/>
            <p:cNvSpPr/>
            <p:nvPr/>
          </p:nvSpPr>
          <p:spPr>
            <a:xfrm>
              <a:off x="132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4" name="矩形 633"/>
            <p:cNvSpPr/>
            <p:nvPr/>
          </p:nvSpPr>
          <p:spPr>
            <a:xfrm>
              <a:off x="168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5" name="矩形 634"/>
            <p:cNvSpPr/>
            <p:nvPr/>
          </p:nvSpPr>
          <p:spPr>
            <a:xfrm>
              <a:off x="204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6" name="矩形 635"/>
            <p:cNvSpPr/>
            <p:nvPr/>
          </p:nvSpPr>
          <p:spPr>
            <a:xfrm>
              <a:off x="240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7" name="矩形 636"/>
            <p:cNvSpPr/>
            <p:nvPr/>
          </p:nvSpPr>
          <p:spPr>
            <a:xfrm>
              <a:off x="276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8" name="矩形 637"/>
            <p:cNvSpPr/>
            <p:nvPr/>
          </p:nvSpPr>
          <p:spPr>
            <a:xfrm>
              <a:off x="312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39" name="矩形 638"/>
            <p:cNvSpPr/>
            <p:nvPr/>
          </p:nvSpPr>
          <p:spPr>
            <a:xfrm>
              <a:off x="276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0" name="矩形 639"/>
            <p:cNvSpPr/>
            <p:nvPr/>
          </p:nvSpPr>
          <p:spPr>
            <a:xfrm>
              <a:off x="312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1" name="矩形 640"/>
            <p:cNvSpPr/>
            <p:nvPr/>
          </p:nvSpPr>
          <p:spPr>
            <a:xfrm>
              <a:off x="276882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2" name="矩形 641"/>
            <p:cNvSpPr/>
            <p:nvPr/>
          </p:nvSpPr>
          <p:spPr>
            <a:xfrm>
              <a:off x="312882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3" name="矩形 642"/>
            <p:cNvSpPr/>
            <p:nvPr/>
          </p:nvSpPr>
          <p:spPr>
            <a:xfrm>
              <a:off x="276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4" name="矩形 643"/>
            <p:cNvSpPr/>
            <p:nvPr/>
          </p:nvSpPr>
          <p:spPr>
            <a:xfrm>
              <a:off x="312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5" name="矩形 644"/>
            <p:cNvSpPr/>
            <p:nvPr/>
          </p:nvSpPr>
          <p:spPr>
            <a:xfrm>
              <a:off x="276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6" name="矩形 645"/>
            <p:cNvSpPr/>
            <p:nvPr/>
          </p:nvSpPr>
          <p:spPr>
            <a:xfrm>
              <a:off x="312247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7" name="矩形 646"/>
            <p:cNvSpPr/>
            <p:nvPr/>
          </p:nvSpPr>
          <p:spPr>
            <a:xfrm>
              <a:off x="96882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8" name="矩形 647"/>
            <p:cNvSpPr/>
            <p:nvPr/>
          </p:nvSpPr>
          <p:spPr>
            <a:xfrm>
              <a:off x="132882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49" name="矩形 648"/>
            <p:cNvSpPr/>
            <p:nvPr/>
          </p:nvSpPr>
          <p:spPr>
            <a:xfrm>
              <a:off x="168882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0" name="矩形 649"/>
            <p:cNvSpPr/>
            <p:nvPr/>
          </p:nvSpPr>
          <p:spPr>
            <a:xfrm>
              <a:off x="204882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1" name="矩形 650"/>
            <p:cNvSpPr/>
            <p:nvPr/>
          </p:nvSpPr>
          <p:spPr>
            <a:xfrm>
              <a:off x="240882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2" name="矩形 651"/>
            <p:cNvSpPr/>
            <p:nvPr/>
          </p:nvSpPr>
          <p:spPr>
            <a:xfrm>
              <a:off x="96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3" name="矩形 652"/>
            <p:cNvSpPr/>
            <p:nvPr/>
          </p:nvSpPr>
          <p:spPr>
            <a:xfrm>
              <a:off x="1328825" y="31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4" name="矩形 653"/>
            <p:cNvSpPr/>
            <p:nvPr/>
          </p:nvSpPr>
          <p:spPr>
            <a:xfrm>
              <a:off x="168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5" name="矩形 654"/>
            <p:cNvSpPr/>
            <p:nvPr/>
          </p:nvSpPr>
          <p:spPr>
            <a:xfrm>
              <a:off x="204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6" name="矩形 655"/>
            <p:cNvSpPr/>
            <p:nvPr/>
          </p:nvSpPr>
          <p:spPr>
            <a:xfrm>
              <a:off x="240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7" name="矩形 656"/>
            <p:cNvSpPr/>
            <p:nvPr/>
          </p:nvSpPr>
          <p:spPr>
            <a:xfrm>
              <a:off x="276882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8" name="矩形 657"/>
            <p:cNvSpPr/>
            <p:nvPr/>
          </p:nvSpPr>
          <p:spPr>
            <a:xfrm>
              <a:off x="312882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59" name="矩形 658"/>
            <p:cNvSpPr/>
            <p:nvPr/>
          </p:nvSpPr>
          <p:spPr>
            <a:xfrm>
              <a:off x="276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0" name="矩形 659"/>
            <p:cNvSpPr/>
            <p:nvPr/>
          </p:nvSpPr>
          <p:spPr>
            <a:xfrm>
              <a:off x="312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1" name="矩形 660"/>
            <p:cNvSpPr/>
            <p:nvPr/>
          </p:nvSpPr>
          <p:spPr>
            <a:xfrm>
              <a:off x="114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2" name="矩形 661"/>
            <p:cNvSpPr/>
            <p:nvPr/>
          </p:nvSpPr>
          <p:spPr>
            <a:xfrm>
              <a:off x="150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3" name="矩形 662"/>
            <p:cNvSpPr/>
            <p:nvPr/>
          </p:nvSpPr>
          <p:spPr>
            <a:xfrm>
              <a:off x="186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4" name="矩形 663"/>
            <p:cNvSpPr/>
            <p:nvPr/>
          </p:nvSpPr>
          <p:spPr>
            <a:xfrm>
              <a:off x="222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5" name="矩形 664"/>
            <p:cNvSpPr/>
            <p:nvPr/>
          </p:nvSpPr>
          <p:spPr>
            <a:xfrm>
              <a:off x="258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6" name="矩形 665"/>
            <p:cNvSpPr/>
            <p:nvPr/>
          </p:nvSpPr>
          <p:spPr>
            <a:xfrm>
              <a:off x="114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7" name="矩形 666"/>
            <p:cNvSpPr/>
            <p:nvPr/>
          </p:nvSpPr>
          <p:spPr>
            <a:xfrm>
              <a:off x="150882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8" name="矩形 667"/>
            <p:cNvSpPr/>
            <p:nvPr/>
          </p:nvSpPr>
          <p:spPr>
            <a:xfrm>
              <a:off x="186882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69" name="矩形 668"/>
            <p:cNvSpPr/>
            <p:nvPr/>
          </p:nvSpPr>
          <p:spPr>
            <a:xfrm>
              <a:off x="222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0" name="矩形 669"/>
            <p:cNvSpPr/>
            <p:nvPr/>
          </p:nvSpPr>
          <p:spPr>
            <a:xfrm>
              <a:off x="258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1" name="矩形 670"/>
            <p:cNvSpPr/>
            <p:nvPr/>
          </p:nvSpPr>
          <p:spPr>
            <a:xfrm>
              <a:off x="114882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2" name="矩形 671"/>
            <p:cNvSpPr/>
            <p:nvPr/>
          </p:nvSpPr>
          <p:spPr>
            <a:xfrm>
              <a:off x="150882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3" name="矩形 672"/>
            <p:cNvSpPr/>
            <p:nvPr/>
          </p:nvSpPr>
          <p:spPr>
            <a:xfrm>
              <a:off x="186882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4" name="矩形 673"/>
            <p:cNvSpPr/>
            <p:nvPr/>
          </p:nvSpPr>
          <p:spPr>
            <a:xfrm>
              <a:off x="222882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5" name="矩形 674"/>
            <p:cNvSpPr/>
            <p:nvPr/>
          </p:nvSpPr>
          <p:spPr>
            <a:xfrm>
              <a:off x="258882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6" name="矩形 675"/>
            <p:cNvSpPr/>
            <p:nvPr/>
          </p:nvSpPr>
          <p:spPr>
            <a:xfrm>
              <a:off x="114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7" name="矩形 676"/>
            <p:cNvSpPr/>
            <p:nvPr/>
          </p:nvSpPr>
          <p:spPr>
            <a:xfrm>
              <a:off x="150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8" name="矩形 677"/>
            <p:cNvSpPr/>
            <p:nvPr/>
          </p:nvSpPr>
          <p:spPr>
            <a:xfrm>
              <a:off x="186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9" name="矩形 678"/>
            <p:cNvSpPr/>
            <p:nvPr/>
          </p:nvSpPr>
          <p:spPr>
            <a:xfrm>
              <a:off x="222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0" name="矩形 679"/>
            <p:cNvSpPr/>
            <p:nvPr/>
          </p:nvSpPr>
          <p:spPr>
            <a:xfrm>
              <a:off x="258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1" name="矩形 680"/>
            <p:cNvSpPr/>
            <p:nvPr/>
          </p:nvSpPr>
          <p:spPr>
            <a:xfrm>
              <a:off x="114882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2" name="矩形 681"/>
            <p:cNvSpPr/>
            <p:nvPr/>
          </p:nvSpPr>
          <p:spPr>
            <a:xfrm>
              <a:off x="150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3" name="矩形 682"/>
            <p:cNvSpPr/>
            <p:nvPr/>
          </p:nvSpPr>
          <p:spPr>
            <a:xfrm>
              <a:off x="186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4" name="矩形 683"/>
            <p:cNvSpPr/>
            <p:nvPr/>
          </p:nvSpPr>
          <p:spPr>
            <a:xfrm>
              <a:off x="222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5" name="矩形 684"/>
            <p:cNvSpPr/>
            <p:nvPr/>
          </p:nvSpPr>
          <p:spPr>
            <a:xfrm>
              <a:off x="258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6" name="矩形 685"/>
            <p:cNvSpPr/>
            <p:nvPr/>
          </p:nvSpPr>
          <p:spPr>
            <a:xfrm>
              <a:off x="294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7" name="矩形 686"/>
            <p:cNvSpPr/>
            <p:nvPr/>
          </p:nvSpPr>
          <p:spPr>
            <a:xfrm>
              <a:off x="330882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8" name="矩形 687"/>
            <p:cNvSpPr/>
            <p:nvPr/>
          </p:nvSpPr>
          <p:spPr>
            <a:xfrm>
              <a:off x="294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89" name="矩形 688"/>
            <p:cNvSpPr/>
            <p:nvPr/>
          </p:nvSpPr>
          <p:spPr>
            <a:xfrm>
              <a:off x="330882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0" name="矩形 689"/>
            <p:cNvSpPr/>
            <p:nvPr/>
          </p:nvSpPr>
          <p:spPr>
            <a:xfrm>
              <a:off x="294882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1" name="矩形 690"/>
            <p:cNvSpPr/>
            <p:nvPr/>
          </p:nvSpPr>
          <p:spPr>
            <a:xfrm>
              <a:off x="330882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2" name="矩形 691"/>
            <p:cNvSpPr/>
            <p:nvPr/>
          </p:nvSpPr>
          <p:spPr>
            <a:xfrm>
              <a:off x="294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3" name="矩形 692"/>
            <p:cNvSpPr/>
            <p:nvPr/>
          </p:nvSpPr>
          <p:spPr>
            <a:xfrm>
              <a:off x="330882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4" name="矩形 693"/>
            <p:cNvSpPr/>
            <p:nvPr/>
          </p:nvSpPr>
          <p:spPr>
            <a:xfrm>
              <a:off x="294882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5" name="矩形 694"/>
            <p:cNvSpPr/>
            <p:nvPr/>
          </p:nvSpPr>
          <p:spPr>
            <a:xfrm>
              <a:off x="330882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6" name="矩形 695"/>
            <p:cNvSpPr/>
            <p:nvPr/>
          </p:nvSpPr>
          <p:spPr>
            <a:xfrm>
              <a:off x="114882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7" name="矩形 696"/>
            <p:cNvSpPr/>
            <p:nvPr/>
          </p:nvSpPr>
          <p:spPr>
            <a:xfrm>
              <a:off x="150882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8" name="矩形 697"/>
            <p:cNvSpPr/>
            <p:nvPr/>
          </p:nvSpPr>
          <p:spPr>
            <a:xfrm>
              <a:off x="186882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99" name="矩形 698"/>
            <p:cNvSpPr/>
            <p:nvPr/>
          </p:nvSpPr>
          <p:spPr>
            <a:xfrm>
              <a:off x="222882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0" name="矩形 699"/>
            <p:cNvSpPr/>
            <p:nvPr/>
          </p:nvSpPr>
          <p:spPr>
            <a:xfrm>
              <a:off x="258882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1" name="矩形 700"/>
            <p:cNvSpPr/>
            <p:nvPr/>
          </p:nvSpPr>
          <p:spPr>
            <a:xfrm>
              <a:off x="114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2" name="矩形 701"/>
            <p:cNvSpPr/>
            <p:nvPr/>
          </p:nvSpPr>
          <p:spPr>
            <a:xfrm>
              <a:off x="1508825" y="31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3" name="矩形 702"/>
            <p:cNvSpPr/>
            <p:nvPr/>
          </p:nvSpPr>
          <p:spPr>
            <a:xfrm>
              <a:off x="186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4" name="矩形 703"/>
            <p:cNvSpPr/>
            <p:nvPr/>
          </p:nvSpPr>
          <p:spPr>
            <a:xfrm>
              <a:off x="222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5" name="矩形 704"/>
            <p:cNvSpPr/>
            <p:nvPr/>
          </p:nvSpPr>
          <p:spPr>
            <a:xfrm>
              <a:off x="258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6" name="矩形 705"/>
            <p:cNvSpPr/>
            <p:nvPr/>
          </p:nvSpPr>
          <p:spPr>
            <a:xfrm>
              <a:off x="294882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7" name="矩形 706"/>
            <p:cNvSpPr/>
            <p:nvPr/>
          </p:nvSpPr>
          <p:spPr>
            <a:xfrm>
              <a:off x="330882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8" name="矩形 707"/>
            <p:cNvSpPr/>
            <p:nvPr/>
          </p:nvSpPr>
          <p:spPr>
            <a:xfrm>
              <a:off x="294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09" name="矩形 708"/>
            <p:cNvSpPr/>
            <p:nvPr/>
          </p:nvSpPr>
          <p:spPr>
            <a:xfrm>
              <a:off x="330882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0" name="矩形 709"/>
            <p:cNvSpPr/>
            <p:nvPr/>
          </p:nvSpPr>
          <p:spPr>
            <a:xfrm>
              <a:off x="96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1" name="矩形 710"/>
            <p:cNvSpPr/>
            <p:nvPr/>
          </p:nvSpPr>
          <p:spPr>
            <a:xfrm>
              <a:off x="1328825" y="12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2" name="矩形 711"/>
            <p:cNvSpPr/>
            <p:nvPr/>
          </p:nvSpPr>
          <p:spPr>
            <a:xfrm>
              <a:off x="168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3" name="矩形 712"/>
            <p:cNvSpPr/>
            <p:nvPr/>
          </p:nvSpPr>
          <p:spPr>
            <a:xfrm>
              <a:off x="204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4" name="矩形 713"/>
            <p:cNvSpPr/>
            <p:nvPr/>
          </p:nvSpPr>
          <p:spPr>
            <a:xfrm>
              <a:off x="240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5" name="矩形 714"/>
            <p:cNvSpPr/>
            <p:nvPr/>
          </p:nvSpPr>
          <p:spPr>
            <a:xfrm>
              <a:off x="96882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6" name="矩形 715"/>
            <p:cNvSpPr/>
            <p:nvPr/>
          </p:nvSpPr>
          <p:spPr>
            <a:xfrm>
              <a:off x="132882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7" name="矩形 716"/>
            <p:cNvSpPr/>
            <p:nvPr/>
          </p:nvSpPr>
          <p:spPr>
            <a:xfrm>
              <a:off x="168882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8" name="矩形 717"/>
            <p:cNvSpPr/>
            <p:nvPr/>
          </p:nvSpPr>
          <p:spPr>
            <a:xfrm>
              <a:off x="204882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19" name="矩形 718"/>
            <p:cNvSpPr/>
            <p:nvPr/>
          </p:nvSpPr>
          <p:spPr>
            <a:xfrm>
              <a:off x="240882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0" name="矩形 719"/>
            <p:cNvSpPr/>
            <p:nvPr/>
          </p:nvSpPr>
          <p:spPr>
            <a:xfrm>
              <a:off x="96882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1" name="矩形 720"/>
            <p:cNvSpPr/>
            <p:nvPr/>
          </p:nvSpPr>
          <p:spPr>
            <a:xfrm>
              <a:off x="132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2" name="矩形 721"/>
            <p:cNvSpPr/>
            <p:nvPr/>
          </p:nvSpPr>
          <p:spPr>
            <a:xfrm>
              <a:off x="168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3" name="矩形 722"/>
            <p:cNvSpPr/>
            <p:nvPr/>
          </p:nvSpPr>
          <p:spPr>
            <a:xfrm>
              <a:off x="204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4" name="矩形 723"/>
            <p:cNvSpPr/>
            <p:nvPr/>
          </p:nvSpPr>
          <p:spPr>
            <a:xfrm>
              <a:off x="240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5" name="矩形 724"/>
            <p:cNvSpPr/>
            <p:nvPr/>
          </p:nvSpPr>
          <p:spPr>
            <a:xfrm>
              <a:off x="96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6" name="矩形 725"/>
            <p:cNvSpPr/>
            <p:nvPr/>
          </p:nvSpPr>
          <p:spPr>
            <a:xfrm>
              <a:off x="132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7" name="矩形 726"/>
            <p:cNvSpPr/>
            <p:nvPr/>
          </p:nvSpPr>
          <p:spPr>
            <a:xfrm>
              <a:off x="168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8" name="矩形 727"/>
            <p:cNvSpPr/>
            <p:nvPr/>
          </p:nvSpPr>
          <p:spPr>
            <a:xfrm>
              <a:off x="204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29" name="矩形 728"/>
            <p:cNvSpPr/>
            <p:nvPr/>
          </p:nvSpPr>
          <p:spPr>
            <a:xfrm>
              <a:off x="240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0" name="矩形 729"/>
            <p:cNvSpPr/>
            <p:nvPr/>
          </p:nvSpPr>
          <p:spPr>
            <a:xfrm>
              <a:off x="96882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1" name="矩形 730"/>
            <p:cNvSpPr/>
            <p:nvPr/>
          </p:nvSpPr>
          <p:spPr>
            <a:xfrm>
              <a:off x="132882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2" name="矩形 731"/>
            <p:cNvSpPr/>
            <p:nvPr/>
          </p:nvSpPr>
          <p:spPr>
            <a:xfrm>
              <a:off x="168882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3" name="矩形 732"/>
            <p:cNvSpPr/>
            <p:nvPr/>
          </p:nvSpPr>
          <p:spPr>
            <a:xfrm>
              <a:off x="204882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4" name="矩形 733"/>
            <p:cNvSpPr/>
            <p:nvPr/>
          </p:nvSpPr>
          <p:spPr>
            <a:xfrm>
              <a:off x="240882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5" name="矩形 734"/>
            <p:cNvSpPr/>
            <p:nvPr/>
          </p:nvSpPr>
          <p:spPr>
            <a:xfrm>
              <a:off x="276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6" name="矩形 735"/>
            <p:cNvSpPr/>
            <p:nvPr/>
          </p:nvSpPr>
          <p:spPr>
            <a:xfrm>
              <a:off x="312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7" name="矩形 736"/>
            <p:cNvSpPr/>
            <p:nvPr/>
          </p:nvSpPr>
          <p:spPr>
            <a:xfrm>
              <a:off x="276882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8" name="矩形 737"/>
            <p:cNvSpPr/>
            <p:nvPr/>
          </p:nvSpPr>
          <p:spPr>
            <a:xfrm>
              <a:off x="312882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39" name="矩形 738"/>
            <p:cNvSpPr/>
            <p:nvPr/>
          </p:nvSpPr>
          <p:spPr>
            <a:xfrm>
              <a:off x="276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0" name="矩形 739"/>
            <p:cNvSpPr/>
            <p:nvPr/>
          </p:nvSpPr>
          <p:spPr>
            <a:xfrm>
              <a:off x="312882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1" name="矩形 740"/>
            <p:cNvSpPr/>
            <p:nvPr/>
          </p:nvSpPr>
          <p:spPr>
            <a:xfrm>
              <a:off x="276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2" name="矩形 741"/>
            <p:cNvSpPr/>
            <p:nvPr/>
          </p:nvSpPr>
          <p:spPr>
            <a:xfrm>
              <a:off x="312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3" name="矩形 742"/>
            <p:cNvSpPr/>
            <p:nvPr/>
          </p:nvSpPr>
          <p:spPr>
            <a:xfrm>
              <a:off x="276882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4" name="矩形 743"/>
            <p:cNvSpPr/>
            <p:nvPr/>
          </p:nvSpPr>
          <p:spPr>
            <a:xfrm>
              <a:off x="312882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5" name="矩形 744"/>
            <p:cNvSpPr/>
            <p:nvPr/>
          </p:nvSpPr>
          <p:spPr>
            <a:xfrm>
              <a:off x="96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6" name="矩形 745"/>
            <p:cNvSpPr/>
            <p:nvPr/>
          </p:nvSpPr>
          <p:spPr>
            <a:xfrm>
              <a:off x="132882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7" name="矩形 746"/>
            <p:cNvSpPr/>
            <p:nvPr/>
          </p:nvSpPr>
          <p:spPr>
            <a:xfrm>
              <a:off x="168882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8" name="矩形 747"/>
            <p:cNvSpPr/>
            <p:nvPr/>
          </p:nvSpPr>
          <p:spPr>
            <a:xfrm>
              <a:off x="204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49" name="矩形 748"/>
            <p:cNvSpPr/>
            <p:nvPr/>
          </p:nvSpPr>
          <p:spPr>
            <a:xfrm>
              <a:off x="240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0" name="矩形 749"/>
            <p:cNvSpPr/>
            <p:nvPr/>
          </p:nvSpPr>
          <p:spPr>
            <a:xfrm>
              <a:off x="96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1" name="矩形 750"/>
            <p:cNvSpPr/>
            <p:nvPr/>
          </p:nvSpPr>
          <p:spPr>
            <a:xfrm>
              <a:off x="132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2" name="矩形 751"/>
            <p:cNvSpPr/>
            <p:nvPr/>
          </p:nvSpPr>
          <p:spPr>
            <a:xfrm>
              <a:off x="168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3" name="矩形 752"/>
            <p:cNvSpPr/>
            <p:nvPr/>
          </p:nvSpPr>
          <p:spPr>
            <a:xfrm>
              <a:off x="204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4" name="矩形 753"/>
            <p:cNvSpPr/>
            <p:nvPr/>
          </p:nvSpPr>
          <p:spPr>
            <a:xfrm>
              <a:off x="240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5" name="矩形 754"/>
            <p:cNvSpPr/>
            <p:nvPr/>
          </p:nvSpPr>
          <p:spPr>
            <a:xfrm>
              <a:off x="276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6" name="矩形 755"/>
            <p:cNvSpPr/>
            <p:nvPr/>
          </p:nvSpPr>
          <p:spPr>
            <a:xfrm>
              <a:off x="312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7" name="矩形 756"/>
            <p:cNvSpPr/>
            <p:nvPr/>
          </p:nvSpPr>
          <p:spPr>
            <a:xfrm>
              <a:off x="276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8" name="矩形 757"/>
            <p:cNvSpPr/>
            <p:nvPr/>
          </p:nvSpPr>
          <p:spPr>
            <a:xfrm>
              <a:off x="312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59" name="矩形 758"/>
            <p:cNvSpPr/>
            <p:nvPr/>
          </p:nvSpPr>
          <p:spPr>
            <a:xfrm>
              <a:off x="114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0" name="矩形 759"/>
            <p:cNvSpPr/>
            <p:nvPr/>
          </p:nvSpPr>
          <p:spPr>
            <a:xfrm>
              <a:off x="1508825" y="12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1" name="矩形 760"/>
            <p:cNvSpPr/>
            <p:nvPr/>
          </p:nvSpPr>
          <p:spPr>
            <a:xfrm>
              <a:off x="186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2" name="矩形 761"/>
            <p:cNvSpPr/>
            <p:nvPr/>
          </p:nvSpPr>
          <p:spPr>
            <a:xfrm>
              <a:off x="222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3" name="矩形 762"/>
            <p:cNvSpPr/>
            <p:nvPr/>
          </p:nvSpPr>
          <p:spPr>
            <a:xfrm>
              <a:off x="258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4" name="矩形 763"/>
            <p:cNvSpPr/>
            <p:nvPr/>
          </p:nvSpPr>
          <p:spPr>
            <a:xfrm>
              <a:off x="114882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5" name="矩形 764"/>
            <p:cNvSpPr/>
            <p:nvPr/>
          </p:nvSpPr>
          <p:spPr>
            <a:xfrm>
              <a:off x="150882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6" name="矩形 765"/>
            <p:cNvSpPr/>
            <p:nvPr/>
          </p:nvSpPr>
          <p:spPr>
            <a:xfrm>
              <a:off x="186882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7" name="矩形 766"/>
            <p:cNvSpPr/>
            <p:nvPr/>
          </p:nvSpPr>
          <p:spPr>
            <a:xfrm>
              <a:off x="222882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8" name="矩形 767"/>
            <p:cNvSpPr/>
            <p:nvPr/>
          </p:nvSpPr>
          <p:spPr>
            <a:xfrm>
              <a:off x="258882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69" name="矩形 768"/>
            <p:cNvSpPr/>
            <p:nvPr/>
          </p:nvSpPr>
          <p:spPr>
            <a:xfrm>
              <a:off x="114882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0" name="矩形 769"/>
            <p:cNvSpPr/>
            <p:nvPr/>
          </p:nvSpPr>
          <p:spPr>
            <a:xfrm>
              <a:off x="150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1" name="矩形 770"/>
            <p:cNvSpPr/>
            <p:nvPr/>
          </p:nvSpPr>
          <p:spPr>
            <a:xfrm>
              <a:off x="186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2" name="矩形 771"/>
            <p:cNvSpPr/>
            <p:nvPr/>
          </p:nvSpPr>
          <p:spPr>
            <a:xfrm>
              <a:off x="222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3" name="矩形 772"/>
            <p:cNvSpPr/>
            <p:nvPr/>
          </p:nvSpPr>
          <p:spPr>
            <a:xfrm>
              <a:off x="258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4" name="矩形 773"/>
            <p:cNvSpPr/>
            <p:nvPr/>
          </p:nvSpPr>
          <p:spPr>
            <a:xfrm>
              <a:off x="114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5" name="矩形 774"/>
            <p:cNvSpPr/>
            <p:nvPr/>
          </p:nvSpPr>
          <p:spPr>
            <a:xfrm>
              <a:off x="150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6" name="矩形 775"/>
            <p:cNvSpPr/>
            <p:nvPr/>
          </p:nvSpPr>
          <p:spPr>
            <a:xfrm>
              <a:off x="186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7" name="矩形 776"/>
            <p:cNvSpPr/>
            <p:nvPr/>
          </p:nvSpPr>
          <p:spPr>
            <a:xfrm>
              <a:off x="222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8" name="矩形 777"/>
            <p:cNvSpPr/>
            <p:nvPr/>
          </p:nvSpPr>
          <p:spPr>
            <a:xfrm>
              <a:off x="258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79" name="矩形 778"/>
            <p:cNvSpPr/>
            <p:nvPr/>
          </p:nvSpPr>
          <p:spPr>
            <a:xfrm>
              <a:off x="114882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0" name="矩形 779"/>
            <p:cNvSpPr/>
            <p:nvPr/>
          </p:nvSpPr>
          <p:spPr>
            <a:xfrm>
              <a:off x="150882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1" name="矩形 780"/>
            <p:cNvSpPr/>
            <p:nvPr/>
          </p:nvSpPr>
          <p:spPr>
            <a:xfrm>
              <a:off x="186882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2" name="矩形 781"/>
            <p:cNvSpPr/>
            <p:nvPr/>
          </p:nvSpPr>
          <p:spPr>
            <a:xfrm>
              <a:off x="222882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3" name="矩形 782"/>
            <p:cNvSpPr/>
            <p:nvPr/>
          </p:nvSpPr>
          <p:spPr>
            <a:xfrm>
              <a:off x="258882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4" name="矩形 783"/>
            <p:cNvSpPr/>
            <p:nvPr/>
          </p:nvSpPr>
          <p:spPr>
            <a:xfrm>
              <a:off x="294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5" name="矩形 784"/>
            <p:cNvSpPr/>
            <p:nvPr/>
          </p:nvSpPr>
          <p:spPr>
            <a:xfrm>
              <a:off x="330882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6" name="矩形 785"/>
            <p:cNvSpPr/>
            <p:nvPr/>
          </p:nvSpPr>
          <p:spPr>
            <a:xfrm>
              <a:off x="294882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7" name="矩形 786"/>
            <p:cNvSpPr/>
            <p:nvPr/>
          </p:nvSpPr>
          <p:spPr>
            <a:xfrm>
              <a:off x="330882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8" name="矩形 787"/>
            <p:cNvSpPr/>
            <p:nvPr/>
          </p:nvSpPr>
          <p:spPr>
            <a:xfrm>
              <a:off x="294882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89" name="矩形 788"/>
            <p:cNvSpPr/>
            <p:nvPr/>
          </p:nvSpPr>
          <p:spPr>
            <a:xfrm>
              <a:off x="330882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0" name="矩形 789"/>
            <p:cNvSpPr/>
            <p:nvPr/>
          </p:nvSpPr>
          <p:spPr>
            <a:xfrm>
              <a:off x="294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1" name="矩形 790"/>
            <p:cNvSpPr/>
            <p:nvPr/>
          </p:nvSpPr>
          <p:spPr>
            <a:xfrm>
              <a:off x="330882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2" name="矩形 791"/>
            <p:cNvSpPr/>
            <p:nvPr/>
          </p:nvSpPr>
          <p:spPr>
            <a:xfrm>
              <a:off x="294882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3" name="矩形 792"/>
            <p:cNvSpPr/>
            <p:nvPr/>
          </p:nvSpPr>
          <p:spPr>
            <a:xfrm>
              <a:off x="330882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4" name="矩形 793"/>
            <p:cNvSpPr/>
            <p:nvPr/>
          </p:nvSpPr>
          <p:spPr>
            <a:xfrm>
              <a:off x="114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5" name="矩形 794"/>
            <p:cNvSpPr/>
            <p:nvPr/>
          </p:nvSpPr>
          <p:spPr>
            <a:xfrm>
              <a:off x="150882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6" name="矩形 795"/>
            <p:cNvSpPr/>
            <p:nvPr/>
          </p:nvSpPr>
          <p:spPr>
            <a:xfrm>
              <a:off x="186882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7" name="矩形 796"/>
            <p:cNvSpPr/>
            <p:nvPr/>
          </p:nvSpPr>
          <p:spPr>
            <a:xfrm>
              <a:off x="222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8" name="矩形 797"/>
            <p:cNvSpPr/>
            <p:nvPr/>
          </p:nvSpPr>
          <p:spPr>
            <a:xfrm>
              <a:off x="258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799" name="矩形 798"/>
            <p:cNvSpPr/>
            <p:nvPr/>
          </p:nvSpPr>
          <p:spPr>
            <a:xfrm>
              <a:off x="114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0" name="矩形 799"/>
            <p:cNvSpPr/>
            <p:nvPr/>
          </p:nvSpPr>
          <p:spPr>
            <a:xfrm>
              <a:off x="150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1" name="矩形 800"/>
            <p:cNvSpPr/>
            <p:nvPr/>
          </p:nvSpPr>
          <p:spPr>
            <a:xfrm>
              <a:off x="186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2" name="矩形 801"/>
            <p:cNvSpPr/>
            <p:nvPr/>
          </p:nvSpPr>
          <p:spPr>
            <a:xfrm>
              <a:off x="222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3" name="矩形 802"/>
            <p:cNvSpPr/>
            <p:nvPr/>
          </p:nvSpPr>
          <p:spPr>
            <a:xfrm>
              <a:off x="258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4" name="矩形 803"/>
            <p:cNvSpPr/>
            <p:nvPr/>
          </p:nvSpPr>
          <p:spPr>
            <a:xfrm>
              <a:off x="294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5" name="矩形 804"/>
            <p:cNvSpPr/>
            <p:nvPr/>
          </p:nvSpPr>
          <p:spPr>
            <a:xfrm>
              <a:off x="330882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6" name="矩形 805"/>
            <p:cNvSpPr/>
            <p:nvPr/>
          </p:nvSpPr>
          <p:spPr>
            <a:xfrm>
              <a:off x="294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07" name="矩形 806"/>
            <p:cNvSpPr/>
            <p:nvPr/>
          </p:nvSpPr>
          <p:spPr>
            <a:xfrm>
              <a:off x="330882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808" name="组合 807"/>
          <p:cNvGrpSpPr/>
          <p:nvPr/>
        </p:nvGrpSpPr>
        <p:grpSpPr>
          <a:xfrm>
            <a:off x="4907899" y="2169000"/>
            <a:ext cx="2520000" cy="2520000"/>
            <a:chOff x="4062545" y="1020333"/>
            <a:chExt cx="2520000" cy="2520000"/>
          </a:xfrm>
        </p:grpSpPr>
        <p:sp>
          <p:nvSpPr>
            <p:cNvPr id="809" name="矩形 808"/>
            <p:cNvSpPr/>
            <p:nvPr/>
          </p:nvSpPr>
          <p:spPr>
            <a:xfrm>
              <a:off x="406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0" name="矩形 809"/>
            <p:cNvSpPr/>
            <p:nvPr/>
          </p:nvSpPr>
          <p:spPr>
            <a:xfrm>
              <a:off x="442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1" name="矩形 810"/>
            <p:cNvSpPr/>
            <p:nvPr/>
          </p:nvSpPr>
          <p:spPr>
            <a:xfrm>
              <a:off x="478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2" name="矩形 811"/>
            <p:cNvSpPr/>
            <p:nvPr/>
          </p:nvSpPr>
          <p:spPr>
            <a:xfrm>
              <a:off x="514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3" name="矩形 812"/>
            <p:cNvSpPr/>
            <p:nvPr/>
          </p:nvSpPr>
          <p:spPr>
            <a:xfrm>
              <a:off x="550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4" name="矩形 813"/>
            <p:cNvSpPr/>
            <p:nvPr/>
          </p:nvSpPr>
          <p:spPr>
            <a:xfrm>
              <a:off x="406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5" name="矩形 814"/>
            <p:cNvSpPr/>
            <p:nvPr/>
          </p:nvSpPr>
          <p:spPr>
            <a:xfrm>
              <a:off x="442254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6" name="矩形 815"/>
            <p:cNvSpPr/>
            <p:nvPr/>
          </p:nvSpPr>
          <p:spPr>
            <a:xfrm>
              <a:off x="478254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7" name="矩形 816"/>
            <p:cNvSpPr/>
            <p:nvPr/>
          </p:nvSpPr>
          <p:spPr>
            <a:xfrm>
              <a:off x="514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8" name="矩形 817"/>
            <p:cNvSpPr/>
            <p:nvPr/>
          </p:nvSpPr>
          <p:spPr>
            <a:xfrm>
              <a:off x="550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9" name="矩形 818"/>
            <p:cNvSpPr/>
            <p:nvPr/>
          </p:nvSpPr>
          <p:spPr>
            <a:xfrm>
              <a:off x="406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0" name="矩形 819"/>
            <p:cNvSpPr/>
            <p:nvPr/>
          </p:nvSpPr>
          <p:spPr>
            <a:xfrm>
              <a:off x="442254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1" name="矩形 820"/>
            <p:cNvSpPr/>
            <p:nvPr/>
          </p:nvSpPr>
          <p:spPr>
            <a:xfrm>
              <a:off x="478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2" name="矩形 821"/>
            <p:cNvSpPr/>
            <p:nvPr/>
          </p:nvSpPr>
          <p:spPr>
            <a:xfrm>
              <a:off x="514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3" name="矩形 822"/>
            <p:cNvSpPr/>
            <p:nvPr/>
          </p:nvSpPr>
          <p:spPr>
            <a:xfrm>
              <a:off x="550254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4" name="矩形 823"/>
            <p:cNvSpPr/>
            <p:nvPr/>
          </p:nvSpPr>
          <p:spPr>
            <a:xfrm>
              <a:off x="406254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5" name="矩形 824"/>
            <p:cNvSpPr/>
            <p:nvPr/>
          </p:nvSpPr>
          <p:spPr>
            <a:xfrm>
              <a:off x="442254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6" name="矩形 825"/>
            <p:cNvSpPr/>
            <p:nvPr/>
          </p:nvSpPr>
          <p:spPr>
            <a:xfrm>
              <a:off x="478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7" name="矩形 826"/>
            <p:cNvSpPr/>
            <p:nvPr/>
          </p:nvSpPr>
          <p:spPr>
            <a:xfrm>
              <a:off x="514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8" name="矩形 827"/>
            <p:cNvSpPr/>
            <p:nvPr/>
          </p:nvSpPr>
          <p:spPr>
            <a:xfrm>
              <a:off x="550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29" name="矩形 828"/>
            <p:cNvSpPr/>
            <p:nvPr/>
          </p:nvSpPr>
          <p:spPr>
            <a:xfrm>
              <a:off x="406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0" name="矩形 829"/>
            <p:cNvSpPr/>
            <p:nvPr/>
          </p:nvSpPr>
          <p:spPr>
            <a:xfrm>
              <a:off x="442254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1" name="矩形 830"/>
            <p:cNvSpPr/>
            <p:nvPr/>
          </p:nvSpPr>
          <p:spPr>
            <a:xfrm>
              <a:off x="478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2" name="矩形 831"/>
            <p:cNvSpPr/>
            <p:nvPr/>
          </p:nvSpPr>
          <p:spPr>
            <a:xfrm>
              <a:off x="514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3" name="矩形 832"/>
            <p:cNvSpPr/>
            <p:nvPr/>
          </p:nvSpPr>
          <p:spPr>
            <a:xfrm>
              <a:off x="550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4" name="矩形 833"/>
            <p:cNvSpPr/>
            <p:nvPr/>
          </p:nvSpPr>
          <p:spPr>
            <a:xfrm>
              <a:off x="586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5" name="矩形 834"/>
            <p:cNvSpPr/>
            <p:nvPr/>
          </p:nvSpPr>
          <p:spPr>
            <a:xfrm>
              <a:off x="622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6" name="矩形 835"/>
            <p:cNvSpPr/>
            <p:nvPr/>
          </p:nvSpPr>
          <p:spPr>
            <a:xfrm>
              <a:off x="586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7" name="矩形 836"/>
            <p:cNvSpPr/>
            <p:nvPr/>
          </p:nvSpPr>
          <p:spPr>
            <a:xfrm>
              <a:off x="622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8" name="矩形 837"/>
            <p:cNvSpPr/>
            <p:nvPr/>
          </p:nvSpPr>
          <p:spPr>
            <a:xfrm>
              <a:off x="586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39" name="矩形 838"/>
            <p:cNvSpPr/>
            <p:nvPr/>
          </p:nvSpPr>
          <p:spPr>
            <a:xfrm>
              <a:off x="622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0" name="矩形 839"/>
            <p:cNvSpPr/>
            <p:nvPr/>
          </p:nvSpPr>
          <p:spPr>
            <a:xfrm>
              <a:off x="586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1" name="矩形 840"/>
            <p:cNvSpPr/>
            <p:nvPr/>
          </p:nvSpPr>
          <p:spPr>
            <a:xfrm>
              <a:off x="622254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2" name="矩形 841"/>
            <p:cNvSpPr/>
            <p:nvPr/>
          </p:nvSpPr>
          <p:spPr>
            <a:xfrm>
              <a:off x="586254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3" name="矩形 842"/>
            <p:cNvSpPr/>
            <p:nvPr/>
          </p:nvSpPr>
          <p:spPr>
            <a:xfrm>
              <a:off x="621619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4" name="矩形 843"/>
            <p:cNvSpPr/>
            <p:nvPr/>
          </p:nvSpPr>
          <p:spPr>
            <a:xfrm>
              <a:off x="406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5" name="矩形 844"/>
            <p:cNvSpPr/>
            <p:nvPr/>
          </p:nvSpPr>
          <p:spPr>
            <a:xfrm>
              <a:off x="442254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6" name="矩形 845"/>
            <p:cNvSpPr/>
            <p:nvPr/>
          </p:nvSpPr>
          <p:spPr>
            <a:xfrm>
              <a:off x="478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7" name="矩形 846"/>
            <p:cNvSpPr/>
            <p:nvPr/>
          </p:nvSpPr>
          <p:spPr>
            <a:xfrm>
              <a:off x="514254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8" name="矩形 847"/>
            <p:cNvSpPr/>
            <p:nvPr/>
          </p:nvSpPr>
          <p:spPr>
            <a:xfrm>
              <a:off x="550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49" name="矩形 848"/>
            <p:cNvSpPr/>
            <p:nvPr/>
          </p:nvSpPr>
          <p:spPr>
            <a:xfrm>
              <a:off x="406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0" name="矩形 849"/>
            <p:cNvSpPr/>
            <p:nvPr/>
          </p:nvSpPr>
          <p:spPr>
            <a:xfrm>
              <a:off x="4422545" y="31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1" name="矩形 850"/>
            <p:cNvSpPr/>
            <p:nvPr/>
          </p:nvSpPr>
          <p:spPr>
            <a:xfrm>
              <a:off x="478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2" name="矩形 851"/>
            <p:cNvSpPr/>
            <p:nvPr/>
          </p:nvSpPr>
          <p:spPr>
            <a:xfrm>
              <a:off x="514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3" name="矩形 852"/>
            <p:cNvSpPr/>
            <p:nvPr/>
          </p:nvSpPr>
          <p:spPr>
            <a:xfrm>
              <a:off x="550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4" name="矩形 853"/>
            <p:cNvSpPr/>
            <p:nvPr/>
          </p:nvSpPr>
          <p:spPr>
            <a:xfrm>
              <a:off x="586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5" name="矩形 854"/>
            <p:cNvSpPr/>
            <p:nvPr/>
          </p:nvSpPr>
          <p:spPr>
            <a:xfrm>
              <a:off x="622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6" name="矩形 855"/>
            <p:cNvSpPr/>
            <p:nvPr/>
          </p:nvSpPr>
          <p:spPr>
            <a:xfrm>
              <a:off x="586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7" name="矩形 856"/>
            <p:cNvSpPr/>
            <p:nvPr/>
          </p:nvSpPr>
          <p:spPr>
            <a:xfrm>
              <a:off x="622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8" name="矩形 857"/>
            <p:cNvSpPr/>
            <p:nvPr/>
          </p:nvSpPr>
          <p:spPr>
            <a:xfrm>
              <a:off x="424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9" name="矩形 858"/>
            <p:cNvSpPr/>
            <p:nvPr/>
          </p:nvSpPr>
          <p:spPr>
            <a:xfrm>
              <a:off x="460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0" name="矩形 859"/>
            <p:cNvSpPr/>
            <p:nvPr/>
          </p:nvSpPr>
          <p:spPr>
            <a:xfrm>
              <a:off x="496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1" name="矩形 860"/>
            <p:cNvSpPr/>
            <p:nvPr/>
          </p:nvSpPr>
          <p:spPr>
            <a:xfrm>
              <a:off x="532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2" name="矩形 861"/>
            <p:cNvSpPr/>
            <p:nvPr/>
          </p:nvSpPr>
          <p:spPr>
            <a:xfrm>
              <a:off x="568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3" name="矩形 862"/>
            <p:cNvSpPr/>
            <p:nvPr/>
          </p:nvSpPr>
          <p:spPr>
            <a:xfrm>
              <a:off x="424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4" name="矩形 863"/>
            <p:cNvSpPr/>
            <p:nvPr/>
          </p:nvSpPr>
          <p:spPr>
            <a:xfrm>
              <a:off x="460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5" name="矩形 864"/>
            <p:cNvSpPr/>
            <p:nvPr/>
          </p:nvSpPr>
          <p:spPr>
            <a:xfrm>
              <a:off x="496254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6" name="矩形 865"/>
            <p:cNvSpPr/>
            <p:nvPr/>
          </p:nvSpPr>
          <p:spPr>
            <a:xfrm>
              <a:off x="532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7" name="矩形 866"/>
            <p:cNvSpPr/>
            <p:nvPr/>
          </p:nvSpPr>
          <p:spPr>
            <a:xfrm>
              <a:off x="568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8" name="矩形 867"/>
            <p:cNvSpPr/>
            <p:nvPr/>
          </p:nvSpPr>
          <p:spPr>
            <a:xfrm>
              <a:off x="424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9" name="矩形 868"/>
            <p:cNvSpPr/>
            <p:nvPr/>
          </p:nvSpPr>
          <p:spPr>
            <a:xfrm>
              <a:off x="460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0" name="矩形 869"/>
            <p:cNvSpPr/>
            <p:nvPr/>
          </p:nvSpPr>
          <p:spPr>
            <a:xfrm>
              <a:off x="496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1" name="矩形 870"/>
            <p:cNvSpPr/>
            <p:nvPr/>
          </p:nvSpPr>
          <p:spPr>
            <a:xfrm>
              <a:off x="532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2" name="矩形 871"/>
            <p:cNvSpPr/>
            <p:nvPr/>
          </p:nvSpPr>
          <p:spPr>
            <a:xfrm>
              <a:off x="568254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3" name="矩形 872"/>
            <p:cNvSpPr/>
            <p:nvPr/>
          </p:nvSpPr>
          <p:spPr>
            <a:xfrm>
              <a:off x="424254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4" name="矩形 873"/>
            <p:cNvSpPr/>
            <p:nvPr/>
          </p:nvSpPr>
          <p:spPr>
            <a:xfrm>
              <a:off x="460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5" name="矩形 874"/>
            <p:cNvSpPr/>
            <p:nvPr/>
          </p:nvSpPr>
          <p:spPr>
            <a:xfrm>
              <a:off x="496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6" name="矩形 875"/>
            <p:cNvSpPr/>
            <p:nvPr/>
          </p:nvSpPr>
          <p:spPr>
            <a:xfrm>
              <a:off x="532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7" name="矩形 876"/>
            <p:cNvSpPr/>
            <p:nvPr/>
          </p:nvSpPr>
          <p:spPr>
            <a:xfrm>
              <a:off x="568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8" name="矩形 877"/>
            <p:cNvSpPr/>
            <p:nvPr/>
          </p:nvSpPr>
          <p:spPr>
            <a:xfrm>
              <a:off x="424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79" name="矩形 878"/>
            <p:cNvSpPr/>
            <p:nvPr/>
          </p:nvSpPr>
          <p:spPr>
            <a:xfrm>
              <a:off x="460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0" name="矩形 879"/>
            <p:cNvSpPr/>
            <p:nvPr/>
          </p:nvSpPr>
          <p:spPr>
            <a:xfrm>
              <a:off x="496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1" name="矩形 880"/>
            <p:cNvSpPr/>
            <p:nvPr/>
          </p:nvSpPr>
          <p:spPr>
            <a:xfrm>
              <a:off x="532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2" name="矩形 881"/>
            <p:cNvSpPr/>
            <p:nvPr/>
          </p:nvSpPr>
          <p:spPr>
            <a:xfrm>
              <a:off x="568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3" name="矩形 882"/>
            <p:cNvSpPr/>
            <p:nvPr/>
          </p:nvSpPr>
          <p:spPr>
            <a:xfrm>
              <a:off x="604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4" name="矩形 883"/>
            <p:cNvSpPr/>
            <p:nvPr/>
          </p:nvSpPr>
          <p:spPr>
            <a:xfrm>
              <a:off x="640254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5" name="矩形 884"/>
            <p:cNvSpPr/>
            <p:nvPr/>
          </p:nvSpPr>
          <p:spPr>
            <a:xfrm>
              <a:off x="604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6" name="矩形 885"/>
            <p:cNvSpPr/>
            <p:nvPr/>
          </p:nvSpPr>
          <p:spPr>
            <a:xfrm>
              <a:off x="640254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7" name="矩形 886"/>
            <p:cNvSpPr/>
            <p:nvPr/>
          </p:nvSpPr>
          <p:spPr>
            <a:xfrm>
              <a:off x="604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8" name="矩形 887"/>
            <p:cNvSpPr/>
            <p:nvPr/>
          </p:nvSpPr>
          <p:spPr>
            <a:xfrm>
              <a:off x="640254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89" name="矩形 888"/>
            <p:cNvSpPr/>
            <p:nvPr/>
          </p:nvSpPr>
          <p:spPr>
            <a:xfrm>
              <a:off x="6042545" y="21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0" name="矩形 889"/>
            <p:cNvSpPr/>
            <p:nvPr/>
          </p:nvSpPr>
          <p:spPr>
            <a:xfrm>
              <a:off x="640254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1" name="矩形 890"/>
            <p:cNvSpPr/>
            <p:nvPr/>
          </p:nvSpPr>
          <p:spPr>
            <a:xfrm>
              <a:off x="604254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2" name="矩形 891"/>
            <p:cNvSpPr/>
            <p:nvPr/>
          </p:nvSpPr>
          <p:spPr>
            <a:xfrm>
              <a:off x="640254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3" name="矩形 892"/>
            <p:cNvSpPr/>
            <p:nvPr/>
          </p:nvSpPr>
          <p:spPr>
            <a:xfrm>
              <a:off x="424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4" name="矩形 893"/>
            <p:cNvSpPr/>
            <p:nvPr/>
          </p:nvSpPr>
          <p:spPr>
            <a:xfrm>
              <a:off x="460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5" name="矩形 894"/>
            <p:cNvSpPr/>
            <p:nvPr/>
          </p:nvSpPr>
          <p:spPr>
            <a:xfrm>
              <a:off x="496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6" name="矩形 895"/>
            <p:cNvSpPr/>
            <p:nvPr/>
          </p:nvSpPr>
          <p:spPr>
            <a:xfrm>
              <a:off x="532254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7" name="矩形 896"/>
            <p:cNvSpPr/>
            <p:nvPr/>
          </p:nvSpPr>
          <p:spPr>
            <a:xfrm>
              <a:off x="568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8" name="矩形 897"/>
            <p:cNvSpPr/>
            <p:nvPr/>
          </p:nvSpPr>
          <p:spPr>
            <a:xfrm>
              <a:off x="424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99" name="矩形 898"/>
            <p:cNvSpPr/>
            <p:nvPr/>
          </p:nvSpPr>
          <p:spPr>
            <a:xfrm>
              <a:off x="4602545" y="31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0" name="矩形 899"/>
            <p:cNvSpPr/>
            <p:nvPr/>
          </p:nvSpPr>
          <p:spPr>
            <a:xfrm>
              <a:off x="496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1" name="矩形 900"/>
            <p:cNvSpPr/>
            <p:nvPr/>
          </p:nvSpPr>
          <p:spPr>
            <a:xfrm>
              <a:off x="532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2" name="矩形 901"/>
            <p:cNvSpPr/>
            <p:nvPr/>
          </p:nvSpPr>
          <p:spPr>
            <a:xfrm>
              <a:off x="568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3" name="矩形 902"/>
            <p:cNvSpPr/>
            <p:nvPr/>
          </p:nvSpPr>
          <p:spPr>
            <a:xfrm>
              <a:off x="604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4" name="矩形 903"/>
            <p:cNvSpPr/>
            <p:nvPr/>
          </p:nvSpPr>
          <p:spPr>
            <a:xfrm>
              <a:off x="640254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5" name="矩形 904"/>
            <p:cNvSpPr/>
            <p:nvPr/>
          </p:nvSpPr>
          <p:spPr>
            <a:xfrm>
              <a:off x="604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6" name="矩形 905"/>
            <p:cNvSpPr/>
            <p:nvPr/>
          </p:nvSpPr>
          <p:spPr>
            <a:xfrm>
              <a:off x="640254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7" name="矩形 906"/>
            <p:cNvSpPr/>
            <p:nvPr/>
          </p:nvSpPr>
          <p:spPr>
            <a:xfrm>
              <a:off x="406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8" name="矩形 907"/>
            <p:cNvSpPr/>
            <p:nvPr/>
          </p:nvSpPr>
          <p:spPr>
            <a:xfrm>
              <a:off x="4422545" y="12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09" name="矩形 908"/>
            <p:cNvSpPr/>
            <p:nvPr/>
          </p:nvSpPr>
          <p:spPr>
            <a:xfrm>
              <a:off x="478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0" name="矩形 909"/>
            <p:cNvSpPr/>
            <p:nvPr/>
          </p:nvSpPr>
          <p:spPr>
            <a:xfrm>
              <a:off x="514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1" name="矩形 910"/>
            <p:cNvSpPr/>
            <p:nvPr/>
          </p:nvSpPr>
          <p:spPr>
            <a:xfrm>
              <a:off x="550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2" name="矩形 911"/>
            <p:cNvSpPr/>
            <p:nvPr/>
          </p:nvSpPr>
          <p:spPr>
            <a:xfrm>
              <a:off x="406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3" name="矩形 912"/>
            <p:cNvSpPr/>
            <p:nvPr/>
          </p:nvSpPr>
          <p:spPr>
            <a:xfrm>
              <a:off x="442254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4" name="矩形 913"/>
            <p:cNvSpPr/>
            <p:nvPr/>
          </p:nvSpPr>
          <p:spPr>
            <a:xfrm>
              <a:off x="478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5" name="矩形 914"/>
            <p:cNvSpPr/>
            <p:nvPr/>
          </p:nvSpPr>
          <p:spPr>
            <a:xfrm>
              <a:off x="514254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6" name="矩形 915"/>
            <p:cNvSpPr/>
            <p:nvPr/>
          </p:nvSpPr>
          <p:spPr>
            <a:xfrm>
              <a:off x="550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7" name="矩形 916"/>
            <p:cNvSpPr/>
            <p:nvPr/>
          </p:nvSpPr>
          <p:spPr>
            <a:xfrm>
              <a:off x="406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8" name="矩形 917"/>
            <p:cNvSpPr/>
            <p:nvPr/>
          </p:nvSpPr>
          <p:spPr>
            <a:xfrm>
              <a:off x="442254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19" name="矩形 918"/>
            <p:cNvSpPr/>
            <p:nvPr/>
          </p:nvSpPr>
          <p:spPr>
            <a:xfrm>
              <a:off x="478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0" name="矩形 919"/>
            <p:cNvSpPr/>
            <p:nvPr/>
          </p:nvSpPr>
          <p:spPr>
            <a:xfrm>
              <a:off x="514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1" name="矩形 920"/>
            <p:cNvSpPr/>
            <p:nvPr/>
          </p:nvSpPr>
          <p:spPr>
            <a:xfrm>
              <a:off x="550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2" name="矩形 921"/>
            <p:cNvSpPr/>
            <p:nvPr/>
          </p:nvSpPr>
          <p:spPr>
            <a:xfrm>
              <a:off x="406254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3" name="矩形 922"/>
            <p:cNvSpPr/>
            <p:nvPr/>
          </p:nvSpPr>
          <p:spPr>
            <a:xfrm>
              <a:off x="442254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4" name="矩形 923"/>
            <p:cNvSpPr/>
            <p:nvPr/>
          </p:nvSpPr>
          <p:spPr>
            <a:xfrm>
              <a:off x="478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5" name="矩形 924"/>
            <p:cNvSpPr/>
            <p:nvPr/>
          </p:nvSpPr>
          <p:spPr>
            <a:xfrm>
              <a:off x="514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6" name="矩形 925"/>
            <p:cNvSpPr/>
            <p:nvPr/>
          </p:nvSpPr>
          <p:spPr>
            <a:xfrm>
              <a:off x="550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7" name="矩形 926"/>
            <p:cNvSpPr/>
            <p:nvPr/>
          </p:nvSpPr>
          <p:spPr>
            <a:xfrm>
              <a:off x="406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8" name="矩形 927"/>
            <p:cNvSpPr/>
            <p:nvPr/>
          </p:nvSpPr>
          <p:spPr>
            <a:xfrm>
              <a:off x="442254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29" name="矩形 928"/>
            <p:cNvSpPr/>
            <p:nvPr/>
          </p:nvSpPr>
          <p:spPr>
            <a:xfrm>
              <a:off x="478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0" name="矩形 929"/>
            <p:cNvSpPr/>
            <p:nvPr/>
          </p:nvSpPr>
          <p:spPr>
            <a:xfrm>
              <a:off x="514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1" name="矩形 930"/>
            <p:cNvSpPr/>
            <p:nvPr/>
          </p:nvSpPr>
          <p:spPr>
            <a:xfrm>
              <a:off x="550254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2" name="矩形 931"/>
            <p:cNvSpPr/>
            <p:nvPr/>
          </p:nvSpPr>
          <p:spPr>
            <a:xfrm>
              <a:off x="586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3" name="矩形 932"/>
            <p:cNvSpPr/>
            <p:nvPr/>
          </p:nvSpPr>
          <p:spPr>
            <a:xfrm>
              <a:off x="622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4" name="矩形 933"/>
            <p:cNvSpPr/>
            <p:nvPr/>
          </p:nvSpPr>
          <p:spPr>
            <a:xfrm>
              <a:off x="586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5" name="矩形 934"/>
            <p:cNvSpPr/>
            <p:nvPr/>
          </p:nvSpPr>
          <p:spPr>
            <a:xfrm>
              <a:off x="622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6" name="矩形 935"/>
            <p:cNvSpPr/>
            <p:nvPr/>
          </p:nvSpPr>
          <p:spPr>
            <a:xfrm>
              <a:off x="586254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7" name="矩形 936"/>
            <p:cNvSpPr/>
            <p:nvPr/>
          </p:nvSpPr>
          <p:spPr>
            <a:xfrm>
              <a:off x="622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8" name="矩形 937"/>
            <p:cNvSpPr/>
            <p:nvPr/>
          </p:nvSpPr>
          <p:spPr>
            <a:xfrm>
              <a:off x="586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9" name="矩形 938"/>
            <p:cNvSpPr/>
            <p:nvPr/>
          </p:nvSpPr>
          <p:spPr>
            <a:xfrm>
              <a:off x="622254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0" name="矩形 939"/>
            <p:cNvSpPr/>
            <p:nvPr/>
          </p:nvSpPr>
          <p:spPr>
            <a:xfrm>
              <a:off x="586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1" name="矩形 940"/>
            <p:cNvSpPr/>
            <p:nvPr/>
          </p:nvSpPr>
          <p:spPr>
            <a:xfrm>
              <a:off x="622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2" name="矩形 941"/>
            <p:cNvSpPr/>
            <p:nvPr/>
          </p:nvSpPr>
          <p:spPr>
            <a:xfrm>
              <a:off x="406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3" name="矩形 942"/>
            <p:cNvSpPr/>
            <p:nvPr/>
          </p:nvSpPr>
          <p:spPr>
            <a:xfrm>
              <a:off x="442254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4" name="矩形 943"/>
            <p:cNvSpPr/>
            <p:nvPr/>
          </p:nvSpPr>
          <p:spPr>
            <a:xfrm>
              <a:off x="478254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5" name="矩形 944"/>
            <p:cNvSpPr/>
            <p:nvPr/>
          </p:nvSpPr>
          <p:spPr>
            <a:xfrm>
              <a:off x="514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6" name="矩形 945"/>
            <p:cNvSpPr/>
            <p:nvPr/>
          </p:nvSpPr>
          <p:spPr>
            <a:xfrm>
              <a:off x="550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7" name="矩形 946"/>
            <p:cNvSpPr/>
            <p:nvPr/>
          </p:nvSpPr>
          <p:spPr>
            <a:xfrm>
              <a:off x="406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8" name="矩形 947"/>
            <p:cNvSpPr/>
            <p:nvPr/>
          </p:nvSpPr>
          <p:spPr>
            <a:xfrm>
              <a:off x="442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49" name="矩形 948"/>
            <p:cNvSpPr/>
            <p:nvPr/>
          </p:nvSpPr>
          <p:spPr>
            <a:xfrm>
              <a:off x="478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0" name="矩形 949"/>
            <p:cNvSpPr/>
            <p:nvPr/>
          </p:nvSpPr>
          <p:spPr>
            <a:xfrm>
              <a:off x="514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1" name="矩形 950"/>
            <p:cNvSpPr/>
            <p:nvPr/>
          </p:nvSpPr>
          <p:spPr>
            <a:xfrm>
              <a:off x="550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2" name="矩形 951"/>
            <p:cNvSpPr/>
            <p:nvPr/>
          </p:nvSpPr>
          <p:spPr>
            <a:xfrm>
              <a:off x="586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3" name="矩形 952"/>
            <p:cNvSpPr/>
            <p:nvPr/>
          </p:nvSpPr>
          <p:spPr>
            <a:xfrm>
              <a:off x="622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4" name="矩形 953"/>
            <p:cNvSpPr/>
            <p:nvPr/>
          </p:nvSpPr>
          <p:spPr>
            <a:xfrm>
              <a:off x="586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5" name="矩形 954"/>
            <p:cNvSpPr/>
            <p:nvPr/>
          </p:nvSpPr>
          <p:spPr>
            <a:xfrm>
              <a:off x="622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6" name="矩形 955"/>
            <p:cNvSpPr/>
            <p:nvPr/>
          </p:nvSpPr>
          <p:spPr>
            <a:xfrm>
              <a:off x="424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7" name="矩形 956"/>
            <p:cNvSpPr/>
            <p:nvPr/>
          </p:nvSpPr>
          <p:spPr>
            <a:xfrm>
              <a:off x="4602545" y="12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8" name="矩形 957"/>
            <p:cNvSpPr/>
            <p:nvPr/>
          </p:nvSpPr>
          <p:spPr>
            <a:xfrm>
              <a:off x="496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59" name="矩形 958"/>
            <p:cNvSpPr/>
            <p:nvPr/>
          </p:nvSpPr>
          <p:spPr>
            <a:xfrm>
              <a:off x="532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0" name="矩形 959"/>
            <p:cNvSpPr/>
            <p:nvPr/>
          </p:nvSpPr>
          <p:spPr>
            <a:xfrm>
              <a:off x="568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1" name="矩形 960"/>
            <p:cNvSpPr/>
            <p:nvPr/>
          </p:nvSpPr>
          <p:spPr>
            <a:xfrm>
              <a:off x="424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2" name="矩形 961"/>
            <p:cNvSpPr/>
            <p:nvPr/>
          </p:nvSpPr>
          <p:spPr>
            <a:xfrm>
              <a:off x="460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3" name="矩形 962"/>
            <p:cNvSpPr/>
            <p:nvPr/>
          </p:nvSpPr>
          <p:spPr>
            <a:xfrm>
              <a:off x="496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4" name="矩形 963"/>
            <p:cNvSpPr/>
            <p:nvPr/>
          </p:nvSpPr>
          <p:spPr>
            <a:xfrm>
              <a:off x="532254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5" name="矩形 964"/>
            <p:cNvSpPr/>
            <p:nvPr/>
          </p:nvSpPr>
          <p:spPr>
            <a:xfrm>
              <a:off x="568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6" name="矩形 965"/>
            <p:cNvSpPr/>
            <p:nvPr/>
          </p:nvSpPr>
          <p:spPr>
            <a:xfrm>
              <a:off x="424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7" name="矩形 966"/>
            <p:cNvSpPr/>
            <p:nvPr/>
          </p:nvSpPr>
          <p:spPr>
            <a:xfrm>
              <a:off x="460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8" name="矩形 967"/>
            <p:cNvSpPr/>
            <p:nvPr/>
          </p:nvSpPr>
          <p:spPr>
            <a:xfrm>
              <a:off x="496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69" name="矩形 968"/>
            <p:cNvSpPr/>
            <p:nvPr/>
          </p:nvSpPr>
          <p:spPr>
            <a:xfrm>
              <a:off x="532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0" name="矩形 969"/>
            <p:cNvSpPr/>
            <p:nvPr/>
          </p:nvSpPr>
          <p:spPr>
            <a:xfrm>
              <a:off x="568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1" name="矩形 970"/>
            <p:cNvSpPr/>
            <p:nvPr/>
          </p:nvSpPr>
          <p:spPr>
            <a:xfrm>
              <a:off x="424254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2" name="矩形 971"/>
            <p:cNvSpPr/>
            <p:nvPr/>
          </p:nvSpPr>
          <p:spPr>
            <a:xfrm>
              <a:off x="460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3" name="矩形 972"/>
            <p:cNvSpPr/>
            <p:nvPr/>
          </p:nvSpPr>
          <p:spPr>
            <a:xfrm>
              <a:off x="496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4" name="矩形 973"/>
            <p:cNvSpPr/>
            <p:nvPr/>
          </p:nvSpPr>
          <p:spPr>
            <a:xfrm>
              <a:off x="532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5" name="矩形 974"/>
            <p:cNvSpPr/>
            <p:nvPr/>
          </p:nvSpPr>
          <p:spPr>
            <a:xfrm>
              <a:off x="568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6" name="矩形 975"/>
            <p:cNvSpPr/>
            <p:nvPr/>
          </p:nvSpPr>
          <p:spPr>
            <a:xfrm>
              <a:off x="424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7" name="矩形 976"/>
            <p:cNvSpPr/>
            <p:nvPr/>
          </p:nvSpPr>
          <p:spPr>
            <a:xfrm>
              <a:off x="460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8" name="矩形 977"/>
            <p:cNvSpPr/>
            <p:nvPr/>
          </p:nvSpPr>
          <p:spPr>
            <a:xfrm>
              <a:off x="496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79" name="矩形 978"/>
            <p:cNvSpPr/>
            <p:nvPr/>
          </p:nvSpPr>
          <p:spPr>
            <a:xfrm>
              <a:off x="532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0" name="矩形 979"/>
            <p:cNvSpPr/>
            <p:nvPr/>
          </p:nvSpPr>
          <p:spPr>
            <a:xfrm>
              <a:off x="568254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1" name="矩形 980"/>
            <p:cNvSpPr/>
            <p:nvPr/>
          </p:nvSpPr>
          <p:spPr>
            <a:xfrm>
              <a:off x="604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2" name="矩形 981"/>
            <p:cNvSpPr/>
            <p:nvPr/>
          </p:nvSpPr>
          <p:spPr>
            <a:xfrm>
              <a:off x="640254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3" name="矩形 982"/>
            <p:cNvSpPr/>
            <p:nvPr/>
          </p:nvSpPr>
          <p:spPr>
            <a:xfrm>
              <a:off x="604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4" name="矩形 983"/>
            <p:cNvSpPr/>
            <p:nvPr/>
          </p:nvSpPr>
          <p:spPr>
            <a:xfrm>
              <a:off x="640254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5" name="矩形 984"/>
            <p:cNvSpPr/>
            <p:nvPr/>
          </p:nvSpPr>
          <p:spPr>
            <a:xfrm>
              <a:off x="604254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6" name="矩形 985"/>
            <p:cNvSpPr/>
            <p:nvPr/>
          </p:nvSpPr>
          <p:spPr>
            <a:xfrm>
              <a:off x="640254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7" name="矩形 986"/>
            <p:cNvSpPr/>
            <p:nvPr/>
          </p:nvSpPr>
          <p:spPr>
            <a:xfrm>
              <a:off x="6042545" y="22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8" name="矩形 987"/>
            <p:cNvSpPr/>
            <p:nvPr/>
          </p:nvSpPr>
          <p:spPr>
            <a:xfrm>
              <a:off x="640254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89" name="矩形 988"/>
            <p:cNvSpPr/>
            <p:nvPr/>
          </p:nvSpPr>
          <p:spPr>
            <a:xfrm>
              <a:off x="604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0" name="矩形 989"/>
            <p:cNvSpPr/>
            <p:nvPr/>
          </p:nvSpPr>
          <p:spPr>
            <a:xfrm>
              <a:off x="640254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1" name="矩形 990"/>
            <p:cNvSpPr/>
            <p:nvPr/>
          </p:nvSpPr>
          <p:spPr>
            <a:xfrm>
              <a:off x="424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2" name="矩形 991"/>
            <p:cNvSpPr/>
            <p:nvPr/>
          </p:nvSpPr>
          <p:spPr>
            <a:xfrm>
              <a:off x="460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3" name="矩形 992"/>
            <p:cNvSpPr/>
            <p:nvPr/>
          </p:nvSpPr>
          <p:spPr>
            <a:xfrm>
              <a:off x="496254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4" name="矩形 993"/>
            <p:cNvSpPr/>
            <p:nvPr/>
          </p:nvSpPr>
          <p:spPr>
            <a:xfrm>
              <a:off x="532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5" name="矩形 994"/>
            <p:cNvSpPr/>
            <p:nvPr/>
          </p:nvSpPr>
          <p:spPr>
            <a:xfrm>
              <a:off x="568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6" name="矩形 995"/>
            <p:cNvSpPr/>
            <p:nvPr/>
          </p:nvSpPr>
          <p:spPr>
            <a:xfrm>
              <a:off x="424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7" name="矩形 996"/>
            <p:cNvSpPr/>
            <p:nvPr/>
          </p:nvSpPr>
          <p:spPr>
            <a:xfrm>
              <a:off x="460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8" name="矩形 997"/>
            <p:cNvSpPr/>
            <p:nvPr/>
          </p:nvSpPr>
          <p:spPr>
            <a:xfrm>
              <a:off x="496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99" name="矩形 998"/>
            <p:cNvSpPr/>
            <p:nvPr/>
          </p:nvSpPr>
          <p:spPr>
            <a:xfrm>
              <a:off x="532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0" name="矩形 999"/>
            <p:cNvSpPr/>
            <p:nvPr/>
          </p:nvSpPr>
          <p:spPr>
            <a:xfrm>
              <a:off x="568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1" name="矩形 1000"/>
            <p:cNvSpPr/>
            <p:nvPr/>
          </p:nvSpPr>
          <p:spPr>
            <a:xfrm>
              <a:off x="604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2" name="矩形 1001"/>
            <p:cNvSpPr/>
            <p:nvPr/>
          </p:nvSpPr>
          <p:spPr>
            <a:xfrm>
              <a:off x="640254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3" name="矩形 1002"/>
            <p:cNvSpPr/>
            <p:nvPr/>
          </p:nvSpPr>
          <p:spPr>
            <a:xfrm>
              <a:off x="604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4" name="矩形 1003"/>
            <p:cNvSpPr/>
            <p:nvPr/>
          </p:nvSpPr>
          <p:spPr>
            <a:xfrm>
              <a:off x="640254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1005" name="组合 1004"/>
          <p:cNvGrpSpPr/>
          <p:nvPr/>
        </p:nvGrpSpPr>
        <p:grpSpPr>
          <a:xfrm>
            <a:off x="8001619" y="2169000"/>
            <a:ext cx="2520000" cy="2520000"/>
            <a:chOff x="7156265" y="1020333"/>
            <a:chExt cx="2520000" cy="2520000"/>
          </a:xfrm>
        </p:grpSpPr>
        <p:sp>
          <p:nvSpPr>
            <p:cNvPr id="1006" name="矩形 1005"/>
            <p:cNvSpPr/>
            <p:nvPr/>
          </p:nvSpPr>
          <p:spPr>
            <a:xfrm>
              <a:off x="715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7" name="矩形 1006"/>
            <p:cNvSpPr/>
            <p:nvPr/>
          </p:nvSpPr>
          <p:spPr>
            <a:xfrm>
              <a:off x="751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8" name="矩形 1007"/>
            <p:cNvSpPr/>
            <p:nvPr/>
          </p:nvSpPr>
          <p:spPr>
            <a:xfrm>
              <a:off x="787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09" name="矩形 1008"/>
            <p:cNvSpPr/>
            <p:nvPr/>
          </p:nvSpPr>
          <p:spPr>
            <a:xfrm>
              <a:off x="823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0" name="矩形 1009"/>
            <p:cNvSpPr/>
            <p:nvPr/>
          </p:nvSpPr>
          <p:spPr>
            <a:xfrm>
              <a:off x="859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1" name="矩形 1010"/>
            <p:cNvSpPr/>
            <p:nvPr/>
          </p:nvSpPr>
          <p:spPr>
            <a:xfrm>
              <a:off x="715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2" name="矩形 1011"/>
            <p:cNvSpPr/>
            <p:nvPr/>
          </p:nvSpPr>
          <p:spPr>
            <a:xfrm>
              <a:off x="7516265" y="138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3" name="矩形 1012"/>
            <p:cNvSpPr/>
            <p:nvPr/>
          </p:nvSpPr>
          <p:spPr>
            <a:xfrm>
              <a:off x="787626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4" name="矩形 1013"/>
            <p:cNvSpPr/>
            <p:nvPr/>
          </p:nvSpPr>
          <p:spPr>
            <a:xfrm>
              <a:off x="823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5" name="矩形 1014"/>
            <p:cNvSpPr/>
            <p:nvPr/>
          </p:nvSpPr>
          <p:spPr>
            <a:xfrm>
              <a:off x="859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6" name="矩形 1015"/>
            <p:cNvSpPr/>
            <p:nvPr/>
          </p:nvSpPr>
          <p:spPr>
            <a:xfrm>
              <a:off x="715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7" name="矩形 1016"/>
            <p:cNvSpPr/>
            <p:nvPr/>
          </p:nvSpPr>
          <p:spPr>
            <a:xfrm>
              <a:off x="7516265" y="174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8" name="矩形 1017"/>
            <p:cNvSpPr/>
            <p:nvPr/>
          </p:nvSpPr>
          <p:spPr>
            <a:xfrm>
              <a:off x="787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19" name="矩形 1018"/>
            <p:cNvSpPr/>
            <p:nvPr/>
          </p:nvSpPr>
          <p:spPr>
            <a:xfrm>
              <a:off x="823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0" name="矩形 1019"/>
            <p:cNvSpPr/>
            <p:nvPr/>
          </p:nvSpPr>
          <p:spPr>
            <a:xfrm>
              <a:off x="859626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1" name="矩形 1020"/>
            <p:cNvSpPr/>
            <p:nvPr/>
          </p:nvSpPr>
          <p:spPr>
            <a:xfrm>
              <a:off x="715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2" name="矩形 1021"/>
            <p:cNvSpPr/>
            <p:nvPr/>
          </p:nvSpPr>
          <p:spPr>
            <a:xfrm>
              <a:off x="751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3" name="矩形 1022"/>
            <p:cNvSpPr/>
            <p:nvPr/>
          </p:nvSpPr>
          <p:spPr>
            <a:xfrm>
              <a:off x="787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4" name="矩形 1023"/>
            <p:cNvSpPr/>
            <p:nvPr/>
          </p:nvSpPr>
          <p:spPr>
            <a:xfrm>
              <a:off x="823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5" name="矩形 1024"/>
            <p:cNvSpPr/>
            <p:nvPr/>
          </p:nvSpPr>
          <p:spPr>
            <a:xfrm>
              <a:off x="859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6" name="矩形 1025"/>
            <p:cNvSpPr/>
            <p:nvPr/>
          </p:nvSpPr>
          <p:spPr>
            <a:xfrm>
              <a:off x="715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7" name="矩形 1026"/>
            <p:cNvSpPr/>
            <p:nvPr/>
          </p:nvSpPr>
          <p:spPr>
            <a:xfrm>
              <a:off x="7516265" y="246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8" name="矩形 1027"/>
            <p:cNvSpPr/>
            <p:nvPr/>
          </p:nvSpPr>
          <p:spPr>
            <a:xfrm>
              <a:off x="787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29" name="矩形 1028"/>
            <p:cNvSpPr/>
            <p:nvPr/>
          </p:nvSpPr>
          <p:spPr>
            <a:xfrm>
              <a:off x="823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0" name="矩形 1029"/>
            <p:cNvSpPr/>
            <p:nvPr/>
          </p:nvSpPr>
          <p:spPr>
            <a:xfrm>
              <a:off x="859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1" name="矩形 1030"/>
            <p:cNvSpPr/>
            <p:nvPr/>
          </p:nvSpPr>
          <p:spPr>
            <a:xfrm>
              <a:off x="895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2" name="矩形 1031"/>
            <p:cNvSpPr/>
            <p:nvPr/>
          </p:nvSpPr>
          <p:spPr>
            <a:xfrm>
              <a:off x="931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3" name="矩形 1032"/>
            <p:cNvSpPr/>
            <p:nvPr/>
          </p:nvSpPr>
          <p:spPr>
            <a:xfrm>
              <a:off x="895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4" name="矩形 1033"/>
            <p:cNvSpPr/>
            <p:nvPr/>
          </p:nvSpPr>
          <p:spPr>
            <a:xfrm>
              <a:off x="931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5" name="矩形 1034"/>
            <p:cNvSpPr/>
            <p:nvPr/>
          </p:nvSpPr>
          <p:spPr>
            <a:xfrm>
              <a:off x="895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6" name="矩形 1035"/>
            <p:cNvSpPr/>
            <p:nvPr/>
          </p:nvSpPr>
          <p:spPr>
            <a:xfrm>
              <a:off x="931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7" name="矩形 1036"/>
            <p:cNvSpPr/>
            <p:nvPr/>
          </p:nvSpPr>
          <p:spPr>
            <a:xfrm>
              <a:off x="895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8" name="矩形 1037"/>
            <p:cNvSpPr/>
            <p:nvPr/>
          </p:nvSpPr>
          <p:spPr>
            <a:xfrm>
              <a:off x="931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39" name="矩形 1038"/>
            <p:cNvSpPr/>
            <p:nvPr/>
          </p:nvSpPr>
          <p:spPr>
            <a:xfrm>
              <a:off x="895626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0" name="矩形 1039"/>
            <p:cNvSpPr/>
            <p:nvPr/>
          </p:nvSpPr>
          <p:spPr>
            <a:xfrm>
              <a:off x="930991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1" name="矩形 1040"/>
            <p:cNvSpPr/>
            <p:nvPr/>
          </p:nvSpPr>
          <p:spPr>
            <a:xfrm>
              <a:off x="715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2" name="矩形 1041"/>
            <p:cNvSpPr/>
            <p:nvPr/>
          </p:nvSpPr>
          <p:spPr>
            <a:xfrm>
              <a:off x="7516265" y="282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3" name="矩形 1042"/>
            <p:cNvSpPr/>
            <p:nvPr/>
          </p:nvSpPr>
          <p:spPr>
            <a:xfrm>
              <a:off x="787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4" name="矩形 1043"/>
            <p:cNvSpPr/>
            <p:nvPr/>
          </p:nvSpPr>
          <p:spPr>
            <a:xfrm>
              <a:off x="823626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5" name="矩形 1044"/>
            <p:cNvSpPr/>
            <p:nvPr/>
          </p:nvSpPr>
          <p:spPr>
            <a:xfrm>
              <a:off x="859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6" name="矩形 1045"/>
            <p:cNvSpPr/>
            <p:nvPr/>
          </p:nvSpPr>
          <p:spPr>
            <a:xfrm>
              <a:off x="715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7" name="矩形 1046"/>
            <p:cNvSpPr/>
            <p:nvPr/>
          </p:nvSpPr>
          <p:spPr>
            <a:xfrm>
              <a:off x="7516265" y="31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8" name="矩形 1047"/>
            <p:cNvSpPr/>
            <p:nvPr/>
          </p:nvSpPr>
          <p:spPr>
            <a:xfrm>
              <a:off x="787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49" name="矩形 1048"/>
            <p:cNvSpPr/>
            <p:nvPr/>
          </p:nvSpPr>
          <p:spPr>
            <a:xfrm>
              <a:off x="823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0" name="矩形 1049"/>
            <p:cNvSpPr/>
            <p:nvPr/>
          </p:nvSpPr>
          <p:spPr>
            <a:xfrm>
              <a:off x="859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1" name="矩形 1050"/>
            <p:cNvSpPr/>
            <p:nvPr/>
          </p:nvSpPr>
          <p:spPr>
            <a:xfrm>
              <a:off x="895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2" name="矩形 1051"/>
            <p:cNvSpPr/>
            <p:nvPr/>
          </p:nvSpPr>
          <p:spPr>
            <a:xfrm>
              <a:off x="931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3" name="矩形 1052"/>
            <p:cNvSpPr/>
            <p:nvPr/>
          </p:nvSpPr>
          <p:spPr>
            <a:xfrm>
              <a:off x="895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4" name="矩形 1053"/>
            <p:cNvSpPr/>
            <p:nvPr/>
          </p:nvSpPr>
          <p:spPr>
            <a:xfrm>
              <a:off x="931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5" name="矩形 1054"/>
            <p:cNvSpPr/>
            <p:nvPr/>
          </p:nvSpPr>
          <p:spPr>
            <a:xfrm>
              <a:off x="733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6" name="矩形 1055"/>
            <p:cNvSpPr/>
            <p:nvPr/>
          </p:nvSpPr>
          <p:spPr>
            <a:xfrm>
              <a:off x="769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7" name="矩形 1056"/>
            <p:cNvSpPr/>
            <p:nvPr/>
          </p:nvSpPr>
          <p:spPr>
            <a:xfrm>
              <a:off x="805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8" name="矩形 1057"/>
            <p:cNvSpPr/>
            <p:nvPr/>
          </p:nvSpPr>
          <p:spPr>
            <a:xfrm>
              <a:off x="841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9" name="矩形 1058"/>
            <p:cNvSpPr/>
            <p:nvPr/>
          </p:nvSpPr>
          <p:spPr>
            <a:xfrm>
              <a:off x="877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0" name="矩形 1059"/>
            <p:cNvSpPr/>
            <p:nvPr/>
          </p:nvSpPr>
          <p:spPr>
            <a:xfrm>
              <a:off x="733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1" name="矩形 1060"/>
            <p:cNvSpPr/>
            <p:nvPr/>
          </p:nvSpPr>
          <p:spPr>
            <a:xfrm>
              <a:off x="769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2" name="矩形 1061"/>
            <p:cNvSpPr/>
            <p:nvPr/>
          </p:nvSpPr>
          <p:spPr>
            <a:xfrm>
              <a:off x="8056265" y="13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3" name="矩形 1062"/>
            <p:cNvSpPr/>
            <p:nvPr/>
          </p:nvSpPr>
          <p:spPr>
            <a:xfrm>
              <a:off x="841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4" name="矩形 1063"/>
            <p:cNvSpPr/>
            <p:nvPr/>
          </p:nvSpPr>
          <p:spPr>
            <a:xfrm>
              <a:off x="877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5" name="矩形 1064"/>
            <p:cNvSpPr/>
            <p:nvPr/>
          </p:nvSpPr>
          <p:spPr>
            <a:xfrm>
              <a:off x="733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6" name="矩形 1065"/>
            <p:cNvSpPr/>
            <p:nvPr/>
          </p:nvSpPr>
          <p:spPr>
            <a:xfrm>
              <a:off x="769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7" name="矩形 1066"/>
            <p:cNvSpPr/>
            <p:nvPr/>
          </p:nvSpPr>
          <p:spPr>
            <a:xfrm>
              <a:off x="805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8" name="矩形 1067"/>
            <p:cNvSpPr/>
            <p:nvPr/>
          </p:nvSpPr>
          <p:spPr>
            <a:xfrm>
              <a:off x="841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69" name="矩形 1068"/>
            <p:cNvSpPr/>
            <p:nvPr/>
          </p:nvSpPr>
          <p:spPr>
            <a:xfrm>
              <a:off x="8776265" y="17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0" name="矩形 1069"/>
            <p:cNvSpPr/>
            <p:nvPr/>
          </p:nvSpPr>
          <p:spPr>
            <a:xfrm>
              <a:off x="733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1" name="矩形 1070"/>
            <p:cNvSpPr/>
            <p:nvPr/>
          </p:nvSpPr>
          <p:spPr>
            <a:xfrm>
              <a:off x="769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2" name="矩形 1071"/>
            <p:cNvSpPr/>
            <p:nvPr/>
          </p:nvSpPr>
          <p:spPr>
            <a:xfrm>
              <a:off x="805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3" name="矩形 1072"/>
            <p:cNvSpPr/>
            <p:nvPr/>
          </p:nvSpPr>
          <p:spPr>
            <a:xfrm>
              <a:off x="841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4" name="矩形 1073"/>
            <p:cNvSpPr/>
            <p:nvPr/>
          </p:nvSpPr>
          <p:spPr>
            <a:xfrm>
              <a:off x="877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5" name="矩形 1074"/>
            <p:cNvSpPr/>
            <p:nvPr/>
          </p:nvSpPr>
          <p:spPr>
            <a:xfrm>
              <a:off x="733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6" name="矩形 1075"/>
            <p:cNvSpPr/>
            <p:nvPr/>
          </p:nvSpPr>
          <p:spPr>
            <a:xfrm>
              <a:off x="769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7" name="矩形 1076"/>
            <p:cNvSpPr/>
            <p:nvPr/>
          </p:nvSpPr>
          <p:spPr>
            <a:xfrm>
              <a:off x="805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8" name="矩形 1077"/>
            <p:cNvSpPr/>
            <p:nvPr/>
          </p:nvSpPr>
          <p:spPr>
            <a:xfrm>
              <a:off x="841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9" name="矩形 1078"/>
            <p:cNvSpPr/>
            <p:nvPr/>
          </p:nvSpPr>
          <p:spPr>
            <a:xfrm>
              <a:off x="877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0" name="矩形 1079"/>
            <p:cNvSpPr/>
            <p:nvPr/>
          </p:nvSpPr>
          <p:spPr>
            <a:xfrm>
              <a:off x="913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1" name="矩形 1080"/>
            <p:cNvSpPr/>
            <p:nvPr/>
          </p:nvSpPr>
          <p:spPr>
            <a:xfrm>
              <a:off x="9496265" y="10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2" name="矩形 1081"/>
            <p:cNvSpPr/>
            <p:nvPr/>
          </p:nvSpPr>
          <p:spPr>
            <a:xfrm>
              <a:off x="913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3" name="矩形 1082"/>
            <p:cNvSpPr/>
            <p:nvPr/>
          </p:nvSpPr>
          <p:spPr>
            <a:xfrm>
              <a:off x="9496265" y="13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4" name="矩形 1083"/>
            <p:cNvSpPr/>
            <p:nvPr/>
          </p:nvSpPr>
          <p:spPr>
            <a:xfrm>
              <a:off x="913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5" name="矩形 1084"/>
            <p:cNvSpPr/>
            <p:nvPr/>
          </p:nvSpPr>
          <p:spPr>
            <a:xfrm>
              <a:off x="9496265" y="17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6" name="矩形 1085"/>
            <p:cNvSpPr/>
            <p:nvPr/>
          </p:nvSpPr>
          <p:spPr>
            <a:xfrm>
              <a:off x="913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7" name="矩形 1086"/>
            <p:cNvSpPr/>
            <p:nvPr/>
          </p:nvSpPr>
          <p:spPr>
            <a:xfrm>
              <a:off x="9496265" y="21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8" name="矩形 1087"/>
            <p:cNvSpPr/>
            <p:nvPr/>
          </p:nvSpPr>
          <p:spPr>
            <a:xfrm>
              <a:off x="9136265" y="24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9" name="矩形 1088"/>
            <p:cNvSpPr/>
            <p:nvPr/>
          </p:nvSpPr>
          <p:spPr>
            <a:xfrm>
              <a:off x="9496265" y="24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0" name="矩形 1089"/>
            <p:cNvSpPr/>
            <p:nvPr/>
          </p:nvSpPr>
          <p:spPr>
            <a:xfrm>
              <a:off x="733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1" name="矩形 1090"/>
            <p:cNvSpPr/>
            <p:nvPr/>
          </p:nvSpPr>
          <p:spPr>
            <a:xfrm>
              <a:off x="769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2" name="矩形 1091"/>
            <p:cNvSpPr/>
            <p:nvPr/>
          </p:nvSpPr>
          <p:spPr>
            <a:xfrm>
              <a:off x="805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3" name="矩形 1092"/>
            <p:cNvSpPr/>
            <p:nvPr/>
          </p:nvSpPr>
          <p:spPr>
            <a:xfrm>
              <a:off x="8416265" y="28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4" name="矩形 1093"/>
            <p:cNvSpPr/>
            <p:nvPr/>
          </p:nvSpPr>
          <p:spPr>
            <a:xfrm>
              <a:off x="877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5" name="矩形 1094"/>
            <p:cNvSpPr/>
            <p:nvPr/>
          </p:nvSpPr>
          <p:spPr>
            <a:xfrm>
              <a:off x="733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6" name="矩形 1095"/>
            <p:cNvSpPr/>
            <p:nvPr/>
          </p:nvSpPr>
          <p:spPr>
            <a:xfrm>
              <a:off x="7696265" y="31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7" name="矩形 1096"/>
            <p:cNvSpPr/>
            <p:nvPr/>
          </p:nvSpPr>
          <p:spPr>
            <a:xfrm>
              <a:off x="805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8" name="矩形 1097"/>
            <p:cNvSpPr/>
            <p:nvPr/>
          </p:nvSpPr>
          <p:spPr>
            <a:xfrm>
              <a:off x="841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99" name="矩形 1098"/>
            <p:cNvSpPr/>
            <p:nvPr/>
          </p:nvSpPr>
          <p:spPr>
            <a:xfrm>
              <a:off x="877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0" name="矩形 1099"/>
            <p:cNvSpPr/>
            <p:nvPr/>
          </p:nvSpPr>
          <p:spPr>
            <a:xfrm>
              <a:off x="913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1" name="矩形 1100"/>
            <p:cNvSpPr/>
            <p:nvPr/>
          </p:nvSpPr>
          <p:spPr>
            <a:xfrm>
              <a:off x="9496265" y="28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2" name="矩形 1101"/>
            <p:cNvSpPr/>
            <p:nvPr/>
          </p:nvSpPr>
          <p:spPr>
            <a:xfrm>
              <a:off x="913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3" name="矩形 1102"/>
            <p:cNvSpPr/>
            <p:nvPr/>
          </p:nvSpPr>
          <p:spPr>
            <a:xfrm>
              <a:off x="9496265" y="318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4" name="矩形 1103"/>
            <p:cNvSpPr/>
            <p:nvPr/>
          </p:nvSpPr>
          <p:spPr>
            <a:xfrm>
              <a:off x="715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5" name="矩形 1104"/>
            <p:cNvSpPr/>
            <p:nvPr/>
          </p:nvSpPr>
          <p:spPr>
            <a:xfrm>
              <a:off x="7516265" y="12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6" name="矩形 1105"/>
            <p:cNvSpPr/>
            <p:nvPr/>
          </p:nvSpPr>
          <p:spPr>
            <a:xfrm>
              <a:off x="787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7" name="矩形 1106"/>
            <p:cNvSpPr/>
            <p:nvPr/>
          </p:nvSpPr>
          <p:spPr>
            <a:xfrm>
              <a:off x="823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8" name="矩形 1107"/>
            <p:cNvSpPr/>
            <p:nvPr/>
          </p:nvSpPr>
          <p:spPr>
            <a:xfrm>
              <a:off x="859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09" name="矩形 1108"/>
            <p:cNvSpPr/>
            <p:nvPr/>
          </p:nvSpPr>
          <p:spPr>
            <a:xfrm>
              <a:off x="715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0" name="矩形 1109"/>
            <p:cNvSpPr/>
            <p:nvPr/>
          </p:nvSpPr>
          <p:spPr>
            <a:xfrm>
              <a:off x="7516265" y="156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1" name="矩形 1110"/>
            <p:cNvSpPr/>
            <p:nvPr/>
          </p:nvSpPr>
          <p:spPr>
            <a:xfrm>
              <a:off x="787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2" name="矩形 1111"/>
            <p:cNvSpPr/>
            <p:nvPr/>
          </p:nvSpPr>
          <p:spPr>
            <a:xfrm>
              <a:off x="823626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3" name="矩形 1112"/>
            <p:cNvSpPr/>
            <p:nvPr/>
          </p:nvSpPr>
          <p:spPr>
            <a:xfrm>
              <a:off x="859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4" name="矩形 1113"/>
            <p:cNvSpPr/>
            <p:nvPr/>
          </p:nvSpPr>
          <p:spPr>
            <a:xfrm>
              <a:off x="715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5" name="矩形 1114"/>
            <p:cNvSpPr/>
            <p:nvPr/>
          </p:nvSpPr>
          <p:spPr>
            <a:xfrm>
              <a:off x="7516265" y="192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6" name="矩形 1115"/>
            <p:cNvSpPr/>
            <p:nvPr/>
          </p:nvSpPr>
          <p:spPr>
            <a:xfrm>
              <a:off x="787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7" name="矩形 1116"/>
            <p:cNvSpPr/>
            <p:nvPr/>
          </p:nvSpPr>
          <p:spPr>
            <a:xfrm>
              <a:off x="823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8" name="矩形 1117"/>
            <p:cNvSpPr/>
            <p:nvPr/>
          </p:nvSpPr>
          <p:spPr>
            <a:xfrm>
              <a:off x="859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19" name="矩形 1118"/>
            <p:cNvSpPr/>
            <p:nvPr/>
          </p:nvSpPr>
          <p:spPr>
            <a:xfrm>
              <a:off x="715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0" name="矩形 1119"/>
            <p:cNvSpPr/>
            <p:nvPr/>
          </p:nvSpPr>
          <p:spPr>
            <a:xfrm>
              <a:off x="751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1" name="矩形 1120"/>
            <p:cNvSpPr/>
            <p:nvPr/>
          </p:nvSpPr>
          <p:spPr>
            <a:xfrm>
              <a:off x="787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2" name="矩形 1121"/>
            <p:cNvSpPr/>
            <p:nvPr/>
          </p:nvSpPr>
          <p:spPr>
            <a:xfrm>
              <a:off x="823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3" name="矩形 1122"/>
            <p:cNvSpPr/>
            <p:nvPr/>
          </p:nvSpPr>
          <p:spPr>
            <a:xfrm>
              <a:off x="859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4" name="矩形 1123"/>
            <p:cNvSpPr/>
            <p:nvPr/>
          </p:nvSpPr>
          <p:spPr>
            <a:xfrm>
              <a:off x="715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5" name="矩形 1124"/>
            <p:cNvSpPr/>
            <p:nvPr/>
          </p:nvSpPr>
          <p:spPr>
            <a:xfrm>
              <a:off x="7516265" y="264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6" name="矩形 1125"/>
            <p:cNvSpPr/>
            <p:nvPr/>
          </p:nvSpPr>
          <p:spPr>
            <a:xfrm>
              <a:off x="787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7" name="矩形 1126"/>
            <p:cNvSpPr/>
            <p:nvPr/>
          </p:nvSpPr>
          <p:spPr>
            <a:xfrm>
              <a:off x="823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8" name="矩形 1127"/>
            <p:cNvSpPr/>
            <p:nvPr/>
          </p:nvSpPr>
          <p:spPr>
            <a:xfrm>
              <a:off x="859626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29" name="矩形 1128"/>
            <p:cNvSpPr/>
            <p:nvPr/>
          </p:nvSpPr>
          <p:spPr>
            <a:xfrm>
              <a:off x="895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0" name="矩形 1129"/>
            <p:cNvSpPr/>
            <p:nvPr/>
          </p:nvSpPr>
          <p:spPr>
            <a:xfrm>
              <a:off x="931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1" name="矩形 1130"/>
            <p:cNvSpPr/>
            <p:nvPr/>
          </p:nvSpPr>
          <p:spPr>
            <a:xfrm>
              <a:off x="895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2" name="矩形 1131"/>
            <p:cNvSpPr/>
            <p:nvPr/>
          </p:nvSpPr>
          <p:spPr>
            <a:xfrm>
              <a:off x="931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3" name="矩形 1132"/>
            <p:cNvSpPr/>
            <p:nvPr/>
          </p:nvSpPr>
          <p:spPr>
            <a:xfrm>
              <a:off x="895626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4" name="矩形 1133"/>
            <p:cNvSpPr/>
            <p:nvPr/>
          </p:nvSpPr>
          <p:spPr>
            <a:xfrm>
              <a:off x="931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5" name="矩形 1134"/>
            <p:cNvSpPr/>
            <p:nvPr/>
          </p:nvSpPr>
          <p:spPr>
            <a:xfrm>
              <a:off x="895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6" name="矩形 1135"/>
            <p:cNvSpPr/>
            <p:nvPr/>
          </p:nvSpPr>
          <p:spPr>
            <a:xfrm>
              <a:off x="931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7" name="矩形 1136"/>
            <p:cNvSpPr/>
            <p:nvPr/>
          </p:nvSpPr>
          <p:spPr>
            <a:xfrm>
              <a:off x="895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8" name="矩形 1137"/>
            <p:cNvSpPr/>
            <p:nvPr/>
          </p:nvSpPr>
          <p:spPr>
            <a:xfrm>
              <a:off x="931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9" name="矩形 1138"/>
            <p:cNvSpPr/>
            <p:nvPr/>
          </p:nvSpPr>
          <p:spPr>
            <a:xfrm>
              <a:off x="715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0" name="矩形 1139"/>
            <p:cNvSpPr/>
            <p:nvPr/>
          </p:nvSpPr>
          <p:spPr>
            <a:xfrm>
              <a:off x="7516265" y="300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1" name="矩形 1140"/>
            <p:cNvSpPr/>
            <p:nvPr/>
          </p:nvSpPr>
          <p:spPr>
            <a:xfrm>
              <a:off x="787626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2" name="矩形 1141"/>
            <p:cNvSpPr/>
            <p:nvPr/>
          </p:nvSpPr>
          <p:spPr>
            <a:xfrm>
              <a:off x="823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3" name="矩形 1142"/>
            <p:cNvSpPr/>
            <p:nvPr/>
          </p:nvSpPr>
          <p:spPr>
            <a:xfrm>
              <a:off x="859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4" name="矩形 1143"/>
            <p:cNvSpPr/>
            <p:nvPr/>
          </p:nvSpPr>
          <p:spPr>
            <a:xfrm>
              <a:off x="715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5" name="矩形 1144"/>
            <p:cNvSpPr/>
            <p:nvPr/>
          </p:nvSpPr>
          <p:spPr>
            <a:xfrm>
              <a:off x="7516265" y="3360333"/>
              <a:ext cx="180000" cy="1800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6" name="矩形 1145"/>
            <p:cNvSpPr/>
            <p:nvPr/>
          </p:nvSpPr>
          <p:spPr>
            <a:xfrm>
              <a:off x="787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7" name="矩形 1146"/>
            <p:cNvSpPr/>
            <p:nvPr/>
          </p:nvSpPr>
          <p:spPr>
            <a:xfrm>
              <a:off x="823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8" name="矩形 1147"/>
            <p:cNvSpPr/>
            <p:nvPr/>
          </p:nvSpPr>
          <p:spPr>
            <a:xfrm>
              <a:off x="859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49" name="矩形 1148"/>
            <p:cNvSpPr/>
            <p:nvPr/>
          </p:nvSpPr>
          <p:spPr>
            <a:xfrm>
              <a:off x="895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0" name="矩形 1149"/>
            <p:cNvSpPr/>
            <p:nvPr/>
          </p:nvSpPr>
          <p:spPr>
            <a:xfrm>
              <a:off x="931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1" name="矩形 1150"/>
            <p:cNvSpPr/>
            <p:nvPr/>
          </p:nvSpPr>
          <p:spPr>
            <a:xfrm>
              <a:off x="895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2" name="矩形 1151"/>
            <p:cNvSpPr/>
            <p:nvPr/>
          </p:nvSpPr>
          <p:spPr>
            <a:xfrm>
              <a:off x="931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3" name="矩形 1152"/>
            <p:cNvSpPr/>
            <p:nvPr/>
          </p:nvSpPr>
          <p:spPr>
            <a:xfrm>
              <a:off x="733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4" name="矩形 1153"/>
            <p:cNvSpPr/>
            <p:nvPr/>
          </p:nvSpPr>
          <p:spPr>
            <a:xfrm>
              <a:off x="7696265" y="12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5" name="矩形 1154"/>
            <p:cNvSpPr/>
            <p:nvPr/>
          </p:nvSpPr>
          <p:spPr>
            <a:xfrm>
              <a:off x="805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6" name="矩形 1155"/>
            <p:cNvSpPr/>
            <p:nvPr/>
          </p:nvSpPr>
          <p:spPr>
            <a:xfrm>
              <a:off x="841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7" name="矩形 1156"/>
            <p:cNvSpPr/>
            <p:nvPr/>
          </p:nvSpPr>
          <p:spPr>
            <a:xfrm>
              <a:off x="877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8" name="矩形 1157"/>
            <p:cNvSpPr/>
            <p:nvPr/>
          </p:nvSpPr>
          <p:spPr>
            <a:xfrm>
              <a:off x="733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9" name="矩形 1158"/>
            <p:cNvSpPr/>
            <p:nvPr/>
          </p:nvSpPr>
          <p:spPr>
            <a:xfrm>
              <a:off x="769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0" name="矩形 1159"/>
            <p:cNvSpPr/>
            <p:nvPr/>
          </p:nvSpPr>
          <p:spPr>
            <a:xfrm>
              <a:off x="805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1" name="矩形 1160"/>
            <p:cNvSpPr/>
            <p:nvPr/>
          </p:nvSpPr>
          <p:spPr>
            <a:xfrm>
              <a:off x="8416265" y="156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2" name="矩形 1161"/>
            <p:cNvSpPr/>
            <p:nvPr/>
          </p:nvSpPr>
          <p:spPr>
            <a:xfrm>
              <a:off x="877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3" name="矩形 1162"/>
            <p:cNvSpPr/>
            <p:nvPr/>
          </p:nvSpPr>
          <p:spPr>
            <a:xfrm>
              <a:off x="733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4" name="矩形 1163"/>
            <p:cNvSpPr/>
            <p:nvPr/>
          </p:nvSpPr>
          <p:spPr>
            <a:xfrm>
              <a:off x="769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5" name="矩形 1164"/>
            <p:cNvSpPr/>
            <p:nvPr/>
          </p:nvSpPr>
          <p:spPr>
            <a:xfrm>
              <a:off x="805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6" name="矩形 1165"/>
            <p:cNvSpPr/>
            <p:nvPr/>
          </p:nvSpPr>
          <p:spPr>
            <a:xfrm>
              <a:off x="841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7" name="矩形 1166"/>
            <p:cNvSpPr/>
            <p:nvPr/>
          </p:nvSpPr>
          <p:spPr>
            <a:xfrm>
              <a:off x="877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8" name="矩形 1167"/>
            <p:cNvSpPr/>
            <p:nvPr/>
          </p:nvSpPr>
          <p:spPr>
            <a:xfrm>
              <a:off x="733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69" name="矩形 1168"/>
            <p:cNvSpPr/>
            <p:nvPr/>
          </p:nvSpPr>
          <p:spPr>
            <a:xfrm>
              <a:off x="769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0" name="矩形 1169"/>
            <p:cNvSpPr/>
            <p:nvPr/>
          </p:nvSpPr>
          <p:spPr>
            <a:xfrm>
              <a:off x="805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1" name="矩形 1170"/>
            <p:cNvSpPr/>
            <p:nvPr/>
          </p:nvSpPr>
          <p:spPr>
            <a:xfrm>
              <a:off x="841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2" name="矩形 1171"/>
            <p:cNvSpPr/>
            <p:nvPr/>
          </p:nvSpPr>
          <p:spPr>
            <a:xfrm>
              <a:off x="877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3" name="矩形 1172"/>
            <p:cNvSpPr/>
            <p:nvPr/>
          </p:nvSpPr>
          <p:spPr>
            <a:xfrm>
              <a:off x="733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4" name="矩形 1173"/>
            <p:cNvSpPr/>
            <p:nvPr/>
          </p:nvSpPr>
          <p:spPr>
            <a:xfrm>
              <a:off x="769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5" name="矩形 1174"/>
            <p:cNvSpPr/>
            <p:nvPr/>
          </p:nvSpPr>
          <p:spPr>
            <a:xfrm>
              <a:off x="805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6" name="矩形 1175"/>
            <p:cNvSpPr/>
            <p:nvPr/>
          </p:nvSpPr>
          <p:spPr>
            <a:xfrm>
              <a:off x="841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7" name="矩形 1176"/>
            <p:cNvSpPr/>
            <p:nvPr/>
          </p:nvSpPr>
          <p:spPr>
            <a:xfrm>
              <a:off x="8776265" y="264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8" name="矩形 1177"/>
            <p:cNvSpPr/>
            <p:nvPr/>
          </p:nvSpPr>
          <p:spPr>
            <a:xfrm>
              <a:off x="913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79" name="矩形 1178"/>
            <p:cNvSpPr/>
            <p:nvPr/>
          </p:nvSpPr>
          <p:spPr>
            <a:xfrm>
              <a:off x="9496265" y="12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0" name="矩形 1179"/>
            <p:cNvSpPr/>
            <p:nvPr/>
          </p:nvSpPr>
          <p:spPr>
            <a:xfrm>
              <a:off x="913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1" name="矩形 1180"/>
            <p:cNvSpPr/>
            <p:nvPr/>
          </p:nvSpPr>
          <p:spPr>
            <a:xfrm>
              <a:off x="9496265" y="15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2" name="矩形 1181"/>
            <p:cNvSpPr/>
            <p:nvPr/>
          </p:nvSpPr>
          <p:spPr>
            <a:xfrm>
              <a:off x="9136265" y="192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3" name="矩形 1182"/>
            <p:cNvSpPr/>
            <p:nvPr/>
          </p:nvSpPr>
          <p:spPr>
            <a:xfrm>
              <a:off x="9496265" y="192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4" name="矩形 1183"/>
            <p:cNvSpPr/>
            <p:nvPr/>
          </p:nvSpPr>
          <p:spPr>
            <a:xfrm>
              <a:off x="913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5" name="矩形 1184"/>
            <p:cNvSpPr/>
            <p:nvPr/>
          </p:nvSpPr>
          <p:spPr>
            <a:xfrm>
              <a:off x="9496265" y="228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6" name="矩形 1185"/>
            <p:cNvSpPr/>
            <p:nvPr/>
          </p:nvSpPr>
          <p:spPr>
            <a:xfrm>
              <a:off x="913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7" name="矩形 1186"/>
            <p:cNvSpPr/>
            <p:nvPr/>
          </p:nvSpPr>
          <p:spPr>
            <a:xfrm>
              <a:off x="9496265" y="264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8" name="矩形 1187"/>
            <p:cNvSpPr/>
            <p:nvPr/>
          </p:nvSpPr>
          <p:spPr>
            <a:xfrm>
              <a:off x="733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89" name="矩形 1188"/>
            <p:cNvSpPr/>
            <p:nvPr/>
          </p:nvSpPr>
          <p:spPr>
            <a:xfrm>
              <a:off x="769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0" name="矩形 1189"/>
            <p:cNvSpPr/>
            <p:nvPr/>
          </p:nvSpPr>
          <p:spPr>
            <a:xfrm>
              <a:off x="8056265" y="3000333"/>
              <a:ext cx="180000" cy="180000"/>
            </a:xfrm>
            <a:prstGeom prst="rect">
              <a:avLst/>
            </a:prstGeom>
            <a:solidFill>
              <a:schemeClr val="tx1">
                <a:lumMod val="75000"/>
                <a:lumOff val="2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1" name="矩形 1190"/>
            <p:cNvSpPr/>
            <p:nvPr/>
          </p:nvSpPr>
          <p:spPr>
            <a:xfrm>
              <a:off x="841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2" name="矩形 1191"/>
            <p:cNvSpPr/>
            <p:nvPr/>
          </p:nvSpPr>
          <p:spPr>
            <a:xfrm>
              <a:off x="877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3" name="矩形 1192"/>
            <p:cNvSpPr/>
            <p:nvPr/>
          </p:nvSpPr>
          <p:spPr>
            <a:xfrm>
              <a:off x="733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4" name="矩形 1193"/>
            <p:cNvSpPr/>
            <p:nvPr/>
          </p:nvSpPr>
          <p:spPr>
            <a:xfrm>
              <a:off x="769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5" name="矩形 1194"/>
            <p:cNvSpPr/>
            <p:nvPr/>
          </p:nvSpPr>
          <p:spPr>
            <a:xfrm>
              <a:off x="805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6" name="矩形 1195"/>
            <p:cNvSpPr/>
            <p:nvPr/>
          </p:nvSpPr>
          <p:spPr>
            <a:xfrm>
              <a:off x="841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7" name="矩形 1196"/>
            <p:cNvSpPr/>
            <p:nvPr/>
          </p:nvSpPr>
          <p:spPr>
            <a:xfrm>
              <a:off x="877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8" name="矩形 1197"/>
            <p:cNvSpPr/>
            <p:nvPr/>
          </p:nvSpPr>
          <p:spPr>
            <a:xfrm>
              <a:off x="913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99" name="矩形 1198"/>
            <p:cNvSpPr/>
            <p:nvPr/>
          </p:nvSpPr>
          <p:spPr>
            <a:xfrm>
              <a:off x="9496265" y="300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200" name="矩形 1199"/>
            <p:cNvSpPr/>
            <p:nvPr/>
          </p:nvSpPr>
          <p:spPr>
            <a:xfrm>
              <a:off x="913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201" name="矩形 1200"/>
            <p:cNvSpPr/>
            <p:nvPr/>
          </p:nvSpPr>
          <p:spPr>
            <a:xfrm>
              <a:off x="9496265" y="3360333"/>
              <a:ext cx="180000" cy="180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202" name="文本框 1201"/>
          <p:cNvSpPr txBox="1"/>
          <p:nvPr/>
        </p:nvSpPr>
        <p:spPr>
          <a:xfrm>
            <a:off x="2037691" y="4763967"/>
            <a:ext cx="2072975" cy="369332"/>
          </a:xfrm>
          <a:prstGeom prst="rect">
            <a:avLst/>
          </a:prstGeom>
          <a:noFill/>
        </p:spPr>
        <p:txBody>
          <a:bodyPr wrap="square" rtlCol="0">
            <a:spAutoFit/>
          </a:bodyPr>
          <a:lstStyle/>
          <a:p>
            <a:pPr algn="ctr"/>
            <a:r>
              <a:rPr lang="en-US" altLang="zh-CN" b="1" dirty="0"/>
              <a:t>A. </a:t>
            </a:r>
            <a:r>
              <a:rPr lang="zh-CN" altLang="en-US" b="1" dirty="0"/>
              <a:t>实心三角箭头</a:t>
            </a:r>
            <a:endParaRPr lang="zh-CN" altLang="en-US" b="1" dirty="0"/>
          </a:p>
        </p:txBody>
      </p:sp>
      <p:sp>
        <p:nvSpPr>
          <p:cNvPr id="1203" name="文本框 1202"/>
          <p:cNvSpPr txBox="1"/>
          <p:nvPr/>
        </p:nvSpPr>
        <p:spPr>
          <a:xfrm>
            <a:off x="5131411" y="4763967"/>
            <a:ext cx="2072975" cy="369332"/>
          </a:xfrm>
          <a:prstGeom prst="rect">
            <a:avLst/>
          </a:prstGeom>
          <a:noFill/>
        </p:spPr>
        <p:txBody>
          <a:bodyPr wrap="square" rtlCol="0">
            <a:spAutoFit/>
          </a:bodyPr>
          <a:lstStyle/>
          <a:p>
            <a:pPr algn="ctr"/>
            <a:r>
              <a:rPr lang="en-US" altLang="zh-CN" b="1" dirty="0"/>
              <a:t>B. </a:t>
            </a:r>
            <a:r>
              <a:rPr lang="zh-CN" altLang="en-US" b="1" dirty="0"/>
              <a:t>空心三角箭头</a:t>
            </a:r>
            <a:endParaRPr lang="zh-CN" altLang="en-US" b="1" dirty="0"/>
          </a:p>
        </p:txBody>
      </p:sp>
      <p:sp>
        <p:nvSpPr>
          <p:cNvPr id="1204" name="文本框 1203"/>
          <p:cNvSpPr txBox="1"/>
          <p:nvPr/>
        </p:nvSpPr>
        <p:spPr>
          <a:xfrm>
            <a:off x="8225131" y="4763967"/>
            <a:ext cx="2072975" cy="369332"/>
          </a:xfrm>
          <a:prstGeom prst="rect">
            <a:avLst/>
          </a:prstGeom>
          <a:noFill/>
        </p:spPr>
        <p:txBody>
          <a:bodyPr wrap="square" rtlCol="0">
            <a:spAutoFit/>
          </a:bodyPr>
          <a:lstStyle/>
          <a:p>
            <a:pPr algn="ctr"/>
            <a:r>
              <a:rPr lang="en-US" altLang="zh-CN" b="1" dirty="0"/>
              <a:t>C. </a:t>
            </a:r>
            <a:r>
              <a:rPr lang="zh-CN" altLang="en-US" b="1" dirty="0"/>
              <a:t>鱼骨箭头</a:t>
            </a:r>
            <a:endParaRPr lang="zh-CN" altLang="en-US"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3941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连接线拼接</a:t>
            </a:r>
            <a:endParaRPr lang="zh-CN" altLang="en-US" b="1" dirty="0">
              <a:solidFill>
                <a:schemeClr val="bg1"/>
              </a:solidFill>
            </a:endParaRPr>
          </a:p>
        </p:txBody>
      </p:sp>
      <p:pic>
        <p:nvPicPr>
          <p:cNvPr id="2" name="图片 1"/>
          <p:cNvPicPr>
            <a:picLocks noChangeAspect="1"/>
          </p:cNvPicPr>
          <p:nvPr/>
        </p:nvPicPr>
        <p:blipFill>
          <a:blip r:embed="rId5"/>
          <a:stretch>
            <a:fillRect/>
          </a:stretch>
        </p:blipFill>
        <p:spPr>
          <a:xfrm>
            <a:off x="5413928" y="1805109"/>
            <a:ext cx="6482981" cy="4400791"/>
          </a:xfrm>
          <a:prstGeom prst="rect">
            <a:avLst/>
          </a:prstGeom>
        </p:spPr>
      </p:pic>
      <p:sp>
        <p:nvSpPr>
          <p:cNvPr id="609" name="文本框 608"/>
          <p:cNvSpPr txBox="1"/>
          <p:nvPr/>
        </p:nvSpPr>
        <p:spPr>
          <a:xfrm>
            <a:off x="1523998" y="1651268"/>
            <a:ext cx="7620001" cy="6432530"/>
          </a:xfrm>
          <a:prstGeom prst="rect">
            <a:avLst/>
          </a:prstGeom>
          <a:noFill/>
          <a:ln>
            <a:noFill/>
          </a:ln>
        </p:spPr>
        <p:txBody>
          <a:bodyPr wrap="square" rtlCol="0">
            <a:spAutoFit/>
          </a:bodyPr>
          <a:lstStyle/>
          <a:p>
            <a:pPr>
              <a:lnSpc>
                <a:spcPct val="150000"/>
              </a:lnSpc>
            </a:pPr>
            <a:r>
              <a:rPr lang="en-US" altLang="zh-CN" sz="2400" b="1" dirty="0"/>
              <a:t>1. </a:t>
            </a:r>
            <a:r>
              <a:rPr lang="zh-CN" altLang="en-US" sz="2400" b="1" dirty="0"/>
              <a:t>定位箭头</a:t>
            </a:r>
            <a:endParaRPr lang="en-US" altLang="zh-CN" sz="2400" b="1" dirty="0"/>
          </a:p>
          <a:p>
            <a:pPr>
              <a:lnSpc>
                <a:spcPct val="150000"/>
              </a:lnSpc>
            </a:pPr>
            <a:r>
              <a:rPr lang="en-US" altLang="zh-CN" sz="2400" b="1" dirty="0"/>
              <a:t>2. </a:t>
            </a:r>
            <a:r>
              <a:rPr lang="zh-CN" altLang="en-US" sz="2400" b="1" dirty="0"/>
              <a:t>拼接箭头与直连线段</a:t>
            </a:r>
            <a:endParaRPr lang="en-US" altLang="zh-CN" sz="2400" b="1" dirty="0"/>
          </a:p>
          <a:p>
            <a:pPr marL="742950" lvl="1" indent="-285750">
              <a:lnSpc>
                <a:spcPct val="150000"/>
              </a:lnSpc>
              <a:buFont typeface="Arial" panose="020B0604020202020204" pitchFamily="34" charset="0"/>
              <a:buChar char="•"/>
            </a:pPr>
            <a:r>
              <a:rPr lang="zh-CN" altLang="en-US" sz="2400" b="1" dirty="0"/>
              <a:t>初始连接线</a:t>
            </a:r>
            <a:endParaRPr lang="en-US" altLang="zh-CN" sz="2400" b="1" dirty="0"/>
          </a:p>
          <a:p>
            <a:pPr>
              <a:lnSpc>
                <a:spcPct val="150000"/>
              </a:lnSpc>
            </a:pPr>
            <a:r>
              <a:rPr lang="en-US" altLang="zh-CN" sz="2400" b="1" dirty="0"/>
              <a:t>3. </a:t>
            </a:r>
            <a:r>
              <a:rPr lang="zh-CN" altLang="en-US" sz="2400" b="1" dirty="0"/>
              <a:t>拼接线段至连接线完整</a:t>
            </a:r>
            <a:endParaRPr lang="en-US" altLang="zh-CN" sz="2400" b="1" dirty="0"/>
          </a:p>
          <a:p>
            <a:pPr marL="742950" lvl="1" indent="-285750">
              <a:lnSpc>
                <a:spcPct val="150000"/>
              </a:lnSpc>
              <a:buFont typeface="Arial" panose="020B0604020202020204" pitchFamily="34" charset="0"/>
              <a:buChar char="•"/>
            </a:pPr>
            <a:r>
              <a:rPr lang="zh-CN" altLang="en-US" sz="2400" b="1" dirty="0"/>
              <a:t>端点相连线段</a:t>
            </a:r>
            <a:endParaRPr lang="en-US" altLang="zh-CN" sz="2400" b="1" dirty="0"/>
          </a:p>
          <a:p>
            <a:pPr marL="742950" lvl="1" indent="-285750">
              <a:lnSpc>
                <a:spcPct val="150000"/>
              </a:lnSpc>
              <a:buFont typeface="Arial" panose="020B0604020202020204" pitchFamily="34" charset="0"/>
              <a:buChar char="•"/>
            </a:pPr>
            <a:r>
              <a:rPr lang="zh-CN" altLang="en-US" sz="2400" b="1" dirty="0"/>
              <a:t>相交线段</a:t>
            </a:r>
            <a:endParaRPr lang="en-US" altLang="zh-CN" sz="2400" b="1" dirty="0"/>
          </a:p>
          <a:p>
            <a:pPr>
              <a:lnSpc>
                <a:spcPct val="150000"/>
              </a:lnSpc>
            </a:pPr>
            <a:r>
              <a:rPr lang="en-US" altLang="zh-CN" sz="2400" b="1" dirty="0"/>
              <a:t>4. </a:t>
            </a:r>
            <a:r>
              <a:rPr lang="zh-CN" altLang="en-US" sz="2400" b="1" dirty="0"/>
              <a:t>未找到起始元素的连接线</a:t>
            </a:r>
            <a:endParaRPr lang="en-US" altLang="zh-CN" sz="2400" b="1" dirty="0"/>
          </a:p>
          <a:p>
            <a:pPr marL="800100" lvl="1" indent="-342900">
              <a:lnSpc>
                <a:spcPct val="150000"/>
              </a:lnSpc>
              <a:buFont typeface="Arial" panose="020B0604020202020204" pitchFamily="34" charset="0"/>
              <a:buChar char="•"/>
            </a:pPr>
            <a:r>
              <a:rPr lang="zh-CN" altLang="en-US" sz="2400" b="1" dirty="0"/>
              <a:t>与完整连接线相交</a:t>
            </a:r>
            <a:endParaRPr lang="en-US" altLang="zh-CN" sz="2400" b="1" dirty="0"/>
          </a:p>
          <a:p>
            <a:pPr>
              <a:lnSpc>
                <a:spcPct val="150000"/>
              </a:lnSpc>
            </a:pP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6735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箭头方向判断</a:t>
            </a:r>
            <a:endParaRPr lang="zh-CN" altLang="en-US" b="1" dirty="0">
              <a:solidFill>
                <a:schemeClr val="bg1"/>
              </a:solidFill>
            </a:endParaRPr>
          </a:p>
        </p:txBody>
      </p:sp>
      <p:sp>
        <p:nvSpPr>
          <p:cNvPr id="609" name="文本框 608"/>
          <p:cNvSpPr txBox="1"/>
          <p:nvPr/>
        </p:nvSpPr>
        <p:spPr>
          <a:xfrm>
            <a:off x="1523998" y="1651268"/>
            <a:ext cx="9969502" cy="1446550"/>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有的时候两个元素靠得过近，短线段在检测时被忽略，就需要我们通过判断箭头方向，来判断这两个元素的连接关系</a:t>
            </a:r>
            <a:endParaRPr lang="en-US" altLang="zh-CN" sz="2400" b="1" dirty="0"/>
          </a:p>
          <a:p>
            <a:pPr marL="285750" indent="-285750">
              <a:buFont typeface="Arial" panose="020B0604020202020204" pitchFamily="34" charset="0"/>
              <a:buChar char="•"/>
            </a:pPr>
            <a:endParaRPr lang="zh-CN" altLang="en-US" sz="1600" b="1" dirty="0"/>
          </a:p>
        </p:txBody>
      </p:sp>
      <p:pic>
        <p:nvPicPr>
          <p:cNvPr id="3" name="图片 2"/>
          <p:cNvPicPr>
            <a:picLocks noChangeAspect="1"/>
          </p:cNvPicPr>
          <p:nvPr/>
        </p:nvPicPr>
        <p:blipFill>
          <a:blip r:embed="rId5"/>
          <a:stretch>
            <a:fillRect/>
          </a:stretch>
        </p:blipFill>
        <p:spPr>
          <a:xfrm>
            <a:off x="2930771" y="2922859"/>
            <a:ext cx="6330457" cy="328304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03</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方法流程与细节</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3"/>
            <a:ext cx="11401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元素分类</a:t>
            </a:r>
            <a:endParaRPr lang="zh-CN" altLang="en-US" b="1" dirty="0">
              <a:solidFill>
                <a:schemeClr val="bg1"/>
              </a:solidFill>
            </a:endParaRPr>
          </a:p>
        </p:txBody>
      </p:sp>
      <p:sp>
        <p:nvSpPr>
          <p:cNvPr id="145" name="文本框 144"/>
          <p:cNvSpPr txBox="1"/>
          <p:nvPr/>
        </p:nvSpPr>
        <p:spPr>
          <a:xfrm>
            <a:off x="1523998" y="1651268"/>
            <a:ext cx="7620001" cy="1446550"/>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使用深度卷积神经网络来进行图像多分类</a:t>
            </a:r>
            <a:endParaRPr lang="en-US" altLang="zh-CN" sz="2400" b="1" dirty="0"/>
          </a:p>
          <a:p>
            <a:pPr marL="742950" lvl="1" indent="-285750">
              <a:lnSpc>
                <a:spcPct val="150000"/>
              </a:lnSpc>
              <a:buFont typeface="Arial" panose="020B0604020202020204" pitchFamily="34" charset="0"/>
              <a:buChar char="•"/>
            </a:pPr>
            <a:r>
              <a:rPr lang="en-US" altLang="zh-CN" sz="2400" dirty="0"/>
              <a:t>VGG16+</a:t>
            </a:r>
            <a:r>
              <a:rPr lang="zh-CN" altLang="en-US" sz="2400" dirty="0"/>
              <a:t>全连接网络</a:t>
            </a:r>
            <a:r>
              <a:rPr lang="en-US" altLang="zh-CN" sz="2400" dirty="0"/>
              <a:t>+SoftMax</a:t>
            </a:r>
            <a:endParaRPr lang="en-US" altLang="zh-CN" sz="2400" dirty="0"/>
          </a:p>
          <a:p>
            <a:pPr marL="285750" indent="-285750">
              <a:buFont typeface="Arial" panose="020B0604020202020204" pitchFamily="34" charset="0"/>
              <a:buChar char="•"/>
            </a:pPr>
            <a:endParaRPr lang="zh-CN" altLang="en-US" sz="1600" b="1" dirty="0"/>
          </a:p>
        </p:txBody>
      </p:sp>
      <p:sp>
        <p:nvSpPr>
          <p:cNvPr id="76" name="矩形 75"/>
          <p:cNvSpPr/>
          <p:nvPr/>
        </p:nvSpPr>
        <p:spPr>
          <a:xfrm>
            <a:off x="972152"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64</a:t>
            </a:r>
            <a:endParaRPr lang="zh-CN" altLang="en-US" b="1" dirty="0" err="1">
              <a:solidFill>
                <a:schemeClr val="tx1"/>
              </a:solidFill>
            </a:endParaRPr>
          </a:p>
        </p:txBody>
      </p:sp>
      <p:sp>
        <p:nvSpPr>
          <p:cNvPr id="77" name="矩形 76"/>
          <p:cNvSpPr/>
          <p:nvPr/>
        </p:nvSpPr>
        <p:spPr>
          <a:xfrm>
            <a:off x="1594587"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64</a:t>
            </a:r>
            <a:endParaRPr lang="zh-CN" altLang="en-US" b="1" dirty="0" err="1">
              <a:solidFill>
                <a:schemeClr val="tx1"/>
              </a:solidFill>
            </a:endParaRPr>
          </a:p>
        </p:txBody>
      </p:sp>
      <p:sp>
        <p:nvSpPr>
          <p:cNvPr id="78" name="矩形 77"/>
          <p:cNvSpPr/>
          <p:nvPr/>
        </p:nvSpPr>
        <p:spPr>
          <a:xfrm>
            <a:off x="2409526"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128</a:t>
            </a:r>
            <a:endParaRPr lang="zh-CN" altLang="en-US" b="1" dirty="0" err="1">
              <a:solidFill>
                <a:schemeClr val="tx1"/>
              </a:solidFill>
            </a:endParaRPr>
          </a:p>
        </p:txBody>
      </p:sp>
      <p:sp>
        <p:nvSpPr>
          <p:cNvPr id="79" name="矩形 78"/>
          <p:cNvSpPr/>
          <p:nvPr/>
        </p:nvSpPr>
        <p:spPr>
          <a:xfrm>
            <a:off x="3031961"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128</a:t>
            </a:r>
            <a:endParaRPr lang="zh-CN" altLang="en-US" b="1" dirty="0" err="1">
              <a:solidFill>
                <a:schemeClr val="tx1"/>
              </a:solidFill>
            </a:endParaRPr>
          </a:p>
        </p:txBody>
      </p:sp>
      <p:sp>
        <p:nvSpPr>
          <p:cNvPr id="80" name="矩形 79"/>
          <p:cNvSpPr/>
          <p:nvPr/>
        </p:nvSpPr>
        <p:spPr>
          <a:xfrm>
            <a:off x="3846900"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256</a:t>
            </a:r>
            <a:endParaRPr lang="zh-CN" altLang="en-US" b="1" dirty="0" err="1">
              <a:solidFill>
                <a:schemeClr val="tx1"/>
              </a:solidFill>
            </a:endParaRPr>
          </a:p>
        </p:txBody>
      </p:sp>
      <p:sp>
        <p:nvSpPr>
          <p:cNvPr id="81" name="矩形 80"/>
          <p:cNvSpPr/>
          <p:nvPr/>
        </p:nvSpPr>
        <p:spPr>
          <a:xfrm>
            <a:off x="4469335"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256</a:t>
            </a:r>
            <a:endParaRPr lang="zh-CN" altLang="en-US" b="1" dirty="0" err="1">
              <a:solidFill>
                <a:schemeClr val="tx1"/>
              </a:solidFill>
            </a:endParaRPr>
          </a:p>
        </p:txBody>
      </p:sp>
      <p:sp>
        <p:nvSpPr>
          <p:cNvPr id="82" name="矩形 81"/>
          <p:cNvSpPr/>
          <p:nvPr/>
        </p:nvSpPr>
        <p:spPr>
          <a:xfrm>
            <a:off x="5091770"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256</a:t>
            </a:r>
            <a:endParaRPr lang="zh-CN" altLang="en-US" b="1" dirty="0" err="1">
              <a:solidFill>
                <a:schemeClr val="tx1"/>
              </a:solidFill>
            </a:endParaRPr>
          </a:p>
        </p:txBody>
      </p:sp>
      <p:sp>
        <p:nvSpPr>
          <p:cNvPr id="83" name="矩形 82"/>
          <p:cNvSpPr/>
          <p:nvPr/>
        </p:nvSpPr>
        <p:spPr>
          <a:xfrm>
            <a:off x="6002961"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512</a:t>
            </a:r>
            <a:endParaRPr lang="zh-CN" altLang="en-US" b="1" dirty="0" err="1">
              <a:solidFill>
                <a:schemeClr val="tx1"/>
              </a:solidFill>
            </a:endParaRPr>
          </a:p>
        </p:txBody>
      </p:sp>
      <p:sp>
        <p:nvSpPr>
          <p:cNvPr id="84" name="矩形 83"/>
          <p:cNvSpPr/>
          <p:nvPr/>
        </p:nvSpPr>
        <p:spPr>
          <a:xfrm>
            <a:off x="6625396"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512</a:t>
            </a:r>
            <a:endParaRPr lang="zh-CN" altLang="en-US" b="1" dirty="0" err="1">
              <a:solidFill>
                <a:schemeClr val="tx1"/>
              </a:solidFill>
            </a:endParaRPr>
          </a:p>
        </p:txBody>
      </p:sp>
      <p:sp>
        <p:nvSpPr>
          <p:cNvPr id="85" name="矩形 84"/>
          <p:cNvSpPr/>
          <p:nvPr/>
        </p:nvSpPr>
        <p:spPr>
          <a:xfrm>
            <a:off x="7263873"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512</a:t>
            </a:r>
            <a:endParaRPr lang="zh-CN" altLang="en-US" b="1" dirty="0" err="1">
              <a:solidFill>
                <a:schemeClr val="tx1"/>
              </a:solidFill>
            </a:endParaRPr>
          </a:p>
        </p:txBody>
      </p:sp>
      <p:sp>
        <p:nvSpPr>
          <p:cNvPr id="86" name="矩形 85"/>
          <p:cNvSpPr/>
          <p:nvPr/>
        </p:nvSpPr>
        <p:spPr>
          <a:xfrm>
            <a:off x="8159022"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512</a:t>
            </a:r>
            <a:endParaRPr lang="zh-CN" altLang="en-US" b="1" dirty="0" err="1">
              <a:solidFill>
                <a:schemeClr val="tx1"/>
              </a:solidFill>
            </a:endParaRPr>
          </a:p>
        </p:txBody>
      </p:sp>
      <p:sp>
        <p:nvSpPr>
          <p:cNvPr id="87" name="矩形 86"/>
          <p:cNvSpPr/>
          <p:nvPr/>
        </p:nvSpPr>
        <p:spPr>
          <a:xfrm>
            <a:off x="8781457"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512</a:t>
            </a:r>
            <a:endParaRPr lang="zh-CN" altLang="en-US" b="1" dirty="0" err="1">
              <a:solidFill>
                <a:schemeClr val="tx1"/>
              </a:solidFill>
            </a:endParaRPr>
          </a:p>
        </p:txBody>
      </p:sp>
      <p:sp>
        <p:nvSpPr>
          <p:cNvPr id="88" name="矩形 87"/>
          <p:cNvSpPr/>
          <p:nvPr/>
        </p:nvSpPr>
        <p:spPr>
          <a:xfrm>
            <a:off x="9403892"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3×3 conv, 512</a:t>
            </a:r>
            <a:endParaRPr lang="zh-CN" altLang="en-US" b="1" dirty="0" err="1">
              <a:solidFill>
                <a:schemeClr val="tx1"/>
              </a:solidFill>
            </a:endParaRPr>
          </a:p>
        </p:txBody>
      </p:sp>
      <p:sp>
        <p:nvSpPr>
          <p:cNvPr id="89" name="矩形 88"/>
          <p:cNvSpPr/>
          <p:nvPr/>
        </p:nvSpPr>
        <p:spPr>
          <a:xfrm>
            <a:off x="10315083"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Fc 4096</a:t>
            </a:r>
            <a:endParaRPr lang="zh-CN" altLang="en-US" b="1" dirty="0" err="1">
              <a:solidFill>
                <a:schemeClr val="tx1"/>
              </a:solidFill>
            </a:endParaRPr>
          </a:p>
        </p:txBody>
      </p:sp>
      <p:sp>
        <p:nvSpPr>
          <p:cNvPr id="90" name="矩形 89"/>
          <p:cNvSpPr/>
          <p:nvPr/>
        </p:nvSpPr>
        <p:spPr>
          <a:xfrm>
            <a:off x="10937518" y="3363532"/>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Fc 4096</a:t>
            </a:r>
            <a:endParaRPr lang="zh-CN" altLang="en-US" b="1" dirty="0" err="1">
              <a:solidFill>
                <a:schemeClr val="tx1"/>
              </a:solidFill>
            </a:endParaRPr>
          </a:p>
        </p:txBody>
      </p:sp>
      <p:sp>
        <p:nvSpPr>
          <p:cNvPr id="91" name="矩形 90"/>
          <p:cNvSpPr/>
          <p:nvPr/>
        </p:nvSpPr>
        <p:spPr>
          <a:xfrm>
            <a:off x="11559952" y="3363531"/>
            <a:ext cx="310718" cy="18432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b="1">
                <a:solidFill>
                  <a:schemeClr val="tx1"/>
                </a:solidFill>
              </a:rPr>
              <a:t>Fc 4096</a:t>
            </a:r>
            <a:endParaRPr lang="zh-CN" altLang="en-US" b="1" dirty="0" err="1">
              <a:solidFill>
                <a:schemeClr val="tx1"/>
              </a:solidFill>
            </a:endParaRPr>
          </a:p>
        </p:txBody>
      </p:sp>
      <p:cxnSp>
        <p:nvCxnSpPr>
          <p:cNvPr id="92" name="直接箭头连接符 91"/>
          <p:cNvCxnSpPr>
            <a:stCxn id="77" idx="3"/>
            <a:endCxn id="78" idx="1"/>
          </p:cNvCxnSpPr>
          <p:nvPr/>
        </p:nvCxnSpPr>
        <p:spPr>
          <a:xfrm>
            <a:off x="1905305" y="4285132"/>
            <a:ext cx="504221"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3" name="直接箭头连接符 92"/>
          <p:cNvCxnSpPr>
            <a:stCxn id="76" idx="3"/>
            <a:endCxn id="77" idx="1"/>
          </p:cNvCxnSpPr>
          <p:nvPr/>
        </p:nvCxnSpPr>
        <p:spPr>
          <a:xfrm>
            <a:off x="1282870" y="4285132"/>
            <a:ext cx="311717"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4" name="直接箭头连接符 93"/>
          <p:cNvCxnSpPr>
            <a:stCxn id="78" idx="3"/>
            <a:endCxn id="79" idx="1"/>
          </p:cNvCxnSpPr>
          <p:nvPr/>
        </p:nvCxnSpPr>
        <p:spPr>
          <a:xfrm>
            <a:off x="2720244" y="4285132"/>
            <a:ext cx="311717"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5" name="直接箭头连接符 94"/>
          <p:cNvCxnSpPr>
            <a:stCxn id="79" idx="3"/>
            <a:endCxn id="80" idx="1"/>
          </p:cNvCxnSpPr>
          <p:nvPr/>
        </p:nvCxnSpPr>
        <p:spPr>
          <a:xfrm>
            <a:off x="3342679" y="4285132"/>
            <a:ext cx="504221"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6" name="直接箭头连接符 95"/>
          <p:cNvCxnSpPr>
            <a:stCxn id="82" idx="3"/>
            <a:endCxn id="83" idx="1"/>
          </p:cNvCxnSpPr>
          <p:nvPr/>
        </p:nvCxnSpPr>
        <p:spPr>
          <a:xfrm>
            <a:off x="5402488" y="4285132"/>
            <a:ext cx="600473"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7" name="直接箭头连接符 96"/>
          <p:cNvCxnSpPr>
            <a:stCxn id="80" idx="3"/>
            <a:endCxn id="81" idx="1"/>
          </p:cNvCxnSpPr>
          <p:nvPr/>
        </p:nvCxnSpPr>
        <p:spPr>
          <a:xfrm>
            <a:off x="4157618" y="4285132"/>
            <a:ext cx="311717"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8" name="直接箭头连接符 97"/>
          <p:cNvCxnSpPr>
            <a:stCxn id="81" idx="3"/>
            <a:endCxn id="82" idx="1"/>
          </p:cNvCxnSpPr>
          <p:nvPr/>
        </p:nvCxnSpPr>
        <p:spPr>
          <a:xfrm>
            <a:off x="4780053" y="4285132"/>
            <a:ext cx="311717"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99" name="直接箭头连接符 98"/>
          <p:cNvCxnSpPr>
            <a:stCxn id="83" idx="3"/>
            <a:endCxn id="84" idx="1"/>
          </p:cNvCxnSpPr>
          <p:nvPr/>
        </p:nvCxnSpPr>
        <p:spPr>
          <a:xfrm>
            <a:off x="6313679" y="4285132"/>
            <a:ext cx="311717"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0" name="直接箭头连接符 99"/>
          <p:cNvCxnSpPr>
            <a:stCxn id="84" idx="3"/>
            <a:endCxn id="85" idx="1"/>
          </p:cNvCxnSpPr>
          <p:nvPr/>
        </p:nvCxnSpPr>
        <p:spPr>
          <a:xfrm>
            <a:off x="6936114" y="4285132"/>
            <a:ext cx="327759"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1" name="直接箭头连接符 100"/>
          <p:cNvCxnSpPr>
            <a:stCxn id="85" idx="3"/>
            <a:endCxn id="86" idx="1"/>
          </p:cNvCxnSpPr>
          <p:nvPr/>
        </p:nvCxnSpPr>
        <p:spPr>
          <a:xfrm>
            <a:off x="7574591" y="4285132"/>
            <a:ext cx="584431"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2" name="直接箭头连接符 101"/>
          <p:cNvCxnSpPr>
            <a:stCxn id="88" idx="3"/>
            <a:endCxn id="89" idx="1"/>
          </p:cNvCxnSpPr>
          <p:nvPr/>
        </p:nvCxnSpPr>
        <p:spPr>
          <a:xfrm>
            <a:off x="9714610" y="4285132"/>
            <a:ext cx="600473"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3" name="直接箭头连接符 102"/>
          <p:cNvCxnSpPr>
            <a:stCxn id="86" idx="3"/>
            <a:endCxn id="87" idx="1"/>
          </p:cNvCxnSpPr>
          <p:nvPr/>
        </p:nvCxnSpPr>
        <p:spPr>
          <a:xfrm>
            <a:off x="8469740" y="4285132"/>
            <a:ext cx="311717"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4" name="直接箭头连接符 103"/>
          <p:cNvCxnSpPr>
            <a:stCxn id="87" idx="3"/>
            <a:endCxn id="88" idx="1"/>
          </p:cNvCxnSpPr>
          <p:nvPr/>
        </p:nvCxnSpPr>
        <p:spPr>
          <a:xfrm>
            <a:off x="9092175" y="4285132"/>
            <a:ext cx="311717"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5" name="直接箭头连接符 104"/>
          <p:cNvCxnSpPr>
            <a:stCxn id="89" idx="3"/>
            <a:endCxn id="90" idx="1"/>
          </p:cNvCxnSpPr>
          <p:nvPr/>
        </p:nvCxnSpPr>
        <p:spPr>
          <a:xfrm>
            <a:off x="10625801" y="4285132"/>
            <a:ext cx="311717"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06" name="直接箭头连接符 105"/>
          <p:cNvCxnSpPr>
            <a:stCxn id="90" idx="3"/>
            <a:endCxn id="91" idx="1"/>
          </p:cNvCxnSpPr>
          <p:nvPr/>
        </p:nvCxnSpPr>
        <p:spPr>
          <a:xfrm flipV="1">
            <a:off x="11248236" y="4285131"/>
            <a:ext cx="311716" cy="1"/>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107" name="文本框 106"/>
          <p:cNvSpPr txBox="1"/>
          <p:nvPr/>
        </p:nvSpPr>
        <p:spPr>
          <a:xfrm>
            <a:off x="2017620" y="3999096"/>
            <a:ext cx="215444" cy="572069"/>
          </a:xfrm>
          <a:prstGeom prst="rect">
            <a:avLst/>
          </a:prstGeom>
          <a:solidFill>
            <a:schemeClr val="bg1"/>
          </a:solidFill>
        </p:spPr>
        <p:txBody>
          <a:bodyPr vert="vert270" wrap="square" lIns="0" tIns="0" rIns="0" bIns="0" rtlCol="0">
            <a:spAutoFit/>
          </a:bodyPr>
          <a:lstStyle/>
          <a:p>
            <a:r>
              <a:rPr lang="en-US" altLang="zh-CN" sz="1400" b="1" dirty="0"/>
              <a:t>Pool/2</a:t>
            </a:r>
            <a:endParaRPr lang="zh-CN" altLang="en-US" sz="1400" b="1" dirty="0"/>
          </a:p>
        </p:txBody>
      </p:sp>
      <p:sp>
        <p:nvSpPr>
          <p:cNvPr id="108" name="文本框 107"/>
          <p:cNvSpPr txBox="1"/>
          <p:nvPr/>
        </p:nvSpPr>
        <p:spPr>
          <a:xfrm>
            <a:off x="5576716" y="3999095"/>
            <a:ext cx="215444" cy="572069"/>
          </a:xfrm>
          <a:prstGeom prst="rect">
            <a:avLst/>
          </a:prstGeom>
          <a:solidFill>
            <a:schemeClr val="bg1"/>
          </a:solidFill>
        </p:spPr>
        <p:txBody>
          <a:bodyPr vert="vert270" wrap="square" lIns="0" tIns="0" rIns="0" bIns="0" rtlCol="0">
            <a:spAutoFit/>
          </a:bodyPr>
          <a:lstStyle/>
          <a:p>
            <a:r>
              <a:rPr lang="en-US" altLang="zh-CN" sz="1400" b="1"/>
              <a:t>Pool/2</a:t>
            </a:r>
            <a:endParaRPr lang="zh-CN" altLang="en-US" sz="1400" b="1"/>
          </a:p>
        </p:txBody>
      </p:sp>
      <p:sp>
        <p:nvSpPr>
          <p:cNvPr id="109" name="文本框 108"/>
          <p:cNvSpPr txBox="1"/>
          <p:nvPr/>
        </p:nvSpPr>
        <p:spPr>
          <a:xfrm>
            <a:off x="3454994" y="3999096"/>
            <a:ext cx="215444" cy="572069"/>
          </a:xfrm>
          <a:prstGeom prst="rect">
            <a:avLst/>
          </a:prstGeom>
          <a:solidFill>
            <a:schemeClr val="bg1"/>
          </a:solidFill>
        </p:spPr>
        <p:txBody>
          <a:bodyPr vert="vert270" wrap="square" lIns="0" tIns="0" rIns="0" bIns="0" rtlCol="0">
            <a:spAutoFit/>
          </a:bodyPr>
          <a:lstStyle/>
          <a:p>
            <a:r>
              <a:rPr lang="en-US" altLang="zh-CN" sz="1400" b="1" dirty="0"/>
              <a:t>Pool/2</a:t>
            </a:r>
            <a:endParaRPr lang="zh-CN" altLang="en-US" sz="1400" b="1" dirty="0"/>
          </a:p>
        </p:txBody>
      </p:sp>
      <p:sp>
        <p:nvSpPr>
          <p:cNvPr id="110" name="文本框 109"/>
          <p:cNvSpPr txBox="1"/>
          <p:nvPr/>
        </p:nvSpPr>
        <p:spPr>
          <a:xfrm>
            <a:off x="7739583" y="3999095"/>
            <a:ext cx="215444" cy="572069"/>
          </a:xfrm>
          <a:prstGeom prst="rect">
            <a:avLst/>
          </a:prstGeom>
          <a:solidFill>
            <a:schemeClr val="bg1"/>
          </a:solidFill>
        </p:spPr>
        <p:txBody>
          <a:bodyPr vert="vert270" wrap="square" lIns="0" tIns="0" rIns="0" bIns="0" rtlCol="0">
            <a:spAutoFit/>
          </a:bodyPr>
          <a:lstStyle/>
          <a:p>
            <a:r>
              <a:rPr lang="en-US" altLang="zh-CN" sz="1400" b="1"/>
              <a:t>Pool/2</a:t>
            </a:r>
            <a:endParaRPr lang="zh-CN" altLang="en-US" sz="1400" b="1"/>
          </a:p>
        </p:txBody>
      </p:sp>
      <p:sp>
        <p:nvSpPr>
          <p:cNvPr id="111" name="文本框 110"/>
          <p:cNvSpPr txBox="1"/>
          <p:nvPr/>
        </p:nvSpPr>
        <p:spPr>
          <a:xfrm>
            <a:off x="9880600" y="3999094"/>
            <a:ext cx="215444" cy="572069"/>
          </a:xfrm>
          <a:prstGeom prst="rect">
            <a:avLst/>
          </a:prstGeom>
          <a:solidFill>
            <a:schemeClr val="bg1"/>
          </a:solidFill>
        </p:spPr>
        <p:txBody>
          <a:bodyPr vert="vert270" wrap="square" lIns="0" tIns="0" rIns="0" bIns="0" rtlCol="0">
            <a:spAutoFit/>
          </a:bodyPr>
          <a:lstStyle/>
          <a:p>
            <a:r>
              <a:rPr lang="en-US" altLang="zh-CN" sz="1400" b="1"/>
              <a:t>Pool/2</a:t>
            </a:r>
            <a:endParaRPr lang="zh-CN" altLang="en-US" sz="14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35144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数据集构建</a:t>
            </a:r>
            <a:endParaRPr lang="zh-CN" altLang="en-US" b="1" dirty="0">
              <a:solidFill>
                <a:schemeClr val="bg1"/>
              </a:solidFill>
            </a:endParaRPr>
          </a:p>
        </p:txBody>
      </p:sp>
      <p:sp>
        <p:nvSpPr>
          <p:cNvPr id="16" name="文本框 15"/>
          <p:cNvSpPr txBox="1"/>
          <p:nvPr/>
        </p:nvSpPr>
        <p:spPr>
          <a:xfrm>
            <a:off x="1523998" y="1651268"/>
            <a:ext cx="9341226" cy="4216539"/>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当前数据集的不足</a:t>
            </a:r>
            <a:endParaRPr lang="en-US" altLang="zh-CN" sz="2400" b="1" dirty="0"/>
          </a:p>
          <a:p>
            <a:pPr marL="742950" lvl="1" indent="-285750">
              <a:lnSpc>
                <a:spcPct val="150000"/>
              </a:lnSpc>
              <a:buFont typeface="Arial" panose="020B0604020202020204" pitchFamily="34" charset="0"/>
              <a:buChar char="•"/>
            </a:pPr>
            <a:r>
              <a:rPr lang="zh-CN" altLang="en-US" sz="2400" dirty="0"/>
              <a:t>我们需要模型图片和对应定义文件对</a:t>
            </a:r>
            <a:endParaRPr lang="en-US" altLang="zh-CN" sz="2400" dirty="0"/>
          </a:p>
          <a:p>
            <a:pPr marL="742950" lvl="1" indent="-285750">
              <a:lnSpc>
                <a:spcPct val="150000"/>
              </a:lnSpc>
              <a:buFont typeface="Arial" panose="020B0604020202020204" pitchFamily="34" charset="0"/>
              <a:buChar char="•"/>
            </a:pPr>
            <a:r>
              <a:rPr lang="zh-CN" altLang="en-US" sz="2400" dirty="0"/>
              <a:t>已有数据集包含的模型数量少</a:t>
            </a:r>
            <a:endParaRPr lang="en-US" altLang="zh-CN" sz="2400" dirty="0"/>
          </a:p>
          <a:p>
            <a:pPr marL="742950" lvl="1" indent="-285750">
              <a:lnSpc>
                <a:spcPct val="150000"/>
              </a:lnSpc>
              <a:buFont typeface="Arial" panose="020B0604020202020204" pitchFamily="34" charset="0"/>
              <a:buChar char="•"/>
            </a:pPr>
            <a:r>
              <a:rPr lang="zh-CN" altLang="en-US" sz="2400" dirty="0"/>
              <a:t>需要人工进行标注</a:t>
            </a:r>
            <a:endParaRPr lang="en-US" altLang="zh-CN" sz="2400" dirty="0"/>
          </a:p>
          <a:p>
            <a:pPr marL="285750" indent="-285750">
              <a:lnSpc>
                <a:spcPct val="150000"/>
              </a:lnSpc>
              <a:buFont typeface="Arial" panose="020B0604020202020204" pitchFamily="34" charset="0"/>
              <a:buChar char="•"/>
            </a:pPr>
            <a:r>
              <a:rPr lang="zh-CN" altLang="en-US" sz="2400" b="1" dirty="0"/>
              <a:t>构建数据集</a:t>
            </a:r>
            <a:endParaRPr lang="en-US" altLang="zh-CN" sz="2400" b="1" dirty="0"/>
          </a:p>
          <a:p>
            <a:pPr marL="742950" lvl="1" indent="-285750">
              <a:lnSpc>
                <a:spcPct val="150000"/>
              </a:lnSpc>
              <a:buFont typeface="Arial" panose="020B0604020202020204" pitchFamily="34" charset="0"/>
              <a:buChar char="•"/>
            </a:pPr>
            <a:r>
              <a:rPr lang="zh-CN" altLang="en-US" sz="2400" dirty="0"/>
              <a:t>从</a:t>
            </a:r>
            <a:r>
              <a:rPr lang="en-US" altLang="zh-CN" sz="2400" dirty="0" err="1"/>
              <a:t>GenMyModel</a:t>
            </a:r>
            <a:r>
              <a:rPr lang="zh-CN" altLang="en-US" sz="2400" dirty="0"/>
              <a:t>上爬取</a:t>
            </a:r>
            <a:r>
              <a:rPr lang="en-US" altLang="zh-CN" sz="2400" dirty="0"/>
              <a:t>BPMN</a:t>
            </a:r>
            <a:r>
              <a:rPr lang="zh-CN" altLang="en-US" sz="2400" dirty="0"/>
              <a:t>，流程图，</a:t>
            </a:r>
            <a:r>
              <a:rPr lang="en-US" altLang="zh-CN" sz="2400" dirty="0"/>
              <a:t>UML</a:t>
            </a:r>
            <a:r>
              <a:rPr lang="zh-CN" altLang="en-US" sz="2400" dirty="0"/>
              <a:t>等多种模型数据</a:t>
            </a:r>
            <a:endParaRPr lang="en-US" altLang="zh-CN" sz="2400" dirty="0"/>
          </a:p>
          <a:p>
            <a:pPr marL="742950" lvl="1" indent="-285750">
              <a:lnSpc>
                <a:spcPct val="150000"/>
              </a:lnSpc>
              <a:buFont typeface="Arial" panose="020B0604020202020204" pitchFamily="34" charset="0"/>
              <a:buChar char="•"/>
            </a:pPr>
            <a:r>
              <a:rPr lang="zh-CN" altLang="en-US" sz="2400" dirty="0"/>
              <a:t>包含模型图片，定义文件及</a:t>
            </a:r>
            <a:r>
              <a:rPr lang="en-US" altLang="zh-CN" sz="2400" dirty="0" err="1"/>
              <a:t>svg</a:t>
            </a:r>
            <a:r>
              <a:rPr lang="zh-CN" altLang="en-US" sz="2400" dirty="0"/>
              <a:t>矢量图</a:t>
            </a:r>
            <a:endParaRPr lang="en-US" altLang="zh-CN" sz="2400"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586424"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实验对象选择</a:t>
            </a:r>
            <a:endParaRPr lang="zh-CN" altLang="en-US" b="1" dirty="0">
              <a:solidFill>
                <a:schemeClr val="bg1"/>
              </a:solidFill>
            </a:endParaRPr>
          </a:p>
        </p:txBody>
      </p:sp>
      <p:sp>
        <p:nvSpPr>
          <p:cNvPr id="16" name="文本框 15"/>
          <p:cNvSpPr txBox="1"/>
          <p:nvPr/>
        </p:nvSpPr>
        <p:spPr>
          <a:xfrm>
            <a:off x="1523998" y="1651268"/>
            <a:ext cx="9212134" cy="3662541"/>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选择</a:t>
            </a:r>
            <a:r>
              <a:rPr lang="en-US" altLang="zh-CN" sz="2400" b="1" dirty="0"/>
              <a:t>BPMN</a:t>
            </a:r>
            <a:r>
              <a:rPr lang="zh-CN" altLang="en-US" sz="2400" b="1" dirty="0"/>
              <a:t>模型图为主要实验对象</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zh-CN" altLang="en-US" sz="2400" b="1" dirty="0"/>
              <a:t>图形元素种类更多，图形元素更复杂</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en-US" altLang="zh-CN" sz="2400" b="1" dirty="0"/>
              <a:t>BPMN</a:t>
            </a:r>
            <a:r>
              <a:rPr lang="zh-CN" altLang="en-US" sz="2400" b="1" dirty="0"/>
              <a:t>模型定义文件中包含元素大小和位置，易于准确分析评价识别效果</a:t>
            </a: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2016431" cy="369332"/>
          </a:xfrm>
          <a:prstGeom prst="rect">
            <a:avLst/>
          </a:prstGeom>
          <a:solidFill>
            <a:srgbClr val="6E0F6D"/>
          </a:solidFill>
          <a:ln w="19050">
            <a:solidFill>
              <a:srgbClr val="6E0F6D"/>
            </a:solidFill>
          </a:ln>
        </p:spPr>
        <p:txBody>
          <a:bodyPr wrap="square" rtlCol="0">
            <a:spAutoFit/>
          </a:bodyPr>
          <a:lstStyle/>
          <a:p>
            <a:r>
              <a:rPr lang="en-US" altLang="zh-CN" b="1" dirty="0">
                <a:solidFill>
                  <a:schemeClr val="bg1"/>
                </a:solidFill>
              </a:rPr>
              <a:t>BPMN</a:t>
            </a:r>
            <a:r>
              <a:rPr lang="zh-CN" altLang="en-US" b="1" dirty="0">
                <a:solidFill>
                  <a:schemeClr val="bg1"/>
                </a:solidFill>
              </a:rPr>
              <a:t>数据集分析</a:t>
            </a:r>
            <a:endParaRPr lang="zh-CN" altLang="en-US" b="1" dirty="0">
              <a:solidFill>
                <a:schemeClr val="bg1"/>
              </a:solidFill>
            </a:endParaRPr>
          </a:p>
        </p:txBody>
      </p:sp>
      <p:pic>
        <p:nvPicPr>
          <p:cNvPr id="3" name="图片 2"/>
          <p:cNvPicPr>
            <a:picLocks noChangeAspect="1"/>
          </p:cNvPicPr>
          <p:nvPr/>
        </p:nvPicPr>
        <p:blipFill>
          <a:blip r:embed="rId5"/>
          <a:stretch>
            <a:fillRect/>
          </a:stretch>
        </p:blipFill>
        <p:spPr>
          <a:xfrm>
            <a:off x="2111376" y="1813661"/>
            <a:ext cx="7969246" cy="433975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2016431" cy="369332"/>
          </a:xfrm>
          <a:prstGeom prst="rect">
            <a:avLst/>
          </a:prstGeom>
          <a:solidFill>
            <a:srgbClr val="6E0F6D"/>
          </a:solidFill>
          <a:ln w="19050">
            <a:solidFill>
              <a:srgbClr val="6E0F6D"/>
            </a:solidFill>
          </a:ln>
        </p:spPr>
        <p:txBody>
          <a:bodyPr wrap="square" rtlCol="0">
            <a:spAutoFit/>
          </a:bodyPr>
          <a:lstStyle/>
          <a:p>
            <a:r>
              <a:rPr lang="en-US" altLang="zh-CN" b="1" dirty="0">
                <a:solidFill>
                  <a:schemeClr val="bg1"/>
                </a:solidFill>
              </a:rPr>
              <a:t>BPMN</a:t>
            </a:r>
            <a:r>
              <a:rPr lang="zh-CN" altLang="en-US" b="1" dirty="0">
                <a:solidFill>
                  <a:schemeClr val="bg1"/>
                </a:solidFill>
              </a:rPr>
              <a:t>数据集分析</a:t>
            </a:r>
            <a:endParaRPr lang="zh-CN" altLang="en-US" b="1" dirty="0">
              <a:solidFill>
                <a:schemeClr val="bg1"/>
              </a:solidFill>
            </a:endParaRPr>
          </a:p>
        </p:txBody>
      </p:sp>
      <p:pic>
        <p:nvPicPr>
          <p:cNvPr id="2" name="图片 1"/>
          <p:cNvPicPr>
            <a:picLocks noChangeAspect="1"/>
          </p:cNvPicPr>
          <p:nvPr/>
        </p:nvPicPr>
        <p:blipFill>
          <a:blip r:embed="rId5"/>
          <a:stretch>
            <a:fillRect/>
          </a:stretch>
        </p:blipFill>
        <p:spPr>
          <a:xfrm>
            <a:off x="972151" y="1795622"/>
            <a:ext cx="10542134" cy="350027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2016431" cy="369332"/>
          </a:xfrm>
          <a:prstGeom prst="rect">
            <a:avLst/>
          </a:prstGeom>
          <a:solidFill>
            <a:srgbClr val="6E0F6D"/>
          </a:solidFill>
          <a:ln w="19050">
            <a:solidFill>
              <a:srgbClr val="6E0F6D"/>
            </a:solidFill>
          </a:ln>
        </p:spPr>
        <p:txBody>
          <a:bodyPr wrap="square" rtlCol="0">
            <a:spAutoFit/>
          </a:bodyPr>
          <a:lstStyle/>
          <a:p>
            <a:r>
              <a:rPr lang="en-US" altLang="zh-CN" b="1" dirty="0">
                <a:solidFill>
                  <a:schemeClr val="bg1"/>
                </a:solidFill>
              </a:rPr>
              <a:t>BPMN</a:t>
            </a:r>
            <a:r>
              <a:rPr lang="zh-CN" altLang="en-US" b="1" dirty="0">
                <a:solidFill>
                  <a:schemeClr val="bg1"/>
                </a:solidFill>
              </a:rPr>
              <a:t>数据集分析</a:t>
            </a:r>
            <a:endParaRPr lang="zh-CN" altLang="en-US" b="1" dirty="0">
              <a:solidFill>
                <a:schemeClr val="bg1"/>
              </a:solidFill>
            </a:endParaRPr>
          </a:p>
        </p:txBody>
      </p:sp>
      <p:pic>
        <p:nvPicPr>
          <p:cNvPr id="3" name="图片 2"/>
          <p:cNvPicPr>
            <a:picLocks noChangeAspect="1"/>
          </p:cNvPicPr>
          <p:nvPr/>
        </p:nvPicPr>
        <p:blipFill>
          <a:blip r:embed="rId5"/>
          <a:stretch>
            <a:fillRect/>
          </a:stretch>
        </p:blipFill>
        <p:spPr>
          <a:xfrm>
            <a:off x="2295365" y="1648561"/>
            <a:ext cx="7386107" cy="418249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58279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分类方法对比</a:t>
            </a:r>
            <a:endParaRPr lang="zh-CN" altLang="en-US" b="1" dirty="0">
              <a:solidFill>
                <a:schemeClr val="bg1"/>
              </a:solidFill>
            </a:endParaRPr>
          </a:p>
        </p:txBody>
      </p:sp>
      <p:sp>
        <p:nvSpPr>
          <p:cNvPr id="16" name="文本框 15"/>
          <p:cNvSpPr txBox="1"/>
          <p:nvPr/>
        </p:nvSpPr>
        <p:spPr>
          <a:xfrm>
            <a:off x="1523997" y="1651268"/>
            <a:ext cx="10281785" cy="3360022"/>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我们对比了基于</a:t>
            </a:r>
            <a:r>
              <a:rPr lang="en-US" altLang="zh-CN" sz="2400" b="1" dirty="0"/>
              <a:t>CNN</a:t>
            </a:r>
            <a:r>
              <a:rPr lang="zh-CN" altLang="en-US" sz="2400" b="1" dirty="0"/>
              <a:t>的</a:t>
            </a:r>
            <a:r>
              <a:rPr lang="en-US" altLang="zh-CN" sz="2400" b="1" dirty="0"/>
              <a:t>VGG16</a:t>
            </a:r>
            <a:r>
              <a:rPr lang="zh-CN" altLang="en-US" sz="2400" b="1" dirty="0"/>
              <a:t>深度学习方法和使用图形轮廓特征的</a:t>
            </a:r>
            <a:r>
              <a:rPr lang="en-US" altLang="zh-CN" sz="2400" b="1" dirty="0" err="1"/>
              <a:t>BoCF</a:t>
            </a:r>
            <a:r>
              <a:rPr lang="zh-CN" altLang="en-US" sz="2400" b="1" dirty="0"/>
              <a:t>人工特征方法</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zh-CN" altLang="en-US" sz="2400" b="1" dirty="0"/>
              <a:t>还对比了两种方法在黑白图片和彩色图片上的表现差异</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zh-CN" altLang="en-US" sz="2400" b="1" dirty="0"/>
              <a:t>使用抽样和数据增强来应对数据不均衡的问题</a:t>
            </a:r>
            <a:endParaRPr lang="en-US" altLang="zh-CN" sz="24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38452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分类方法对比</a:t>
            </a:r>
            <a:r>
              <a:rPr lang="en-US" altLang="zh-CN" b="1" dirty="0">
                <a:solidFill>
                  <a:schemeClr val="bg1"/>
                </a:solidFill>
              </a:rPr>
              <a:t>—</a:t>
            </a:r>
            <a:r>
              <a:rPr lang="zh-CN" altLang="en-US" b="1" dirty="0">
                <a:solidFill>
                  <a:schemeClr val="bg1"/>
                </a:solidFill>
              </a:rPr>
              <a:t>各类别识别效果对比</a:t>
            </a:r>
            <a:endParaRPr lang="zh-CN" altLang="en-US" b="1" dirty="0">
              <a:solidFill>
                <a:schemeClr val="bg1"/>
              </a:solidFill>
            </a:endParaRPr>
          </a:p>
        </p:txBody>
      </p:sp>
      <p:pic>
        <p:nvPicPr>
          <p:cNvPr id="2" name="图片 1"/>
          <p:cNvPicPr>
            <a:picLocks noChangeAspect="1"/>
          </p:cNvPicPr>
          <p:nvPr/>
        </p:nvPicPr>
        <p:blipFill>
          <a:blip r:embed="rId5"/>
          <a:stretch>
            <a:fillRect/>
          </a:stretch>
        </p:blipFill>
        <p:spPr>
          <a:xfrm>
            <a:off x="5173670" y="1706055"/>
            <a:ext cx="6314163" cy="4827093"/>
          </a:xfrm>
          <a:prstGeom prst="rect">
            <a:avLst/>
          </a:prstGeom>
        </p:spPr>
      </p:pic>
      <p:sp>
        <p:nvSpPr>
          <p:cNvPr id="16" name="文本框 15"/>
          <p:cNvSpPr txBox="1"/>
          <p:nvPr/>
        </p:nvSpPr>
        <p:spPr>
          <a:xfrm>
            <a:off x="1523997" y="1651268"/>
            <a:ext cx="10281785" cy="3914020"/>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en-US" altLang="zh-CN" sz="2400" b="1" dirty="0"/>
              <a:t>VGG16</a:t>
            </a:r>
            <a:endParaRPr lang="en-US" altLang="zh-CN" sz="2400" b="1" dirty="0"/>
          </a:p>
          <a:p>
            <a:pPr marL="742950" lvl="1" indent="-285750">
              <a:lnSpc>
                <a:spcPct val="150000"/>
              </a:lnSpc>
              <a:buFont typeface="Arial" panose="020B0604020202020204" pitchFamily="34" charset="0"/>
              <a:buChar char="•"/>
            </a:pPr>
            <a:r>
              <a:rPr lang="zh-CN" altLang="en-US" sz="2400" dirty="0"/>
              <a:t>黑白 </a:t>
            </a:r>
            <a:r>
              <a:rPr lang="en-US" altLang="zh-CN" sz="2400" dirty="0"/>
              <a:t>97.48%</a:t>
            </a:r>
            <a:endParaRPr lang="en-US" altLang="zh-CN" sz="2400" dirty="0"/>
          </a:p>
          <a:p>
            <a:pPr marL="742950" lvl="1" indent="-285750">
              <a:lnSpc>
                <a:spcPct val="150000"/>
              </a:lnSpc>
              <a:buFont typeface="Arial" panose="020B0604020202020204" pitchFamily="34" charset="0"/>
              <a:buChar char="•"/>
            </a:pPr>
            <a:r>
              <a:rPr lang="zh-CN" altLang="en-US" sz="2400" dirty="0"/>
              <a:t>彩色 </a:t>
            </a:r>
            <a:r>
              <a:rPr lang="en-US" altLang="zh-CN" sz="2400" dirty="0"/>
              <a:t>95.33%</a:t>
            </a:r>
            <a:endParaRPr lang="en-US" altLang="zh-CN" sz="2400"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en-US" altLang="zh-CN" sz="2400" b="1" dirty="0" err="1"/>
              <a:t>BoCF</a:t>
            </a:r>
            <a:endParaRPr lang="en-US" altLang="zh-CN" sz="2400" b="1" dirty="0"/>
          </a:p>
          <a:p>
            <a:pPr marL="742950" lvl="1" indent="-285750">
              <a:lnSpc>
                <a:spcPct val="150000"/>
              </a:lnSpc>
              <a:buFont typeface="Arial" panose="020B0604020202020204" pitchFamily="34" charset="0"/>
              <a:buChar char="•"/>
            </a:pPr>
            <a:r>
              <a:rPr lang="zh-CN" altLang="en-US" sz="2400" dirty="0"/>
              <a:t>黑色</a:t>
            </a:r>
            <a:r>
              <a:rPr lang="en-US" altLang="zh-CN" sz="2400" dirty="0"/>
              <a:t>86.5%</a:t>
            </a:r>
            <a:endParaRPr lang="en-US" altLang="zh-CN" sz="2400" dirty="0"/>
          </a:p>
          <a:p>
            <a:pPr marL="742950" lvl="1" indent="-285750">
              <a:lnSpc>
                <a:spcPct val="150000"/>
              </a:lnSpc>
              <a:buFont typeface="Arial" panose="020B0604020202020204" pitchFamily="34" charset="0"/>
              <a:buChar char="•"/>
            </a:pPr>
            <a:r>
              <a:rPr lang="zh-CN" altLang="en-US" sz="2400" dirty="0"/>
              <a:t>彩色</a:t>
            </a:r>
            <a:r>
              <a:rPr lang="en-US" altLang="zh-CN" sz="2400" dirty="0"/>
              <a:t>58.78%</a:t>
            </a:r>
            <a:endParaRPr lang="en-US" altLang="zh-CN"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274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元素检测</a:t>
            </a:r>
            <a:endParaRPr lang="zh-CN" altLang="en-US" b="1" dirty="0">
              <a:solidFill>
                <a:schemeClr val="bg1"/>
              </a:solidFill>
            </a:endParaRPr>
          </a:p>
        </p:txBody>
      </p:sp>
      <p:sp>
        <p:nvSpPr>
          <p:cNvPr id="19" name="文本框 18"/>
          <p:cNvSpPr txBox="1"/>
          <p:nvPr/>
        </p:nvSpPr>
        <p:spPr>
          <a:xfrm>
            <a:off x="1523997" y="1651268"/>
            <a:ext cx="8997621" cy="3108543"/>
          </a:xfrm>
          <a:prstGeom prst="rect">
            <a:avLst/>
          </a:prstGeom>
          <a:noFill/>
          <a:ln>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t>使用轮廓检测的方法来对元素定位是否足够精确？</a:t>
            </a:r>
            <a:endParaRPr lang="en-US" altLang="zh-CN" sz="2400" b="1" dirty="0"/>
          </a:p>
          <a:p>
            <a:pPr marL="342900" indent="-342900">
              <a:lnSpc>
                <a:spcPct val="150000"/>
              </a:lnSpc>
              <a:buFont typeface="Arial" panose="020B0604020202020204" pitchFamily="34" charset="0"/>
              <a:buChar char="•"/>
            </a:pPr>
            <a:endParaRPr lang="en-US" altLang="zh-CN" sz="2400" b="1" dirty="0"/>
          </a:p>
          <a:p>
            <a:pPr marL="342900" indent="-342900">
              <a:lnSpc>
                <a:spcPct val="150000"/>
              </a:lnSpc>
              <a:buFont typeface="Arial" panose="020B0604020202020204" pitchFamily="34" charset="0"/>
              <a:buChar char="•"/>
            </a:pPr>
            <a:r>
              <a:rPr lang="zh-CN" altLang="en-US" sz="2400" b="1" dirty="0"/>
              <a:t>我们比较了基于轮廓检测的方法</a:t>
            </a:r>
            <a:r>
              <a:rPr lang="en-US" altLang="zh-CN" sz="2400" b="1" dirty="0"/>
              <a:t>(TMPR)</a:t>
            </a:r>
            <a:r>
              <a:rPr lang="zh-CN" altLang="en-US" sz="2400" b="1" dirty="0"/>
              <a:t>与目标检测系统</a:t>
            </a:r>
            <a:r>
              <a:rPr lang="en-US" altLang="zh-CN" sz="2400" b="1" dirty="0"/>
              <a:t>SSD</a:t>
            </a:r>
            <a:r>
              <a:rPr lang="zh-CN" altLang="en-US" sz="2400" b="1" dirty="0"/>
              <a:t>在图形元素定位与分类上的效果</a:t>
            </a:r>
            <a:endParaRPr lang="en-US" altLang="zh-CN" sz="2400" b="1" dirty="0"/>
          </a:p>
          <a:p>
            <a:pPr>
              <a:lnSpc>
                <a:spcPct val="150000"/>
              </a:lnSpc>
            </a:pP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25117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元素检测</a:t>
            </a:r>
            <a:r>
              <a:rPr lang="en-US" altLang="zh-CN" b="1" dirty="0">
                <a:solidFill>
                  <a:schemeClr val="bg1"/>
                </a:solidFill>
              </a:rPr>
              <a:t>—</a:t>
            </a:r>
            <a:r>
              <a:rPr lang="zh-CN" altLang="en-US" b="1" dirty="0">
                <a:solidFill>
                  <a:schemeClr val="bg1"/>
                </a:solidFill>
              </a:rPr>
              <a:t>评估指标</a:t>
            </a:r>
            <a:endParaRPr lang="zh-CN" altLang="en-US" b="1" dirty="0">
              <a:solidFill>
                <a:schemeClr val="bg1"/>
              </a:solidFill>
            </a:endParaRPr>
          </a:p>
        </p:txBody>
      </p:sp>
      <p:sp>
        <p:nvSpPr>
          <p:cNvPr id="16" name="文本框 15"/>
          <p:cNvSpPr txBox="1"/>
          <p:nvPr/>
        </p:nvSpPr>
        <p:spPr>
          <a:xfrm>
            <a:off x="1523997" y="1651268"/>
            <a:ext cx="9276681" cy="5878532"/>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定位的召回率（</a:t>
            </a:r>
            <a:r>
              <a:rPr lang="en-US" altLang="zh-CN" sz="2400" b="1" dirty="0"/>
              <a:t>LR)</a:t>
            </a:r>
            <a:endParaRPr lang="en-US" altLang="zh-CN" sz="2400" b="1" dirty="0"/>
          </a:p>
          <a:p>
            <a:pPr marL="742950" lvl="1" indent="-285750">
              <a:lnSpc>
                <a:spcPct val="150000"/>
              </a:lnSpc>
              <a:buFont typeface="Arial" panose="020B0604020202020204" pitchFamily="34" charset="0"/>
              <a:buChar char="•"/>
            </a:pPr>
            <a:r>
              <a:rPr lang="zh-CN" altLang="en-US" sz="2400" dirty="0"/>
              <a:t>原始模型图片的图形标记中被识别出来的比例</a:t>
            </a:r>
            <a:endParaRPr lang="en-US" altLang="zh-CN" sz="2400" dirty="0"/>
          </a:p>
          <a:p>
            <a:pPr marL="285750" indent="-285750">
              <a:lnSpc>
                <a:spcPct val="150000"/>
              </a:lnSpc>
              <a:buFont typeface="Arial" panose="020B0604020202020204" pitchFamily="34" charset="0"/>
              <a:buChar char="•"/>
            </a:pPr>
            <a:r>
              <a:rPr lang="zh-CN" altLang="en-US" sz="2400" b="1" dirty="0"/>
              <a:t>定位的准确率（</a:t>
            </a:r>
            <a:r>
              <a:rPr lang="en-US" altLang="zh-CN" sz="2400" b="1" dirty="0"/>
              <a:t>LA)</a:t>
            </a:r>
            <a:endParaRPr lang="en-US" altLang="zh-CN" sz="2400" b="1" dirty="0"/>
          </a:p>
          <a:p>
            <a:pPr marL="742950" lvl="1" indent="-285750">
              <a:lnSpc>
                <a:spcPct val="150000"/>
              </a:lnSpc>
              <a:buFont typeface="Arial" panose="020B0604020202020204" pitchFamily="34" charset="0"/>
              <a:buChar char="•"/>
            </a:pPr>
            <a:r>
              <a:rPr lang="zh-CN" altLang="en-US" sz="2400" dirty="0"/>
              <a:t>定位到的图形标记中真正有效的标记比例</a:t>
            </a:r>
            <a:endParaRPr lang="en-US" altLang="zh-CN" sz="2400" dirty="0"/>
          </a:p>
          <a:p>
            <a:pPr marL="285750" indent="-285750">
              <a:lnSpc>
                <a:spcPct val="150000"/>
              </a:lnSpc>
              <a:buFont typeface="Arial" panose="020B0604020202020204" pitchFamily="34" charset="0"/>
              <a:buChar char="•"/>
            </a:pPr>
            <a:r>
              <a:rPr lang="zh-CN" altLang="en-US" sz="2400" b="1" dirty="0"/>
              <a:t>分类的准确率（</a:t>
            </a:r>
            <a:r>
              <a:rPr lang="en-US" altLang="zh-CN" sz="2400" b="1" dirty="0"/>
              <a:t>CA)</a:t>
            </a:r>
            <a:endParaRPr lang="en-US" altLang="zh-CN" sz="2400" b="1" dirty="0"/>
          </a:p>
          <a:p>
            <a:pPr marL="742950" lvl="1" indent="-285750">
              <a:lnSpc>
                <a:spcPct val="150000"/>
              </a:lnSpc>
              <a:buFont typeface="Arial" panose="020B0604020202020204" pitchFamily="34" charset="0"/>
              <a:buChar char="•"/>
            </a:pPr>
            <a:r>
              <a:rPr lang="zh-CN" altLang="en-US" sz="2400" dirty="0"/>
              <a:t>定位后的元素能被正确分类的比例</a:t>
            </a:r>
            <a:endParaRPr lang="en-US" altLang="zh-CN" sz="2400" dirty="0"/>
          </a:p>
          <a:p>
            <a:pPr marL="285750" indent="-285750">
              <a:lnSpc>
                <a:spcPct val="150000"/>
              </a:lnSpc>
              <a:buFont typeface="Arial" panose="020B0604020202020204" pitchFamily="34" charset="0"/>
              <a:buChar char="•"/>
            </a:pPr>
            <a:r>
              <a:rPr lang="zh-CN" altLang="en-US" sz="2400" b="1" dirty="0"/>
              <a:t>中心偏移量（</a:t>
            </a:r>
            <a:r>
              <a:rPr lang="en-US" altLang="zh-CN" sz="2400" b="1" dirty="0"/>
              <a:t>CO)</a:t>
            </a:r>
            <a:endParaRPr lang="en-US" altLang="zh-CN" sz="2400" b="1" dirty="0"/>
          </a:p>
          <a:p>
            <a:pPr marL="285750" indent="-285750">
              <a:lnSpc>
                <a:spcPct val="150000"/>
              </a:lnSpc>
              <a:buFont typeface="Arial" panose="020B0604020202020204" pitchFamily="34" charset="0"/>
              <a:buChar char="•"/>
            </a:pPr>
            <a:r>
              <a:rPr lang="zh-CN" altLang="en-US" sz="2400" b="1" dirty="0"/>
              <a:t>宽度误差（</a:t>
            </a:r>
            <a:r>
              <a:rPr lang="en-US" altLang="zh-CN" sz="2400" b="1" dirty="0"/>
              <a:t>WD</a:t>
            </a:r>
            <a:r>
              <a:rPr lang="zh-CN" altLang="en-US" sz="2400" b="1" dirty="0"/>
              <a:t>）</a:t>
            </a:r>
            <a:endParaRPr lang="en-US" altLang="zh-CN" sz="2400" b="1" dirty="0"/>
          </a:p>
          <a:p>
            <a:pPr marL="285750" indent="-285750">
              <a:lnSpc>
                <a:spcPct val="150000"/>
              </a:lnSpc>
              <a:buFont typeface="Arial" panose="020B0604020202020204" pitchFamily="34" charset="0"/>
              <a:buChar char="•"/>
            </a:pPr>
            <a:r>
              <a:rPr lang="zh-CN" altLang="en-US" sz="2400" b="1" dirty="0"/>
              <a:t>高度误差（</a:t>
            </a:r>
            <a:r>
              <a:rPr lang="en-US" altLang="zh-CN" sz="2400" b="1" dirty="0"/>
              <a:t>HD)</a:t>
            </a:r>
            <a:endParaRPr lang="en-US" altLang="zh-CN" sz="2400" b="1" dirty="0"/>
          </a:p>
          <a:p>
            <a:pPr>
              <a:lnSpc>
                <a:spcPct val="150000"/>
              </a:lnSpc>
            </a:pP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2511731"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元素检测</a:t>
            </a:r>
            <a:r>
              <a:rPr lang="en-US" altLang="zh-CN" b="1" dirty="0">
                <a:solidFill>
                  <a:schemeClr val="bg1"/>
                </a:solidFill>
              </a:rPr>
              <a:t>—</a:t>
            </a:r>
            <a:r>
              <a:rPr lang="zh-CN" altLang="en-US" b="1" dirty="0">
                <a:solidFill>
                  <a:schemeClr val="bg1"/>
                </a:solidFill>
              </a:rPr>
              <a:t>实验结果</a:t>
            </a:r>
            <a:endParaRPr lang="zh-CN" altLang="en-US" b="1" dirty="0">
              <a:solidFill>
                <a:schemeClr val="bg1"/>
              </a:solidFill>
            </a:endParaRPr>
          </a:p>
        </p:txBody>
      </p:sp>
      <p:pic>
        <p:nvPicPr>
          <p:cNvPr id="3" name="图片 2"/>
          <p:cNvPicPr>
            <a:picLocks noChangeAspect="1"/>
          </p:cNvPicPr>
          <p:nvPr/>
        </p:nvPicPr>
        <p:blipFill>
          <a:blip r:embed="rId5"/>
          <a:stretch>
            <a:fillRect/>
          </a:stretch>
        </p:blipFill>
        <p:spPr>
          <a:xfrm>
            <a:off x="1543647" y="1667861"/>
            <a:ext cx="3930054" cy="4399408"/>
          </a:xfrm>
          <a:prstGeom prst="rect">
            <a:avLst/>
          </a:prstGeom>
        </p:spPr>
      </p:pic>
      <p:pic>
        <p:nvPicPr>
          <p:cNvPr id="16" name="图片 15"/>
          <p:cNvPicPr>
            <a:picLocks noChangeAspect="1"/>
          </p:cNvPicPr>
          <p:nvPr/>
        </p:nvPicPr>
        <p:blipFill>
          <a:blip r:embed="rId6"/>
          <a:stretch>
            <a:fillRect/>
          </a:stretch>
        </p:blipFill>
        <p:spPr>
          <a:xfrm>
            <a:off x="6262532" y="1665027"/>
            <a:ext cx="3643085" cy="4441901"/>
          </a:xfrm>
          <a:prstGeom prst="rect">
            <a:avLst/>
          </a:prstGeom>
        </p:spPr>
      </p:pic>
      <p:sp>
        <p:nvSpPr>
          <p:cNvPr id="2" name="矩形 1"/>
          <p:cNvSpPr/>
          <p:nvPr/>
        </p:nvSpPr>
        <p:spPr>
          <a:xfrm>
            <a:off x="2195513" y="2962274"/>
            <a:ext cx="528637"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9" name="矩形 18"/>
          <p:cNvSpPr/>
          <p:nvPr/>
        </p:nvSpPr>
        <p:spPr>
          <a:xfrm>
            <a:off x="2809876" y="2962274"/>
            <a:ext cx="528637"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0" name="矩形 19"/>
          <p:cNvSpPr/>
          <p:nvPr/>
        </p:nvSpPr>
        <p:spPr>
          <a:xfrm>
            <a:off x="4062415" y="2962274"/>
            <a:ext cx="357186"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2" name="矩形 21"/>
          <p:cNvSpPr/>
          <p:nvPr/>
        </p:nvSpPr>
        <p:spPr>
          <a:xfrm>
            <a:off x="4535065" y="2962274"/>
            <a:ext cx="357186"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3" name="矩形 22"/>
          <p:cNvSpPr/>
          <p:nvPr/>
        </p:nvSpPr>
        <p:spPr>
          <a:xfrm>
            <a:off x="5004383" y="2962274"/>
            <a:ext cx="357186"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4" name="矩形 23"/>
          <p:cNvSpPr/>
          <p:nvPr/>
        </p:nvSpPr>
        <p:spPr>
          <a:xfrm>
            <a:off x="2195513" y="3952874"/>
            <a:ext cx="528637"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5" name="矩形 24"/>
          <p:cNvSpPr/>
          <p:nvPr/>
        </p:nvSpPr>
        <p:spPr>
          <a:xfrm>
            <a:off x="2809876" y="3952874"/>
            <a:ext cx="528637"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6" name="矩形 25"/>
          <p:cNvSpPr/>
          <p:nvPr/>
        </p:nvSpPr>
        <p:spPr>
          <a:xfrm>
            <a:off x="4057653" y="3952874"/>
            <a:ext cx="357187"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7" name="矩形 26"/>
          <p:cNvSpPr/>
          <p:nvPr/>
        </p:nvSpPr>
        <p:spPr>
          <a:xfrm>
            <a:off x="4535065" y="3952874"/>
            <a:ext cx="357187"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8" name="矩形 27"/>
          <p:cNvSpPr/>
          <p:nvPr/>
        </p:nvSpPr>
        <p:spPr>
          <a:xfrm>
            <a:off x="5004382" y="3952874"/>
            <a:ext cx="357187"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9" name="矩形 28"/>
          <p:cNvSpPr/>
          <p:nvPr/>
        </p:nvSpPr>
        <p:spPr>
          <a:xfrm>
            <a:off x="2809876" y="5789294"/>
            <a:ext cx="528637"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0" name="矩形 29"/>
          <p:cNvSpPr/>
          <p:nvPr/>
        </p:nvSpPr>
        <p:spPr>
          <a:xfrm>
            <a:off x="4043367" y="5789293"/>
            <a:ext cx="371474"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1" name="矩形 30"/>
          <p:cNvSpPr/>
          <p:nvPr/>
        </p:nvSpPr>
        <p:spPr>
          <a:xfrm>
            <a:off x="4520777" y="5789293"/>
            <a:ext cx="371474"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2" name="矩形 31"/>
          <p:cNvSpPr/>
          <p:nvPr/>
        </p:nvSpPr>
        <p:spPr>
          <a:xfrm>
            <a:off x="4990095" y="5789293"/>
            <a:ext cx="371474" cy="17608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3" name="矩形 32"/>
          <p:cNvSpPr/>
          <p:nvPr/>
        </p:nvSpPr>
        <p:spPr>
          <a:xfrm>
            <a:off x="6927533" y="2926956"/>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4" name="矩形 33"/>
          <p:cNvSpPr/>
          <p:nvPr/>
        </p:nvSpPr>
        <p:spPr>
          <a:xfrm>
            <a:off x="7506653" y="2926956"/>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5" name="矩形 34"/>
          <p:cNvSpPr/>
          <p:nvPr/>
        </p:nvSpPr>
        <p:spPr>
          <a:xfrm>
            <a:off x="8127015" y="2926955"/>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6" name="矩形 35"/>
          <p:cNvSpPr/>
          <p:nvPr/>
        </p:nvSpPr>
        <p:spPr>
          <a:xfrm>
            <a:off x="8725471" y="2926955"/>
            <a:ext cx="261212"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7" name="矩形 36"/>
          <p:cNvSpPr/>
          <p:nvPr/>
        </p:nvSpPr>
        <p:spPr>
          <a:xfrm>
            <a:off x="9120912" y="2926955"/>
            <a:ext cx="261212"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8" name="矩形 37"/>
          <p:cNvSpPr/>
          <p:nvPr/>
        </p:nvSpPr>
        <p:spPr>
          <a:xfrm>
            <a:off x="9513264" y="2926955"/>
            <a:ext cx="261212"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9" name="矩形 38"/>
          <p:cNvSpPr/>
          <p:nvPr/>
        </p:nvSpPr>
        <p:spPr>
          <a:xfrm>
            <a:off x="6918007" y="3894674"/>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0" name="矩形 39"/>
          <p:cNvSpPr/>
          <p:nvPr/>
        </p:nvSpPr>
        <p:spPr>
          <a:xfrm>
            <a:off x="7497127" y="3894674"/>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1" name="矩形 40"/>
          <p:cNvSpPr/>
          <p:nvPr/>
        </p:nvSpPr>
        <p:spPr>
          <a:xfrm>
            <a:off x="8117489" y="3894673"/>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2" name="矩形 41"/>
          <p:cNvSpPr/>
          <p:nvPr/>
        </p:nvSpPr>
        <p:spPr>
          <a:xfrm>
            <a:off x="8715945" y="3894673"/>
            <a:ext cx="261212"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3" name="矩形 42"/>
          <p:cNvSpPr/>
          <p:nvPr/>
        </p:nvSpPr>
        <p:spPr>
          <a:xfrm>
            <a:off x="9111386" y="3894673"/>
            <a:ext cx="261212"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4" name="矩形 43"/>
          <p:cNvSpPr/>
          <p:nvPr/>
        </p:nvSpPr>
        <p:spPr>
          <a:xfrm>
            <a:off x="9503738" y="3894673"/>
            <a:ext cx="261212"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5" name="矩形 44"/>
          <p:cNvSpPr/>
          <p:nvPr/>
        </p:nvSpPr>
        <p:spPr>
          <a:xfrm>
            <a:off x="6927533" y="4862392"/>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6" name="矩形 45"/>
          <p:cNvSpPr/>
          <p:nvPr/>
        </p:nvSpPr>
        <p:spPr>
          <a:xfrm>
            <a:off x="7506653" y="4862392"/>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7" name="矩形 46"/>
          <p:cNvSpPr/>
          <p:nvPr/>
        </p:nvSpPr>
        <p:spPr>
          <a:xfrm>
            <a:off x="8127015" y="4862391"/>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8" name="矩形 47"/>
          <p:cNvSpPr/>
          <p:nvPr/>
        </p:nvSpPr>
        <p:spPr>
          <a:xfrm>
            <a:off x="8725471" y="4862391"/>
            <a:ext cx="261212"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9" name="矩形 48"/>
          <p:cNvSpPr/>
          <p:nvPr/>
        </p:nvSpPr>
        <p:spPr>
          <a:xfrm>
            <a:off x="9120912" y="4862391"/>
            <a:ext cx="261212"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1" name="矩形 50"/>
          <p:cNvSpPr/>
          <p:nvPr/>
        </p:nvSpPr>
        <p:spPr>
          <a:xfrm>
            <a:off x="6938010" y="5817668"/>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2" name="矩形 51"/>
          <p:cNvSpPr/>
          <p:nvPr/>
        </p:nvSpPr>
        <p:spPr>
          <a:xfrm>
            <a:off x="7517130" y="5817668"/>
            <a:ext cx="509587" cy="1734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2242640"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总体评估</a:t>
            </a:r>
            <a:r>
              <a:rPr lang="en-US" altLang="zh-CN" b="1" dirty="0">
                <a:solidFill>
                  <a:schemeClr val="bg1"/>
                </a:solidFill>
              </a:rPr>
              <a:t>—</a:t>
            </a:r>
            <a:r>
              <a:rPr lang="zh-CN" altLang="en-US" b="1" dirty="0">
                <a:solidFill>
                  <a:schemeClr val="bg1"/>
                </a:solidFill>
              </a:rPr>
              <a:t>评估指标</a:t>
            </a:r>
            <a:endParaRPr lang="zh-CN" altLang="en-US" b="1" dirty="0">
              <a:solidFill>
                <a:schemeClr val="bg1"/>
              </a:solidFill>
            </a:endParaRPr>
          </a:p>
        </p:txBody>
      </p:sp>
      <p:sp>
        <p:nvSpPr>
          <p:cNvPr id="16" name="文本框 15"/>
          <p:cNvSpPr txBox="1"/>
          <p:nvPr/>
        </p:nvSpPr>
        <p:spPr>
          <a:xfrm>
            <a:off x="1523998" y="1651268"/>
            <a:ext cx="7620001" cy="3662541"/>
          </a:xfrm>
          <a:prstGeom prst="rect">
            <a:avLst/>
          </a:prstGeom>
          <a:noFill/>
          <a:ln>
            <a:noFill/>
          </a:ln>
        </p:spPr>
        <p:txBody>
          <a:bodyPr wrap="square" rtlCol="0">
            <a:spAutoFit/>
          </a:bodyPr>
          <a:lstStyle/>
          <a:p>
            <a:pPr marL="342900" indent="-342900">
              <a:lnSpc>
                <a:spcPct val="150000"/>
              </a:lnSpc>
              <a:buFont typeface="Arial" panose="020B0604020202020204" pitchFamily="34" charset="0"/>
              <a:buChar char="•"/>
            </a:pPr>
            <a:r>
              <a:rPr lang="zh-CN" altLang="en-US" sz="2400" b="1" dirty="0"/>
              <a:t>所有元素的定位召回率</a:t>
            </a:r>
            <a:r>
              <a:rPr lang="en-US" altLang="zh-CN" sz="2400" b="1" dirty="0"/>
              <a:t>(AELR)</a:t>
            </a:r>
            <a:endParaRPr lang="en-US" altLang="zh-CN" sz="2400" b="1" dirty="0"/>
          </a:p>
          <a:p>
            <a:pPr marL="342900" indent="-342900">
              <a:lnSpc>
                <a:spcPct val="150000"/>
              </a:lnSpc>
              <a:buFont typeface="Arial" panose="020B0604020202020204" pitchFamily="34" charset="0"/>
              <a:buChar char="•"/>
            </a:pPr>
            <a:r>
              <a:rPr lang="zh-CN" altLang="en-US" sz="2400" b="1" dirty="0"/>
              <a:t>所有元素的定位并识别准确的比例</a:t>
            </a:r>
            <a:r>
              <a:rPr lang="en-US" altLang="zh-CN" sz="2400" b="1" dirty="0"/>
              <a:t>(AEDA)</a:t>
            </a:r>
            <a:endParaRPr lang="en-US" altLang="zh-CN" sz="2400" b="1" dirty="0"/>
          </a:p>
          <a:p>
            <a:pPr marL="342900" indent="-342900">
              <a:lnSpc>
                <a:spcPct val="150000"/>
              </a:lnSpc>
              <a:buFont typeface="Arial" panose="020B0604020202020204" pitchFamily="34" charset="0"/>
              <a:buChar char="•"/>
            </a:pPr>
            <a:r>
              <a:rPr lang="zh-CN" altLang="en-US" sz="2400" b="1" dirty="0"/>
              <a:t>所有元素检测结果中的有效率</a:t>
            </a:r>
            <a:r>
              <a:rPr lang="en-US" altLang="zh-CN" sz="2400" b="1" dirty="0"/>
              <a:t>(AEDR)</a:t>
            </a:r>
            <a:endParaRPr lang="en-US" altLang="zh-CN" sz="2400" b="1" dirty="0"/>
          </a:p>
          <a:p>
            <a:pPr marL="342900" indent="-342900">
              <a:lnSpc>
                <a:spcPct val="150000"/>
              </a:lnSpc>
              <a:buFont typeface="Arial" panose="020B0604020202020204" pitchFamily="34" charset="0"/>
              <a:buChar char="•"/>
            </a:pPr>
            <a:r>
              <a:rPr lang="zh-CN" altLang="en-US" sz="2400" b="1" dirty="0"/>
              <a:t>连接线的定位召回率</a:t>
            </a:r>
            <a:r>
              <a:rPr lang="en-US" altLang="zh-CN" sz="2400" b="1" dirty="0"/>
              <a:t>(CLR)</a:t>
            </a:r>
            <a:endParaRPr lang="en-US" altLang="zh-CN" sz="2400" b="1" dirty="0"/>
          </a:p>
          <a:p>
            <a:pPr marL="342900" indent="-342900">
              <a:lnSpc>
                <a:spcPct val="150000"/>
              </a:lnSpc>
              <a:buFont typeface="Arial" panose="020B0604020202020204" pitchFamily="34" charset="0"/>
              <a:buChar char="•"/>
            </a:pPr>
            <a:r>
              <a:rPr lang="zh-CN" altLang="en-US" sz="2400" b="1" dirty="0"/>
              <a:t>连接线的定位并识别准确的比例</a:t>
            </a:r>
            <a:r>
              <a:rPr lang="en-US" altLang="zh-CN" sz="2400" b="1" dirty="0"/>
              <a:t>(CLA)</a:t>
            </a:r>
            <a:endParaRPr lang="en-US" altLang="zh-CN" sz="2400" b="1" dirty="0"/>
          </a:p>
          <a:p>
            <a:pPr marL="342900" indent="-342900">
              <a:lnSpc>
                <a:spcPct val="150000"/>
              </a:lnSpc>
              <a:buFont typeface="Arial" panose="020B0604020202020204" pitchFamily="34" charset="0"/>
              <a:buChar char="•"/>
            </a:pPr>
            <a:r>
              <a:rPr lang="zh-CN" altLang="en-US" sz="2400" b="1" dirty="0"/>
              <a:t>连接线检测结果中的有效率（</a:t>
            </a:r>
            <a:r>
              <a:rPr lang="en-US" altLang="zh-CN" sz="2400" b="1" dirty="0"/>
              <a:t>CDR)</a:t>
            </a: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2384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效率提升</a:t>
            </a:r>
            <a:endParaRPr lang="zh-CN" altLang="en-US" b="1" dirty="0">
              <a:solidFill>
                <a:schemeClr val="bg1"/>
              </a:solidFill>
            </a:endParaRPr>
          </a:p>
        </p:txBody>
      </p:sp>
      <p:sp>
        <p:nvSpPr>
          <p:cNvPr id="16" name="文本框 15"/>
          <p:cNvSpPr txBox="1"/>
          <p:nvPr/>
        </p:nvSpPr>
        <p:spPr>
          <a:xfrm>
            <a:off x="1523998" y="1651268"/>
            <a:ext cx="7620001" cy="892552"/>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总体评估结果</a:t>
            </a:r>
            <a:endParaRPr lang="en-US" altLang="zh-CN" sz="2400" b="1" dirty="0"/>
          </a:p>
          <a:p>
            <a:pPr marL="285750" indent="-285750">
              <a:buFont typeface="Arial" panose="020B0604020202020204" pitchFamily="34" charset="0"/>
              <a:buChar char="•"/>
            </a:pPr>
            <a:endParaRPr lang="zh-CN" altLang="en-US" sz="1600" b="1" dirty="0"/>
          </a:p>
        </p:txBody>
      </p:sp>
      <p:pic>
        <p:nvPicPr>
          <p:cNvPr id="2" name="图片 1"/>
          <p:cNvPicPr>
            <a:picLocks noChangeAspect="1"/>
          </p:cNvPicPr>
          <p:nvPr/>
        </p:nvPicPr>
        <p:blipFill>
          <a:blip r:embed="rId5"/>
          <a:stretch>
            <a:fillRect/>
          </a:stretch>
        </p:blipFill>
        <p:spPr>
          <a:xfrm>
            <a:off x="1690655" y="2633762"/>
            <a:ext cx="9039252" cy="191811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04</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实验评估与结果</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69" y="1165864"/>
            <a:ext cx="1123845"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方法迁移</a:t>
            </a:r>
            <a:endParaRPr lang="zh-CN" altLang="en-US" b="1" dirty="0">
              <a:solidFill>
                <a:schemeClr val="bg1"/>
              </a:solidFill>
            </a:endParaRPr>
          </a:p>
        </p:txBody>
      </p:sp>
      <p:sp>
        <p:nvSpPr>
          <p:cNvPr id="16" name="文本框 15"/>
          <p:cNvSpPr txBox="1"/>
          <p:nvPr/>
        </p:nvSpPr>
        <p:spPr>
          <a:xfrm>
            <a:off x="1523998" y="1651268"/>
            <a:ext cx="7620001" cy="3662541"/>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轮廓检测中的图片预处理</a:t>
            </a:r>
            <a:endParaRPr lang="en-US" altLang="zh-CN" sz="2400" b="1" dirty="0"/>
          </a:p>
          <a:p>
            <a:pPr marL="742950" lvl="1" indent="-285750">
              <a:lnSpc>
                <a:spcPct val="150000"/>
              </a:lnSpc>
              <a:buFont typeface="Arial" panose="020B0604020202020204" pitchFamily="34" charset="0"/>
              <a:buChar char="•"/>
            </a:pPr>
            <a:r>
              <a:rPr lang="zh-CN" altLang="en-US" sz="2400" dirty="0"/>
              <a:t>选择合适的形态学图像处理的结构单元</a:t>
            </a:r>
            <a:endParaRPr lang="en-US" altLang="zh-CN" sz="2400" dirty="0"/>
          </a:p>
          <a:p>
            <a:pPr marL="285750" indent="-285750">
              <a:lnSpc>
                <a:spcPct val="150000"/>
              </a:lnSpc>
              <a:buFont typeface="Arial" panose="020B0604020202020204" pitchFamily="34" charset="0"/>
              <a:buChar char="•"/>
            </a:pPr>
            <a:r>
              <a:rPr lang="zh-CN" altLang="en-US" sz="2400" b="1" dirty="0"/>
              <a:t>元素分类中的分类器</a:t>
            </a:r>
            <a:endParaRPr lang="en-US" altLang="zh-CN" sz="2400" b="1" dirty="0"/>
          </a:p>
          <a:p>
            <a:pPr marL="742950" lvl="1" indent="-285750">
              <a:lnSpc>
                <a:spcPct val="150000"/>
              </a:lnSpc>
              <a:buFont typeface="Arial" panose="020B0604020202020204" pitchFamily="34" charset="0"/>
              <a:buChar char="•"/>
            </a:pPr>
            <a:r>
              <a:rPr lang="zh-CN" altLang="en-US" sz="2400" dirty="0"/>
              <a:t>训练不同的分类器</a:t>
            </a:r>
            <a:endParaRPr lang="en-US" altLang="zh-CN" sz="2400" dirty="0"/>
          </a:p>
          <a:p>
            <a:pPr marL="285750" indent="-285750">
              <a:lnSpc>
                <a:spcPct val="150000"/>
              </a:lnSpc>
              <a:buFont typeface="Arial" panose="020B0604020202020204" pitchFamily="34" charset="0"/>
              <a:buChar char="•"/>
            </a:pPr>
            <a:r>
              <a:rPr lang="zh-CN" altLang="en-US" sz="2400" b="1" dirty="0"/>
              <a:t>模型导出中的模型语义解析</a:t>
            </a:r>
            <a:endParaRPr lang="en-US" altLang="zh-CN" sz="2400" b="1" dirty="0"/>
          </a:p>
          <a:p>
            <a:pPr marL="742950" lvl="1" indent="-285750">
              <a:lnSpc>
                <a:spcPct val="150000"/>
              </a:lnSpc>
              <a:buFont typeface="Arial" panose="020B0604020202020204" pitchFamily="34" charset="0"/>
              <a:buChar char="•"/>
            </a:pPr>
            <a:r>
              <a:rPr lang="zh-CN" altLang="en-US" sz="2400" dirty="0"/>
              <a:t>按不同的方式解释和保存模型语义</a:t>
            </a:r>
            <a:endParaRPr lang="en-US" altLang="zh-CN" sz="2400"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05</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研究总结与展望</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70" y="1165864"/>
            <a:ext cx="661266"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总结</a:t>
            </a:r>
            <a:endParaRPr lang="zh-CN" altLang="en-US" b="1" dirty="0">
              <a:solidFill>
                <a:schemeClr val="bg1"/>
              </a:solidFill>
            </a:endParaRPr>
          </a:p>
        </p:txBody>
      </p:sp>
      <p:sp>
        <p:nvSpPr>
          <p:cNvPr id="16" name="文本框 15"/>
          <p:cNvSpPr txBox="1"/>
          <p:nvPr/>
        </p:nvSpPr>
        <p:spPr>
          <a:xfrm>
            <a:off x="1523997" y="1651268"/>
            <a:ext cx="9801729" cy="3662541"/>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制作了包含大量模型且信息丰富的数据集</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zh-CN" altLang="en-US" sz="2400" b="1" dirty="0"/>
              <a:t>提出了一种模型识别方法，可用于多种模型图片检测</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zh-CN" altLang="en-US" sz="2400" b="1" dirty="0"/>
              <a:t>将我们的方法与多种方法对比，在大量的真实模型图上验证了方法的有效性</a:t>
            </a: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0"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5688" y="259941"/>
            <a:ext cx="502426" cy="629853"/>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1619" y="340142"/>
            <a:ext cx="1284164" cy="549653"/>
          </a:xfrm>
          <a:prstGeom prst="rect">
            <a:avLst/>
          </a:prstGeom>
        </p:spPr>
      </p:pic>
      <p:grpSp>
        <p:nvGrpSpPr>
          <p:cNvPr id="18" name="组合 17"/>
          <p:cNvGrpSpPr/>
          <p:nvPr/>
        </p:nvGrpSpPr>
        <p:grpSpPr>
          <a:xfrm>
            <a:off x="225794" y="239913"/>
            <a:ext cx="5762625" cy="647486"/>
            <a:chOff x="225794" y="239913"/>
            <a:chExt cx="5762625" cy="647486"/>
          </a:xfrm>
        </p:grpSpPr>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794" y="239913"/>
              <a:ext cx="5762625" cy="647486"/>
            </a:xfrm>
            <a:prstGeom prst="rect">
              <a:avLst/>
            </a:prstGeom>
          </p:spPr>
        </p:pic>
        <p:sp>
          <p:nvSpPr>
            <p:cNvPr id="10" name="文本框 9"/>
            <p:cNvSpPr txBox="1"/>
            <p:nvPr/>
          </p:nvSpPr>
          <p:spPr>
            <a:xfrm>
              <a:off x="394636" y="330349"/>
              <a:ext cx="577516" cy="461793"/>
            </a:xfrm>
            <a:prstGeom prst="rect">
              <a:avLst/>
            </a:prstGeom>
            <a:noFill/>
          </p:spPr>
          <p:txBody>
            <a:bodyPr wrap="square" rtlCol="0">
              <a:spAutoFit/>
            </a:bodyPr>
            <a:lstStyle/>
            <a:p>
              <a:r>
                <a:rPr lang="en-US" altLang="zh-CN" sz="2400" b="1" dirty="0">
                  <a:solidFill>
                    <a:schemeClr val="bg1"/>
                  </a:solidFill>
                </a:rPr>
                <a:t>05</a:t>
              </a:r>
              <a:endParaRPr lang="zh-CN" altLang="en-US" sz="2400" b="1" dirty="0">
                <a:solidFill>
                  <a:schemeClr val="bg1"/>
                </a:solidFill>
              </a:endParaRPr>
            </a:p>
          </p:txBody>
        </p:sp>
        <p:sp>
          <p:nvSpPr>
            <p:cNvPr id="11" name="文本框 10"/>
            <p:cNvSpPr txBox="1"/>
            <p:nvPr/>
          </p:nvSpPr>
          <p:spPr>
            <a:xfrm>
              <a:off x="1073227" y="340141"/>
              <a:ext cx="3640431" cy="461665"/>
            </a:xfrm>
            <a:prstGeom prst="rect">
              <a:avLst/>
            </a:prstGeom>
            <a:noFill/>
          </p:spPr>
          <p:txBody>
            <a:bodyPr wrap="square" rtlCol="0">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研究总结与展望</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1" y="6208296"/>
            <a:ext cx="12192001" cy="649704"/>
            <a:chOff x="0" y="6037944"/>
            <a:chExt cx="12192001" cy="820056"/>
          </a:xfrm>
          <a:solidFill>
            <a:srgbClr val="6E0F6D"/>
          </a:solidFill>
        </p:grpSpPr>
        <p:sp>
          <p:nvSpPr>
            <p:cNvPr id="14" name="任意多边形: 形状 22"/>
            <p:cNvSpPr/>
            <p:nvPr/>
          </p:nvSpPr>
          <p:spPr>
            <a:xfrm>
              <a:off x="8548915"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sp>
          <p:nvSpPr>
            <p:cNvPr id="15" name="任意多边形: 形状 34"/>
            <p:cNvSpPr/>
            <p:nvPr/>
          </p:nvSpPr>
          <p:spPr>
            <a:xfrm flipH="1">
              <a:off x="0" y="6037944"/>
              <a:ext cx="3643086" cy="820056"/>
            </a:xfrm>
            <a:custGeom>
              <a:avLst/>
              <a:gdLst>
                <a:gd name="connsiteX0" fmla="*/ 2460281 w 2460281"/>
                <a:gd name="connsiteY0" fmla="*/ 0 h 769460"/>
                <a:gd name="connsiteX1" fmla="*/ 2460281 w 2460281"/>
                <a:gd name="connsiteY1" fmla="*/ 769460 h 769460"/>
                <a:gd name="connsiteX2" fmla="*/ 0 w 2460281"/>
                <a:gd name="connsiteY2" fmla="*/ 769460 h 769460"/>
                <a:gd name="connsiteX3" fmla="*/ 114168 w 2460281"/>
                <a:gd name="connsiteY3" fmla="*/ 754963 h 769460"/>
                <a:gd name="connsiteX4" fmla="*/ 2370653 w 2460281"/>
                <a:gd name="connsiteY4" fmla="*/ 53272 h 769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281" h="769460">
                  <a:moveTo>
                    <a:pt x="2460281" y="0"/>
                  </a:moveTo>
                  <a:lnTo>
                    <a:pt x="2460281" y="769460"/>
                  </a:lnTo>
                  <a:lnTo>
                    <a:pt x="0" y="769460"/>
                  </a:lnTo>
                  <a:lnTo>
                    <a:pt x="114168" y="754963"/>
                  </a:lnTo>
                  <a:cubicBezTo>
                    <a:pt x="1006853" y="622209"/>
                    <a:pt x="1793903" y="369201"/>
                    <a:pt x="2370653" y="532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sz="1350">
                <a:solidFill>
                  <a:prstClr val="white"/>
                </a:solidFill>
                <a:latin typeface="等线" panose="02010600030101010101" charset="-122"/>
                <a:ea typeface="等线" panose="02010600030101010101" charset="-122"/>
              </a:endParaRPr>
            </a:p>
          </p:txBody>
        </p:sp>
      </p:grpSp>
      <p:sp>
        <p:nvSpPr>
          <p:cNvPr id="21" name="文本框 20"/>
          <p:cNvSpPr txBox="1"/>
          <p:nvPr/>
        </p:nvSpPr>
        <p:spPr>
          <a:xfrm>
            <a:off x="1006170" y="1165864"/>
            <a:ext cx="1416188" cy="369332"/>
          </a:xfrm>
          <a:prstGeom prst="rect">
            <a:avLst/>
          </a:prstGeom>
          <a:solidFill>
            <a:srgbClr val="6E0F6D"/>
          </a:solidFill>
          <a:ln w="19050">
            <a:solidFill>
              <a:srgbClr val="6E0F6D"/>
            </a:solidFill>
          </a:ln>
        </p:spPr>
        <p:txBody>
          <a:bodyPr wrap="square" rtlCol="0">
            <a:spAutoFit/>
          </a:bodyPr>
          <a:lstStyle/>
          <a:p>
            <a:r>
              <a:rPr lang="zh-CN" altLang="en-US" b="1" dirty="0">
                <a:solidFill>
                  <a:schemeClr val="bg1"/>
                </a:solidFill>
              </a:rPr>
              <a:t>不足与展望</a:t>
            </a:r>
            <a:endParaRPr lang="zh-CN" altLang="en-US" b="1" dirty="0">
              <a:solidFill>
                <a:schemeClr val="bg1"/>
              </a:solidFill>
            </a:endParaRPr>
          </a:p>
        </p:txBody>
      </p:sp>
      <p:sp>
        <p:nvSpPr>
          <p:cNvPr id="16" name="文本框 15"/>
          <p:cNvSpPr txBox="1"/>
          <p:nvPr/>
        </p:nvSpPr>
        <p:spPr>
          <a:xfrm>
            <a:off x="1523998" y="1651268"/>
            <a:ext cx="8321690" cy="4216539"/>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zh-CN" altLang="en-US" sz="2400" b="1" dirty="0"/>
              <a:t>我们的方法对箭头特征的依赖性较高</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zh-CN" altLang="en-US" sz="2400" b="1" dirty="0"/>
              <a:t>当前直线检测对于虚线的检测是没有效果的</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zh-CN" altLang="en-US" sz="2400" b="1" dirty="0"/>
              <a:t>模型中孤立文本与元素的对应，还没有完善的解决方案</a:t>
            </a:r>
            <a:endParaRPr lang="en-US" altLang="zh-CN" sz="2400" b="1" dirty="0"/>
          </a:p>
          <a:p>
            <a:pPr marL="285750" indent="-285750">
              <a:lnSpc>
                <a:spcPct val="150000"/>
              </a:lnSpc>
              <a:buFont typeface="Arial" panose="020B0604020202020204" pitchFamily="34" charset="0"/>
              <a:buChar char="•"/>
            </a:pPr>
            <a:endParaRPr lang="en-US" altLang="zh-CN" sz="2400" b="1" dirty="0"/>
          </a:p>
          <a:p>
            <a:pPr marL="285750" indent="-285750">
              <a:lnSpc>
                <a:spcPct val="150000"/>
              </a:lnSpc>
              <a:buFont typeface="Arial" panose="020B0604020202020204" pitchFamily="34" charset="0"/>
              <a:buChar char="•"/>
            </a:pPr>
            <a:r>
              <a:rPr lang="zh-CN" altLang="en-US" sz="2400" b="1" dirty="0"/>
              <a:t>与建模工具的结合，丰富现有工具的功能</a:t>
            </a:r>
            <a:endParaRPr lang="en-US" altLang="zh-CN" sz="2400" b="1" dirty="0"/>
          </a:p>
          <a:p>
            <a:pPr marL="285750" indent="-285750">
              <a:buFont typeface="Arial" panose="020B0604020202020204" pitchFamily="34" charset="0"/>
              <a:buChar char="•"/>
            </a:pPr>
            <a:endParaRPr lang="zh-CN" altLang="en-US" sz="1600"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5" name="矩形 4"/>
          <p:cNvSpPr/>
          <p:nvPr/>
        </p:nvSpPr>
        <p:spPr>
          <a:xfrm>
            <a:off x="-1" y="0"/>
            <a:ext cx="12192001"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386038" y="2001839"/>
            <a:ext cx="5842535" cy="707886"/>
          </a:xfrm>
          <a:prstGeom prst="rect">
            <a:avLst/>
          </a:prstGeom>
          <a:noFill/>
        </p:spPr>
        <p:txBody>
          <a:bodyPr wrap="square" rtlCol="0">
            <a:spAutoFit/>
          </a:bodyPr>
          <a:lstStyle/>
          <a:p>
            <a:r>
              <a:rPr lang="zh-CN" altLang="en-US" sz="4000" dirty="0">
                <a:latin typeface="微软雅黑" panose="020B0503020204020204" pitchFamily="34" charset="-122"/>
                <a:ea typeface="微软雅黑" panose="020B0503020204020204" pitchFamily="34" charset="-122"/>
              </a:rPr>
              <a:t>恳请各位老师批评指正！</a:t>
            </a:r>
            <a:endParaRPr lang="zh-CN" altLang="en-US" sz="40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060" y="302972"/>
            <a:ext cx="716822" cy="898628"/>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1503" y="440380"/>
            <a:ext cx="1778449" cy="761220"/>
          </a:xfrm>
          <a:prstGeom prst="rect">
            <a:avLst/>
          </a:prstGeom>
        </p:spPr>
      </p:pic>
      <p:sp>
        <p:nvSpPr>
          <p:cNvPr id="9" name="文本框 8"/>
          <p:cNvSpPr txBox="1"/>
          <p:nvPr/>
        </p:nvSpPr>
        <p:spPr>
          <a:xfrm>
            <a:off x="1386038" y="2870823"/>
            <a:ext cx="4369869" cy="461793"/>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软件学院   </a:t>
            </a:r>
            <a:r>
              <a:rPr lang="en-US" altLang="zh-CN" sz="2400" dirty="0">
                <a:latin typeface="微软雅黑" panose="020B0503020204020204" pitchFamily="34" charset="-122"/>
                <a:ea typeface="微软雅黑" panose="020B0503020204020204" pitchFamily="34" charset="-122"/>
              </a:rPr>
              <a:t>2018</a:t>
            </a:r>
            <a:r>
              <a:rPr lang="zh-CN" altLang="en-US" sz="2400" dirty="0">
                <a:latin typeface="微软雅黑" panose="020B0503020204020204" pitchFamily="34" charset="-122"/>
                <a:ea typeface="微软雅黑" panose="020B0503020204020204" pitchFamily="34" charset="-122"/>
              </a:rPr>
              <a:t>级硕士研究生</a:t>
            </a:r>
            <a:endParaRPr lang="zh-CN" altLang="en-US" sz="24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1386039" y="3528579"/>
            <a:ext cx="592916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答辩人：潘凌伟</a:t>
            </a:r>
            <a:endParaRPr lang="zh-CN" altLang="en-US"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386037" y="4060588"/>
            <a:ext cx="5929163"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导　师：葛季栋 副教授</a:t>
            </a:r>
            <a:endParaRPr lang="zh-CN" altLang="en-US"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a:off x="3466985" y="6198669"/>
            <a:ext cx="1066516" cy="659331"/>
            <a:chOff x="1848051" y="4937759"/>
            <a:chExt cx="2213810" cy="1106905"/>
          </a:xfrm>
        </p:grpSpPr>
        <p:sp>
          <p:nvSpPr>
            <p:cNvPr id="20" name="直角三角形 19"/>
            <p:cNvSpPr/>
            <p:nvPr/>
          </p:nvSpPr>
          <p:spPr>
            <a:xfrm>
              <a:off x="2954956" y="4937759"/>
              <a:ext cx="1106905" cy="1106905"/>
            </a:xfrm>
            <a:prstGeom prst="rtTriangle">
              <a:avLst/>
            </a:prstGeom>
            <a:solidFill>
              <a:srgbClr val="F902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直角三角形 20"/>
            <p:cNvSpPr/>
            <p:nvPr/>
          </p:nvSpPr>
          <p:spPr>
            <a:xfrm rot="16200000">
              <a:off x="1848051" y="4937759"/>
              <a:ext cx="1106905" cy="1106905"/>
            </a:xfrm>
            <a:prstGeom prst="rtTriangle">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6520475" y="4310204"/>
            <a:ext cx="4136303" cy="2557104"/>
            <a:chOff x="1848051" y="4937759"/>
            <a:chExt cx="2213810" cy="1106905"/>
          </a:xfrm>
        </p:grpSpPr>
        <p:sp>
          <p:nvSpPr>
            <p:cNvPr id="43" name="直角三角形 42"/>
            <p:cNvSpPr/>
            <p:nvPr/>
          </p:nvSpPr>
          <p:spPr>
            <a:xfrm>
              <a:off x="2954956" y="4937759"/>
              <a:ext cx="1106905" cy="1106905"/>
            </a:xfrm>
            <a:prstGeom prst="rtTriangle">
              <a:avLst/>
            </a:prstGeom>
            <a:solidFill>
              <a:srgbClr val="F902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直角三角形 43"/>
            <p:cNvSpPr/>
            <p:nvPr/>
          </p:nvSpPr>
          <p:spPr>
            <a:xfrm rot="16200000">
              <a:off x="1848051" y="4937759"/>
              <a:ext cx="1106905" cy="1106905"/>
            </a:xfrm>
            <a:prstGeom prst="rtTriangle">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4985842" y="5224957"/>
            <a:ext cx="2656620" cy="1642350"/>
            <a:chOff x="1848051" y="4937759"/>
            <a:chExt cx="2213810" cy="1106905"/>
          </a:xfrm>
        </p:grpSpPr>
        <p:sp>
          <p:nvSpPr>
            <p:cNvPr id="40" name="直角三角形 39"/>
            <p:cNvSpPr/>
            <p:nvPr/>
          </p:nvSpPr>
          <p:spPr>
            <a:xfrm>
              <a:off x="2954956" y="4937759"/>
              <a:ext cx="1106905" cy="1106905"/>
            </a:xfrm>
            <a:prstGeom prst="rtTriangle">
              <a:avLst/>
            </a:prstGeom>
            <a:solidFill>
              <a:srgbClr val="F902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直角三角形 40"/>
            <p:cNvSpPr/>
            <p:nvPr/>
          </p:nvSpPr>
          <p:spPr>
            <a:xfrm rot="16200000">
              <a:off x="1848051" y="4937759"/>
              <a:ext cx="1106905" cy="1106905"/>
            </a:xfrm>
            <a:prstGeom prst="rtTriangle">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8900920" y="4839665"/>
            <a:ext cx="3279859" cy="2027642"/>
            <a:chOff x="1848051" y="4937759"/>
            <a:chExt cx="2213810" cy="1106905"/>
          </a:xfrm>
        </p:grpSpPr>
        <p:sp>
          <p:nvSpPr>
            <p:cNvPr id="46" name="直角三角形 45"/>
            <p:cNvSpPr/>
            <p:nvPr/>
          </p:nvSpPr>
          <p:spPr>
            <a:xfrm>
              <a:off x="2954956" y="4937759"/>
              <a:ext cx="1106905" cy="1106905"/>
            </a:xfrm>
            <a:prstGeom prst="rtTriangle">
              <a:avLst/>
            </a:prstGeom>
            <a:solidFill>
              <a:srgbClr val="F902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直角三角形 46"/>
            <p:cNvSpPr/>
            <p:nvPr/>
          </p:nvSpPr>
          <p:spPr>
            <a:xfrm rot="16200000">
              <a:off x="1848051" y="4937759"/>
              <a:ext cx="1106905" cy="1106905"/>
            </a:xfrm>
            <a:prstGeom prst="rtTriangle">
              <a:avLst/>
            </a:prstGeom>
            <a:solidFill>
              <a:srgbClr val="6E0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ln>
          <a:noFill/>
        </a:ln>
      </a:spPr>
      <a:bodyPr wrap="square" rtlCol="0">
        <a:spAutoFit/>
      </a:bodyPr>
      <a:lstStyle>
        <a:defPPr marL="285750" indent="-285750">
          <a:lnSpc>
            <a:spcPct val="150000"/>
          </a:lnSpc>
          <a:buFont typeface="Arial" panose="020B0604020202020204" pitchFamily="34" charset="0"/>
          <a:buChar char="•"/>
          <a:defRPr sz="16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2686</Words>
  <Application>WPS 演示</Application>
  <PresentationFormat>宽屏</PresentationFormat>
  <Paragraphs>683</Paragraphs>
  <Slides>36</Slides>
  <Notes>36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36</vt:i4>
      </vt:variant>
    </vt:vector>
  </HeadingPairs>
  <TitlesOfParts>
    <vt:vector size="45" baseType="lpstr">
      <vt:lpstr>Arial</vt:lpstr>
      <vt:lpstr>宋体</vt:lpstr>
      <vt:lpstr>Wingdings</vt:lpstr>
      <vt:lpstr>微软雅黑</vt:lpstr>
      <vt:lpstr>黑体</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Panda Lin</dc:creator>
  <cp:lastModifiedBy>文峰</cp:lastModifiedBy>
  <cp:revision>233</cp:revision>
  <dcterms:created xsi:type="dcterms:W3CDTF">2018-05-12T03:33:00Z</dcterms:created>
  <dcterms:modified xsi:type="dcterms:W3CDTF">2025-05-08T08:07:33Z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C06D16922616402BB0A2981D57F27D41_12</vt:lpwstr>
  </property>
  <property fmtid="{D5CDD505-2E9C-101B-9397-08002B2CF9AE}" pid="3" name="KSOProductBuildVer">
    <vt:lpwstr>2052-12.1.0.20784</vt:lpwstr>
  </property>
</Properties>
</file>