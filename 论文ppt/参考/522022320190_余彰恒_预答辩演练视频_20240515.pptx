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61" r:id="rId3"/>
    <p:sldId id="487" r:id="rId5"/>
    <p:sldId id="439" r:id="rId6"/>
    <p:sldId id="443" r:id="rId7"/>
    <p:sldId id="440" r:id="rId8"/>
    <p:sldId id="445" r:id="rId9"/>
    <p:sldId id="444" r:id="rId10"/>
    <p:sldId id="447" r:id="rId11"/>
    <p:sldId id="483" r:id="rId12"/>
    <p:sldId id="446" r:id="rId13"/>
    <p:sldId id="448" r:id="rId14"/>
    <p:sldId id="441" r:id="rId15"/>
    <p:sldId id="449" r:id="rId16"/>
    <p:sldId id="450" r:id="rId17"/>
    <p:sldId id="451" r:id="rId18"/>
    <p:sldId id="452" r:id="rId19"/>
    <p:sldId id="453" r:id="rId20"/>
    <p:sldId id="484" r:id="rId21"/>
    <p:sldId id="454" r:id="rId22"/>
    <p:sldId id="442" r:id="rId23"/>
    <p:sldId id="486" r:id="rId24"/>
    <p:sldId id="456" r:id="rId25"/>
    <p:sldId id="464" r:id="rId26"/>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showPr>
  <p:clrMru>
    <a:srgbClr val="C39E67"/>
    <a:srgbClr val="BD934E"/>
    <a:srgbClr val="4E753B"/>
    <a:srgbClr val="DCDCDC"/>
    <a:srgbClr val="2E4523"/>
    <a:srgbClr val="06275E"/>
    <a:srgbClr val="0B3774"/>
    <a:srgbClr val="B88F4D"/>
    <a:srgbClr val="FFFFFF"/>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63" autoAdjust="0"/>
    <p:restoredTop sz="94660"/>
  </p:normalViewPr>
  <p:slideViewPr>
    <p:cSldViewPr snapToGrid="0">
      <p:cViewPr varScale="1">
        <p:scale>
          <a:sx n="104" d="100"/>
          <a:sy n="104" d="100"/>
        </p:scale>
        <p:origin x="904" y="192"/>
      </p:cViewPr>
      <p:guideLst/>
    </p:cSldViewPr>
  </p:slideViewPr>
  <p:notesTextViewPr>
    <p:cViewPr>
      <p:scale>
        <a:sx n="3" d="2"/>
        <a:sy n="3" d="2"/>
      </p:scale>
      <p:origin x="0" y="0"/>
    </p:cViewPr>
  </p:notesTextViewPr>
  <p:sorterViewPr>
    <p:cViewPr varScale="1">
      <p:scale>
        <a:sx n="100" d="100"/>
        <a:sy n="100" d="100"/>
      </p:scale>
      <p:origin x="0" y="-2190"/>
    </p:cViewPr>
  </p:sorter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0" Type="http://schemas.openxmlformats.org/officeDocument/2006/relationships/tags" Target="tags/tag151.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尊敬的各位老师，大家好，我是今天的汇报人余彰恒，我的毕业论文题目是《基于Transformer的渐进式文言文机器翻译》，本篇论文是在葛季栋老师的细心指导下完成的，首先十分感谢葛老师长期以来对我的精心指导，同时也对各位评审老师不辞辛苦参加论文审阅和答辩表示感谢。</a:t>
            </a:r>
            <a:endParaRPr lang="zh-CN" altLang="en-US"/>
          </a:p>
        </p:txBody>
      </p:sp>
      <p:sp>
        <p:nvSpPr>
          <p:cNvPr id="4" name="灯片编号占位符 3"/>
          <p:cNvSpPr>
            <a:spLocks noGrp="1"/>
          </p:cNvSpPr>
          <p:nvPr>
            <p:ph type="sldNum" sz="quarter" idx="5"/>
          </p:nvPr>
        </p:nvSpPr>
        <p:spPr/>
        <p:txBody>
          <a:bodyPr/>
          <a:lstStyle/>
          <a:p>
            <a:fld id="{FD684924-2CED-4705-9F50-B1A778DDCF48}"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今天我将从”研究背景与意义“、”研究思路与实现“、”实验探究与分析“、”工作总结与展望“四个方面对我的硕士毕业论文工作进行简单的陈述。</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一、研究背景与意义</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文言文作为中华文化和先贤智慧的重要载体，在中华民族前进道路上有着至关重要的作用，而人工翻译所有文言文古籍需要耗费大量的人力物力，因此，借助现代化技术赋能文言文-现代汉语翻译任务尤为重要。</a:t>
            </a:r>
            <a:endParaRPr lang="zh-CN" altLang="en-US"/>
          </a:p>
          <a:p>
            <a:r>
              <a:rPr lang="zh-CN" altLang="en-US"/>
              <a:t>如图</a:t>
            </a:r>
            <a:r>
              <a:rPr lang="en-US" altLang="zh-CN"/>
              <a:t>1-1</a:t>
            </a:r>
            <a:r>
              <a:rPr lang="zh-CN" altLang="en-US"/>
              <a:t>和</a:t>
            </a:r>
            <a:r>
              <a:rPr lang="en-US" altLang="zh-CN"/>
              <a:t>1-2</a:t>
            </a:r>
            <a:r>
              <a:rPr lang="zh-CN" altLang="en-US"/>
              <a:t>所示，通过分析目前国内外对于文言文-现代汉语机器翻译的相关研究</a:t>
            </a:r>
            <a:r>
              <a:rPr lang="zh-CN" altLang="en-US"/>
              <a:t>和难点，我们发现文言文-现代汉语机器翻译任务在数据集、翻译模型、翻译评估三方面存在着一定的挑战。</a:t>
            </a:r>
            <a:endParaRPr lang="zh-CN" altLang="en-US"/>
          </a:p>
          <a:p>
            <a:r>
              <a:rPr lang="zh-CN" altLang="en-US"/>
              <a:t>本文的研究也是针对以上挑战，构建适合自己任务的数据集，设计融合背景信息的渐进式机器翻译模型，并构建多角度的评价指标，以此更好地实现自己的任务目标和实验探究。</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二、研究思路与实现</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在数据集的构建方面，我们通过爬虫技术获取网络公开语料，并借助现有大模型，经过筛选以及数据处理，构建了“文言文-现代汉语数据集”、“背景简述数据集”、“译文优化数据集”这 3 个数据集，用于我们渐进式机器翻译模型的两个阶段</a:t>
            </a:r>
            <a:r>
              <a:rPr lang="zh-CN" altLang="en-US"/>
              <a:t>的任务中。</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如图2-1所示，本文的整体设计思路是模拟人工翻译的渐进式翻译思想，即先根据自己储备的知识进行基础性翻译，然后结合提供的特殊信息，进行进一步的更全面的翻译，最后再考虑优化自己的翻译语言。</a:t>
            </a:r>
            <a:endParaRPr lang="zh-CN" altLang="en-US"/>
          </a:p>
          <a:p>
            <a:r>
              <a:rPr lang="zh-CN" altLang="en-US"/>
              <a:t>因此整体设计主要由“第一阶段模型设计”和“第二阶段模型设计”</a:t>
            </a:r>
            <a:r>
              <a:rPr lang="zh-CN" altLang="en-US"/>
              <a:t>两个步骤组成。</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我们的“第一阶段模型设计”主要负责模拟人工翻译思想中的“根据储备知识进行基础型翻译”这一行为。</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对于音节对齐，也即获取文言文-现代汉语特征联系任务，我们对比了如图</a:t>
            </a:r>
            <a:r>
              <a:rPr lang="en-US" altLang="zh-CN"/>
              <a:t>2-4</a:t>
            </a:r>
            <a:r>
              <a:rPr lang="zh-CN" altLang="en-US"/>
              <a:t>所示的“使用 GuwenBert 和 RoBERTa 分别对文言文和现代汉语进行表征以此来对齐音节”和“使用预训练模型学习获取文言文-现代汉语的特征联系”这两种方式的优缺点，选择使用通过大量语料数据进行多任务训练的预训练模型来获取文言文-现代汉语之间的特征联系。对于模型架构，我们使用了兼顾 NLU任务和 NLG 任务的中文非平衡 Transformer 结构</a:t>
            </a:r>
            <a:r>
              <a:rPr lang="en-US" altLang="zh-CN"/>
              <a:t>CPT</a:t>
            </a:r>
            <a:r>
              <a:rPr lang="zh-CN" altLang="en-US"/>
              <a:t>来进行模型的训练。</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我们的“第二阶段模型设计”则是在前者基础性翻译的基础上进行优化，负责模拟“结合特殊信息进行进一步翻译”和“优化翻译的语言”这两个行为。</a:t>
            </a:r>
            <a:endParaRPr lang="zh-CN" altLang="en-US"/>
          </a:p>
          <a:p>
            <a:r>
              <a:rPr lang="zh-CN" altLang="en-US"/>
              <a:t>在第二阶段模型的设计中，主要由两个部分构成，一个是背景信息的提取；另一个则是以编码器-编码器-解码器的架构进行模型的训练。</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第二阶段模型设计中，为了融入背景信息，我们进行了背景信息提取的设计，将收集的背景简述数据集中的键值，即背景名（包括典故名和部分人名），作为我们文言文命名实体识别模型的白名单字典的键值，对输入的文言文分词后进行识别，优先识别白名单字典中的内容，对于识别出来的实体，进行背景简述数据集（即背景简述字典）的查询，并根据查询结果进行相应格式的</a:t>
            </a:r>
            <a:r>
              <a:rPr lang="zh-CN" altLang="en-US"/>
              <a:t>输出。</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三、实验探究与分析</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在实验评价指标方面，现有的机器翻译指标，大多都是对于“信”进行评估，很少有对于“达”和“雅”的评估，</a:t>
            </a:r>
            <a:r>
              <a:rPr lang="zh-CN" altLang="en-US">
                <a:sym typeface="+mn-ea"/>
              </a:rPr>
              <a:t>因此</a:t>
            </a:r>
            <a:r>
              <a:rPr lang="zh-CN" altLang="en-US"/>
              <a:t>我们对比分析了现有的某些指标对于我们任务评估的局限之处，最终决定对于“信”的指标，采用基于预训练模型的 BERTScore进行语义相似度评估；对于“达”的指标，借鉴LSA的思路，以句子中相邻单词的相似度来代表句子的连贯性从而进行评估；对于“雅”的指标，则是兼顾句子的词汇丰富性和句子的文采进行评估。</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背景实体识别对比试验。如图所示，对比 两模型</a:t>
            </a:r>
            <a:r>
              <a:rPr lang="zh-CN" altLang="en-US"/>
              <a:t>的识别效果，我们认为使用</a:t>
            </a:r>
            <a:r>
              <a:rPr lang="zh-CN" altLang="en-US" dirty="0">
                <a:sym typeface="+mn-ea"/>
              </a:rPr>
              <a:t>白名单机制训练所得到的模型</a:t>
            </a:r>
            <a:r>
              <a:rPr lang="zh-CN" altLang="en-US"/>
              <a:t> BGModel1进行背景实体识别，是一个更好的方式。对此，我们认为主要原因是典故并不具有某种特殊的结构，其往往是一种人为赋予含义的词语。典故在句子中的位置与语法结构也不存在较强的相关性，所以通过模型学习潜在的句子结构信息等，推理出来的结果，经常是“假阳性”表现，传递了大量错误的干扰信息给下游任务，导致下游任务的表现效果不佳。</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单阶段模型与两阶段模型的对比实验。如图所示，我们的两阶段融合背景信息的模型效果更好，我们通过分析认为单阶段融合背景信息的模型Model1在整个 Encoder 端的理解文本能力有所下降，我们认为主要原因是Model1 融合背景虽然结构简便，但是在其模型架构内任务并不清晰，传递到Decoder 端的信息既有文言文的编码信息，又有现代文的编码信息，这对于整个 Encoder 端学习输入信息的潜在特征造成了不少困扰，导致整个模型学习文言文与现代汉语的对应关系的能力出现下降。</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基础性机器翻译模型与现有模型的对比实验。如图所示，我们的PModelStage1模型从“信”、“达”、“雅”三个方面来看虽然只是略优于 YuanModel 模型，但是我们的 PModelStage1 模型大小比 YuanModel 模型小很多，推理速度是 YuanModel 的 2-3 倍。更快的推理速度，得益于我们模型架构是个非平衡的 Transformer 结构，其更少层次的解码器，在保证效果的同时，加快了推理速度。</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渐进式机器翻译模型与微调大模型的对比实验。如图所示，</a:t>
            </a:r>
            <a:r>
              <a:rPr lang="zh-CN" altLang="en-US" dirty="0">
                <a:sym typeface="+mn-ea"/>
              </a:rPr>
              <a:t>大模型在</a:t>
            </a:r>
            <a:r>
              <a:rPr lang="en-US" altLang="zh-CN" dirty="0">
                <a:sym typeface="+mn-ea"/>
              </a:rPr>
              <a:t>“</a:t>
            </a:r>
            <a:r>
              <a:rPr lang="zh-CN" altLang="en-US" dirty="0">
                <a:sym typeface="+mn-ea"/>
              </a:rPr>
              <a:t>文言文</a:t>
            </a:r>
            <a:r>
              <a:rPr lang="en-US" altLang="zh-CN" dirty="0">
                <a:sym typeface="+mn-ea"/>
              </a:rPr>
              <a:t>-</a:t>
            </a:r>
            <a:r>
              <a:rPr lang="zh-CN" altLang="en-US" dirty="0">
                <a:sym typeface="+mn-ea"/>
              </a:rPr>
              <a:t>现代汉语</a:t>
            </a:r>
            <a:r>
              <a:rPr lang="en-US" altLang="zh-CN" dirty="0">
                <a:sym typeface="+mn-ea"/>
              </a:rPr>
              <a:t>”</a:t>
            </a:r>
            <a:r>
              <a:rPr lang="zh-CN" altLang="en-US" dirty="0">
                <a:sym typeface="+mn-ea"/>
              </a:rPr>
              <a:t>翻译任务上，通过微调，整体上都能取得较好的效果，且“信”指标的</a:t>
            </a:r>
            <a:r>
              <a:rPr lang="zh-CN" altLang="en-US" b="1" dirty="0">
                <a:sym typeface="+mn-ea"/>
              </a:rPr>
              <a:t>表现效果与模型的大小大致成正相关趋势</a:t>
            </a:r>
            <a:r>
              <a:rPr lang="zh-CN" altLang="en-US" dirty="0">
                <a:sym typeface="+mn-ea"/>
              </a:rPr>
              <a:t>。其中，</a:t>
            </a:r>
            <a:r>
              <a:rPr lang="en-US" altLang="zh-CN" b="1" dirty="0">
                <a:sym typeface="+mn-ea"/>
              </a:rPr>
              <a:t>“-Xunzi-”</a:t>
            </a:r>
            <a:r>
              <a:rPr lang="zh-CN" altLang="en-US" b="1" dirty="0">
                <a:sym typeface="+mn-ea"/>
              </a:rPr>
              <a:t>大模型表现最好</a:t>
            </a:r>
            <a:r>
              <a:rPr lang="zh-CN" altLang="en-US" dirty="0">
                <a:sym typeface="+mn-ea"/>
              </a:rPr>
              <a:t>。</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如图所示，我们的模型 PModelStage2_2 在“信”、“达”、“雅”三个指标上与大模型的表现效果相近（“信”的表现效果略差于大模型，“达”和“雅”的表现效果略优于大模型），但是我们的模型所占空间更小，在相近的表现效果上，有着更快的推理速度。</a:t>
            </a:r>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消融实验。如图所示，通过在第二个阶段增加背景信息的融合，能够使“信”的指标提升；在数据集中增添部份优化的译文进行训练，虽然损失了一定的“信”指标，但是在流畅度和文采雅致方面有所提升。对此我们分析认为：通过背景信息的融入，能够给模型带来一些更深层次的理解，因此在“信”的指标上有所提升，我们是使用现有的大模型通过提问的方式让其为我们生成更具文采的译文，这种方式必然会在一定程度上损失原参考译文的本意，因此通过这种方式训练的模型在提升”达“和”雅“的同时，在“信”的指标表现上有所下降。</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四、工作总结与展望</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总的来说，针对文言文-现代汉语的机器翻译任务研究，我们首先构建了 3 个与文言文-现代汉语机器翻译任务相关的数据集，然后模拟人工翻译的渐进式思考过程，进行两阶段模型的训练任务，最后在已有的“信”的指标基础上，提出了“达”和“雅”的评价指标，构建了一个综合全面的评价指标体系，有助于我们从多角度来评估模型的翻译质量。</a:t>
            </a:r>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a:p>
            <a:r>
              <a:rPr lang="zh-CN" altLang="en-US"/>
              <a:t>展望，对于文言文-现代汉语的机器翻译任务，我认为还可以从以下三个方面的进行探索，一是，提升平行语料中参考译文的质量，能让模型学到更好的表达方式，进而提升翻译的效果；二是，扩充背景信息库来增强模型背景信息提取的能力；三是，在做好句子级别翻译的基础上，可以继续探索篇章级翻译。</a:t>
            </a:r>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最后，我的汇报到此结束，谢谢各位老师，敬请各位评委老师批评指正。</a:t>
            </a:r>
            <a:endParaRPr lang="zh-CN" altLang="en-US"/>
          </a:p>
        </p:txBody>
      </p:sp>
      <p:sp>
        <p:nvSpPr>
          <p:cNvPr id="4" name="灯片编号占位符 3"/>
          <p:cNvSpPr>
            <a:spLocks noGrp="1"/>
          </p:cNvSpPr>
          <p:nvPr>
            <p:ph type="sldNum" sz="quarter" idx="5"/>
          </p:nvPr>
        </p:nvSpPr>
        <p:spPr/>
        <p:txBody>
          <a:bodyPr/>
          <a:lstStyle/>
          <a:p>
            <a:fld id="{FD684924-2CED-4705-9F50-B1A778DDCF48}"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5" Type="http://schemas.openxmlformats.org/officeDocument/2006/relationships/image" Target="../media/image1.jpeg"/><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5" Type="http://schemas.openxmlformats.org/officeDocument/2006/relationships/image" Target="../media/image2.jpeg"/><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1.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44.xml"/><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16" name="日期占位符 15"/>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3"/>
            </p:custDataLst>
          </p:nvPr>
        </p:nvSpPr>
        <p:spPr/>
        <p:txBody>
          <a:bodyPr/>
          <a:lstStyle/>
          <a:p>
            <a:endParaRPr lang="zh-CN" altLang="en-US" dirty="0"/>
          </a:p>
        </p:txBody>
      </p:sp>
      <p:sp>
        <p:nvSpPr>
          <p:cNvPr id="18" name="灯片编号占位符 17"/>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dirty="0"/>
          </a:p>
        </p:txBody>
      </p:sp>
      <p:pic>
        <p:nvPicPr>
          <p:cNvPr id="5" name="图片 4" descr="ppt_画板 1 副本 2"/>
          <p:cNvPicPr>
            <a:picLocks noChangeAspect="1"/>
          </p:cNvPicPr>
          <p:nvPr userDrawn="1"/>
        </p:nvPicPr>
        <p:blipFill>
          <a:blip r:embed="rId5"/>
          <a:stretch>
            <a:fillRect/>
          </a:stretch>
        </p:blipFill>
        <p:spPr>
          <a:xfrm>
            <a:off x="-635" y="-1905"/>
            <a:ext cx="12192635" cy="685990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pic>
        <p:nvPicPr>
          <p:cNvPr id="5" name="图片 4" descr="ppt_画板 1 副本"/>
          <p:cNvPicPr>
            <a:picLocks noChangeAspect="1"/>
          </p:cNvPicPr>
          <p:nvPr userDrawn="1"/>
        </p:nvPicPr>
        <p:blipFill>
          <a:blip r:embed="rId5"/>
          <a:stretch>
            <a:fillRect/>
          </a:stretch>
        </p:blipFill>
        <p:spPr>
          <a:xfrm>
            <a:off x="0" y="0"/>
            <a:ext cx="12202160" cy="685863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rgbClr val="FFFFFF"/>
        </a:solidFill>
        <a:effectLst/>
      </p:bgPr>
    </p:bg>
    <p:spTree>
      <p:nvGrpSpPr>
        <p:cNvPr id="1" name=""/>
        <p:cNvGrpSpPr/>
        <p:nvPr/>
      </p:nvGrpSpPr>
      <p:grpSpPr>
        <a:xfrm>
          <a:off x="0" y="0"/>
          <a:ext cx="0" cy="0"/>
          <a:chOff x="0" y="0"/>
          <a:chExt cx="0" cy="0"/>
        </a:xfrm>
      </p:grpSpPr>
      <p:pic>
        <p:nvPicPr>
          <p:cNvPr id="8" name="图片 7" descr="logo-04"/>
          <p:cNvPicPr>
            <a:picLocks noChangeAspect="1"/>
          </p:cNvPicPr>
          <p:nvPr userDrawn="1"/>
        </p:nvPicPr>
        <p:blipFill rotWithShape="1">
          <a:blip r:embed="rId2"/>
          <a:srcRect r="39086"/>
          <a:stretch>
            <a:fillRect/>
          </a:stretch>
        </p:blipFill>
        <p:spPr>
          <a:xfrm>
            <a:off x="-161944" y="-252730"/>
            <a:ext cx="1614844" cy="1751330"/>
          </a:xfrm>
          <a:prstGeom prst="rect">
            <a:avLst/>
          </a:prstGeom>
        </p:spPr>
      </p:pic>
      <p:grpSp>
        <p:nvGrpSpPr>
          <p:cNvPr id="12" name="组合 11"/>
          <p:cNvGrpSpPr/>
          <p:nvPr userDrawn="1"/>
        </p:nvGrpSpPr>
        <p:grpSpPr>
          <a:xfrm>
            <a:off x="-6350" y="5576887"/>
            <a:ext cx="12192000" cy="1281113"/>
            <a:chOff x="-6350" y="3575050"/>
            <a:chExt cx="12192000" cy="1281113"/>
          </a:xfrm>
          <a:gradFill>
            <a:gsLst>
              <a:gs pos="11000">
                <a:srgbClr val="BD934E">
                  <a:alpha val="0"/>
                </a:srgbClr>
              </a:gs>
              <a:gs pos="100000">
                <a:srgbClr val="BD934E">
                  <a:alpha val="30000"/>
                </a:srgbClr>
              </a:gs>
            </a:gsLst>
            <a:lin ang="5400000" scaled="0"/>
          </a:gradFill>
        </p:grpSpPr>
        <p:grpSp>
          <p:nvGrpSpPr>
            <p:cNvPr id="13" name="Group 205"/>
            <p:cNvGrpSpPr/>
            <p:nvPr userDrawn="1"/>
          </p:nvGrpSpPr>
          <p:grpSpPr bwMode="auto">
            <a:xfrm>
              <a:off x="4810125" y="4400550"/>
              <a:ext cx="4105275" cy="433388"/>
              <a:chOff x="3030" y="2772"/>
              <a:chExt cx="2586" cy="273"/>
            </a:xfrm>
            <a:grpFill/>
          </p:grpSpPr>
          <p:sp>
            <p:nvSpPr>
              <p:cNvPr id="116" name="Line 5"/>
              <p:cNvSpPr>
                <a:spLocks noChangeShapeType="1"/>
              </p:cNvSpPr>
              <p:nvPr userDrawn="1"/>
            </p:nvSpPr>
            <p:spPr bwMode="auto">
              <a:xfrm>
                <a:off x="5616" y="2860"/>
                <a:ext cx="0" cy="0"/>
              </a:xfrm>
              <a:prstGeom prst="line">
                <a:avLst/>
              </a:prstGeom>
              <a:grpFill/>
              <a:ln w="12700" cap="rnd">
                <a:solidFill>
                  <a:srgbClr val="BF9C50"/>
                </a:solidFill>
                <a:prstDash val="solid"/>
                <a:round/>
              </a:ln>
            </p:spPr>
            <p:txBody>
              <a:bodyPr vert="horz" wrap="square" lIns="91440" tIns="45720" rIns="91440" bIns="45720" numCol="1" anchor="t" anchorCtr="0" compatLnSpc="1"/>
              <a:lstStyle/>
              <a:p>
                <a:endParaRPr lang="zh-CN" altLang="en-US"/>
              </a:p>
            </p:txBody>
          </p:sp>
          <p:sp>
            <p:nvSpPr>
              <p:cNvPr id="117" name="Freeform 6"/>
              <p:cNvSpPr/>
              <p:nvPr userDrawn="1"/>
            </p:nvSpPr>
            <p:spPr bwMode="auto">
              <a:xfrm>
                <a:off x="3657" y="2794"/>
                <a:ext cx="39" cy="9"/>
              </a:xfrm>
              <a:custGeom>
                <a:avLst/>
                <a:gdLst>
                  <a:gd name="T0" fmla="*/ 8 w 9"/>
                  <a:gd name="T1" fmla="*/ 2 h 2"/>
                  <a:gd name="T2" fmla="*/ 1 w 9"/>
                  <a:gd name="T3" fmla="*/ 2 h 2"/>
                  <a:gd name="T4" fmla="*/ 0 w 9"/>
                  <a:gd name="T5" fmla="*/ 1 h 2"/>
                  <a:gd name="T6" fmla="*/ 1 w 9"/>
                  <a:gd name="T7" fmla="*/ 0 h 2"/>
                  <a:gd name="T8" fmla="*/ 8 w 9"/>
                  <a:gd name="T9" fmla="*/ 0 h 2"/>
                  <a:gd name="T10" fmla="*/ 9 w 9"/>
                  <a:gd name="T11" fmla="*/ 1 h 2"/>
                  <a:gd name="T12" fmla="*/ 8 w 9"/>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9" h="2">
                    <a:moveTo>
                      <a:pt x="8" y="2"/>
                    </a:moveTo>
                    <a:cubicBezTo>
                      <a:pt x="1" y="2"/>
                      <a:pt x="1" y="2"/>
                      <a:pt x="1" y="2"/>
                    </a:cubicBezTo>
                    <a:cubicBezTo>
                      <a:pt x="0" y="2"/>
                      <a:pt x="0" y="1"/>
                      <a:pt x="0" y="1"/>
                    </a:cubicBezTo>
                    <a:cubicBezTo>
                      <a:pt x="0" y="0"/>
                      <a:pt x="0" y="0"/>
                      <a:pt x="1" y="0"/>
                    </a:cubicBezTo>
                    <a:cubicBezTo>
                      <a:pt x="8" y="0"/>
                      <a:pt x="8" y="0"/>
                      <a:pt x="8" y="0"/>
                    </a:cubicBezTo>
                    <a:cubicBezTo>
                      <a:pt x="8" y="0"/>
                      <a:pt x="9" y="0"/>
                      <a:pt x="9" y="1"/>
                    </a:cubicBezTo>
                    <a:cubicBezTo>
                      <a:pt x="9" y="1"/>
                      <a:pt x="8" y="2"/>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7"/>
              <p:cNvSpPr/>
              <p:nvPr userDrawn="1"/>
            </p:nvSpPr>
            <p:spPr bwMode="auto">
              <a:xfrm>
                <a:off x="303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8"/>
              <p:cNvSpPr/>
              <p:nvPr userDrawn="1"/>
            </p:nvSpPr>
            <p:spPr bwMode="auto">
              <a:xfrm>
                <a:off x="30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9"/>
              <p:cNvSpPr/>
              <p:nvPr userDrawn="1"/>
            </p:nvSpPr>
            <p:spPr bwMode="auto">
              <a:xfrm>
                <a:off x="30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10"/>
              <p:cNvSpPr/>
              <p:nvPr userDrawn="1"/>
            </p:nvSpPr>
            <p:spPr bwMode="auto">
              <a:xfrm>
                <a:off x="30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11"/>
              <p:cNvSpPr/>
              <p:nvPr userDrawn="1"/>
            </p:nvSpPr>
            <p:spPr bwMode="auto">
              <a:xfrm>
                <a:off x="30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12"/>
              <p:cNvSpPr/>
              <p:nvPr userDrawn="1"/>
            </p:nvSpPr>
            <p:spPr bwMode="auto">
              <a:xfrm>
                <a:off x="31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13"/>
              <p:cNvSpPr/>
              <p:nvPr userDrawn="1"/>
            </p:nvSpPr>
            <p:spPr bwMode="auto">
              <a:xfrm>
                <a:off x="31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14"/>
              <p:cNvSpPr/>
              <p:nvPr userDrawn="1"/>
            </p:nvSpPr>
            <p:spPr bwMode="auto">
              <a:xfrm>
                <a:off x="31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15"/>
              <p:cNvSpPr/>
              <p:nvPr userDrawn="1"/>
            </p:nvSpPr>
            <p:spPr bwMode="auto">
              <a:xfrm>
                <a:off x="314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16"/>
              <p:cNvSpPr/>
              <p:nvPr userDrawn="1"/>
            </p:nvSpPr>
            <p:spPr bwMode="auto">
              <a:xfrm>
                <a:off x="315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17"/>
              <p:cNvSpPr/>
              <p:nvPr userDrawn="1"/>
            </p:nvSpPr>
            <p:spPr bwMode="auto">
              <a:xfrm>
                <a:off x="31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18"/>
              <p:cNvSpPr/>
              <p:nvPr userDrawn="1"/>
            </p:nvSpPr>
            <p:spPr bwMode="auto">
              <a:xfrm>
                <a:off x="31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19"/>
              <p:cNvSpPr/>
              <p:nvPr userDrawn="1"/>
            </p:nvSpPr>
            <p:spPr bwMode="auto">
              <a:xfrm>
                <a:off x="31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20"/>
              <p:cNvSpPr/>
              <p:nvPr userDrawn="1"/>
            </p:nvSpPr>
            <p:spPr bwMode="auto">
              <a:xfrm>
                <a:off x="32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21"/>
              <p:cNvSpPr/>
              <p:nvPr userDrawn="1"/>
            </p:nvSpPr>
            <p:spPr bwMode="auto">
              <a:xfrm>
                <a:off x="32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22"/>
              <p:cNvSpPr/>
              <p:nvPr userDrawn="1"/>
            </p:nvSpPr>
            <p:spPr bwMode="auto">
              <a:xfrm>
                <a:off x="32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23"/>
              <p:cNvSpPr/>
              <p:nvPr userDrawn="1"/>
            </p:nvSpPr>
            <p:spPr bwMode="auto">
              <a:xfrm>
                <a:off x="325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24"/>
              <p:cNvSpPr/>
              <p:nvPr userDrawn="1"/>
            </p:nvSpPr>
            <p:spPr bwMode="auto">
              <a:xfrm>
                <a:off x="326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25"/>
              <p:cNvSpPr/>
              <p:nvPr userDrawn="1"/>
            </p:nvSpPr>
            <p:spPr bwMode="auto">
              <a:xfrm>
                <a:off x="327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26"/>
              <p:cNvSpPr/>
              <p:nvPr userDrawn="1"/>
            </p:nvSpPr>
            <p:spPr bwMode="auto">
              <a:xfrm>
                <a:off x="329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27"/>
              <p:cNvSpPr/>
              <p:nvPr userDrawn="1"/>
            </p:nvSpPr>
            <p:spPr bwMode="auto">
              <a:xfrm>
                <a:off x="330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9" name="Freeform 28"/>
              <p:cNvSpPr/>
              <p:nvPr userDrawn="1"/>
            </p:nvSpPr>
            <p:spPr bwMode="auto">
              <a:xfrm>
                <a:off x="33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0" name="Freeform 29"/>
              <p:cNvSpPr/>
              <p:nvPr userDrawn="1"/>
            </p:nvSpPr>
            <p:spPr bwMode="auto">
              <a:xfrm>
                <a:off x="33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30"/>
              <p:cNvSpPr/>
              <p:nvPr userDrawn="1"/>
            </p:nvSpPr>
            <p:spPr bwMode="auto">
              <a:xfrm>
                <a:off x="33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31"/>
              <p:cNvSpPr/>
              <p:nvPr userDrawn="1"/>
            </p:nvSpPr>
            <p:spPr bwMode="auto">
              <a:xfrm>
                <a:off x="33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32"/>
              <p:cNvSpPr/>
              <p:nvPr userDrawn="1"/>
            </p:nvSpPr>
            <p:spPr bwMode="auto">
              <a:xfrm>
                <a:off x="33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33"/>
              <p:cNvSpPr/>
              <p:nvPr userDrawn="1"/>
            </p:nvSpPr>
            <p:spPr bwMode="auto">
              <a:xfrm>
                <a:off x="33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34"/>
              <p:cNvSpPr/>
              <p:nvPr userDrawn="1"/>
            </p:nvSpPr>
            <p:spPr bwMode="auto">
              <a:xfrm>
                <a:off x="34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35"/>
              <p:cNvSpPr/>
              <p:nvPr userDrawn="1"/>
            </p:nvSpPr>
            <p:spPr bwMode="auto">
              <a:xfrm>
                <a:off x="34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36"/>
              <p:cNvSpPr/>
              <p:nvPr userDrawn="1"/>
            </p:nvSpPr>
            <p:spPr bwMode="auto">
              <a:xfrm>
                <a:off x="34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37"/>
              <p:cNvSpPr/>
              <p:nvPr userDrawn="1"/>
            </p:nvSpPr>
            <p:spPr bwMode="auto">
              <a:xfrm>
                <a:off x="34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38"/>
              <p:cNvSpPr/>
              <p:nvPr userDrawn="1"/>
            </p:nvSpPr>
            <p:spPr bwMode="auto">
              <a:xfrm>
                <a:off x="345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39"/>
              <p:cNvSpPr/>
              <p:nvPr userDrawn="1"/>
            </p:nvSpPr>
            <p:spPr bwMode="auto">
              <a:xfrm>
                <a:off x="34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40"/>
              <p:cNvSpPr/>
              <p:nvPr userDrawn="1"/>
            </p:nvSpPr>
            <p:spPr bwMode="auto">
              <a:xfrm>
                <a:off x="34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41"/>
              <p:cNvSpPr/>
              <p:nvPr userDrawn="1"/>
            </p:nvSpPr>
            <p:spPr bwMode="auto">
              <a:xfrm>
                <a:off x="34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42"/>
              <p:cNvSpPr/>
              <p:nvPr userDrawn="1"/>
            </p:nvSpPr>
            <p:spPr bwMode="auto">
              <a:xfrm>
                <a:off x="35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43"/>
              <p:cNvSpPr/>
              <p:nvPr userDrawn="1"/>
            </p:nvSpPr>
            <p:spPr bwMode="auto">
              <a:xfrm>
                <a:off x="35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44"/>
              <p:cNvSpPr/>
              <p:nvPr userDrawn="1"/>
            </p:nvSpPr>
            <p:spPr bwMode="auto">
              <a:xfrm>
                <a:off x="35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45"/>
              <p:cNvSpPr/>
              <p:nvPr userDrawn="1"/>
            </p:nvSpPr>
            <p:spPr bwMode="auto">
              <a:xfrm>
                <a:off x="35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46"/>
              <p:cNvSpPr/>
              <p:nvPr userDrawn="1"/>
            </p:nvSpPr>
            <p:spPr bwMode="auto">
              <a:xfrm>
                <a:off x="35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47"/>
              <p:cNvSpPr/>
              <p:nvPr userDrawn="1"/>
            </p:nvSpPr>
            <p:spPr bwMode="auto">
              <a:xfrm>
                <a:off x="35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48"/>
              <p:cNvSpPr/>
              <p:nvPr userDrawn="1"/>
            </p:nvSpPr>
            <p:spPr bwMode="auto">
              <a:xfrm>
                <a:off x="359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49"/>
              <p:cNvSpPr/>
              <p:nvPr userDrawn="1"/>
            </p:nvSpPr>
            <p:spPr bwMode="auto">
              <a:xfrm>
                <a:off x="360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50"/>
              <p:cNvSpPr/>
              <p:nvPr userDrawn="1"/>
            </p:nvSpPr>
            <p:spPr bwMode="auto">
              <a:xfrm>
                <a:off x="36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51"/>
              <p:cNvSpPr/>
              <p:nvPr userDrawn="1"/>
            </p:nvSpPr>
            <p:spPr bwMode="auto">
              <a:xfrm>
                <a:off x="36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52"/>
              <p:cNvSpPr/>
              <p:nvPr userDrawn="1"/>
            </p:nvSpPr>
            <p:spPr bwMode="auto">
              <a:xfrm>
                <a:off x="36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53"/>
              <p:cNvSpPr/>
              <p:nvPr userDrawn="1"/>
            </p:nvSpPr>
            <p:spPr bwMode="auto">
              <a:xfrm>
                <a:off x="36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54"/>
              <p:cNvSpPr/>
              <p:nvPr userDrawn="1"/>
            </p:nvSpPr>
            <p:spPr bwMode="auto">
              <a:xfrm>
                <a:off x="36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55"/>
              <p:cNvSpPr/>
              <p:nvPr userDrawn="1"/>
            </p:nvSpPr>
            <p:spPr bwMode="auto">
              <a:xfrm>
                <a:off x="36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56"/>
              <p:cNvSpPr/>
              <p:nvPr userDrawn="1"/>
            </p:nvSpPr>
            <p:spPr bwMode="auto">
              <a:xfrm>
                <a:off x="37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57"/>
              <p:cNvSpPr/>
              <p:nvPr userDrawn="1"/>
            </p:nvSpPr>
            <p:spPr bwMode="auto">
              <a:xfrm>
                <a:off x="37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58"/>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59"/>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60"/>
              <p:cNvSpPr/>
              <p:nvPr userDrawn="1"/>
            </p:nvSpPr>
            <p:spPr bwMode="auto">
              <a:xfrm>
                <a:off x="39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61"/>
              <p:cNvSpPr/>
              <p:nvPr userDrawn="1"/>
            </p:nvSpPr>
            <p:spPr bwMode="auto">
              <a:xfrm>
                <a:off x="39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62"/>
              <p:cNvSpPr/>
              <p:nvPr userDrawn="1"/>
            </p:nvSpPr>
            <p:spPr bwMode="auto">
              <a:xfrm>
                <a:off x="39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63"/>
              <p:cNvSpPr/>
              <p:nvPr userDrawn="1"/>
            </p:nvSpPr>
            <p:spPr bwMode="auto">
              <a:xfrm>
                <a:off x="39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64"/>
              <p:cNvSpPr/>
              <p:nvPr userDrawn="1"/>
            </p:nvSpPr>
            <p:spPr bwMode="auto">
              <a:xfrm>
                <a:off x="39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65"/>
              <p:cNvSpPr/>
              <p:nvPr userDrawn="1"/>
            </p:nvSpPr>
            <p:spPr bwMode="auto">
              <a:xfrm>
                <a:off x="40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66"/>
              <p:cNvSpPr/>
              <p:nvPr userDrawn="1"/>
            </p:nvSpPr>
            <p:spPr bwMode="auto">
              <a:xfrm>
                <a:off x="40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67"/>
              <p:cNvSpPr/>
              <p:nvPr userDrawn="1"/>
            </p:nvSpPr>
            <p:spPr bwMode="auto">
              <a:xfrm>
                <a:off x="40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68"/>
              <p:cNvSpPr/>
              <p:nvPr userDrawn="1"/>
            </p:nvSpPr>
            <p:spPr bwMode="auto">
              <a:xfrm>
                <a:off x="404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69"/>
              <p:cNvSpPr/>
              <p:nvPr userDrawn="1"/>
            </p:nvSpPr>
            <p:spPr bwMode="auto">
              <a:xfrm>
                <a:off x="40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70"/>
              <p:cNvSpPr/>
              <p:nvPr userDrawn="1"/>
            </p:nvSpPr>
            <p:spPr bwMode="auto">
              <a:xfrm>
                <a:off x="40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71"/>
              <p:cNvSpPr/>
              <p:nvPr userDrawn="1"/>
            </p:nvSpPr>
            <p:spPr bwMode="auto">
              <a:xfrm>
                <a:off x="40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72"/>
              <p:cNvSpPr/>
              <p:nvPr userDrawn="1"/>
            </p:nvSpPr>
            <p:spPr bwMode="auto">
              <a:xfrm>
                <a:off x="40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73"/>
              <p:cNvSpPr/>
              <p:nvPr userDrawn="1"/>
            </p:nvSpPr>
            <p:spPr bwMode="auto">
              <a:xfrm>
                <a:off x="41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74"/>
              <p:cNvSpPr/>
              <p:nvPr userDrawn="1"/>
            </p:nvSpPr>
            <p:spPr bwMode="auto">
              <a:xfrm>
                <a:off x="41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75"/>
              <p:cNvSpPr/>
              <p:nvPr userDrawn="1"/>
            </p:nvSpPr>
            <p:spPr bwMode="auto">
              <a:xfrm>
                <a:off x="41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76"/>
              <p:cNvSpPr/>
              <p:nvPr userDrawn="1"/>
            </p:nvSpPr>
            <p:spPr bwMode="auto">
              <a:xfrm>
                <a:off x="41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77"/>
              <p:cNvSpPr/>
              <p:nvPr userDrawn="1"/>
            </p:nvSpPr>
            <p:spPr bwMode="auto">
              <a:xfrm>
                <a:off x="416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78"/>
              <p:cNvSpPr/>
              <p:nvPr userDrawn="1"/>
            </p:nvSpPr>
            <p:spPr bwMode="auto">
              <a:xfrm>
                <a:off x="41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79"/>
              <p:cNvSpPr/>
              <p:nvPr userDrawn="1"/>
            </p:nvSpPr>
            <p:spPr bwMode="auto">
              <a:xfrm>
                <a:off x="41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80"/>
              <p:cNvSpPr/>
              <p:nvPr userDrawn="1"/>
            </p:nvSpPr>
            <p:spPr bwMode="auto">
              <a:xfrm>
                <a:off x="42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81"/>
              <p:cNvSpPr/>
              <p:nvPr userDrawn="1"/>
            </p:nvSpPr>
            <p:spPr bwMode="auto">
              <a:xfrm>
                <a:off x="42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82"/>
              <p:cNvSpPr/>
              <p:nvPr userDrawn="1"/>
            </p:nvSpPr>
            <p:spPr bwMode="auto">
              <a:xfrm>
                <a:off x="42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83"/>
              <p:cNvSpPr/>
              <p:nvPr userDrawn="1"/>
            </p:nvSpPr>
            <p:spPr bwMode="auto">
              <a:xfrm>
                <a:off x="42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84"/>
              <p:cNvSpPr/>
              <p:nvPr userDrawn="1"/>
            </p:nvSpPr>
            <p:spPr bwMode="auto">
              <a:xfrm>
                <a:off x="42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85"/>
              <p:cNvSpPr/>
              <p:nvPr userDrawn="1"/>
            </p:nvSpPr>
            <p:spPr bwMode="auto">
              <a:xfrm>
                <a:off x="42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86"/>
              <p:cNvSpPr/>
              <p:nvPr userDrawn="1"/>
            </p:nvSpPr>
            <p:spPr bwMode="auto">
              <a:xfrm>
                <a:off x="428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87"/>
              <p:cNvSpPr/>
              <p:nvPr userDrawn="1"/>
            </p:nvSpPr>
            <p:spPr bwMode="auto">
              <a:xfrm>
                <a:off x="429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88"/>
              <p:cNvSpPr/>
              <p:nvPr userDrawn="1"/>
            </p:nvSpPr>
            <p:spPr bwMode="auto">
              <a:xfrm>
                <a:off x="43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89"/>
              <p:cNvSpPr/>
              <p:nvPr userDrawn="1"/>
            </p:nvSpPr>
            <p:spPr bwMode="auto">
              <a:xfrm>
                <a:off x="43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90"/>
              <p:cNvSpPr/>
              <p:nvPr userDrawn="1"/>
            </p:nvSpPr>
            <p:spPr bwMode="auto">
              <a:xfrm>
                <a:off x="43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91"/>
              <p:cNvSpPr/>
              <p:nvPr userDrawn="1"/>
            </p:nvSpPr>
            <p:spPr bwMode="auto">
              <a:xfrm>
                <a:off x="43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92"/>
              <p:cNvSpPr/>
              <p:nvPr userDrawn="1"/>
            </p:nvSpPr>
            <p:spPr bwMode="auto">
              <a:xfrm>
                <a:off x="43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93"/>
              <p:cNvSpPr/>
              <p:nvPr userDrawn="1"/>
            </p:nvSpPr>
            <p:spPr bwMode="auto">
              <a:xfrm>
                <a:off x="43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94"/>
              <p:cNvSpPr/>
              <p:nvPr userDrawn="1"/>
            </p:nvSpPr>
            <p:spPr bwMode="auto">
              <a:xfrm>
                <a:off x="43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95"/>
              <p:cNvSpPr/>
              <p:nvPr userDrawn="1"/>
            </p:nvSpPr>
            <p:spPr bwMode="auto">
              <a:xfrm>
                <a:off x="440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96"/>
              <p:cNvSpPr/>
              <p:nvPr userDrawn="1"/>
            </p:nvSpPr>
            <p:spPr bwMode="auto">
              <a:xfrm>
                <a:off x="441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97"/>
              <p:cNvSpPr/>
              <p:nvPr userDrawn="1"/>
            </p:nvSpPr>
            <p:spPr bwMode="auto">
              <a:xfrm>
                <a:off x="44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98"/>
              <p:cNvSpPr/>
              <p:nvPr userDrawn="1"/>
            </p:nvSpPr>
            <p:spPr bwMode="auto">
              <a:xfrm>
                <a:off x="44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0" name="Freeform 99"/>
              <p:cNvSpPr/>
              <p:nvPr userDrawn="1"/>
            </p:nvSpPr>
            <p:spPr bwMode="auto">
              <a:xfrm>
                <a:off x="44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1" name="Freeform 100"/>
              <p:cNvSpPr/>
              <p:nvPr userDrawn="1"/>
            </p:nvSpPr>
            <p:spPr bwMode="auto">
              <a:xfrm>
                <a:off x="44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101"/>
              <p:cNvSpPr/>
              <p:nvPr userDrawn="1"/>
            </p:nvSpPr>
            <p:spPr bwMode="auto">
              <a:xfrm>
                <a:off x="448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102"/>
              <p:cNvSpPr/>
              <p:nvPr userDrawn="1"/>
            </p:nvSpPr>
            <p:spPr bwMode="auto">
              <a:xfrm>
                <a:off x="450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103"/>
              <p:cNvSpPr/>
              <p:nvPr userDrawn="1"/>
            </p:nvSpPr>
            <p:spPr bwMode="auto">
              <a:xfrm>
                <a:off x="451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104"/>
              <p:cNvSpPr/>
              <p:nvPr userDrawn="1"/>
            </p:nvSpPr>
            <p:spPr bwMode="auto">
              <a:xfrm>
                <a:off x="452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105"/>
              <p:cNvSpPr/>
              <p:nvPr userDrawn="1"/>
            </p:nvSpPr>
            <p:spPr bwMode="auto">
              <a:xfrm>
                <a:off x="454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106"/>
              <p:cNvSpPr/>
              <p:nvPr userDrawn="1"/>
            </p:nvSpPr>
            <p:spPr bwMode="auto">
              <a:xfrm>
                <a:off x="455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107"/>
              <p:cNvSpPr/>
              <p:nvPr userDrawn="1"/>
            </p:nvSpPr>
            <p:spPr bwMode="auto">
              <a:xfrm>
                <a:off x="45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108"/>
              <p:cNvSpPr/>
              <p:nvPr userDrawn="1"/>
            </p:nvSpPr>
            <p:spPr bwMode="auto">
              <a:xfrm>
                <a:off x="45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109"/>
              <p:cNvSpPr/>
              <p:nvPr userDrawn="1"/>
            </p:nvSpPr>
            <p:spPr bwMode="auto">
              <a:xfrm>
                <a:off x="45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110"/>
              <p:cNvSpPr/>
              <p:nvPr userDrawn="1"/>
            </p:nvSpPr>
            <p:spPr bwMode="auto">
              <a:xfrm>
                <a:off x="461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111"/>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112"/>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113"/>
              <p:cNvSpPr/>
              <p:nvPr userDrawn="1"/>
            </p:nvSpPr>
            <p:spPr bwMode="auto">
              <a:xfrm>
                <a:off x="304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114"/>
              <p:cNvSpPr/>
              <p:nvPr userDrawn="1"/>
            </p:nvSpPr>
            <p:spPr bwMode="auto">
              <a:xfrm>
                <a:off x="305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115"/>
              <p:cNvSpPr/>
              <p:nvPr userDrawn="1"/>
            </p:nvSpPr>
            <p:spPr bwMode="auto">
              <a:xfrm>
                <a:off x="306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116"/>
              <p:cNvSpPr/>
              <p:nvPr userDrawn="1"/>
            </p:nvSpPr>
            <p:spPr bwMode="auto">
              <a:xfrm>
                <a:off x="308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117"/>
              <p:cNvSpPr/>
              <p:nvPr userDrawn="1"/>
            </p:nvSpPr>
            <p:spPr bwMode="auto">
              <a:xfrm>
                <a:off x="30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118"/>
              <p:cNvSpPr/>
              <p:nvPr userDrawn="1"/>
            </p:nvSpPr>
            <p:spPr bwMode="auto">
              <a:xfrm>
                <a:off x="31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119"/>
              <p:cNvSpPr/>
              <p:nvPr userDrawn="1"/>
            </p:nvSpPr>
            <p:spPr bwMode="auto">
              <a:xfrm>
                <a:off x="312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120"/>
              <p:cNvSpPr/>
              <p:nvPr userDrawn="1"/>
            </p:nvSpPr>
            <p:spPr bwMode="auto">
              <a:xfrm>
                <a:off x="31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121"/>
              <p:cNvSpPr/>
              <p:nvPr userDrawn="1"/>
            </p:nvSpPr>
            <p:spPr bwMode="auto">
              <a:xfrm>
                <a:off x="31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122"/>
              <p:cNvSpPr/>
              <p:nvPr userDrawn="1"/>
            </p:nvSpPr>
            <p:spPr bwMode="auto">
              <a:xfrm>
                <a:off x="31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23"/>
              <p:cNvSpPr/>
              <p:nvPr userDrawn="1"/>
            </p:nvSpPr>
            <p:spPr bwMode="auto">
              <a:xfrm>
                <a:off x="31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124"/>
              <p:cNvSpPr/>
              <p:nvPr userDrawn="1"/>
            </p:nvSpPr>
            <p:spPr bwMode="auto">
              <a:xfrm>
                <a:off x="319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125"/>
              <p:cNvSpPr/>
              <p:nvPr userDrawn="1"/>
            </p:nvSpPr>
            <p:spPr bwMode="auto">
              <a:xfrm>
                <a:off x="320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126"/>
              <p:cNvSpPr/>
              <p:nvPr userDrawn="1"/>
            </p:nvSpPr>
            <p:spPr bwMode="auto">
              <a:xfrm>
                <a:off x="321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27"/>
              <p:cNvSpPr/>
              <p:nvPr userDrawn="1"/>
            </p:nvSpPr>
            <p:spPr bwMode="auto">
              <a:xfrm>
                <a:off x="323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28"/>
              <p:cNvSpPr/>
              <p:nvPr userDrawn="1"/>
            </p:nvSpPr>
            <p:spPr bwMode="auto">
              <a:xfrm>
                <a:off x="32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29"/>
              <p:cNvSpPr/>
              <p:nvPr userDrawn="1"/>
            </p:nvSpPr>
            <p:spPr bwMode="auto">
              <a:xfrm>
                <a:off x="32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30"/>
              <p:cNvSpPr/>
              <p:nvPr userDrawn="1"/>
            </p:nvSpPr>
            <p:spPr bwMode="auto">
              <a:xfrm>
                <a:off x="32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31"/>
              <p:cNvSpPr/>
              <p:nvPr userDrawn="1"/>
            </p:nvSpPr>
            <p:spPr bwMode="auto">
              <a:xfrm>
                <a:off x="32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32"/>
              <p:cNvSpPr/>
              <p:nvPr userDrawn="1"/>
            </p:nvSpPr>
            <p:spPr bwMode="auto">
              <a:xfrm>
                <a:off x="32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33"/>
              <p:cNvSpPr/>
              <p:nvPr userDrawn="1"/>
            </p:nvSpPr>
            <p:spPr bwMode="auto">
              <a:xfrm>
                <a:off x="33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34"/>
              <p:cNvSpPr/>
              <p:nvPr userDrawn="1"/>
            </p:nvSpPr>
            <p:spPr bwMode="auto">
              <a:xfrm>
                <a:off x="332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35"/>
              <p:cNvSpPr/>
              <p:nvPr userDrawn="1"/>
            </p:nvSpPr>
            <p:spPr bwMode="auto">
              <a:xfrm>
                <a:off x="33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36"/>
              <p:cNvSpPr/>
              <p:nvPr userDrawn="1"/>
            </p:nvSpPr>
            <p:spPr bwMode="auto">
              <a:xfrm>
                <a:off x="33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37"/>
              <p:cNvSpPr/>
              <p:nvPr userDrawn="1"/>
            </p:nvSpPr>
            <p:spPr bwMode="auto">
              <a:xfrm>
                <a:off x="33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9" name="Freeform 138"/>
              <p:cNvSpPr/>
              <p:nvPr userDrawn="1"/>
            </p:nvSpPr>
            <p:spPr bwMode="auto">
              <a:xfrm>
                <a:off x="33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0" name="Freeform 139"/>
              <p:cNvSpPr/>
              <p:nvPr userDrawn="1"/>
            </p:nvSpPr>
            <p:spPr bwMode="auto">
              <a:xfrm>
                <a:off x="33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1" name="Freeform 140"/>
              <p:cNvSpPr/>
              <p:nvPr userDrawn="1"/>
            </p:nvSpPr>
            <p:spPr bwMode="auto">
              <a:xfrm>
                <a:off x="34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41"/>
              <p:cNvSpPr/>
              <p:nvPr userDrawn="1"/>
            </p:nvSpPr>
            <p:spPr bwMode="auto">
              <a:xfrm>
                <a:off x="34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42"/>
              <p:cNvSpPr/>
              <p:nvPr userDrawn="1"/>
            </p:nvSpPr>
            <p:spPr bwMode="auto">
              <a:xfrm>
                <a:off x="34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43"/>
              <p:cNvSpPr/>
              <p:nvPr userDrawn="1"/>
            </p:nvSpPr>
            <p:spPr bwMode="auto">
              <a:xfrm>
                <a:off x="34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44"/>
              <p:cNvSpPr/>
              <p:nvPr userDrawn="1"/>
            </p:nvSpPr>
            <p:spPr bwMode="auto">
              <a:xfrm>
                <a:off x="34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45"/>
              <p:cNvSpPr/>
              <p:nvPr userDrawn="1"/>
            </p:nvSpPr>
            <p:spPr bwMode="auto">
              <a:xfrm>
                <a:off x="34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46"/>
              <p:cNvSpPr/>
              <p:nvPr userDrawn="1"/>
            </p:nvSpPr>
            <p:spPr bwMode="auto">
              <a:xfrm>
                <a:off x="34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47"/>
              <p:cNvSpPr/>
              <p:nvPr userDrawn="1"/>
            </p:nvSpPr>
            <p:spPr bwMode="auto">
              <a:xfrm>
                <a:off x="34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48"/>
              <p:cNvSpPr/>
              <p:nvPr userDrawn="1"/>
            </p:nvSpPr>
            <p:spPr bwMode="auto">
              <a:xfrm>
                <a:off x="35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49"/>
              <p:cNvSpPr/>
              <p:nvPr userDrawn="1"/>
            </p:nvSpPr>
            <p:spPr bwMode="auto">
              <a:xfrm>
                <a:off x="35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150"/>
              <p:cNvSpPr/>
              <p:nvPr userDrawn="1"/>
            </p:nvSpPr>
            <p:spPr bwMode="auto">
              <a:xfrm>
                <a:off x="35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Freeform 151"/>
              <p:cNvSpPr/>
              <p:nvPr userDrawn="1"/>
            </p:nvSpPr>
            <p:spPr bwMode="auto">
              <a:xfrm>
                <a:off x="35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3" name="Freeform 152"/>
              <p:cNvSpPr/>
              <p:nvPr userDrawn="1"/>
            </p:nvSpPr>
            <p:spPr bwMode="auto">
              <a:xfrm>
                <a:off x="35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4" name="Freeform 153"/>
              <p:cNvSpPr/>
              <p:nvPr userDrawn="1"/>
            </p:nvSpPr>
            <p:spPr bwMode="auto">
              <a:xfrm>
                <a:off x="35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5" name="Freeform 154"/>
              <p:cNvSpPr/>
              <p:nvPr userDrawn="1"/>
            </p:nvSpPr>
            <p:spPr bwMode="auto">
              <a:xfrm>
                <a:off x="35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6" name="Freeform 155"/>
              <p:cNvSpPr/>
              <p:nvPr userDrawn="1"/>
            </p:nvSpPr>
            <p:spPr bwMode="auto">
              <a:xfrm>
                <a:off x="36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7" name="Freeform 156"/>
              <p:cNvSpPr/>
              <p:nvPr userDrawn="1"/>
            </p:nvSpPr>
            <p:spPr bwMode="auto">
              <a:xfrm>
                <a:off x="36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8" name="Freeform 157"/>
              <p:cNvSpPr/>
              <p:nvPr userDrawn="1"/>
            </p:nvSpPr>
            <p:spPr bwMode="auto">
              <a:xfrm>
                <a:off x="36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9" name="Freeform 158"/>
              <p:cNvSpPr/>
              <p:nvPr userDrawn="1"/>
            </p:nvSpPr>
            <p:spPr bwMode="auto">
              <a:xfrm>
                <a:off x="36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0" name="Freeform 159"/>
              <p:cNvSpPr/>
              <p:nvPr userDrawn="1"/>
            </p:nvSpPr>
            <p:spPr bwMode="auto">
              <a:xfrm>
                <a:off x="36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1" name="Freeform 160"/>
              <p:cNvSpPr/>
              <p:nvPr userDrawn="1"/>
            </p:nvSpPr>
            <p:spPr bwMode="auto">
              <a:xfrm>
                <a:off x="36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2" name="Freeform 161"/>
              <p:cNvSpPr/>
              <p:nvPr userDrawn="1"/>
            </p:nvSpPr>
            <p:spPr bwMode="auto">
              <a:xfrm>
                <a:off x="36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3" name="Freeform 162"/>
              <p:cNvSpPr/>
              <p:nvPr userDrawn="1"/>
            </p:nvSpPr>
            <p:spPr bwMode="auto">
              <a:xfrm>
                <a:off x="36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4" name="Freeform 163"/>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5" name="Freeform 164"/>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6" name="Freeform 165"/>
              <p:cNvSpPr/>
              <p:nvPr userDrawn="1"/>
            </p:nvSpPr>
            <p:spPr bwMode="auto">
              <a:xfrm>
                <a:off x="39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7" name="Freeform 166"/>
              <p:cNvSpPr/>
              <p:nvPr userDrawn="1"/>
            </p:nvSpPr>
            <p:spPr bwMode="auto">
              <a:xfrm>
                <a:off x="39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8" name="Freeform 167"/>
              <p:cNvSpPr/>
              <p:nvPr userDrawn="1"/>
            </p:nvSpPr>
            <p:spPr bwMode="auto">
              <a:xfrm>
                <a:off x="39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9" name="Freeform 168"/>
              <p:cNvSpPr/>
              <p:nvPr userDrawn="1"/>
            </p:nvSpPr>
            <p:spPr bwMode="auto">
              <a:xfrm>
                <a:off x="39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0" name="Freeform 169"/>
              <p:cNvSpPr/>
              <p:nvPr userDrawn="1"/>
            </p:nvSpPr>
            <p:spPr bwMode="auto">
              <a:xfrm>
                <a:off x="39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1" name="Freeform 170"/>
              <p:cNvSpPr/>
              <p:nvPr userDrawn="1"/>
            </p:nvSpPr>
            <p:spPr bwMode="auto">
              <a:xfrm>
                <a:off x="40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2" name="Freeform 171"/>
              <p:cNvSpPr/>
              <p:nvPr userDrawn="1"/>
            </p:nvSpPr>
            <p:spPr bwMode="auto">
              <a:xfrm>
                <a:off x="40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3" name="Freeform 172"/>
              <p:cNvSpPr/>
              <p:nvPr userDrawn="1"/>
            </p:nvSpPr>
            <p:spPr bwMode="auto">
              <a:xfrm>
                <a:off x="40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4" name="Freeform 173"/>
              <p:cNvSpPr/>
              <p:nvPr userDrawn="1"/>
            </p:nvSpPr>
            <p:spPr bwMode="auto">
              <a:xfrm>
                <a:off x="40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5" name="Freeform 174"/>
              <p:cNvSpPr/>
              <p:nvPr userDrawn="1"/>
            </p:nvSpPr>
            <p:spPr bwMode="auto">
              <a:xfrm>
                <a:off x="40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6" name="Freeform 175"/>
              <p:cNvSpPr/>
              <p:nvPr userDrawn="1"/>
            </p:nvSpPr>
            <p:spPr bwMode="auto">
              <a:xfrm>
                <a:off x="40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7" name="Freeform 176"/>
              <p:cNvSpPr/>
              <p:nvPr userDrawn="1"/>
            </p:nvSpPr>
            <p:spPr bwMode="auto">
              <a:xfrm>
                <a:off x="40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8" name="Freeform 177"/>
              <p:cNvSpPr/>
              <p:nvPr userDrawn="1"/>
            </p:nvSpPr>
            <p:spPr bwMode="auto">
              <a:xfrm>
                <a:off x="40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9" name="Freeform 178"/>
              <p:cNvSpPr/>
              <p:nvPr userDrawn="1"/>
            </p:nvSpPr>
            <p:spPr bwMode="auto">
              <a:xfrm>
                <a:off x="41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0" name="Freeform 179"/>
              <p:cNvSpPr/>
              <p:nvPr userDrawn="1"/>
            </p:nvSpPr>
            <p:spPr bwMode="auto">
              <a:xfrm>
                <a:off x="41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1" name="Freeform 180"/>
              <p:cNvSpPr/>
              <p:nvPr userDrawn="1"/>
            </p:nvSpPr>
            <p:spPr bwMode="auto">
              <a:xfrm>
                <a:off x="41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2" name="Freeform 181"/>
              <p:cNvSpPr/>
              <p:nvPr userDrawn="1"/>
            </p:nvSpPr>
            <p:spPr bwMode="auto">
              <a:xfrm>
                <a:off x="41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3" name="Freeform 182"/>
              <p:cNvSpPr/>
              <p:nvPr userDrawn="1"/>
            </p:nvSpPr>
            <p:spPr bwMode="auto">
              <a:xfrm>
                <a:off x="41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4" name="Freeform 183"/>
              <p:cNvSpPr/>
              <p:nvPr userDrawn="1"/>
            </p:nvSpPr>
            <p:spPr bwMode="auto">
              <a:xfrm>
                <a:off x="41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5" name="Freeform 184"/>
              <p:cNvSpPr/>
              <p:nvPr userDrawn="1"/>
            </p:nvSpPr>
            <p:spPr bwMode="auto">
              <a:xfrm>
                <a:off x="41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6" name="Freeform 185"/>
              <p:cNvSpPr/>
              <p:nvPr userDrawn="1"/>
            </p:nvSpPr>
            <p:spPr bwMode="auto">
              <a:xfrm>
                <a:off x="42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7" name="Freeform 186"/>
              <p:cNvSpPr/>
              <p:nvPr userDrawn="1"/>
            </p:nvSpPr>
            <p:spPr bwMode="auto">
              <a:xfrm>
                <a:off x="42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8" name="Freeform 187"/>
              <p:cNvSpPr/>
              <p:nvPr userDrawn="1"/>
            </p:nvSpPr>
            <p:spPr bwMode="auto">
              <a:xfrm>
                <a:off x="42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9" name="Freeform 188"/>
              <p:cNvSpPr/>
              <p:nvPr userDrawn="1"/>
            </p:nvSpPr>
            <p:spPr bwMode="auto">
              <a:xfrm>
                <a:off x="42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0" name="Freeform 189"/>
              <p:cNvSpPr/>
              <p:nvPr userDrawn="1"/>
            </p:nvSpPr>
            <p:spPr bwMode="auto">
              <a:xfrm>
                <a:off x="42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1" name="Freeform 190"/>
              <p:cNvSpPr/>
              <p:nvPr userDrawn="1"/>
            </p:nvSpPr>
            <p:spPr bwMode="auto">
              <a:xfrm>
                <a:off x="426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2" name="Freeform 191"/>
              <p:cNvSpPr/>
              <p:nvPr userDrawn="1"/>
            </p:nvSpPr>
            <p:spPr bwMode="auto">
              <a:xfrm>
                <a:off x="428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3" name="Freeform 192"/>
              <p:cNvSpPr/>
              <p:nvPr userDrawn="1"/>
            </p:nvSpPr>
            <p:spPr bwMode="auto">
              <a:xfrm>
                <a:off x="42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4" name="Freeform 193"/>
              <p:cNvSpPr/>
              <p:nvPr userDrawn="1"/>
            </p:nvSpPr>
            <p:spPr bwMode="auto">
              <a:xfrm>
                <a:off x="43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5" name="Freeform 194"/>
              <p:cNvSpPr/>
              <p:nvPr userDrawn="1"/>
            </p:nvSpPr>
            <p:spPr bwMode="auto">
              <a:xfrm>
                <a:off x="43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6" name="Freeform 195"/>
              <p:cNvSpPr/>
              <p:nvPr userDrawn="1"/>
            </p:nvSpPr>
            <p:spPr bwMode="auto">
              <a:xfrm>
                <a:off x="43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7" name="Freeform 196"/>
              <p:cNvSpPr/>
              <p:nvPr userDrawn="1"/>
            </p:nvSpPr>
            <p:spPr bwMode="auto">
              <a:xfrm>
                <a:off x="43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8" name="Freeform 197"/>
              <p:cNvSpPr/>
              <p:nvPr userDrawn="1"/>
            </p:nvSpPr>
            <p:spPr bwMode="auto">
              <a:xfrm>
                <a:off x="43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 name="Freeform 198"/>
              <p:cNvSpPr/>
              <p:nvPr userDrawn="1"/>
            </p:nvSpPr>
            <p:spPr bwMode="auto">
              <a:xfrm>
                <a:off x="437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 name="Freeform 199"/>
              <p:cNvSpPr/>
              <p:nvPr userDrawn="1"/>
            </p:nvSpPr>
            <p:spPr bwMode="auto">
              <a:xfrm>
                <a:off x="438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1" name="Freeform 200"/>
              <p:cNvSpPr/>
              <p:nvPr userDrawn="1"/>
            </p:nvSpPr>
            <p:spPr bwMode="auto">
              <a:xfrm>
                <a:off x="440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2" name="Freeform 201"/>
              <p:cNvSpPr/>
              <p:nvPr userDrawn="1"/>
            </p:nvSpPr>
            <p:spPr bwMode="auto">
              <a:xfrm>
                <a:off x="441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3" name="Freeform 202"/>
              <p:cNvSpPr/>
              <p:nvPr userDrawn="1"/>
            </p:nvSpPr>
            <p:spPr bwMode="auto">
              <a:xfrm>
                <a:off x="442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4" name="Freeform 203"/>
              <p:cNvSpPr/>
              <p:nvPr userDrawn="1"/>
            </p:nvSpPr>
            <p:spPr bwMode="auto">
              <a:xfrm>
                <a:off x="44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5" name="Freeform 204"/>
              <p:cNvSpPr/>
              <p:nvPr userDrawn="1"/>
            </p:nvSpPr>
            <p:spPr bwMode="auto">
              <a:xfrm>
                <a:off x="44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16" name="Freeform 206"/>
            <p:cNvSpPr/>
            <p:nvPr userDrawn="1"/>
          </p:nvSpPr>
          <p:spPr bwMode="auto">
            <a:xfrm>
              <a:off x="70913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 name="Freeform 207"/>
            <p:cNvSpPr/>
            <p:nvPr userDrawn="1"/>
          </p:nvSpPr>
          <p:spPr bwMode="auto">
            <a:xfrm>
              <a:off x="71120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 name="Freeform 208"/>
            <p:cNvSpPr/>
            <p:nvPr userDrawn="1"/>
          </p:nvSpPr>
          <p:spPr bwMode="auto">
            <a:xfrm>
              <a:off x="71326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 name="Freeform 209"/>
            <p:cNvSpPr/>
            <p:nvPr userDrawn="1"/>
          </p:nvSpPr>
          <p:spPr bwMode="auto">
            <a:xfrm>
              <a:off x="71532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 name="Freeform 210"/>
            <p:cNvSpPr/>
            <p:nvPr userDrawn="1"/>
          </p:nvSpPr>
          <p:spPr bwMode="auto">
            <a:xfrm>
              <a:off x="71739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 name="Freeform 211"/>
            <p:cNvSpPr/>
            <p:nvPr userDrawn="1"/>
          </p:nvSpPr>
          <p:spPr bwMode="auto">
            <a:xfrm>
              <a:off x="719455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 name="Freeform 212"/>
            <p:cNvSpPr/>
            <p:nvPr userDrawn="1"/>
          </p:nvSpPr>
          <p:spPr bwMode="auto">
            <a:xfrm>
              <a:off x="722312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 name="Freeform 213"/>
            <p:cNvSpPr/>
            <p:nvPr userDrawn="1"/>
          </p:nvSpPr>
          <p:spPr bwMode="auto">
            <a:xfrm>
              <a:off x="72437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 name="Freeform 214"/>
            <p:cNvSpPr/>
            <p:nvPr userDrawn="1"/>
          </p:nvSpPr>
          <p:spPr bwMode="auto">
            <a:xfrm>
              <a:off x="72644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 name="Freeform 215"/>
            <p:cNvSpPr/>
            <p:nvPr userDrawn="1"/>
          </p:nvSpPr>
          <p:spPr bwMode="auto">
            <a:xfrm>
              <a:off x="72850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 name="Freeform 216"/>
            <p:cNvSpPr/>
            <p:nvPr userDrawn="1"/>
          </p:nvSpPr>
          <p:spPr bwMode="auto">
            <a:xfrm>
              <a:off x="73056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 name="Freeform 217"/>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18"/>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19"/>
            <p:cNvSpPr>
              <a:spLocks noEditPoints="1"/>
            </p:cNvSpPr>
            <p:nvPr userDrawn="1"/>
          </p:nvSpPr>
          <p:spPr bwMode="auto">
            <a:xfrm>
              <a:off x="10160000" y="4513263"/>
              <a:ext cx="636588" cy="342900"/>
            </a:xfrm>
            <a:custGeom>
              <a:avLst/>
              <a:gdLst>
                <a:gd name="T0" fmla="*/ 344 w 401"/>
                <a:gd name="T1" fmla="*/ 57 h 216"/>
                <a:gd name="T2" fmla="*/ 318 w 401"/>
                <a:gd name="T3" fmla="*/ 0 h 216"/>
                <a:gd name="T4" fmla="*/ 287 w 401"/>
                <a:gd name="T5" fmla="*/ 57 h 216"/>
                <a:gd name="T6" fmla="*/ 287 w 401"/>
                <a:gd name="T7" fmla="*/ 79 h 216"/>
                <a:gd name="T8" fmla="*/ 235 w 401"/>
                <a:gd name="T9" fmla="*/ 79 h 216"/>
                <a:gd name="T10" fmla="*/ 235 w 401"/>
                <a:gd name="T11" fmla="*/ 57 h 216"/>
                <a:gd name="T12" fmla="*/ 205 w 401"/>
                <a:gd name="T13" fmla="*/ 0 h 216"/>
                <a:gd name="T14" fmla="*/ 174 w 401"/>
                <a:gd name="T15" fmla="*/ 57 h 216"/>
                <a:gd name="T16" fmla="*/ 174 w 401"/>
                <a:gd name="T17" fmla="*/ 79 h 216"/>
                <a:gd name="T18" fmla="*/ 118 w 401"/>
                <a:gd name="T19" fmla="*/ 79 h 216"/>
                <a:gd name="T20" fmla="*/ 118 w 401"/>
                <a:gd name="T21" fmla="*/ 57 h 216"/>
                <a:gd name="T22" fmla="*/ 87 w 401"/>
                <a:gd name="T23" fmla="*/ 0 h 216"/>
                <a:gd name="T24" fmla="*/ 57 w 401"/>
                <a:gd name="T25" fmla="*/ 57 h 216"/>
                <a:gd name="T26" fmla="*/ 57 w 401"/>
                <a:gd name="T27" fmla="*/ 79 h 216"/>
                <a:gd name="T28" fmla="*/ 74 w 401"/>
                <a:gd name="T29" fmla="*/ 136 h 216"/>
                <a:gd name="T30" fmla="*/ 104 w 401"/>
                <a:gd name="T31" fmla="*/ 216 h 216"/>
                <a:gd name="T32" fmla="*/ 118 w 401"/>
                <a:gd name="T33" fmla="*/ 136 h 216"/>
                <a:gd name="T34" fmla="*/ 192 w 401"/>
                <a:gd name="T35" fmla="*/ 136 h 216"/>
                <a:gd name="T36" fmla="*/ 218 w 401"/>
                <a:gd name="T37" fmla="*/ 216 h 216"/>
                <a:gd name="T38" fmla="*/ 226 w 401"/>
                <a:gd name="T39" fmla="*/ 136 h 216"/>
                <a:gd name="T40" fmla="*/ 300 w 401"/>
                <a:gd name="T41" fmla="*/ 136 h 216"/>
                <a:gd name="T42" fmla="*/ 331 w 401"/>
                <a:gd name="T43" fmla="*/ 216 h 216"/>
                <a:gd name="T44" fmla="*/ 401 w 401"/>
                <a:gd name="T45" fmla="*/ 136 h 216"/>
                <a:gd name="T46" fmla="*/ 370 w 401"/>
                <a:gd name="T47" fmla="*/ 79 h 216"/>
                <a:gd name="T48" fmla="*/ 96 w 401"/>
                <a:gd name="T49" fmla="*/ 207 h 216"/>
                <a:gd name="T50" fmla="*/ 83 w 401"/>
                <a:gd name="T51" fmla="*/ 132 h 216"/>
                <a:gd name="T52" fmla="*/ 78 w 401"/>
                <a:gd name="T53" fmla="*/ 70 h 216"/>
                <a:gd name="T54" fmla="*/ 78 w 401"/>
                <a:gd name="T55" fmla="*/ 48 h 216"/>
                <a:gd name="T56" fmla="*/ 87 w 401"/>
                <a:gd name="T57" fmla="*/ 13 h 216"/>
                <a:gd name="T58" fmla="*/ 100 w 401"/>
                <a:gd name="T59" fmla="*/ 48 h 216"/>
                <a:gd name="T60" fmla="*/ 100 w 401"/>
                <a:gd name="T61" fmla="*/ 70 h 216"/>
                <a:gd name="T62" fmla="*/ 126 w 401"/>
                <a:gd name="T63" fmla="*/ 132 h 216"/>
                <a:gd name="T64" fmla="*/ 135 w 401"/>
                <a:gd name="T65" fmla="*/ 132 h 216"/>
                <a:gd name="T66" fmla="*/ 157 w 401"/>
                <a:gd name="T67" fmla="*/ 132 h 216"/>
                <a:gd name="T68" fmla="*/ 213 w 401"/>
                <a:gd name="T69" fmla="*/ 132 h 216"/>
                <a:gd name="T70" fmla="*/ 196 w 401"/>
                <a:gd name="T71" fmla="*/ 207 h 216"/>
                <a:gd name="T72" fmla="*/ 165 w 401"/>
                <a:gd name="T73" fmla="*/ 132 h 216"/>
                <a:gd name="T74" fmla="*/ 196 w 401"/>
                <a:gd name="T75" fmla="*/ 70 h 216"/>
                <a:gd name="T76" fmla="*/ 192 w 401"/>
                <a:gd name="T77" fmla="*/ 48 h 216"/>
                <a:gd name="T78" fmla="*/ 205 w 401"/>
                <a:gd name="T79" fmla="*/ 13 h 216"/>
                <a:gd name="T80" fmla="*/ 218 w 401"/>
                <a:gd name="T81" fmla="*/ 48 h 216"/>
                <a:gd name="T82" fmla="*/ 218 w 401"/>
                <a:gd name="T83" fmla="*/ 70 h 216"/>
                <a:gd name="T84" fmla="*/ 235 w 401"/>
                <a:gd name="T85" fmla="*/ 132 h 216"/>
                <a:gd name="T86" fmla="*/ 248 w 401"/>
                <a:gd name="T87" fmla="*/ 132 h 216"/>
                <a:gd name="T88" fmla="*/ 274 w 401"/>
                <a:gd name="T89" fmla="*/ 132 h 216"/>
                <a:gd name="T90" fmla="*/ 383 w 401"/>
                <a:gd name="T91" fmla="*/ 132 h 216"/>
                <a:gd name="T92" fmla="*/ 322 w 401"/>
                <a:gd name="T93" fmla="*/ 207 h 216"/>
                <a:gd name="T94" fmla="*/ 309 w 401"/>
                <a:gd name="T95" fmla="*/ 132 h 216"/>
                <a:gd name="T96" fmla="*/ 266 w 401"/>
                <a:gd name="T97" fmla="*/ 110 h 216"/>
                <a:gd name="T98" fmla="*/ 283 w 401"/>
                <a:gd name="T99" fmla="*/ 70 h 216"/>
                <a:gd name="T100" fmla="*/ 283 w 401"/>
                <a:gd name="T101" fmla="*/ 48 h 216"/>
                <a:gd name="T102" fmla="*/ 348 w 401"/>
                <a:gd name="T103" fmla="*/ 48 h 216"/>
                <a:gd name="T104" fmla="*/ 348 w 401"/>
                <a:gd name="T105" fmla="*/ 70 h 216"/>
                <a:gd name="T106" fmla="*/ 383 w 401"/>
                <a:gd name="T107" fmla="*/ 13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01" h="216">
                  <a:moveTo>
                    <a:pt x="370" y="79"/>
                  </a:moveTo>
                  <a:lnTo>
                    <a:pt x="344" y="57"/>
                  </a:lnTo>
                  <a:lnTo>
                    <a:pt x="370" y="57"/>
                  </a:lnTo>
                  <a:lnTo>
                    <a:pt x="318" y="0"/>
                  </a:lnTo>
                  <a:lnTo>
                    <a:pt x="261" y="57"/>
                  </a:lnTo>
                  <a:lnTo>
                    <a:pt x="287" y="57"/>
                  </a:lnTo>
                  <a:lnTo>
                    <a:pt x="261" y="79"/>
                  </a:lnTo>
                  <a:lnTo>
                    <a:pt x="287" y="79"/>
                  </a:lnTo>
                  <a:lnTo>
                    <a:pt x="261" y="105"/>
                  </a:lnTo>
                  <a:lnTo>
                    <a:pt x="235" y="79"/>
                  </a:lnTo>
                  <a:lnTo>
                    <a:pt x="257" y="79"/>
                  </a:lnTo>
                  <a:lnTo>
                    <a:pt x="235" y="57"/>
                  </a:lnTo>
                  <a:lnTo>
                    <a:pt x="257" y="57"/>
                  </a:lnTo>
                  <a:lnTo>
                    <a:pt x="205" y="0"/>
                  </a:lnTo>
                  <a:lnTo>
                    <a:pt x="152" y="57"/>
                  </a:lnTo>
                  <a:lnTo>
                    <a:pt x="174" y="57"/>
                  </a:lnTo>
                  <a:lnTo>
                    <a:pt x="152" y="79"/>
                  </a:lnTo>
                  <a:lnTo>
                    <a:pt x="174" y="79"/>
                  </a:lnTo>
                  <a:lnTo>
                    <a:pt x="148" y="110"/>
                  </a:lnTo>
                  <a:lnTo>
                    <a:pt x="118" y="79"/>
                  </a:lnTo>
                  <a:lnTo>
                    <a:pt x="139" y="79"/>
                  </a:lnTo>
                  <a:lnTo>
                    <a:pt x="118" y="57"/>
                  </a:lnTo>
                  <a:lnTo>
                    <a:pt x="139" y="57"/>
                  </a:lnTo>
                  <a:lnTo>
                    <a:pt x="87" y="0"/>
                  </a:lnTo>
                  <a:lnTo>
                    <a:pt x="35" y="57"/>
                  </a:lnTo>
                  <a:lnTo>
                    <a:pt x="57" y="57"/>
                  </a:lnTo>
                  <a:lnTo>
                    <a:pt x="35" y="79"/>
                  </a:lnTo>
                  <a:lnTo>
                    <a:pt x="57" y="79"/>
                  </a:lnTo>
                  <a:lnTo>
                    <a:pt x="0" y="136"/>
                  </a:lnTo>
                  <a:lnTo>
                    <a:pt x="74" y="136"/>
                  </a:lnTo>
                  <a:lnTo>
                    <a:pt x="74" y="216"/>
                  </a:lnTo>
                  <a:lnTo>
                    <a:pt x="104" y="216"/>
                  </a:lnTo>
                  <a:lnTo>
                    <a:pt x="104" y="136"/>
                  </a:lnTo>
                  <a:lnTo>
                    <a:pt x="118" y="136"/>
                  </a:lnTo>
                  <a:lnTo>
                    <a:pt x="174" y="136"/>
                  </a:lnTo>
                  <a:lnTo>
                    <a:pt x="192" y="136"/>
                  </a:lnTo>
                  <a:lnTo>
                    <a:pt x="192" y="216"/>
                  </a:lnTo>
                  <a:lnTo>
                    <a:pt x="218" y="216"/>
                  </a:lnTo>
                  <a:lnTo>
                    <a:pt x="218" y="136"/>
                  </a:lnTo>
                  <a:lnTo>
                    <a:pt x="226" y="136"/>
                  </a:lnTo>
                  <a:lnTo>
                    <a:pt x="292" y="136"/>
                  </a:lnTo>
                  <a:lnTo>
                    <a:pt x="300" y="136"/>
                  </a:lnTo>
                  <a:lnTo>
                    <a:pt x="300" y="216"/>
                  </a:lnTo>
                  <a:lnTo>
                    <a:pt x="331" y="216"/>
                  </a:lnTo>
                  <a:lnTo>
                    <a:pt x="331" y="136"/>
                  </a:lnTo>
                  <a:lnTo>
                    <a:pt x="401" y="136"/>
                  </a:lnTo>
                  <a:lnTo>
                    <a:pt x="344" y="79"/>
                  </a:lnTo>
                  <a:lnTo>
                    <a:pt x="370" y="79"/>
                  </a:lnTo>
                  <a:close/>
                  <a:moveTo>
                    <a:pt x="96" y="132"/>
                  </a:moveTo>
                  <a:lnTo>
                    <a:pt x="96" y="207"/>
                  </a:lnTo>
                  <a:lnTo>
                    <a:pt x="83" y="207"/>
                  </a:lnTo>
                  <a:lnTo>
                    <a:pt x="83" y="132"/>
                  </a:lnTo>
                  <a:lnTo>
                    <a:pt x="17" y="132"/>
                  </a:lnTo>
                  <a:lnTo>
                    <a:pt x="78" y="70"/>
                  </a:lnTo>
                  <a:lnTo>
                    <a:pt x="52" y="70"/>
                  </a:lnTo>
                  <a:lnTo>
                    <a:pt x="78" y="48"/>
                  </a:lnTo>
                  <a:lnTo>
                    <a:pt x="52" y="48"/>
                  </a:lnTo>
                  <a:lnTo>
                    <a:pt x="87" y="13"/>
                  </a:lnTo>
                  <a:lnTo>
                    <a:pt x="122" y="48"/>
                  </a:lnTo>
                  <a:lnTo>
                    <a:pt x="100" y="48"/>
                  </a:lnTo>
                  <a:lnTo>
                    <a:pt x="122" y="70"/>
                  </a:lnTo>
                  <a:lnTo>
                    <a:pt x="100" y="70"/>
                  </a:lnTo>
                  <a:lnTo>
                    <a:pt x="139" y="114"/>
                  </a:lnTo>
                  <a:lnTo>
                    <a:pt x="126" y="132"/>
                  </a:lnTo>
                  <a:lnTo>
                    <a:pt x="96" y="132"/>
                  </a:lnTo>
                  <a:close/>
                  <a:moveTo>
                    <a:pt x="135" y="132"/>
                  </a:moveTo>
                  <a:lnTo>
                    <a:pt x="148" y="119"/>
                  </a:lnTo>
                  <a:lnTo>
                    <a:pt x="157" y="132"/>
                  </a:lnTo>
                  <a:lnTo>
                    <a:pt x="135" y="132"/>
                  </a:lnTo>
                  <a:close/>
                  <a:moveTo>
                    <a:pt x="213" y="132"/>
                  </a:moveTo>
                  <a:lnTo>
                    <a:pt x="213" y="207"/>
                  </a:lnTo>
                  <a:lnTo>
                    <a:pt x="196" y="207"/>
                  </a:lnTo>
                  <a:lnTo>
                    <a:pt x="196" y="132"/>
                  </a:lnTo>
                  <a:lnTo>
                    <a:pt x="165" y="132"/>
                  </a:lnTo>
                  <a:lnTo>
                    <a:pt x="152" y="114"/>
                  </a:lnTo>
                  <a:lnTo>
                    <a:pt x="196" y="70"/>
                  </a:lnTo>
                  <a:lnTo>
                    <a:pt x="170" y="70"/>
                  </a:lnTo>
                  <a:lnTo>
                    <a:pt x="192" y="48"/>
                  </a:lnTo>
                  <a:lnTo>
                    <a:pt x="170" y="48"/>
                  </a:lnTo>
                  <a:lnTo>
                    <a:pt x="205" y="13"/>
                  </a:lnTo>
                  <a:lnTo>
                    <a:pt x="239" y="48"/>
                  </a:lnTo>
                  <a:lnTo>
                    <a:pt x="218" y="48"/>
                  </a:lnTo>
                  <a:lnTo>
                    <a:pt x="239" y="70"/>
                  </a:lnTo>
                  <a:lnTo>
                    <a:pt x="218" y="70"/>
                  </a:lnTo>
                  <a:lnTo>
                    <a:pt x="253" y="110"/>
                  </a:lnTo>
                  <a:lnTo>
                    <a:pt x="235" y="132"/>
                  </a:lnTo>
                  <a:lnTo>
                    <a:pt x="213" y="132"/>
                  </a:lnTo>
                  <a:close/>
                  <a:moveTo>
                    <a:pt x="248" y="132"/>
                  </a:moveTo>
                  <a:lnTo>
                    <a:pt x="261" y="119"/>
                  </a:lnTo>
                  <a:lnTo>
                    <a:pt x="274" y="132"/>
                  </a:lnTo>
                  <a:lnTo>
                    <a:pt x="248" y="132"/>
                  </a:lnTo>
                  <a:close/>
                  <a:moveTo>
                    <a:pt x="383" y="132"/>
                  </a:moveTo>
                  <a:lnTo>
                    <a:pt x="322" y="132"/>
                  </a:lnTo>
                  <a:lnTo>
                    <a:pt x="322" y="207"/>
                  </a:lnTo>
                  <a:lnTo>
                    <a:pt x="309" y="207"/>
                  </a:lnTo>
                  <a:lnTo>
                    <a:pt x="309" y="132"/>
                  </a:lnTo>
                  <a:lnTo>
                    <a:pt x="283" y="132"/>
                  </a:lnTo>
                  <a:lnTo>
                    <a:pt x="266" y="110"/>
                  </a:lnTo>
                  <a:lnTo>
                    <a:pt x="305" y="70"/>
                  </a:lnTo>
                  <a:lnTo>
                    <a:pt x="283" y="70"/>
                  </a:lnTo>
                  <a:lnTo>
                    <a:pt x="305" y="48"/>
                  </a:lnTo>
                  <a:lnTo>
                    <a:pt x="283" y="48"/>
                  </a:lnTo>
                  <a:lnTo>
                    <a:pt x="318" y="13"/>
                  </a:lnTo>
                  <a:lnTo>
                    <a:pt x="348" y="48"/>
                  </a:lnTo>
                  <a:lnTo>
                    <a:pt x="327" y="48"/>
                  </a:lnTo>
                  <a:lnTo>
                    <a:pt x="348" y="70"/>
                  </a:lnTo>
                  <a:lnTo>
                    <a:pt x="327" y="70"/>
                  </a:lnTo>
                  <a:lnTo>
                    <a:pt x="383" y="1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20"/>
            <p:cNvSpPr>
              <a:spLocks noEditPoints="1"/>
            </p:cNvSpPr>
            <p:nvPr userDrawn="1"/>
          </p:nvSpPr>
          <p:spPr bwMode="auto">
            <a:xfrm>
              <a:off x="7843838" y="4400550"/>
              <a:ext cx="2268538" cy="447675"/>
            </a:xfrm>
            <a:custGeom>
              <a:avLst/>
              <a:gdLst>
                <a:gd name="T0" fmla="*/ 91 w 328"/>
                <a:gd name="T1" fmla="*/ 0 h 64"/>
                <a:gd name="T2" fmla="*/ 124 w 328"/>
                <a:gd name="T3" fmla="*/ 59 h 64"/>
                <a:gd name="T4" fmla="*/ 328 w 328"/>
                <a:gd name="T5" fmla="*/ 63 h 64"/>
                <a:gd name="T6" fmla="*/ 327 w 328"/>
                <a:gd name="T7" fmla="*/ 2 h 64"/>
                <a:gd name="T8" fmla="*/ 193 w 328"/>
                <a:gd name="T9" fmla="*/ 21 h 64"/>
                <a:gd name="T10" fmla="*/ 123 w 328"/>
                <a:gd name="T11" fmla="*/ 57 h 64"/>
                <a:gd name="T12" fmla="*/ 113 w 328"/>
                <a:gd name="T13" fmla="*/ 5 h 64"/>
                <a:gd name="T14" fmla="*/ 150 w 328"/>
                <a:gd name="T15" fmla="*/ 19 h 64"/>
                <a:gd name="T16" fmla="*/ 140 w 328"/>
                <a:gd name="T17" fmla="*/ 20 h 64"/>
                <a:gd name="T18" fmla="*/ 132 w 328"/>
                <a:gd name="T19" fmla="*/ 10 h 64"/>
                <a:gd name="T20" fmla="*/ 188 w 328"/>
                <a:gd name="T21" fmla="*/ 15 h 64"/>
                <a:gd name="T22" fmla="*/ 191 w 328"/>
                <a:gd name="T23" fmla="*/ 49 h 64"/>
                <a:gd name="T24" fmla="*/ 134 w 328"/>
                <a:gd name="T25" fmla="*/ 38 h 64"/>
                <a:gd name="T26" fmla="*/ 139 w 328"/>
                <a:gd name="T27" fmla="*/ 40 h 64"/>
                <a:gd name="T28" fmla="*/ 155 w 328"/>
                <a:gd name="T29" fmla="*/ 38 h 64"/>
                <a:gd name="T30" fmla="*/ 156 w 328"/>
                <a:gd name="T31" fmla="*/ 38 h 64"/>
                <a:gd name="T32" fmla="*/ 172 w 328"/>
                <a:gd name="T33" fmla="*/ 40 h 64"/>
                <a:gd name="T34" fmla="*/ 179 w 328"/>
                <a:gd name="T35" fmla="*/ 38 h 64"/>
                <a:gd name="T36" fmla="*/ 185 w 328"/>
                <a:gd name="T37" fmla="*/ 40 h 64"/>
                <a:gd name="T38" fmla="*/ 180 w 328"/>
                <a:gd name="T39" fmla="*/ 36 h 64"/>
                <a:gd name="T40" fmla="*/ 178 w 328"/>
                <a:gd name="T41" fmla="*/ 36 h 64"/>
                <a:gd name="T42" fmla="*/ 162 w 328"/>
                <a:gd name="T43" fmla="*/ 33 h 64"/>
                <a:gd name="T44" fmla="*/ 155 w 328"/>
                <a:gd name="T45" fmla="*/ 36 h 64"/>
                <a:gd name="T46" fmla="*/ 149 w 328"/>
                <a:gd name="T47" fmla="*/ 33 h 64"/>
                <a:gd name="T48" fmla="*/ 134 w 328"/>
                <a:gd name="T49" fmla="*/ 36 h 64"/>
                <a:gd name="T50" fmla="*/ 138 w 328"/>
                <a:gd name="T51" fmla="*/ 42 h 64"/>
                <a:gd name="T52" fmla="*/ 149 w 328"/>
                <a:gd name="T53" fmla="*/ 42 h 64"/>
                <a:gd name="T54" fmla="*/ 157 w 328"/>
                <a:gd name="T55" fmla="*/ 45 h 64"/>
                <a:gd name="T56" fmla="*/ 162 w 328"/>
                <a:gd name="T57" fmla="*/ 45 h 64"/>
                <a:gd name="T58" fmla="*/ 177 w 328"/>
                <a:gd name="T59" fmla="*/ 42 h 64"/>
                <a:gd name="T60" fmla="*/ 179 w 328"/>
                <a:gd name="T61" fmla="*/ 42 h 64"/>
                <a:gd name="T62" fmla="*/ 180 w 328"/>
                <a:gd name="T63" fmla="*/ 29 h 64"/>
                <a:gd name="T64" fmla="*/ 172 w 328"/>
                <a:gd name="T65" fmla="*/ 31 h 64"/>
                <a:gd name="T66" fmla="*/ 166 w 328"/>
                <a:gd name="T67" fmla="*/ 29 h 64"/>
                <a:gd name="T68" fmla="*/ 154 w 328"/>
                <a:gd name="T69" fmla="*/ 31 h 64"/>
                <a:gd name="T70" fmla="*/ 148 w 328"/>
                <a:gd name="T71" fmla="*/ 29 h 64"/>
                <a:gd name="T72" fmla="*/ 133 w 328"/>
                <a:gd name="T73" fmla="*/ 31 h 64"/>
                <a:gd name="T74" fmla="*/ 123 w 328"/>
                <a:gd name="T75" fmla="*/ 7 h 64"/>
                <a:gd name="T76" fmla="*/ 135 w 328"/>
                <a:gd name="T77" fmla="*/ 50 h 64"/>
                <a:gd name="T78" fmla="*/ 198 w 328"/>
                <a:gd name="T79" fmla="*/ 56 h 64"/>
                <a:gd name="T80" fmla="*/ 203 w 328"/>
                <a:gd name="T81" fmla="*/ 62 h 64"/>
                <a:gd name="T82" fmla="*/ 215 w 328"/>
                <a:gd name="T83" fmla="*/ 6 h 64"/>
                <a:gd name="T84" fmla="*/ 217 w 328"/>
                <a:gd name="T85" fmla="*/ 5 h 64"/>
                <a:gd name="T86" fmla="*/ 230 w 328"/>
                <a:gd name="T87" fmla="*/ 62 h 64"/>
                <a:gd name="T88" fmla="*/ 236 w 328"/>
                <a:gd name="T89" fmla="*/ 2 h 64"/>
                <a:gd name="T90" fmla="*/ 241 w 328"/>
                <a:gd name="T91" fmla="*/ 62 h 64"/>
                <a:gd name="T92" fmla="*/ 254 w 328"/>
                <a:gd name="T93" fmla="*/ 2 h 64"/>
                <a:gd name="T94" fmla="*/ 256 w 328"/>
                <a:gd name="T95" fmla="*/ 2 h 64"/>
                <a:gd name="T96" fmla="*/ 268 w 328"/>
                <a:gd name="T97" fmla="*/ 62 h 64"/>
                <a:gd name="T98" fmla="*/ 275 w 328"/>
                <a:gd name="T99" fmla="*/ 2 h 64"/>
                <a:gd name="T100" fmla="*/ 280 w 328"/>
                <a:gd name="T101" fmla="*/ 62 h 64"/>
                <a:gd name="T102" fmla="*/ 292 w 328"/>
                <a:gd name="T103" fmla="*/ 2 h 64"/>
                <a:gd name="T104" fmla="*/ 294 w 328"/>
                <a:gd name="T105" fmla="*/ 2 h 64"/>
                <a:gd name="T106" fmla="*/ 307 w 328"/>
                <a:gd name="T107" fmla="*/ 62 h 64"/>
                <a:gd name="T108" fmla="*/ 313 w 328"/>
                <a:gd name="T109" fmla="*/ 2 h 64"/>
                <a:gd name="T110" fmla="*/ 318 w 328"/>
                <a:gd name="T111" fmla="*/ 62 h 64"/>
                <a:gd name="T112" fmla="*/ 132 w 328"/>
                <a:gd name="T113" fmla="*/ 27 h 64"/>
                <a:gd name="T114" fmla="*/ 113 w 328"/>
                <a:gd name="T115" fmla="*/ 62 h 64"/>
                <a:gd name="T116" fmla="*/ 2 w 328"/>
                <a:gd name="T117" fmla="*/ 2 h 64"/>
                <a:gd name="T118" fmla="*/ 129 w 328"/>
                <a:gd name="T119" fmla="*/ 5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8" h="64">
                  <a:moveTo>
                    <a:pt x="328" y="0"/>
                  </a:moveTo>
                  <a:cubicBezTo>
                    <a:pt x="240" y="0"/>
                    <a:pt x="240" y="0"/>
                    <a:pt x="240" y="0"/>
                  </a:cubicBezTo>
                  <a:cubicBezTo>
                    <a:pt x="239" y="0"/>
                    <a:pt x="201" y="3"/>
                    <a:pt x="177" y="19"/>
                  </a:cubicBezTo>
                  <a:cubicBezTo>
                    <a:pt x="177" y="19"/>
                    <a:pt x="177" y="19"/>
                    <a:pt x="177" y="19"/>
                  </a:cubicBezTo>
                  <a:cubicBezTo>
                    <a:pt x="169" y="19"/>
                    <a:pt x="162" y="19"/>
                    <a:pt x="155" y="19"/>
                  </a:cubicBezTo>
                  <a:cubicBezTo>
                    <a:pt x="150" y="15"/>
                    <a:pt x="145" y="13"/>
                    <a:pt x="139" y="10"/>
                  </a:cubicBezTo>
                  <a:cubicBezTo>
                    <a:pt x="139" y="10"/>
                    <a:pt x="139" y="10"/>
                    <a:pt x="139" y="10"/>
                  </a:cubicBezTo>
                  <a:cubicBezTo>
                    <a:pt x="116" y="2"/>
                    <a:pt x="91" y="0"/>
                    <a:pt x="91" y="0"/>
                  </a:cubicBezTo>
                  <a:cubicBezTo>
                    <a:pt x="1" y="0"/>
                    <a:pt x="1" y="0"/>
                    <a:pt x="1" y="0"/>
                  </a:cubicBezTo>
                  <a:cubicBezTo>
                    <a:pt x="0" y="0"/>
                    <a:pt x="0" y="0"/>
                    <a:pt x="0" y="1"/>
                  </a:cubicBezTo>
                  <a:cubicBezTo>
                    <a:pt x="0" y="63"/>
                    <a:pt x="0" y="63"/>
                    <a:pt x="0" y="63"/>
                  </a:cubicBezTo>
                  <a:cubicBezTo>
                    <a:pt x="0" y="63"/>
                    <a:pt x="0" y="64"/>
                    <a:pt x="1" y="64"/>
                  </a:cubicBezTo>
                  <a:cubicBezTo>
                    <a:pt x="118" y="64"/>
                    <a:pt x="118" y="64"/>
                    <a:pt x="118" y="64"/>
                  </a:cubicBezTo>
                  <a:cubicBezTo>
                    <a:pt x="118" y="64"/>
                    <a:pt x="118" y="64"/>
                    <a:pt x="119" y="64"/>
                  </a:cubicBezTo>
                  <a:cubicBezTo>
                    <a:pt x="124" y="59"/>
                    <a:pt x="124" y="59"/>
                    <a:pt x="124" y="59"/>
                  </a:cubicBezTo>
                  <a:cubicBezTo>
                    <a:pt x="124" y="59"/>
                    <a:pt x="124" y="59"/>
                    <a:pt x="124" y="59"/>
                  </a:cubicBezTo>
                  <a:cubicBezTo>
                    <a:pt x="197" y="59"/>
                    <a:pt x="197" y="59"/>
                    <a:pt x="197" y="59"/>
                  </a:cubicBezTo>
                  <a:cubicBezTo>
                    <a:pt x="198" y="59"/>
                    <a:pt x="198" y="59"/>
                    <a:pt x="198" y="59"/>
                  </a:cubicBezTo>
                  <a:cubicBezTo>
                    <a:pt x="201" y="63"/>
                    <a:pt x="201" y="63"/>
                    <a:pt x="201" y="63"/>
                  </a:cubicBezTo>
                  <a:cubicBezTo>
                    <a:pt x="202" y="63"/>
                    <a:pt x="202" y="64"/>
                    <a:pt x="202" y="64"/>
                  </a:cubicBezTo>
                  <a:cubicBezTo>
                    <a:pt x="328" y="64"/>
                    <a:pt x="328" y="64"/>
                    <a:pt x="328" y="64"/>
                  </a:cubicBezTo>
                  <a:cubicBezTo>
                    <a:pt x="328" y="64"/>
                    <a:pt x="328" y="64"/>
                    <a:pt x="328" y="64"/>
                  </a:cubicBezTo>
                  <a:cubicBezTo>
                    <a:pt x="328" y="64"/>
                    <a:pt x="328" y="64"/>
                    <a:pt x="328" y="63"/>
                  </a:cubicBezTo>
                  <a:cubicBezTo>
                    <a:pt x="328" y="63"/>
                    <a:pt x="328" y="63"/>
                    <a:pt x="328" y="63"/>
                  </a:cubicBezTo>
                  <a:cubicBezTo>
                    <a:pt x="328" y="63"/>
                    <a:pt x="328" y="63"/>
                    <a:pt x="328" y="63"/>
                  </a:cubicBezTo>
                  <a:cubicBezTo>
                    <a:pt x="328" y="63"/>
                    <a:pt x="328" y="63"/>
                    <a:pt x="328" y="63"/>
                  </a:cubicBezTo>
                  <a:cubicBezTo>
                    <a:pt x="328" y="1"/>
                    <a:pt x="328" y="1"/>
                    <a:pt x="328" y="1"/>
                  </a:cubicBezTo>
                  <a:cubicBezTo>
                    <a:pt x="328" y="0"/>
                    <a:pt x="328" y="0"/>
                    <a:pt x="328" y="0"/>
                  </a:cubicBezTo>
                  <a:close/>
                  <a:moveTo>
                    <a:pt x="327" y="62"/>
                  </a:moveTo>
                  <a:cubicBezTo>
                    <a:pt x="323" y="62"/>
                    <a:pt x="323" y="62"/>
                    <a:pt x="323" y="62"/>
                  </a:cubicBezTo>
                  <a:cubicBezTo>
                    <a:pt x="323" y="2"/>
                    <a:pt x="323" y="2"/>
                    <a:pt x="323" y="2"/>
                  </a:cubicBezTo>
                  <a:cubicBezTo>
                    <a:pt x="327" y="2"/>
                    <a:pt x="327" y="2"/>
                    <a:pt x="327" y="2"/>
                  </a:cubicBezTo>
                  <a:lnTo>
                    <a:pt x="327" y="62"/>
                  </a:lnTo>
                  <a:close/>
                  <a:moveTo>
                    <a:pt x="193" y="51"/>
                  </a:moveTo>
                  <a:cubicBezTo>
                    <a:pt x="193" y="51"/>
                    <a:pt x="193" y="51"/>
                    <a:pt x="193" y="51"/>
                  </a:cubicBezTo>
                  <a:cubicBezTo>
                    <a:pt x="193" y="25"/>
                    <a:pt x="193" y="25"/>
                    <a:pt x="193" y="25"/>
                  </a:cubicBezTo>
                  <a:cubicBezTo>
                    <a:pt x="193" y="25"/>
                    <a:pt x="193" y="25"/>
                    <a:pt x="193" y="25"/>
                  </a:cubicBezTo>
                  <a:cubicBezTo>
                    <a:pt x="194" y="22"/>
                    <a:pt x="194" y="22"/>
                    <a:pt x="194" y="22"/>
                  </a:cubicBezTo>
                  <a:cubicBezTo>
                    <a:pt x="194" y="22"/>
                    <a:pt x="194" y="21"/>
                    <a:pt x="193" y="21"/>
                  </a:cubicBezTo>
                  <a:cubicBezTo>
                    <a:pt x="193" y="21"/>
                    <a:pt x="193" y="21"/>
                    <a:pt x="193" y="21"/>
                  </a:cubicBezTo>
                  <a:cubicBezTo>
                    <a:pt x="193" y="12"/>
                    <a:pt x="193" y="12"/>
                    <a:pt x="193" y="12"/>
                  </a:cubicBezTo>
                  <a:cubicBezTo>
                    <a:pt x="194" y="12"/>
                    <a:pt x="195" y="12"/>
                    <a:pt x="196" y="11"/>
                  </a:cubicBezTo>
                  <a:cubicBezTo>
                    <a:pt x="196" y="54"/>
                    <a:pt x="196" y="54"/>
                    <a:pt x="196" y="54"/>
                  </a:cubicBezTo>
                  <a:lnTo>
                    <a:pt x="193" y="51"/>
                  </a:lnTo>
                  <a:close/>
                  <a:moveTo>
                    <a:pt x="107" y="4"/>
                  </a:moveTo>
                  <a:cubicBezTo>
                    <a:pt x="108" y="4"/>
                    <a:pt x="110" y="4"/>
                    <a:pt x="111" y="4"/>
                  </a:cubicBezTo>
                  <a:cubicBezTo>
                    <a:pt x="126" y="55"/>
                    <a:pt x="126" y="55"/>
                    <a:pt x="126" y="55"/>
                  </a:cubicBezTo>
                  <a:cubicBezTo>
                    <a:pt x="123" y="57"/>
                    <a:pt x="123" y="57"/>
                    <a:pt x="123" y="57"/>
                  </a:cubicBezTo>
                  <a:lnTo>
                    <a:pt x="107" y="4"/>
                  </a:lnTo>
                  <a:close/>
                  <a:moveTo>
                    <a:pt x="122" y="59"/>
                  </a:moveTo>
                  <a:cubicBezTo>
                    <a:pt x="119" y="61"/>
                    <a:pt x="119" y="61"/>
                    <a:pt x="119" y="61"/>
                  </a:cubicBezTo>
                  <a:cubicBezTo>
                    <a:pt x="102" y="3"/>
                    <a:pt x="102" y="3"/>
                    <a:pt x="102" y="3"/>
                  </a:cubicBezTo>
                  <a:cubicBezTo>
                    <a:pt x="103" y="3"/>
                    <a:pt x="104" y="3"/>
                    <a:pt x="105" y="3"/>
                  </a:cubicBezTo>
                  <a:lnTo>
                    <a:pt x="122" y="59"/>
                  </a:lnTo>
                  <a:close/>
                  <a:moveTo>
                    <a:pt x="127" y="54"/>
                  </a:moveTo>
                  <a:cubicBezTo>
                    <a:pt x="113" y="5"/>
                    <a:pt x="113" y="5"/>
                    <a:pt x="113" y="5"/>
                  </a:cubicBezTo>
                  <a:cubicBezTo>
                    <a:pt x="114" y="5"/>
                    <a:pt x="115" y="5"/>
                    <a:pt x="116" y="5"/>
                  </a:cubicBezTo>
                  <a:cubicBezTo>
                    <a:pt x="130" y="52"/>
                    <a:pt x="130" y="52"/>
                    <a:pt x="130" y="52"/>
                  </a:cubicBezTo>
                  <a:lnTo>
                    <a:pt x="127" y="54"/>
                  </a:lnTo>
                  <a:close/>
                  <a:moveTo>
                    <a:pt x="147" y="19"/>
                  </a:moveTo>
                  <a:cubicBezTo>
                    <a:pt x="145" y="15"/>
                    <a:pt x="145" y="15"/>
                    <a:pt x="145" y="15"/>
                  </a:cubicBezTo>
                  <a:cubicBezTo>
                    <a:pt x="147" y="16"/>
                    <a:pt x="148" y="16"/>
                    <a:pt x="149" y="17"/>
                  </a:cubicBezTo>
                  <a:cubicBezTo>
                    <a:pt x="149" y="17"/>
                    <a:pt x="149" y="17"/>
                    <a:pt x="149" y="17"/>
                  </a:cubicBezTo>
                  <a:cubicBezTo>
                    <a:pt x="150" y="19"/>
                    <a:pt x="150" y="19"/>
                    <a:pt x="150" y="19"/>
                  </a:cubicBezTo>
                  <a:cubicBezTo>
                    <a:pt x="149" y="19"/>
                    <a:pt x="148" y="19"/>
                    <a:pt x="147" y="19"/>
                  </a:cubicBezTo>
                  <a:close/>
                  <a:moveTo>
                    <a:pt x="145" y="19"/>
                  </a:moveTo>
                  <a:cubicBezTo>
                    <a:pt x="144" y="19"/>
                    <a:pt x="143" y="20"/>
                    <a:pt x="142" y="20"/>
                  </a:cubicBezTo>
                  <a:cubicBezTo>
                    <a:pt x="140" y="13"/>
                    <a:pt x="140" y="13"/>
                    <a:pt x="140" y="13"/>
                  </a:cubicBezTo>
                  <a:cubicBezTo>
                    <a:pt x="141" y="13"/>
                    <a:pt x="142" y="14"/>
                    <a:pt x="143" y="14"/>
                  </a:cubicBezTo>
                  <a:cubicBezTo>
                    <a:pt x="143" y="14"/>
                    <a:pt x="143" y="15"/>
                    <a:pt x="143" y="15"/>
                  </a:cubicBezTo>
                  <a:lnTo>
                    <a:pt x="145" y="19"/>
                  </a:lnTo>
                  <a:close/>
                  <a:moveTo>
                    <a:pt x="140" y="20"/>
                  </a:moveTo>
                  <a:cubicBezTo>
                    <a:pt x="139" y="20"/>
                    <a:pt x="138" y="20"/>
                    <a:pt x="137" y="20"/>
                  </a:cubicBezTo>
                  <a:cubicBezTo>
                    <a:pt x="134" y="11"/>
                    <a:pt x="134" y="11"/>
                    <a:pt x="134" y="11"/>
                  </a:cubicBezTo>
                  <a:cubicBezTo>
                    <a:pt x="135" y="11"/>
                    <a:pt x="136" y="11"/>
                    <a:pt x="138" y="12"/>
                  </a:cubicBezTo>
                  <a:lnTo>
                    <a:pt x="140" y="20"/>
                  </a:lnTo>
                  <a:close/>
                  <a:moveTo>
                    <a:pt x="135" y="20"/>
                  </a:moveTo>
                  <a:cubicBezTo>
                    <a:pt x="134" y="20"/>
                    <a:pt x="133" y="20"/>
                    <a:pt x="132" y="21"/>
                  </a:cubicBezTo>
                  <a:cubicBezTo>
                    <a:pt x="129" y="9"/>
                    <a:pt x="129" y="9"/>
                    <a:pt x="129" y="9"/>
                  </a:cubicBezTo>
                  <a:cubicBezTo>
                    <a:pt x="130" y="9"/>
                    <a:pt x="131" y="10"/>
                    <a:pt x="132" y="10"/>
                  </a:cubicBezTo>
                  <a:lnTo>
                    <a:pt x="135" y="20"/>
                  </a:lnTo>
                  <a:close/>
                  <a:moveTo>
                    <a:pt x="183" y="20"/>
                  </a:moveTo>
                  <a:cubicBezTo>
                    <a:pt x="183" y="17"/>
                    <a:pt x="183" y="17"/>
                    <a:pt x="183" y="17"/>
                  </a:cubicBezTo>
                  <a:cubicBezTo>
                    <a:pt x="183" y="17"/>
                    <a:pt x="183" y="17"/>
                    <a:pt x="183" y="17"/>
                  </a:cubicBezTo>
                  <a:cubicBezTo>
                    <a:pt x="184" y="16"/>
                    <a:pt x="185" y="16"/>
                    <a:pt x="186" y="15"/>
                  </a:cubicBezTo>
                  <a:cubicBezTo>
                    <a:pt x="186" y="20"/>
                    <a:pt x="186" y="20"/>
                    <a:pt x="186" y="20"/>
                  </a:cubicBezTo>
                  <a:cubicBezTo>
                    <a:pt x="185" y="20"/>
                    <a:pt x="184" y="20"/>
                    <a:pt x="183" y="20"/>
                  </a:cubicBezTo>
                  <a:close/>
                  <a:moveTo>
                    <a:pt x="188" y="15"/>
                  </a:moveTo>
                  <a:cubicBezTo>
                    <a:pt x="189" y="14"/>
                    <a:pt x="190" y="14"/>
                    <a:pt x="191" y="13"/>
                  </a:cubicBezTo>
                  <a:cubicBezTo>
                    <a:pt x="191" y="21"/>
                    <a:pt x="191" y="21"/>
                    <a:pt x="191" y="21"/>
                  </a:cubicBezTo>
                  <a:cubicBezTo>
                    <a:pt x="190" y="20"/>
                    <a:pt x="189" y="20"/>
                    <a:pt x="188" y="20"/>
                  </a:cubicBezTo>
                  <a:lnTo>
                    <a:pt x="188" y="15"/>
                  </a:lnTo>
                  <a:close/>
                  <a:moveTo>
                    <a:pt x="189" y="46"/>
                  </a:moveTo>
                  <a:cubicBezTo>
                    <a:pt x="189" y="46"/>
                    <a:pt x="189" y="46"/>
                    <a:pt x="189" y="46"/>
                  </a:cubicBezTo>
                  <a:cubicBezTo>
                    <a:pt x="191" y="34"/>
                    <a:pt x="191" y="34"/>
                    <a:pt x="191" y="34"/>
                  </a:cubicBezTo>
                  <a:cubicBezTo>
                    <a:pt x="191" y="49"/>
                    <a:pt x="191" y="49"/>
                    <a:pt x="191" y="49"/>
                  </a:cubicBezTo>
                  <a:lnTo>
                    <a:pt x="189" y="46"/>
                  </a:lnTo>
                  <a:close/>
                  <a:moveTo>
                    <a:pt x="184" y="45"/>
                  </a:moveTo>
                  <a:cubicBezTo>
                    <a:pt x="185" y="42"/>
                    <a:pt x="185" y="42"/>
                    <a:pt x="185" y="42"/>
                  </a:cubicBezTo>
                  <a:cubicBezTo>
                    <a:pt x="188" y="42"/>
                    <a:pt x="188" y="42"/>
                    <a:pt x="188" y="42"/>
                  </a:cubicBezTo>
                  <a:cubicBezTo>
                    <a:pt x="187" y="45"/>
                    <a:pt x="187" y="45"/>
                    <a:pt x="187" y="45"/>
                  </a:cubicBezTo>
                  <a:cubicBezTo>
                    <a:pt x="187" y="45"/>
                    <a:pt x="187" y="45"/>
                    <a:pt x="187" y="45"/>
                  </a:cubicBezTo>
                  <a:lnTo>
                    <a:pt x="184" y="45"/>
                  </a:lnTo>
                  <a:close/>
                  <a:moveTo>
                    <a:pt x="134" y="38"/>
                  </a:moveTo>
                  <a:cubicBezTo>
                    <a:pt x="137" y="38"/>
                    <a:pt x="137" y="38"/>
                    <a:pt x="137" y="38"/>
                  </a:cubicBezTo>
                  <a:cubicBezTo>
                    <a:pt x="138" y="40"/>
                    <a:pt x="138" y="40"/>
                    <a:pt x="138" y="40"/>
                  </a:cubicBezTo>
                  <a:cubicBezTo>
                    <a:pt x="135" y="40"/>
                    <a:pt x="135" y="40"/>
                    <a:pt x="135" y="40"/>
                  </a:cubicBezTo>
                  <a:lnTo>
                    <a:pt x="134" y="38"/>
                  </a:lnTo>
                  <a:close/>
                  <a:moveTo>
                    <a:pt x="139" y="38"/>
                  </a:moveTo>
                  <a:cubicBezTo>
                    <a:pt x="143" y="38"/>
                    <a:pt x="143" y="38"/>
                    <a:pt x="143" y="38"/>
                  </a:cubicBezTo>
                  <a:cubicBezTo>
                    <a:pt x="143" y="40"/>
                    <a:pt x="143" y="40"/>
                    <a:pt x="143" y="40"/>
                  </a:cubicBezTo>
                  <a:cubicBezTo>
                    <a:pt x="139" y="40"/>
                    <a:pt x="139" y="40"/>
                    <a:pt x="139" y="40"/>
                  </a:cubicBezTo>
                  <a:lnTo>
                    <a:pt x="139" y="38"/>
                  </a:lnTo>
                  <a:close/>
                  <a:moveTo>
                    <a:pt x="145" y="38"/>
                  </a:moveTo>
                  <a:cubicBezTo>
                    <a:pt x="149" y="38"/>
                    <a:pt x="149" y="38"/>
                    <a:pt x="149" y="38"/>
                  </a:cubicBezTo>
                  <a:cubicBezTo>
                    <a:pt x="149" y="40"/>
                    <a:pt x="149" y="40"/>
                    <a:pt x="149" y="40"/>
                  </a:cubicBezTo>
                  <a:cubicBezTo>
                    <a:pt x="145" y="40"/>
                    <a:pt x="145" y="40"/>
                    <a:pt x="145" y="40"/>
                  </a:cubicBezTo>
                  <a:lnTo>
                    <a:pt x="145" y="38"/>
                  </a:lnTo>
                  <a:close/>
                  <a:moveTo>
                    <a:pt x="151" y="38"/>
                  </a:moveTo>
                  <a:cubicBezTo>
                    <a:pt x="155" y="38"/>
                    <a:pt x="155" y="38"/>
                    <a:pt x="155" y="38"/>
                  </a:cubicBezTo>
                  <a:cubicBezTo>
                    <a:pt x="155" y="40"/>
                    <a:pt x="155" y="40"/>
                    <a:pt x="155" y="40"/>
                  </a:cubicBezTo>
                  <a:cubicBezTo>
                    <a:pt x="151" y="40"/>
                    <a:pt x="151" y="40"/>
                    <a:pt x="151" y="40"/>
                  </a:cubicBezTo>
                  <a:lnTo>
                    <a:pt x="151" y="38"/>
                  </a:lnTo>
                  <a:close/>
                  <a:moveTo>
                    <a:pt x="156" y="38"/>
                  </a:moveTo>
                  <a:cubicBezTo>
                    <a:pt x="160" y="38"/>
                    <a:pt x="160" y="38"/>
                    <a:pt x="160" y="38"/>
                  </a:cubicBezTo>
                  <a:cubicBezTo>
                    <a:pt x="160" y="40"/>
                    <a:pt x="160" y="40"/>
                    <a:pt x="160" y="40"/>
                  </a:cubicBezTo>
                  <a:cubicBezTo>
                    <a:pt x="156" y="40"/>
                    <a:pt x="156" y="40"/>
                    <a:pt x="156" y="40"/>
                  </a:cubicBezTo>
                  <a:lnTo>
                    <a:pt x="156" y="38"/>
                  </a:lnTo>
                  <a:close/>
                  <a:moveTo>
                    <a:pt x="162" y="38"/>
                  </a:moveTo>
                  <a:cubicBezTo>
                    <a:pt x="166" y="38"/>
                    <a:pt x="166" y="38"/>
                    <a:pt x="166" y="38"/>
                  </a:cubicBezTo>
                  <a:cubicBezTo>
                    <a:pt x="166" y="40"/>
                    <a:pt x="166" y="40"/>
                    <a:pt x="166" y="40"/>
                  </a:cubicBezTo>
                  <a:cubicBezTo>
                    <a:pt x="162" y="40"/>
                    <a:pt x="162" y="40"/>
                    <a:pt x="162" y="40"/>
                  </a:cubicBezTo>
                  <a:lnTo>
                    <a:pt x="162" y="38"/>
                  </a:lnTo>
                  <a:close/>
                  <a:moveTo>
                    <a:pt x="168" y="38"/>
                  </a:moveTo>
                  <a:cubicBezTo>
                    <a:pt x="172" y="38"/>
                    <a:pt x="172" y="38"/>
                    <a:pt x="172" y="38"/>
                  </a:cubicBezTo>
                  <a:cubicBezTo>
                    <a:pt x="172" y="40"/>
                    <a:pt x="172" y="40"/>
                    <a:pt x="172" y="40"/>
                  </a:cubicBezTo>
                  <a:cubicBezTo>
                    <a:pt x="168" y="40"/>
                    <a:pt x="168" y="40"/>
                    <a:pt x="168" y="40"/>
                  </a:cubicBezTo>
                  <a:lnTo>
                    <a:pt x="168" y="38"/>
                  </a:lnTo>
                  <a:close/>
                  <a:moveTo>
                    <a:pt x="174" y="38"/>
                  </a:moveTo>
                  <a:cubicBezTo>
                    <a:pt x="178" y="38"/>
                    <a:pt x="178" y="38"/>
                    <a:pt x="178" y="38"/>
                  </a:cubicBezTo>
                  <a:cubicBezTo>
                    <a:pt x="177" y="40"/>
                    <a:pt x="177" y="40"/>
                    <a:pt x="177" y="40"/>
                  </a:cubicBezTo>
                  <a:cubicBezTo>
                    <a:pt x="174" y="40"/>
                    <a:pt x="174" y="40"/>
                    <a:pt x="174" y="40"/>
                  </a:cubicBezTo>
                  <a:lnTo>
                    <a:pt x="174" y="38"/>
                  </a:lnTo>
                  <a:close/>
                  <a:moveTo>
                    <a:pt x="179" y="38"/>
                  </a:moveTo>
                  <a:cubicBezTo>
                    <a:pt x="183" y="38"/>
                    <a:pt x="183" y="38"/>
                    <a:pt x="183" y="38"/>
                  </a:cubicBezTo>
                  <a:cubicBezTo>
                    <a:pt x="183" y="40"/>
                    <a:pt x="183" y="40"/>
                    <a:pt x="183" y="40"/>
                  </a:cubicBezTo>
                  <a:cubicBezTo>
                    <a:pt x="179" y="40"/>
                    <a:pt x="179" y="40"/>
                    <a:pt x="179" y="40"/>
                  </a:cubicBezTo>
                  <a:lnTo>
                    <a:pt x="179" y="38"/>
                  </a:lnTo>
                  <a:close/>
                  <a:moveTo>
                    <a:pt x="185" y="38"/>
                  </a:moveTo>
                  <a:cubicBezTo>
                    <a:pt x="189" y="38"/>
                    <a:pt x="189" y="38"/>
                    <a:pt x="189" y="38"/>
                  </a:cubicBezTo>
                  <a:cubicBezTo>
                    <a:pt x="188" y="40"/>
                    <a:pt x="188" y="40"/>
                    <a:pt x="188" y="40"/>
                  </a:cubicBezTo>
                  <a:cubicBezTo>
                    <a:pt x="185" y="40"/>
                    <a:pt x="185" y="40"/>
                    <a:pt x="185" y="40"/>
                  </a:cubicBezTo>
                  <a:lnTo>
                    <a:pt x="185" y="38"/>
                  </a:lnTo>
                  <a:close/>
                  <a:moveTo>
                    <a:pt x="189" y="36"/>
                  </a:moveTo>
                  <a:cubicBezTo>
                    <a:pt x="185" y="36"/>
                    <a:pt x="185" y="36"/>
                    <a:pt x="185" y="36"/>
                  </a:cubicBezTo>
                  <a:cubicBezTo>
                    <a:pt x="186" y="33"/>
                    <a:pt x="186" y="33"/>
                    <a:pt x="186" y="33"/>
                  </a:cubicBezTo>
                  <a:cubicBezTo>
                    <a:pt x="189" y="33"/>
                    <a:pt x="189" y="33"/>
                    <a:pt x="189" y="33"/>
                  </a:cubicBezTo>
                  <a:lnTo>
                    <a:pt x="189" y="36"/>
                  </a:lnTo>
                  <a:close/>
                  <a:moveTo>
                    <a:pt x="184" y="36"/>
                  </a:moveTo>
                  <a:cubicBezTo>
                    <a:pt x="180" y="36"/>
                    <a:pt x="180" y="36"/>
                    <a:pt x="180" y="36"/>
                  </a:cubicBezTo>
                  <a:cubicBezTo>
                    <a:pt x="180" y="33"/>
                    <a:pt x="180" y="33"/>
                    <a:pt x="180" y="33"/>
                  </a:cubicBezTo>
                  <a:cubicBezTo>
                    <a:pt x="184" y="33"/>
                    <a:pt x="184" y="33"/>
                    <a:pt x="184" y="33"/>
                  </a:cubicBezTo>
                  <a:lnTo>
                    <a:pt x="184" y="36"/>
                  </a:lnTo>
                  <a:close/>
                  <a:moveTo>
                    <a:pt x="178" y="36"/>
                  </a:moveTo>
                  <a:cubicBezTo>
                    <a:pt x="174" y="36"/>
                    <a:pt x="174" y="36"/>
                    <a:pt x="174" y="36"/>
                  </a:cubicBezTo>
                  <a:cubicBezTo>
                    <a:pt x="174" y="33"/>
                    <a:pt x="174" y="33"/>
                    <a:pt x="174" y="33"/>
                  </a:cubicBezTo>
                  <a:cubicBezTo>
                    <a:pt x="178" y="33"/>
                    <a:pt x="178" y="33"/>
                    <a:pt x="178" y="33"/>
                  </a:cubicBezTo>
                  <a:lnTo>
                    <a:pt x="178" y="36"/>
                  </a:lnTo>
                  <a:close/>
                  <a:moveTo>
                    <a:pt x="172" y="36"/>
                  </a:moveTo>
                  <a:cubicBezTo>
                    <a:pt x="168" y="36"/>
                    <a:pt x="168" y="36"/>
                    <a:pt x="168" y="36"/>
                  </a:cubicBezTo>
                  <a:cubicBezTo>
                    <a:pt x="168" y="33"/>
                    <a:pt x="168" y="33"/>
                    <a:pt x="168" y="33"/>
                  </a:cubicBezTo>
                  <a:cubicBezTo>
                    <a:pt x="172" y="33"/>
                    <a:pt x="172" y="33"/>
                    <a:pt x="172" y="33"/>
                  </a:cubicBezTo>
                  <a:lnTo>
                    <a:pt x="172" y="36"/>
                  </a:lnTo>
                  <a:close/>
                  <a:moveTo>
                    <a:pt x="166" y="36"/>
                  </a:moveTo>
                  <a:cubicBezTo>
                    <a:pt x="162" y="36"/>
                    <a:pt x="162" y="36"/>
                    <a:pt x="162" y="36"/>
                  </a:cubicBezTo>
                  <a:cubicBezTo>
                    <a:pt x="162" y="33"/>
                    <a:pt x="162" y="33"/>
                    <a:pt x="162" y="33"/>
                  </a:cubicBezTo>
                  <a:cubicBezTo>
                    <a:pt x="166" y="33"/>
                    <a:pt x="166" y="33"/>
                    <a:pt x="166" y="33"/>
                  </a:cubicBezTo>
                  <a:lnTo>
                    <a:pt x="166" y="36"/>
                  </a:lnTo>
                  <a:close/>
                  <a:moveTo>
                    <a:pt x="160" y="36"/>
                  </a:moveTo>
                  <a:cubicBezTo>
                    <a:pt x="156" y="36"/>
                    <a:pt x="156" y="36"/>
                    <a:pt x="156" y="36"/>
                  </a:cubicBezTo>
                  <a:cubicBezTo>
                    <a:pt x="156" y="33"/>
                    <a:pt x="156" y="33"/>
                    <a:pt x="156" y="33"/>
                  </a:cubicBezTo>
                  <a:cubicBezTo>
                    <a:pt x="160" y="33"/>
                    <a:pt x="160" y="33"/>
                    <a:pt x="160" y="33"/>
                  </a:cubicBezTo>
                  <a:lnTo>
                    <a:pt x="160" y="36"/>
                  </a:lnTo>
                  <a:close/>
                  <a:moveTo>
                    <a:pt x="155" y="36"/>
                  </a:moveTo>
                  <a:cubicBezTo>
                    <a:pt x="151" y="36"/>
                    <a:pt x="151" y="36"/>
                    <a:pt x="151" y="36"/>
                  </a:cubicBezTo>
                  <a:cubicBezTo>
                    <a:pt x="150" y="33"/>
                    <a:pt x="150" y="33"/>
                    <a:pt x="150" y="33"/>
                  </a:cubicBezTo>
                  <a:cubicBezTo>
                    <a:pt x="154" y="33"/>
                    <a:pt x="154" y="33"/>
                    <a:pt x="154" y="33"/>
                  </a:cubicBezTo>
                  <a:lnTo>
                    <a:pt x="155" y="36"/>
                  </a:lnTo>
                  <a:close/>
                  <a:moveTo>
                    <a:pt x="149" y="36"/>
                  </a:moveTo>
                  <a:cubicBezTo>
                    <a:pt x="145" y="36"/>
                    <a:pt x="145" y="36"/>
                    <a:pt x="145" y="36"/>
                  </a:cubicBezTo>
                  <a:cubicBezTo>
                    <a:pt x="145" y="33"/>
                    <a:pt x="145" y="33"/>
                    <a:pt x="145" y="33"/>
                  </a:cubicBezTo>
                  <a:cubicBezTo>
                    <a:pt x="149" y="33"/>
                    <a:pt x="149" y="33"/>
                    <a:pt x="149" y="33"/>
                  </a:cubicBezTo>
                  <a:lnTo>
                    <a:pt x="149" y="36"/>
                  </a:lnTo>
                  <a:close/>
                  <a:moveTo>
                    <a:pt x="143" y="36"/>
                  </a:moveTo>
                  <a:cubicBezTo>
                    <a:pt x="139" y="36"/>
                    <a:pt x="139" y="36"/>
                    <a:pt x="139" y="36"/>
                  </a:cubicBezTo>
                  <a:cubicBezTo>
                    <a:pt x="139" y="33"/>
                    <a:pt x="139" y="33"/>
                    <a:pt x="139" y="33"/>
                  </a:cubicBezTo>
                  <a:cubicBezTo>
                    <a:pt x="143" y="33"/>
                    <a:pt x="143" y="33"/>
                    <a:pt x="143" y="33"/>
                  </a:cubicBezTo>
                  <a:lnTo>
                    <a:pt x="143" y="36"/>
                  </a:lnTo>
                  <a:close/>
                  <a:moveTo>
                    <a:pt x="137" y="36"/>
                  </a:moveTo>
                  <a:cubicBezTo>
                    <a:pt x="134" y="36"/>
                    <a:pt x="134" y="36"/>
                    <a:pt x="134" y="36"/>
                  </a:cubicBezTo>
                  <a:cubicBezTo>
                    <a:pt x="133" y="33"/>
                    <a:pt x="133" y="33"/>
                    <a:pt x="133" y="33"/>
                  </a:cubicBezTo>
                  <a:cubicBezTo>
                    <a:pt x="137" y="33"/>
                    <a:pt x="137" y="33"/>
                    <a:pt x="137" y="33"/>
                  </a:cubicBezTo>
                  <a:lnTo>
                    <a:pt x="137" y="36"/>
                  </a:lnTo>
                  <a:close/>
                  <a:moveTo>
                    <a:pt x="138" y="42"/>
                  </a:moveTo>
                  <a:cubicBezTo>
                    <a:pt x="138" y="45"/>
                    <a:pt x="138" y="45"/>
                    <a:pt x="138" y="45"/>
                  </a:cubicBezTo>
                  <a:cubicBezTo>
                    <a:pt x="136" y="45"/>
                    <a:pt x="136" y="45"/>
                    <a:pt x="136" y="45"/>
                  </a:cubicBezTo>
                  <a:cubicBezTo>
                    <a:pt x="135" y="42"/>
                    <a:pt x="135" y="42"/>
                    <a:pt x="135" y="42"/>
                  </a:cubicBezTo>
                  <a:lnTo>
                    <a:pt x="138" y="42"/>
                  </a:lnTo>
                  <a:close/>
                  <a:moveTo>
                    <a:pt x="140" y="45"/>
                  </a:moveTo>
                  <a:cubicBezTo>
                    <a:pt x="140" y="42"/>
                    <a:pt x="140" y="42"/>
                    <a:pt x="140" y="42"/>
                  </a:cubicBezTo>
                  <a:cubicBezTo>
                    <a:pt x="143" y="42"/>
                    <a:pt x="143" y="42"/>
                    <a:pt x="143" y="42"/>
                  </a:cubicBezTo>
                  <a:cubicBezTo>
                    <a:pt x="144" y="45"/>
                    <a:pt x="144" y="45"/>
                    <a:pt x="144" y="45"/>
                  </a:cubicBezTo>
                  <a:lnTo>
                    <a:pt x="140" y="45"/>
                  </a:lnTo>
                  <a:close/>
                  <a:moveTo>
                    <a:pt x="146" y="45"/>
                  </a:moveTo>
                  <a:cubicBezTo>
                    <a:pt x="145" y="42"/>
                    <a:pt x="145" y="42"/>
                    <a:pt x="145" y="42"/>
                  </a:cubicBezTo>
                  <a:cubicBezTo>
                    <a:pt x="149" y="42"/>
                    <a:pt x="149" y="42"/>
                    <a:pt x="149" y="42"/>
                  </a:cubicBezTo>
                  <a:cubicBezTo>
                    <a:pt x="149" y="45"/>
                    <a:pt x="149" y="45"/>
                    <a:pt x="149" y="45"/>
                  </a:cubicBezTo>
                  <a:lnTo>
                    <a:pt x="146" y="45"/>
                  </a:lnTo>
                  <a:close/>
                  <a:moveTo>
                    <a:pt x="151" y="45"/>
                  </a:moveTo>
                  <a:cubicBezTo>
                    <a:pt x="151" y="42"/>
                    <a:pt x="151" y="42"/>
                    <a:pt x="151" y="42"/>
                  </a:cubicBezTo>
                  <a:cubicBezTo>
                    <a:pt x="155" y="42"/>
                    <a:pt x="155" y="42"/>
                    <a:pt x="155" y="42"/>
                  </a:cubicBezTo>
                  <a:cubicBezTo>
                    <a:pt x="155" y="45"/>
                    <a:pt x="155" y="45"/>
                    <a:pt x="155" y="45"/>
                  </a:cubicBezTo>
                  <a:lnTo>
                    <a:pt x="151" y="45"/>
                  </a:lnTo>
                  <a:close/>
                  <a:moveTo>
                    <a:pt x="157" y="45"/>
                  </a:moveTo>
                  <a:cubicBezTo>
                    <a:pt x="157" y="42"/>
                    <a:pt x="157" y="42"/>
                    <a:pt x="157" y="42"/>
                  </a:cubicBezTo>
                  <a:cubicBezTo>
                    <a:pt x="160" y="42"/>
                    <a:pt x="160" y="42"/>
                    <a:pt x="160" y="42"/>
                  </a:cubicBezTo>
                  <a:cubicBezTo>
                    <a:pt x="160" y="45"/>
                    <a:pt x="160" y="45"/>
                    <a:pt x="160" y="45"/>
                  </a:cubicBezTo>
                  <a:lnTo>
                    <a:pt x="157" y="45"/>
                  </a:lnTo>
                  <a:close/>
                  <a:moveTo>
                    <a:pt x="162" y="42"/>
                  </a:moveTo>
                  <a:cubicBezTo>
                    <a:pt x="166" y="42"/>
                    <a:pt x="166" y="42"/>
                    <a:pt x="166" y="42"/>
                  </a:cubicBezTo>
                  <a:cubicBezTo>
                    <a:pt x="166" y="45"/>
                    <a:pt x="166" y="45"/>
                    <a:pt x="166" y="45"/>
                  </a:cubicBezTo>
                  <a:cubicBezTo>
                    <a:pt x="162" y="45"/>
                    <a:pt x="162" y="45"/>
                    <a:pt x="162" y="45"/>
                  </a:cubicBezTo>
                  <a:lnTo>
                    <a:pt x="162" y="42"/>
                  </a:lnTo>
                  <a:close/>
                  <a:moveTo>
                    <a:pt x="168" y="42"/>
                  </a:moveTo>
                  <a:cubicBezTo>
                    <a:pt x="172" y="42"/>
                    <a:pt x="172" y="42"/>
                    <a:pt x="172" y="42"/>
                  </a:cubicBezTo>
                  <a:cubicBezTo>
                    <a:pt x="171" y="45"/>
                    <a:pt x="171" y="45"/>
                    <a:pt x="171" y="45"/>
                  </a:cubicBezTo>
                  <a:cubicBezTo>
                    <a:pt x="168" y="45"/>
                    <a:pt x="168" y="45"/>
                    <a:pt x="168" y="45"/>
                  </a:cubicBezTo>
                  <a:lnTo>
                    <a:pt x="168" y="42"/>
                  </a:lnTo>
                  <a:close/>
                  <a:moveTo>
                    <a:pt x="173" y="42"/>
                  </a:moveTo>
                  <a:cubicBezTo>
                    <a:pt x="177" y="42"/>
                    <a:pt x="177" y="42"/>
                    <a:pt x="177" y="42"/>
                  </a:cubicBezTo>
                  <a:cubicBezTo>
                    <a:pt x="177" y="45"/>
                    <a:pt x="177" y="45"/>
                    <a:pt x="177" y="45"/>
                  </a:cubicBezTo>
                  <a:cubicBezTo>
                    <a:pt x="173" y="45"/>
                    <a:pt x="173" y="45"/>
                    <a:pt x="173" y="45"/>
                  </a:cubicBezTo>
                  <a:lnTo>
                    <a:pt x="173" y="42"/>
                  </a:lnTo>
                  <a:close/>
                  <a:moveTo>
                    <a:pt x="179" y="42"/>
                  </a:moveTo>
                  <a:cubicBezTo>
                    <a:pt x="183" y="42"/>
                    <a:pt x="183" y="42"/>
                    <a:pt x="183" y="42"/>
                  </a:cubicBezTo>
                  <a:cubicBezTo>
                    <a:pt x="183" y="45"/>
                    <a:pt x="183" y="45"/>
                    <a:pt x="183" y="45"/>
                  </a:cubicBezTo>
                  <a:cubicBezTo>
                    <a:pt x="179" y="45"/>
                    <a:pt x="179" y="45"/>
                    <a:pt x="179" y="45"/>
                  </a:cubicBezTo>
                  <a:lnTo>
                    <a:pt x="179" y="42"/>
                  </a:lnTo>
                  <a:close/>
                  <a:moveTo>
                    <a:pt x="190" y="31"/>
                  </a:moveTo>
                  <a:cubicBezTo>
                    <a:pt x="186" y="31"/>
                    <a:pt x="186" y="31"/>
                    <a:pt x="186" y="31"/>
                  </a:cubicBezTo>
                  <a:cubicBezTo>
                    <a:pt x="186" y="29"/>
                    <a:pt x="186" y="29"/>
                    <a:pt x="186" y="29"/>
                  </a:cubicBezTo>
                  <a:cubicBezTo>
                    <a:pt x="190" y="29"/>
                    <a:pt x="190" y="29"/>
                    <a:pt x="190" y="29"/>
                  </a:cubicBezTo>
                  <a:lnTo>
                    <a:pt x="190" y="31"/>
                  </a:lnTo>
                  <a:close/>
                  <a:moveTo>
                    <a:pt x="184" y="31"/>
                  </a:moveTo>
                  <a:cubicBezTo>
                    <a:pt x="180" y="31"/>
                    <a:pt x="180" y="31"/>
                    <a:pt x="180" y="31"/>
                  </a:cubicBezTo>
                  <a:cubicBezTo>
                    <a:pt x="180" y="29"/>
                    <a:pt x="180" y="29"/>
                    <a:pt x="180" y="29"/>
                  </a:cubicBezTo>
                  <a:cubicBezTo>
                    <a:pt x="184" y="29"/>
                    <a:pt x="184" y="29"/>
                    <a:pt x="184" y="29"/>
                  </a:cubicBezTo>
                  <a:lnTo>
                    <a:pt x="184" y="31"/>
                  </a:lnTo>
                  <a:close/>
                  <a:moveTo>
                    <a:pt x="178" y="31"/>
                  </a:moveTo>
                  <a:cubicBezTo>
                    <a:pt x="174" y="31"/>
                    <a:pt x="174" y="31"/>
                    <a:pt x="174" y="31"/>
                  </a:cubicBezTo>
                  <a:cubicBezTo>
                    <a:pt x="174" y="29"/>
                    <a:pt x="174" y="29"/>
                    <a:pt x="174" y="29"/>
                  </a:cubicBezTo>
                  <a:cubicBezTo>
                    <a:pt x="178" y="29"/>
                    <a:pt x="178" y="29"/>
                    <a:pt x="178" y="29"/>
                  </a:cubicBezTo>
                  <a:lnTo>
                    <a:pt x="178" y="31"/>
                  </a:lnTo>
                  <a:close/>
                  <a:moveTo>
                    <a:pt x="172" y="31"/>
                  </a:moveTo>
                  <a:cubicBezTo>
                    <a:pt x="168" y="31"/>
                    <a:pt x="168" y="31"/>
                    <a:pt x="168" y="31"/>
                  </a:cubicBezTo>
                  <a:cubicBezTo>
                    <a:pt x="168" y="29"/>
                    <a:pt x="168" y="29"/>
                    <a:pt x="168" y="29"/>
                  </a:cubicBezTo>
                  <a:cubicBezTo>
                    <a:pt x="172" y="29"/>
                    <a:pt x="172" y="29"/>
                    <a:pt x="172" y="29"/>
                  </a:cubicBezTo>
                  <a:lnTo>
                    <a:pt x="172" y="31"/>
                  </a:lnTo>
                  <a:close/>
                  <a:moveTo>
                    <a:pt x="166" y="31"/>
                  </a:moveTo>
                  <a:cubicBezTo>
                    <a:pt x="162" y="31"/>
                    <a:pt x="162" y="31"/>
                    <a:pt x="162" y="31"/>
                  </a:cubicBezTo>
                  <a:cubicBezTo>
                    <a:pt x="162" y="29"/>
                    <a:pt x="162" y="29"/>
                    <a:pt x="162" y="29"/>
                  </a:cubicBezTo>
                  <a:cubicBezTo>
                    <a:pt x="166" y="29"/>
                    <a:pt x="166" y="29"/>
                    <a:pt x="166" y="29"/>
                  </a:cubicBezTo>
                  <a:lnTo>
                    <a:pt x="166" y="31"/>
                  </a:lnTo>
                  <a:close/>
                  <a:moveTo>
                    <a:pt x="160" y="31"/>
                  </a:moveTo>
                  <a:cubicBezTo>
                    <a:pt x="156" y="31"/>
                    <a:pt x="156" y="31"/>
                    <a:pt x="156" y="31"/>
                  </a:cubicBezTo>
                  <a:cubicBezTo>
                    <a:pt x="156" y="29"/>
                    <a:pt x="156" y="29"/>
                    <a:pt x="156" y="29"/>
                  </a:cubicBezTo>
                  <a:cubicBezTo>
                    <a:pt x="160" y="29"/>
                    <a:pt x="160" y="29"/>
                    <a:pt x="160" y="29"/>
                  </a:cubicBezTo>
                  <a:lnTo>
                    <a:pt x="160" y="31"/>
                  </a:lnTo>
                  <a:close/>
                  <a:moveTo>
                    <a:pt x="154" y="29"/>
                  </a:moveTo>
                  <a:cubicBezTo>
                    <a:pt x="154" y="31"/>
                    <a:pt x="154" y="31"/>
                    <a:pt x="154" y="31"/>
                  </a:cubicBezTo>
                  <a:cubicBezTo>
                    <a:pt x="150" y="31"/>
                    <a:pt x="150" y="31"/>
                    <a:pt x="150" y="31"/>
                  </a:cubicBezTo>
                  <a:cubicBezTo>
                    <a:pt x="150" y="29"/>
                    <a:pt x="150" y="29"/>
                    <a:pt x="150" y="29"/>
                  </a:cubicBezTo>
                  <a:lnTo>
                    <a:pt x="154" y="29"/>
                  </a:lnTo>
                  <a:close/>
                  <a:moveTo>
                    <a:pt x="148" y="29"/>
                  </a:moveTo>
                  <a:cubicBezTo>
                    <a:pt x="148" y="31"/>
                    <a:pt x="148" y="31"/>
                    <a:pt x="148" y="31"/>
                  </a:cubicBezTo>
                  <a:cubicBezTo>
                    <a:pt x="144" y="31"/>
                    <a:pt x="144" y="31"/>
                    <a:pt x="144" y="31"/>
                  </a:cubicBezTo>
                  <a:cubicBezTo>
                    <a:pt x="144" y="29"/>
                    <a:pt x="144" y="29"/>
                    <a:pt x="144" y="29"/>
                  </a:cubicBezTo>
                  <a:lnTo>
                    <a:pt x="148" y="29"/>
                  </a:lnTo>
                  <a:close/>
                  <a:moveTo>
                    <a:pt x="142" y="29"/>
                  </a:moveTo>
                  <a:cubicBezTo>
                    <a:pt x="143" y="31"/>
                    <a:pt x="143" y="31"/>
                    <a:pt x="143" y="31"/>
                  </a:cubicBezTo>
                  <a:cubicBezTo>
                    <a:pt x="138" y="31"/>
                    <a:pt x="138" y="31"/>
                    <a:pt x="138" y="31"/>
                  </a:cubicBezTo>
                  <a:cubicBezTo>
                    <a:pt x="138" y="29"/>
                    <a:pt x="138" y="29"/>
                    <a:pt x="138" y="29"/>
                  </a:cubicBezTo>
                  <a:lnTo>
                    <a:pt x="142" y="29"/>
                  </a:lnTo>
                  <a:close/>
                  <a:moveTo>
                    <a:pt x="136" y="29"/>
                  </a:moveTo>
                  <a:cubicBezTo>
                    <a:pt x="137" y="31"/>
                    <a:pt x="137" y="31"/>
                    <a:pt x="137" y="31"/>
                  </a:cubicBezTo>
                  <a:cubicBezTo>
                    <a:pt x="133" y="31"/>
                    <a:pt x="133" y="31"/>
                    <a:pt x="133" y="31"/>
                  </a:cubicBezTo>
                  <a:cubicBezTo>
                    <a:pt x="132" y="29"/>
                    <a:pt x="132" y="29"/>
                    <a:pt x="132" y="29"/>
                  </a:cubicBezTo>
                  <a:lnTo>
                    <a:pt x="136" y="29"/>
                  </a:lnTo>
                  <a:close/>
                  <a:moveTo>
                    <a:pt x="130" y="21"/>
                  </a:moveTo>
                  <a:cubicBezTo>
                    <a:pt x="130" y="21"/>
                    <a:pt x="130" y="21"/>
                    <a:pt x="130" y="21"/>
                  </a:cubicBezTo>
                  <a:cubicBezTo>
                    <a:pt x="130" y="21"/>
                    <a:pt x="129" y="21"/>
                    <a:pt x="129" y="21"/>
                  </a:cubicBezTo>
                  <a:cubicBezTo>
                    <a:pt x="129" y="21"/>
                    <a:pt x="129" y="22"/>
                    <a:pt x="129" y="22"/>
                  </a:cubicBezTo>
                  <a:cubicBezTo>
                    <a:pt x="132" y="38"/>
                    <a:pt x="132" y="38"/>
                    <a:pt x="132" y="38"/>
                  </a:cubicBezTo>
                  <a:cubicBezTo>
                    <a:pt x="123" y="7"/>
                    <a:pt x="123" y="7"/>
                    <a:pt x="123" y="7"/>
                  </a:cubicBezTo>
                  <a:cubicBezTo>
                    <a:pt x="124" y="8"/>
                    <a:pt x="125" y="8"/>
                    <a:pt x="127" y="8"/>
                  </a:cubicBezTo>
                  <a:lnTo>
                    <a:pt x="130" y="21"/>
                  </a:lnTo>
                  <a:close/>
                  <a:moveTo>
                    <a:pt x="134" y="49"/>
                  </a:moveTo>
                  <a:cubicBezTo>
                    <a:pt x="131" y="51"/>
                    <a:pt x="131" y="51"/>
                    <a:pt x="131" y="51"/>
                  </a:cubicBezTo>
                  <a:cubicBezTo>
                    <a:pt x="118" y="6"/>
                    <a:pt x="118" y="6"/>
                    <a:pt x="118" y="6"/>
                  </a:cubicBezTo>
                  <a:cubicBezTo>
                    <a:pt x="119" y="6"/>
                    <a:pt x="120" y="6"/>
                    <a:pt x="121" y="7"/>
                  </a:cubicBezTo>
                  <a:lnTo>
                    <a:pt x="134" y="49"/>
                  </a:lnTo>
                  <a:close/>
                  <a:moveTo>
                    <a:pt x="135" y="50"/>
                  </a:moveTo>
                  <a:cubicBezTo>
                    <a:pt x="135" y="50"/>
                    <a:pt x="135" y="50"/>
                    <a:pt x="135" y="50"/>
                  </a:cubicBezTo>
                  <a:cubicBezTo>
                    <a:pt x="136" y="50"/>
                    <a:pt x="136" y="50"/>
                    <a:pt x="136" y="49"/>
                  </a:cubicBezTo>
                  <a:cubicBezTo>
                    <a:pt x="135" y="47"/>
                    <a:pt x="135" y="47"/>
                    <a:pt x="135" y="47"/>
                  </a:cubicBezTo>
                  <a:cubicBezTo>
                    <a:pt x="187" y="47"/>
                    <a:pt x="187" y="47"/>
                    <a:pt x="187" y="47"/>
                  </a:cubicBezTo>
                  <a:cubicBezTo>
                    <a:pt x="192" y="53"/>
                    <a:pt x="192" y="53"/>
                    <a:pt x="192" y="53"/>
                  </a:cubicBezTo>
                  <a:cubicBezTo>
                    <a:pt x="131" y="53"/>
                    <a:pt x="131" y="53"/>
                    <a:pt x="131" y="53"/>
                  </a:cubicBezTo>
                  <a:lnTo>
                    <a:pt x="135" y="50"/>
                  </a:lnTo>
                  <a:close/>
                  <a:moveTo>
                    <a:pt x="198" y="56"/>
                  </a:moveTo>
                  <a:cubicBezTo>
                    <a:pt x="198" y="11"/>
                    <a:pt x="198" y="11"/>
                    <a:pt x="198" y="11"/>
                  </a:cubicBezTo>
                  <a:cubicBezTo>
                    <a:pt x="199" y="10"/>
                    <a:pt x="200" y="10"/>
                    <a:pt x="201" y="10"/>
                  </a:cubicBezTo>
                  <a:cubicBezTo>
                    <a:pt x="201" y="60"/>
                    <a:pt x="201" y="60"/>
                    <a:pt x="201" y="60"/>
                  </a:cubicBezTo>
                  <a:lnTo>
                    <a:pt x="198" y="56"/>
                  </a:lnTo>
                  <a:close/>
                  <a:moveTo>
                    <a:pt x="203" y="9"/>
                  </a:moveTo>
                  <a:cubicBezTo>
                    <a:pt x="204" y="9"/>
                    <a:pt x="205" y="8"/>
                    <a:pt x="206" y="8"/>
                  </a:cubicBezTo>
                  <a:cubicBezTo>
                    <a:pt x="206" y="62"/>
                    <a:pt x="206" y="62"/>
                    <a:pt x="206" y="62"/>
                  </a:cubicBezTo>
                  <a:cubicBezTo>
                    <a:pt x="203" y="62"/>
                    <a:pt x="203" y="62"/>
                    <a:pt x="203" y="62"/>
                  </a:cubicBezTo>
                  <a:lnTo>
                    <a:pt x="203" y="9"/>
                  </a:lnTo>
                  <a:close/>
                  <a:moveTo>
                    <a:pt x="207" y="7"/>
                  </a:moveTo>
                  <a:cubicBezTo>
                    <a:pt x="208" y="7"/>
                    <a:pt x="209" y="7"/>
                    <a:pt x="210" y="7"/>
                  </a:cubicBezTo>
                  <a:cubicBezTo>
                    <a:pt x="210" y="62"/>
                    <a:pt x="210" y="62"/>
                    <a:pt x="210" y="62"/>
                  </a:cubicBezTo>
                  <a:cubicBezTo>
                    <a:pt x="207" y="62"/>
                    <a:pt x="207" y="62"/>
                    <a:pt x="207" y="62"/>
                  </a:cubicBezTo>
                  <a:lnTo>
                    <a:pt x="207" y="7"/>
                  </a:lnTo>
                  <a:close/>
                  <a:moveTo>
                    <a:pt x="212" y="6"/>
                  </a:moveTo>
                  <a:cubicBezTo>
                    <a:pt x="213" y="6"/>
                    <a:pt x="214" y="6"/>
                    <a:pt x="215" y="6"/>
                  </a:cubicBezTo>
                  <a:cubicBezTo>
                    <a:pt x="215" y="62"/>
                    <a:pt x="215" y="62"/>
                    <a:pt x="215" y="62"/>
                  </a:cubicBezTo>
                  <a:cubicBezTo>
                    <a:pt x="212" y="62"/>
                    <a:pt x="212" y="62"/>
                    <a:pt x="212" y="62"/>
                  </a:cubicBezTo>
                  <a:lnTo>
                    <a:pt x="212" y="6"/>
                  </a:lnTo>
                  <a:close/>
                  <a:moveTo>
                    <a:pt x="217" y="5"/>
                  </a:moveTo>
                  <a:cubicBezTo>
                    <a:pt x="218" y="5"/>
                    <a:pt x="219" y="5"/>
                    <a:pt x="220" y="4"/>
                  </a:cubicBezTo>
                  <a:cubicBezTo>
                    <a:pt x="220" y="62"/>
                    <a:pt x="220" y="62"/>
                    <a:pt x="220" y="62"/>
                  </a:cubicBezTo>
                  <a:cubicBezTo>
                    <a:pt x="217" y="62"/>
                    <a:pt x="217" y="62"/>
                    <a:pt x="217" y="62"/>
                  </a:cubicBezTo>
                  <a:lnTo>
                    <a:pt x="217" y="5"/>
                  </a:lnTo>
                  <a:close/>
                  <a:moveTo>
                    <a:pt x="222" y="4"/>
                  </a:moveTo>
                  <a:cubicBezTo>
                    <a:pt x="223" y="4"/>
                    <a:pt x="224" y="4"/>
                    <a:pt x="225" y="4"/>
                  </a:cubicBezTo>
                  <a:cubicBezTo>
                    <a:pt x="225" y="62"/>
                    <a:pt x="225" y="62"/>
                    <a:pt x="225" y="62"/>
                  </a:cubicBezTo>
                  <a:cubicBezTo>
                    <a:pt x="222" y="62"/>
                    <a:pt x="222" y="62"/>
                    <a:pt x="222" y="62"/>
                  </a:cubicBezTo>
                  <a:lnTo>
                    <a:pt x="222" y="4"/>
                  </a:lnTo>
                  <a:close/>
                  <a:moveTo>
                    <a:pt x="227" y="3"/>
                  </a:moveTo>
                  <a:cubicBezTo>
                    <a:pt x="228" y="3"/>
                    <a:pt x="229" y="3"/>
                    <a:pt x="230" y="3"/>
                  </a:cubicBezTo>
                  <a:cubicBezTo>
                    <a:pt x="230" y="62"/>
                    <a:pt x="230" y="62"/>
                    <a:pt x="230" y="62"/>
                  </a:cubicBezTo>
                  <a:cubicBezTo>
                    <a:pt x="227" y="62"/>
                    <a:pt x="227" y="62"/>
                    <a:pt x="227" y="62"/>
                  </a:cubicBezTo>
                  <a:lnTo>
                    <a:pt x="227" y="3"/>
                  </a:lnTo>
                  <a:close/>
                  <a:moveTo>
                    <a:pt x="232" y="3"/>
                  </a:moveTo>
                  <a:cubicBezTo>
                    <a:pt x="233" y="2"/>
                    <a:pt x="234" y="2"/>
                    <a:pt x="235" y="2"/>
                  </a:cubicBezTo>
                  <a:cubicBezTo>
                    <a:pt x="235" y="62"/>
                    <a:pt x="235" y="62"/>
                    <a:pt x="235" y="62"/>
                  </a:cubicBezTo>
                  <a:cubicBezTo>
                    <a:pt x="232" y="62"/>
                    <a:pt x="232" y="62"/>
                    <a:pt x="232" y="62"/>
                  </a:cubicBezTo>
                  <a:lnTo>
                    <a:pt x="232" y="3"/>
                  </a:lnTo>
                  <a:close/>
                  <a:moveTo>
                    <a:pt x="236" y="2"/>
                  </a:moveTo>
                  <a:cubicBezTo>
                    <a:pt x="238" y="2"/>
                    <a:pt x="239" y="2"/>
                    <a:pt x="239" y="2"/>
                  </a:cubicBezTo>
                  <a:cubicBezTo>
                    <a:pt x="239" y="62"/>
                    <a:pt x="239" y="62"/>
                    <a:pt x="239" y="62"/>
                  </a:cubicBezTo>
                  <a:cubicBezTo>
                    <a:pt x="236" y="62"/>
                    <a:pt x="236" y="62"/>
                    <a:pt x="236" y="62"/>
                  </a:cubicBezTo>
                  <a:lnTo>
                    <a:pt x="236" y="2"/>
                  </a:lnTo>
                  <a:close/>
                  <a:moveTo>
                    <a:pt x="241" y="2"/>
                  </a:moveTo>
                  <a:cubicBezTo>
                    <a:pt x="244" y="2"/>
                    <a:pt x="244" y="2"/>
                    <a:pt x="244" y="2"/>
                  </a:cubicBezTo>
                  <a:cubicBezTo>
                    <a:pt x="244" y="62"/>
                    <a:pt x="244" y="62"/>
                    <a:pt x="244" y="62"/>
                  </a:cubicBezTo>
                  <a:cubicBezTo>
                    <a:pt x="241" y="62"/>
                    <a:pt x="241" y="62"/>
                    <a:pt x="241" y="62"/>
                  </a:cubicBezTo>
                  <a:lnTo>
                    <a:pt x="241" y="2"/>
                  </a:lnTo>
                  <a:close/>
                  <a:moveTo>
                    <a:pt x="246" y="2"/>
                  </a:moveTo>
                  <a:cubicBezTo>
                    <a:pt x="249" y="2"/>
                    <a:pt x="249" y="2"/>
                    <a:pt x="249" y="2"/>
                  </a:cubicBezTo>
                  <a:cubicBezTo>
                    <a:pt x="249" y="62"/>
                    <a:pt x="249" y="62"/>
                    <a:pt x="249" y="62"/>
                  </a:cubicBezTo>
                  <a:cubicBezTo>
                    <a:pt x="246" y="62"/>
                    <a:pt x="246" y="62"/>
                    <a:pt x="246" y="62"/>
                  </a:cubicBezTo>
                  <a:lnTo>
                    <a:pt x="246" y="2"/>
                  </a:lnTo>
                  <a:close/>
                  <a:moveTo>
                    <a:pt x="251" y="2"/>
                  </a:moveTo>
                  <a:cubicBezTo>
                    <a:pt x="254" y="2"/>
                    <a:pt x="254" y="2"/>
                    <a:pt x="254" y="2"/>
                  </a:cubicBezTo>
                  <a:cubicBezTo>
                    <a:pt x="254" y="62"/>
                    <a:pt x="254" y="62"/>
                    <a:pt x="254" y="62"/>
                  </a:cubicBezTo>
                  <a:cubicBezTo>
                    <a:pt x="251" y="62"/>
                    <a:pt x="251" y="62"/>
                    <a:pt x="251" y="62"/>
                  </a:cubicBezTo>
                  <a:lnTo>
                    <a:pt x="251" y="2"/>
                  </a:lnTo>
                  <a:close/>
                  <a:moveTo>
                    <a:pt x="256" y="2"/>
                  </a:moveTo>
                  <a:cubicBezTo>
                    <a:pt x="259" y="2"/>
                    <a:pt x="259" y="2"/>
                    <a:pt x="259" y="2"/>
                  </a:cubicBezTo>
                  <a:cubicBezTo>
                    <a:pt x="259" y="62"/>
                    <a:pt x="259" y="62"/>
                    <a:pt x="259" y="62"/>
                  </a:cubicBezTo>
                  <a:cubicBezTo>
                    <a:pt x="256" y="62"/>
                    <a:pt x="256" y="62"/>
                    <a:pt x="256" y="62"/>
                  </a:cubicBezTo>
                  <a:lnTo>
                    <a:pt x="256" y="2"/>
                  </a:lnTo>
                  <a:close/>
                  <a:moveTo>
                    <a:pt x="260" y="2"/>
                  </a:moveTo>
                  <a:cubicBezTo>
                    <a:pt x="263" y="2"/>
                    <a:pt x="263" y="2"/>
                    <a:pt x="263" y="2"/>
                  </a:cubicBezTo>
                  <a:cubicBezTo>
                    <a:pt x="263" y="62"/>
                    <a:pt x="263" y="62"/>
                    <a:pt x="263" y="62"/>
                  </a:cubicBezTo>
                  <a:cubicBezTo>
                    <a:pt x="260" y="62"/>
                    <a:pt x="260" y="62"/>
                    <a:pt x="260" y="62"/>
                  </a:cubicBezTo>
                  <a:lnTo>
                    <a:pt x="260" y="2"/>
                  </a:lnTo>
                  <a:close/>
                  <a:moveTo>
                    <a:pt x="265" y="2"/>
                  </a:moveTo>
                  <a:cubicBezTo>
                    <a:pt x="268" y="2"/>
                    <a:pt x="268" y="2"/>
                    <a:pt x="268" y="2"/>
                  </a:cubicBezTo>
                  <a:cubicBezTo>
                    <a:pt x="268" y="62"/>
                    <a:pt x="268" y="62"/>
                    <a:pt x="268" y="62"/>
                  </a:cubicBezTo>
                  <a:cubicBezTo>
                    <a:pt x="265" y="62"/>
                    <a:pt x="265" y="62"/>
                    <a:pt x="265" y="62"/>
                  </a:cubicBezTo>
                  <a:lnTo>
                    <a:pt x="265" y="2"/>
                  </a:lnTo>
                  <a:close/>
                  <a:moveTo>
                    <a:pt x="270" y="2"/>
                  </a:moveTo>
                  <a:cubicBezTo>
                    <a:pt x="273" y="2"/>
                    <a:pt x="273" y="2"/>
                    <a:pt x="273" y="2"/>
                  </a:cubicBezTo>
                  <a:cubicBezTo>
                    <a:pt x="273" y="62"/>
                    <a:pt x="273" y="62"/>
                    <a:pt x="273" y="62"/>
                  </a:cubicBezTo>
                  <a:cubicBezTo>
                    <a:pt x="270" y="62"/>
                    <a:pt x="270" y="62"/>
                    <a:pt x="270" y="62"/>
                  </a:cubicBezTo>
                  <a:lnTo>
                    <a:pt x="270" y="2"/>
                  </a:lnTo>
                  <a:close/>
                  <a:moveTo>
                    <a:pt x="275" y="2"/>
                  </a:moveTo>
                  <a:cubicBezTo>
                    <a:pt x="278" y="2"/>
                    <a:pt x="278" y="2"/>
                    <a:pt x="278" y="2"/>
                  </a:cubicBezTo>
                  <a:cubicBezTo>
                    <a:pt x="278" y="62"/>
                    <a:pt x="278" y="62"/>
                    <a:pt x="278" y="62"/>
                  </a:cubicBezTo>
                  <a:cubicBezTo>
                    <a:pt x="275" y="62"/>
                    <a:pt x="275" y="62"/>
                    <a:pt x="275" y="62"/>
                  </a:cubicBezTo>
                  <a:lnTo>
                    <a:pt x="275" y="2"/>
                  </a:lnTo>
                  <a:close/>
                  <a:moveTo>
                    <a:pt x="280" y="2"/>
                  </a:moveTo>
                  <a:cubicBezTo>
                    <a:pt x="283" y="2"/>
                    <a:pt x="283" y="2"/>
                    <a:pt x="283" y="2"/>
                  </a:cubicBezTo>
                  <a:cubicBezTo>
                    <a:pt x="283" y="62"/>
                    <a:pt x="283" y="62"/>
                    <a:pt x="283" y="62"/>
                  </a:cubicBezTo>
                  <a:cubicBezTo>
                    <a:pt x="280" y="62"/>
                    <a:pt x="280" y="62"/>
                    <a:pt x="280" y="62"/>
                  </a:cubicBezTo>
                  <a:lnTo>
                    <a:pt x="280" y="2"/>
                  </a:lnTo>
                  <a:close/>
                  <a:moveTo>
                    <a:pt x="285" y="2"/>
                  </a:moveTo>
                  <a:cubicBezTo>
                    <a:pt x="288" y="2"/>
                    <a:pt x="288" y="2"/>
                    <a:pt x="288" y="2"/>
                  </a:cubicBezTo>
                  <a:cubicBezTo>
                    <a:pt x="288" y="62"/>
                    <a:pt x="288" y="62"/>
                    <a:pt x="288" y="62"/>
                  </a:cubicBezTo>
                  <a:cubicBezTo>
                    <a:pt x="285" y="62"/>
                    <a:pt x="285" y="62"/>
                    <a:pt x="285" y="62"/>
                  </a:cubicBezTo>
                  <a:lnTo>
                    <a:pt x="285" y="2"/>
                  </a:lnTo>
                  <a:close/>
                  <a:moveTo>
                    <a:pt x="289" y="2"/>
                  </a:moveTo>
                  <a:cubicBezTo>
                    <a:pt x="292" y="2"/>
                    <a:pt x="292" y="2"/>
                    <a:pt x="292" y="2"/>
                  </a:cubicBezTo>
                  <a:cubicBezTo>
                    <a:pt x="292" y="62"/>
                    <a:pt x="292" y="62"/>
                    <a:pt x="292" y="62"/>
                  </a:cubicBezTo>
                  <a:cubicBezTo>
                    <a:pt x="289" y="62"/>
                    <a:pt x="289" y="62"/>
                    <a:pt x="289" y="62"/>
                  </a:cubicBezTo>
                  <a:lnTo>
                    <a:pt x="289" y="2"/>
                  </a:lnTo>
                  <a:close/>
                  <a:moveTo>
                    <a:pt x="294" y="2"/>
                  </a:moveTo>
                  <a:cubicBezTo>
                    <a:pt x="297" y="2"/>
                    <a:pt x="297" y="2"/>
                    <a:pt x="297" y="2"/>
                  </a:cubicBezTo>
                  <a:cubicBezTo>
                    <a:pt x="297" y="62"/>
                    <a:pt x="297" y="62"/>
                    <a:pt x="297" y="62"/>
                  </a:cubicBezTo>
                  <a:cubicBezTo>
                    <a:pt x="294" y="62"/>
                    <a:pt x="294" y="62"/>
                    <a:pt x="294" y="62"/>
                  </a:cubicBezTo>
                  <a:lnTo>
                    <a:pt x="294" y="2"/>
                  </a:lnTo>
                  <a:close/>
                  <a:moveTo>
                    <a:pt x="299" y="2"/>
                  </a:moveTo>
                  <a:cubicBezTo>
                    <a:pt x="302" y="2"/>
                    <a:pt x="302" y="2"/>
                    <a:pt x="302" y="2"/>
                  </a:cubicBezTo>
                  <a:cubicBezTo>
                    <a:pt x="302" y="62"/>
                    <a:pt x="302" y="62"/>
                    <a:pt x="302" y="62"/>
                  </a:cubicBezTo>
                  <a:cubicBezTo>
                    <a:pt x="299" y="62"/>
                    <a:pt x="299" y="62"/>
                    <a:pt x="299" y="62"/>
                  </a:cubicBezTo>
                  <a:lnTo>
                    <a:pt x="299" y="2"/>
                  </a:lnTo>
                  <a:close/>
                  <a:moveTo>
                    <a:pt x="304" y="2"/>
                  </a:moveTo>
                  <a:cubicBezTo>
                    <a:pt x="307" y="2"/>
                    <a:pt x="307" y="2"/>
                    <a:pt x="307" y="2"/>
                  </a:cubicBezTo>
                  <a:cubicBezTo>
                    <a:pt x="307" y="62"/>
                    <a:pt x="307" y="62"/>
                    <a:pt x="307" y="62"/>
                  </a:cubicBezTo>
                  <a:cubicBezTo>
                    <a:pt x="304" y="62"/>
                    <a:pt x="304" y="62"/>
                    <a:pt x="304" y="62"/>
                  </a:cubicBezTo>
                  <a:lnTo>
                    <a:pt x="304" y="2"/>
                  </a:lnTo>
                  <a:close/>
                  <a:moveTo>
                    <a:pt x="309" y="2"/>
                  </a:moveTo>
                  <a:cubicBezTo>
                    <a:pt x="312" y="2"/>
                    <a:pt x="312" y="2"/>
                    <a:pt x="312" y="2"/>
                  </a:cubicBezTo>
                  <a:cubicBezTo>
                    <a:pt x="312" y="62"/>
                    <a:pt x="312" y="62"/>
                    <a:pt x="312" y="62"/>
                  </a:cubicBezTo>
                  <a:cubicBezTo>
                    <a:pt x="309" y="62"/>
                    <a:pt x="309" y="62"/>
                    <a:pt x="309" y="62"/>
                  </a:cubicBezTo>
                  <a:lnTo>
                    <a:pt x="309" y="2"/>
                  </a:lnTo>
                  <a:close/>
                  <a:moveTo>
                    <a:pt x="313" y="2"/>
                  </a:moveTo>
                  <a:cubicBezTo>
                    <a:pt x="316" y="2"/>
                    <a:pt x="316" y="2"/>
                    <a:pt x="316" y="2"/>
                  </a:cubicBezTo>
                  <a:cubicBezTo>
                    <a:pt x="316" y="62"/>
                    <a:pt x="316" y="62"/>
                    <a:pt x="316" y="62"/>
                  </a:cubicBezTo>
                  <a:cubicBezTo>
                    <a:pt x="313" y="62"/>
                    <a:pt x="313" y="62"/>
                    <a:pt x="313" y="62"/>
                  </a:cubicBezTo>
                  <a:lnTo>
                    <a:pt x="313" y="2"/>
                  </a:lnTo>
                  <a:close/>
                  <a:moveTo>
                    <a:pt x="318" y="2"/>
                  </a:moveTo>
                  <a:cubicBezTo>
                    <a:pt x="321" y="2"/>
                    <a:pt x="321" y="2"/>
                    <a:pt x="321" y="2"/>
                  </a:cubicBezTo>
                  <a:cubicBezTo>
                    <a:pt x="321" y="62"/>
                    <a:pt x="321" y="62"/>
                    <a:pt x="321" y="62"/>
                  </a:cubicBezTo>
                  <a:cubicBezTo>
                    <a:pt x="318" y="62"/>
                    <a:pt x="318" y="62"/>
                    <a:pt x="318" y="62"/>
                  </a:cubicBezTo>
                  <a:lnTo>
                    <a:pt x="318" y="2"/>
                  </a:lnTo>
                  <a:close/>
                  <a:moveTo>
                    <a:pt x="182" y="18"/>
                  </a:moveTo>
                  <a:cubicBezTo>
                    <a:pt x="182" y="19"/>
                    <a:pt x="182" y="19"/>
                    <a:pt x="182" y="19"/>
                  </a:cubicBezTo>
                  <a:cubicBezTo>
                    <a:pt x="181" y="19"/>
                    <a:pt x="180" y="19"/>
                    <a:pt x="179" y="19"/>
                  </a:cubicBezTo>
                  <a:cubicBezTo>
                    <a:pt x="180" y="19"/>
                    <a:pt x="181" y="18"/>
                    <a:pt x="182" y="18"/>
                  </a:cubicBezTo>
                  <a:close/>
                  <a:moveTo>
                    <a:pt x="192" y="22"/>
                  </a:moveTo>
                  <a:cubicBezTo>
                    <a:pt x="191" y="27"/>
                    <a:pt x="191" y="27"/>
                    <a:pt x="191" y="27"/>
                  </a:cubicBezTo>
                  <a:cubicBezTo>
                    <a:pt x="132" y="27"/>
                    <a:pt x="132" y="27"/>
                    <a:pt x="132" y="27"/>
                  </a:cubicBezTo>
                  <a:cubicBezTo>
                    <a:pt x="131" y="23"/>
                    <a:pt x="131" y="23"/>
                    <a:pt x="131" y="23"/>
                  </a:cubicBezTo>
                  <a:cubicBezTo>
                    <a:pt x="137" y="22"/>
                    <a:pt x="166" y="18"/>
                    <a:pt x="192" y="22"/>
                  </a:cubicBezTo>
                  <a:close/>
                  <a:moveTo>
                    <a:pt x="151" y="19"/>
                  </a:moveTo>
                  <a:cubicBezTo>
                    <a:pt x="151" y="18"/>
                    <a:pt x="151" y="18"/>
                    <a:pt x="151" y="18"/>
                  </a:cubicBezTo>
                  <a:cubicBezTo>
                    <a:pt x="152" y="19"/>
                    <a:pt x="152" y="19"/>
                    <a:pt x="152" y="19"/>
                  </a:cubicBezTo>
                  <a:cubicBezTo>
                    <a:pt x="152" y="19"/>
                    <a:pt x="152" y="19"/>
                    <a:pt x="151" y="19"/>
                  </a:cubicBezTo>
                  <a:close/>
                  <a:moveTo>
                    <a:pt x="95" y="2"/>
                  </a:moveTo>
                  <a:cubicBezTo>
                    <a:pt x="113" y="62"/>
                    <a:pt x="113" y="62"/>
                    <a:pt x="113" y="62"/>
                  </a:cubicBezTo>
                  <a:cubicBezTo>
                    <a:pt x="110" y="62"/>
                    <a:pt x="110" y="62"/>
                    <a:pt x="110" y="62"/>
                  </a:cubicBezTo>
                  <a:cubicBezTo>
                    <a:pt x="92" y="2"/>
                    <a:pt x="92" y="2"/>
                    <a:pt x="92" y="2"/>
                  </a:cubicBezTo>
                  <a:cubicBezTo>
                    <a:pt x="93" y="2"/>
                    <a:pt x="94" y="2"/>
                    <a:pt x="95" y="2"/>
                  </a:cubicBezTo>
                  <a:close/>
                  <a:moveTo>
                    <a:pt x="2" y="2"/>
                  </a:moveTo>
                  <a:cubicBezTo>
                    <a:pt x="90" y="2"/>
                    <a:pt x="90" y="2"/>
                    <a:pt x="90" y="2"/>
                  </a:cubicBezTo>
                  <a:cubicBezTo>
                    <a:pt x="108" y="62"/>
                    <a:pt x="108" y="62"/>
                    <a:pt x="108" y="62"/>
                  </a:cubicBezTo>
                  <a:cubicBezTo>
                    <a:pt x="2" y="62"/>
                    <a:pt x="2" y="62"/>
                    <a:pt x="2" y="62"/>
                  </a:cubicBezTo>
                  <a:lnTo>
                    <a:pt x="2" y="2"/>
                  </a:lnTo>
                  <a:close/>
                  <a:moveTo>
                    <a:pt x="115" y="62"/>
                  </a:moveTo>
                  <a:cubicBezTo>
                    <a:pt x="97" y="2"/>
                    <a:pt x="97" y="2"/>
                    <a:pt x="97" y="2"/>
                  </a:cubicBezTo>
                  <a:cubicBezTo>
                    <a:pt x="98" y="2"/>
                    <a:pt x="99" y="3"/>
                    <a:pt x="100" y="3"/>
                  </a:cubicBezTo>
                  <a:cubicBezTo>
                    <a:pt x="100" y="3"/>
                    <a:pt x="100" y="3"/>
                    <a:pt x="100" y="3"/>
                  </a:cubicBezTo>
                  <a:cubicBezTo>
                    <a:pt x="118" y="62"/>
                    <a:pt x="118" y="62"/>
                    <a:pt x="118" y="62"/>
                  </a:cubicBezTo>
                  <a:cubicBezTo>
                    <a:pt x="118" y="62"/>
                    <a:pt x="118" y="62"/>
                    <a:pt x="118" y="62"/>
                  </a:cubicBezTo>
                  <a:lnTo>
                    <a:pt x="115" y="62"/>
                  </a:lnTo>
                  <a:close/>
                  <a:moveTo>
                    <a:pt x="129" y="55"/>
                  </a:moveTo>
                  <a:cubicBezTo>
                    <a:pt x="129" y="55"/>
                    <a:pt x="129" y="55"/>
                    <a:pt x="129" y="55"/>
                  </a:cubicBezTo>
                  <a:cubicBezTo>
                    <a:pt x="193" y="55"/>
                    <a:pt x="193" y="55"/>
                    <a:pt x="193" y="55"/>
                  </a:cubicBezTo>
                  <a:cubicBezTo>
                    <a:pt x="194" y="55"/>
                    <a:pt x="194" y="55"/>
                    <a:pt x="194" y="55"/>
                  </a:cubicBezTo>
                  <a:cubicBezTo>
                    <a:pt x="196" y="57"/>
                    <a:pt x="196" y="57"/>
                    <a:pt x="196" y="57"/>
                  </a:cubicBezTo>
                  <a:cubicBezTo>
                    <a:pt x="196" y="57"/>
                    <a:pt x="196" y="58"/>
                    <a:pt x="196" y="58"/>
                  </a:cubicBezTo>
                  <a:cubicBezTo>
                    <a:pt x="126" y="58"/>
                    <a:pt x="126" y="58"/>
                    <a:pt x="126" y="58"/>
                  </a:cubicBezTo>
                  <a:lnTo>
                    <a:pt x="129"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21"/>
            <p:cNvSpPr>
              <a:spLocks noEditPoints="1"/>
            </p:cNvSpPr>
            <p:nvPr userDrawn="1"/>
          </p:nvSpPr>
          <p:spPr bwMode="auto">
            <a:xfrm>
              <a:off x="-6350" y="4583113"/>
              <a:ext cx="2128838" cy="265113"/>
            </a:xfrm>
            <a:custGeom>
              <a:avLst/>
              <a:gdLst>
                <a:gd name="T0" fmla="*/ 1332 w 1341"/>
                <a:gd name="T1" fmla="*/ 163 h 167"/>
                <a:gd name="T2" fmla="*/ 1332 w 1341"/>
                <a:gd name="T3" fmla="*/ 163 h 167"/>
                <a:gd name="T4" fmla="*/ 1336 w 1341"/>
                <a:gd name="T5" fmla="*/ 163 h 167"/>
                <a:gd name="T6" fmla="*/ 1328 w 1341"/>
                <a:gd name="T7" fmla="*/ 61 h 167"/>
                <a:gd name="T8" fmla="*/ 1101 w 1341"/>
                <a:gd name="T9" fmla="*/ 0 h 167"/>
                <a:gd name="T10" fmla="*/ 940 w 1341"/>
                <a:gd name="T11" fmla="*/ 61 h 167"/>
                <a:gd name="T12" fmla="*/ 853 w 1341"/>
                <a:gd name="T13" fmla="*/ 0 h 167"/>
                <a:gd name="T14" fmla="*/ 692 w 1341"/>
                <a:gd name="T15" fmla="*/ 61 h 167"/>
                <a:gd name="T16" fmla="*/ 600 w 1341"/>
                <a:gd name="T17" fmla="*/ 4 h 167"/>
                <a:gd name="T18" fmla="*/ 439 w 1341"/>
                <a:gd name="T19" fmla="*/ 61 h 167"/>
                <a:gd name="T20" fmla="*/ 352 w 1341"/>
                <a:gd name="T21" fmla="*/ 4 h 167"/>
                <a:gd name="T22" fmla="*/ 191 w 1341"/>
                <a:gd name="T23" fmla="*/ 61 h 167"/>
                <a:gd name="T24" fmla="*/ 0 w 1341"/>
                <a:gd name="T25" fmla="*/ 167 h 167"/>
                <a:gd name="T26" fmla="*/ 605 w 1341"/>
                <a:gd name="T27" fmla="*/ 150 h 167"/>
                <a:gd name="T28" fmla="*/ 1319 w 1341"/>
                <a:gd name="T29" fmla="*/ 70 h 167"/>
                <a:gd name="T30" fmla="*/ 1101 w 1341"/>
                <a:gd name="T31" fmla="*/ 158 h 167"/>
                <a:gd name="T32" fmla="*/ 1319 w 1341"/>
                <a:gd name="T33" fmla="*/ 70 h 167"/>
                <a:gd name="T34" fmla="*/ 1092 w 1341"/>
                <a:gd name="T35" fmla="*/ 8 h 167"/>
                <a:gd name="T36" fmla="*/ 949 w 1341"/>
                <a:gd name="T37" fmla="*/ 154 h 167"/>
                <a:gd name="T38" fmla="*/ 940 w 1341"/>
                <a:gd name="T39" fmla="*/ 70 h 167"/>
                <a:gd name="T40" fmla="*/ 853 w 1341"/>
                <a:gd name="T41" fmla="*/ 158 h 167"/>
                <a:gd name="T42" fmla="*/ 940 w 1341"/>
                <a:gd name="T43" fmla="*/ 70 h 167"/>
                <a:gd name="T44" fmla="*/ 844 w 1341"/>
                <a:gd name="T45" fmla="*/ 8 h 167"/>
                <a:gd name="T46" fmla="*/ 696 w 1341"/>
                <a:gd name="T47" fmla="*/ 154 h 167"/>
                <a:gd name="T48" fmla="*/ 692 w 1341"/>
                <a:gd name="T49" fmla="*/ 70 h 167"/>
                <a:gd name="T50" fmla="*/ 600 w 1341"/>
                <a:gd name="T51" fmla="*/ 158 h 167"/>
                <a:gd name="T52" fmla="*/ 692 w 1341"/>
                <a:gd name="T53" fmla="*/ 70 h 167"/>
                <a:gd name="T54" fmla="*/ 592 w 1341"/>
                <a:gd name="T55" fmla="*/ 13 h 167"/>
                <a:gd name="T56" fmla="*/ 587 w 1341"/>
                <a:gd name="T57" fmla="*/ 158 h 167"/>
                <a:gd name="T58" fmla="*/ 448 w 1341"/>
                <a:gd name="T59" fmla="*/ 13 h 167"/>
                <a:gd name="T60" fmla="*/ 439 w 1341"/>
                <a:gd name="T61" fmla="*/ 158 h 167"/>
                <a:gd name="T62" fmla="*/ 352 w 1341"/>
                <a:gd name="T63" fmla="*/ 70 h 167"/>
                <a:gd name="T64" fmla="*/ 196 w 1341"/>
                <a:gd name="T65" fmla="*/ 13 h 167"/>
                <a:gd name="T66" fmla="*/ 344 w 1341"/>
                <a:gd name="T67" fmla="*/ 158 h 167"/>
                <a:gd name="T68" fmla="*/ 196 w 1341"/>
                <a:gd name="T69" fmla="*/ 13 h 167"/>
                <a:gd name="T70" fmla="*/ 191 w 1341"/>
                <a:gd name="T71" fmla="*/ 70 h 167"/>
                <a:gd name="T72" fmla="*/ 8 w 1341"/>
                <a:gd name="T73" fmla="*/ 15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41" h="167">
                  <a:moveTo>
                    <a:pt x="600" y="167"/>
                  </a:moveTo>
                  <a:lnTo>
                    <a:pt x="1332" y="163"/>
                  </a:lnTo>
                  <a:lnTo>
                    <a:pt x="1332" y="163"/>
                  </a:lnTo>
                  <a:lnTo>
                    <a:pt x="1332" y="163"/>
                  </a:lnTo>
                  <a:lnTo>
                    <a:pt x="1336" y="163"/>
                  </a:lnTo>
                  <a:lnTo>
                    <a:pt x="1336" y="163"/>
                  </a:lnTo>
                  <a:lnTo>
                    <a:pt x="1341" y="163"/>
                  </a:lnTo>
                  <a:lnTo>
                    <a:pt x="1328" y="61"/>
                  </a:lnTo>
                  <a:lnTo>
                    <a:pt x="1101" y="61"/>
                  </a:lnTo>
                  <a:lnTo>
                    <a:pt x="1101" y="0"/>
                  </a:lnTo>
                  <a:lnTo>
                    <a:pt x="940" y="0"/>
                  </a:lnTo>
                  <a:lnTo>
                    <a:pt x="940" y="61"/>
                  </a:lnTo>
                  <a:lnTo>
                    <a:pt x="853" y="61"/>
                  </a:lnTo>
                  <a:lnTo>
                    <a:pt x="853" y="0"/>
                  </a:lnTo>
                  <a:lnTo>
                    <a:pt x="692" y="0"/>
                  </a:lnTo>
                  <a:lnTo>
                    <a:pt x="692" y="61"/>
                  </a:lnTo>
                  <a:lnTo>
                    <a:pt x="600" y="61"/>
                  </a:lnTo>
                  <a:lnTo>
                    <a:pt x="600" y="4"/>
                  </a:lnTo>
                  <a:lnTo>
                    <a:pt x="439" y="4"/>
                  </a:lnTo>
                  <a:lnTo>
                    <a:pt x="439" y="61"/>
                  </a:lnTo>
                  <a:lnTo>
                    <a:pt x="352" y="61"/>
                  </a:lnTo>
                  <a:lnTo>
                    <a:pt x="352" y="4"/>
                  </a:lnTo>
                  <a:lnTo>
                    <a:pt x="191" y="4"/>
                  </a:lnTo>
                  <a:lnTo>
                    <a:pt x="191" y="61"/>
                  </a:lnTo>
                  <a:lnTo>
                    <a:pt x="26" y="61"/>
                  </a:lnTo>
                  <a:lnTo>
                    <a:pt x="0" y="167"/>
                  </a:lnTo>
                  <a:lnTo>
                    <a:pt x="587" y="167"/>
                  </a:lnTo>
                  <a:lnTo>
                    <a:pt x="605" y="150"/>
                  </a:lnTo>
                  <a:lnTo>
                    <a:pt x="600" y="167"/>
                  </a:lnTo>
                  <a:close/>
                  <a:moveTo>
                    <a:pt x="1319" y="70"/>
                  </a:moveTo>
                  <a:lnTo>
                    <a:pt x="1332" y="154"/>
                  </a:lnTo>
                  <a:lnTo>
                    <a:pt x="1101" y="158"/>
                  </a:lnTo>
                  <a:lnTo>
                    <a:pt x="1101" y="70"/>
                  </a:lnTo>
                  <a:lnTo>
                    <a:pt x="1319" y="70"/>
                  </a:lnTo>
                  <a:close/>
                  <a:moveTo>
                    <a:pt x="949" y="8"/>
                  </a:moveTo>
                  <a:lnTo>
                    <a:pt x="1092" y="8"/>
                  </a:lnTo>
                  <a:lnTo>
                    <a:pt x="1092" y="154"/>
                  </a:lnTo>
                  <a:lnTo>
                    <a:pt x="949" y="154"/>
                  </a:lnTo>
                  <a:lnTo>
                    <a:pt x="949" y="8"/>
                  </a:lnTo>
                  <a:close/>
                  <a:moveTo>
                    <a:pt x="940" y="70"/>
                  </a:moveTo>
                  <a:lnTo>
                    <a:pt x="940" y="158"/>
                  </a:lnTo>
                  <a:lnTo>
                    <a:pt x="853" y="158"/>
                  </a:lnTo>
                  <a:lnTo>
                    <a:pt x="853" y="70"/>
                  </a:lnTo>
                  <a:lnTo>
                    <a:pt x="940" y="70"/>
                  </a:lnTo>
                  <a:close/>
                  <a:moveTo>
                    <a:pt x="696" y="8"/>
                  </a:moveTo>
                  <a:lnTo>
                    <a:pt x="844" y="8"/>
                  </a:lnTo>
                  <a:lnTo>
                    <a:pt x="844" y="154"/>
                  </a:lnTo>
                  <a:lnTo>
                    <a:pt x="696" y="154"/>
                  </a:lnTo>
                  <a:lnTo>
                    <a:pt x="696" y="8"/>
                  </a:lnTo>
                  <a:close/>
                  <a:moveTo>
                    <a:pt x="692" y="70"/>
                  </a:moveTo>
                  <a:lnTo>
                    <a:pt x="692" y="158"/>
                  </a:lnTo>
                  <a:lnTo>
                    <a:pt x="600" y="158"/>
                  </a:lnTo>
                  <a:lnTo>
                    <a:pt x="600" y="70"/>
                  </a:lnTo>
                  <a:lnTo>
                    <a:pt x="692" y="70"/>
                  </a:lnTo>
                  <a:close/>
                  <a:moveTo>
                    <a:pt x="448" y="13"/>
                  </a:moveTo>
                  <a:lnTo>
                    <a:pt x="592" y="13"/>
                  </a:lnTo>
                  <a:lnTo>
                    <a:pt x="592" y="158"/>
                  </a:lnTo>
                  <a:lnTo>
                    <a:pt x="587" y="158"/>
                  </a:lnTo>
                  <a:lnTo>
                    <a:pt x="448" y="158"/>
                  </a:lnTo>
                  <a:lnTo>
                    <a:pt x="448" y="13"/>
                  </a:lnTo>
                  <a:close/>
                  <a:moveTo>
                    <a:pt x="439" y="70"/>
                  </a:moveTo>
                  <a:lnTo>
                    <a:pt x="439" y="158"/>
                  </a:lnTo>
                  <a:lnTo>
                    <a:pt x="352" y="158"/>
                  </a:lnTo>
                  <a:lnTo>
                    <a:pt x="352" y="70"/>
                  </a:lnTo>
                  <a:lnTo>
                    <a:pt x="439" y="70"/>
                  </a:lnTo>
                  <a:close/>
                  <a:moveTo>
                    <a:pt x="196" y="13"/>
                  </a:moveTo>
                  <a:lnTo>
                    <a:pt x="344" y="13"/>
                  </a:lnTo>
                  <a:lnTo>
                    <a:pt x="344" y="158"/>
                  </a:lnTo>
                  <a:lnTo>
                    <a:pt x="196" y="158"/>
                  </a:lnTo>
                  <a:lnTo>
                    <a:pt x="196" y="13"/>
                  </a:lnTo>
                  <a:close/>
                  <a:moveTo>
                    <a:pt x="30" y="70"/>
                  </a:moveTo>
                  <a:lnTo>
                    <a:pt x="191" y="70"/>
                  </a:lnTo>
                  <a:lnTo>
                    <a:pt x="191" y="158"/>
                  </a:lnTo>
                  <a:lnTo>
                    <a:pt x="8" y="158"/>
                  </a:lnTo>
                  <a:lnTo>
                    <a:pt x="30" y="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22"/>
            <p:cNvSpPr>
              <a:spLocks noEditPoints="1"/>
            </p:cNvSpPr>
            <p:nvPr userDrawn="1"/>
          </p:nvSpPr>
          <p:spPr bwMode="auto">
            <a:xfrm>
              <a:off x="366713" y="4630738"/>
              <a:ext cx="103188" cy="176213"/>
            </a:xfrm>
            <a:custGeom>
              <a:avLst/>
              <a:gdLst>
                <a:gd name="T0" fmla="*/ 13 w 15"/>
                <a:gd name="T1" fmla="*/ 8 h 25"/>
                <a:gd name="T2" fmla="*/ 11 w 15"/>
                <a:gd name="T3" fmla="*/ 9 h 25"/>
                <a:gd name="T4" fmla="*/ 10 w 15"/>
                <a:gd name="T5" fmla="*/ 10 h 25"/>
                <a:gd name="T6" fmla="*/ 7 w 15"/>
                <a:gd name="T7" fmla="*/ 13 h 25"/>
                <a:gd name="T8" fmla="*/ 6 w 15"/>
                <a:gd name="T9" fmla="*/ 13 h 25"/>
                <a:gd name="T10" fmla="*/ 8 w 15"/>
                <a:gd name="T11" fmla="*/ 11 h 25"/>
                <a:gd name="T12" fmla="*/ 11 w 15"/>
                <a:gd name="T13" fmla="*/ 7 h 25"/>
                <a:gd name="T14" fmla="*/ 12 w 15"/>
                <a:gd name="T15" fmla="*/ 5 h 25"/>
                <a:gd name="T16" fmla="*/ 11 w 15"/>
                <a:gd name="T17" fmla="*/ 4 h 25"/>
                <a:gd name="T18" fmla="*/ 10 w 15"/>
                <a:gd name="T19" fmla="*/ 2 h 25"/>
                <a:gd name="T20" fmla="*/ 9 w 15"/>
                <a:gd name="T21" fmla="*/ 1 h 25"/>
                <a:gd name="T22" fmla="*/ 7 w 15"/>
                <a:gd name="T23" fmla="*/ 1 h 25"/>
                <a:gd name="T24" fmla="*/ 7 w 15"/>
                <a:gd name="T25" fmla="*/ 2 h 25"/>
                <a:gd name="T26" fmla="*/ 7 w 15"/>
                <a:gd name="T27" fmla="*/ 5 h 25"/>
                <a:gd name="T28" fmla="*/ 7 w 15"/>
                <a:gd name="T29" fmla="*/ 6 h 25"/>
                <a:gd name="T30" fmla="*/ 7 w 15"/>
                <a:gd name="T31" fmla="*/ 9 h 25"/>
                <a:gd name="T32" fmla="*/ 4 w 15"/>
                <a:gd name="T33" fmla="*/ 11 h 25"/>
                <a:gd name="T34" fmla="*/ 3 w 15"/>
                <a:gd name="T35" fmla="*/ 12 h 25"/>
                <a:gd name="T36" fmla="*/ 4 w 15"/>
                <a:gd name="T37" fmla="*/ 13 h 25"/>
                <a:gd name="T38" fmla="*/ 5 w 15"/>
                <a:gd name="T39" fmla="*/ 13 h 25"/>
                <a:gd name="T40" fmla="*/ 4 w 15"/>
                <a:gd name="T41" fmla="*/ 15 h 25"/>
                <a:gd name="T42" fmla="*/ 3 w 15"/>
                <a:gd name="T43" fmla="*/ 17 h 25"/>
                <a:gd name="T44" fmla="*/ 1 w 15"/>
                <a:gd name="T45" fmla="*/ 20 h 25"/>
                <a:gd name="T46" fmla="*/ 0 w 15"/>
                <a:gd name="T47" fmla="*/ 20 h 25"/>
                <a:gd name="T48" fmla="*/ 1 w 15"/>
                <a:gd name="T49" fmla="*/ 22 h 25"/>
                <a:gd name="T50" fmla="*/ 2 w 15"/>
                <a:gd name="T51" fmla="*/ 25 h 25"/>
                <a:gd name="T52" fmla="*/ 4 w 15"/>
                <a:gd name="T53" fmla="*/ 23 h 25"/>
                <a:gd name="T54" fmla="*/ 4 w 15"/>
                <a:gd name="T55" fmla="*/ 22 h 25"/>
                <a:gd name="T56" fmla="*/ 3 w 15"/>
                <a:gd name="T57" fmla="*/ 20 h 25"/>
                <a:gd name="T58" fmla="*/ 5 w 15"/>
                <a:gd name="T59" fmla="*/ 18 h 25"/>
                <a:gd name="T60" fmla="*/ 6 w 15"/>
                <a:gd name="T61" fmla="*/ 20 h 25"/>
                <a:gd name="T62" fmla="*/ 7 w 15"/>
                <a:gd name="T63" fmla="*/ 21 h 25"/>
                <a:gd name="T64" fmla="*/ 6 w 15"/>
                <a:gd name="T65" fmla="*/ 22 h 25"/>
                <a:gd name="T66" fmla="*/ 7 w 15"/>
                <a:gd name="T67" fmla="*/ 23 h 25"/>
                <a:gd name="T68" fmla="*/ 8 w 15"/>
                <a:gd name="T69" fmla="*/ 24 h 25"/>
                <a:gd name="T70" fmla="*/ 9 w 15"/>
                <a:gd name="T71" fmla="*/ 23 h 25"/>
                <a:gd name="T72" fmla="*/ 11 w 15"/>
                <a:gd name="T73" fmla="*/ 21 h 25"/>
                <a:gd name="T74" fmla="*/ 13 w 15"/>
                <a:gd name="T75" fmla="*/ 22 h 25"/>
                <a:gd name="T76" fmla="*/ 14 w 15"/>
                <a:gd name="T77" fmla="*/ 18 h 25"/>
                <a:gd name="T78" fmla="*/ 14 w 15"/>
                <a:gd name="T79" fmla="*/ 17 h 25"/>
                <a:gd name="T80" fmla="*/ 14 w 15"/>
                <a:gd name="T81" fmla="*/ 13 h 25"/>
                <a:gd name="T82" fmla="*/ 15 w 15"/>
                <a:gd name="T83" fmla="*/ 10 h 25"/>
                <a:gd name="T84" fmla="*/ 14 w 15"/>
                <a:gd name="T85" fmla="*/ 8 h 25"/>
                <a:gd name="T86" fmla="*/ 8 w 15"/>
                <a:gd name="T87" fmla="*/ 15 h 25"/>
                <a:gd name="T88" fmla="*/ 8 w 15"/>
                <a:gd name="T89" fmla="*/ 17 h 25"/>
                <a:gd name="T90" fmla="*/ 7 w 15"/>
                <a:gd name="T91" fmla="*/ 18 h 25"/>
                <a:gd name="T92" fmla="*/ 7 w 15"/>
                <a:gd name="T93" fmla="*/ 16 h 25"/>
                <a:gd name="T94" fmla="*/ 7 w 15"/>
                <a:gd name="T95" fmla="*/ 14 h 25"/>
                <a:gd name="T96" fmla="*/ 8 w 15"/>
                <a:gd name="T97" fmla="*/ 14 h 25"/>
                <a:gd name="T98" fmla="*/ 9 w 15"/>
                <a:gd name="T99" fmla="*/ 14 h 25"/>
                <a:gd name="T100" fmla="*/ 11 w 15"/>
                <a:gd name="T101" fmla="*/ 14 h 25"/>
                <a:gd name="T102" fmla="*/ 11 w 15"/>
                <a:gd name="T103" fmla="*/ 16 h 25"/>
                <a:gd name="T104" fmla="*/ 11 w 15"/>
                <a:gd name="T105" fmla="*/ 20 h 25"/>
                <a:gd name="T106" fmla="*/ 10 w 15"/>
                <a:gd name="T107" fmla="*/ 19 h 25"/>
                <a:gd name="T108" fmla="*/ 9 w 15"/>
                <a:gd name="T109" fmla="*/ 18 h 25"/>
                <a:gd name="T110" fmla="*/ 9 w 15"/>
                <a:gd name="T111" fmla="*/ 16 h 25"/>
                <a:gd name="T112" fmla="*/ 10 w 15"/>
                <a:gd name="T113" fmla="*/ 13 h 25"/>
                <a:gd name="T114" fmla="*/ 10 w 15"/>
                <a:gd name="T115" fmla="*/ 11 h 25"/>
                <a:gd name="T116" fmla="*/ 12 w 15"/>
                <a:gd name="T117" fmla="*/ 10 h 25"/>
                <a:gd name="T118" fmla="*/ 11 w 15"/>
                <a:gd name="T119"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 h="25">
                  <a:moveTo>
                    <a:pt x="14" y="8"/>
                  </a:moveTo>
                  <a:cubicBezTo>
                    <a:pt x="14" y="8"/>
                    <a:pt x="13" y="8"/>
                    <a:pt x="13" y="8"/>
                  </a:cubicBezTo>
                  <a:cubicBezTo>
                    <a:pt x="13" y="8"/>
                    <a:pt x="12" y="8"/>
                    <a:pt x="12" y="8"/>
                  </a:cubicBezTo>
                  <a:cubicBezTo>
                    <a:pt x="12" y="8"/>
                    <a:pt x="11" y="8"/>
                    <a:pt x="11" y="9"/>
                  </a:cubicBezTo>
                  <a:cubicBezTo>
                    <a:pt x="11" y="9"/>
                    <a:pt x="11" y="9"/>
                    <a:pt x="11" y="10"/>
                  </a:cubicBezTo>
                  <a:cubicBezTo>
                    <a:pt x="10" y="10"/>
                    <a:pt x="10" y="10"/>
                    <a:pt x="10" y="10"/>
                  </a:cubicBezTo>
                  <a:cubicBezTo>
                    <a:pt x="10" y="10"/>
                    <a:pt x="10" y="10"/>
                    <a:pt x="10" y="11"/>
                  </a:cubicBezTo>
                  <a:cubicBezTo>
                    <a:pt x="9" y="11"/>
                    <a:pt x="8" y="12"/>
                    <a:pt x="7" y="13"/>
                  </a:cubicBezTo>
                  <a:cubicBezTo>
                    <a:pt x="7" y="13"/>
                    <a:pt x="7" y="13"/>
                    <a:pt x="7" y="14"/>
                  </a:cubicBezTo>
                  <a:cubicBezTo>
                    <a:pt x="7" y="14"/>
                    <a:pt x="7" y="13"/>
                    <a:pt x="6" y="13"/>
                  </a:cubicBezTo>
                  <a:cubicBezTo>
                    <a:pt x="7" y="13"/>
                    <a:pt x="7" y="12"/>
                    <a:pt x="7" y="12"/>
                  </a:cubicBezTo>
                  <a:cubicBezTo>
                    <a:pt x="7" y="11"/>
                    <a:pt x="7" y="11"/>
                    <a:pt x="8" y="11"/>
                  </a:cubicBezTo>
                  <a:cubicBezTo>
                    <a:pt x="8" y="10"/>
                    <a:pt x="8" y="10"/>
                    <a:pt x="8" y="10"/>
                  </a:cubicBezTo>
                  <a:cubicBezTo>
                    <a:pt x="9" y="9"/>
                    <a:pt x="10" y="8"/>
                    <a:pt x="11" y="7"/>
                  </a:cubicBezTo>
                  <a:cubicBezTo>
                    <a:pt x="11" y="7"/>
                    <a:pt x="12" y="7"/>
                    <a:pt x="12" y="6"/>
                  </a:cubicBezTo>
                  <a:cubicBezTo>
                    <a:pt x="12" y="6"/>
                    <a:pt x="12" y="6"/>
                    <a:pt x="12" y="5"/>
                  </a:cubicBezTo>
                  <a:cubicBezTo>
                    <a:pt x="11" y="5"/>
                    <a:pt x="11" y="6"/>
                    <a:pt x="10" y="5"/>
                  </a:cubicBezTo>
                  <a:cubicBezTo>
                    <a:pt x="10" y="5"/>
                    <a:pt x="11" y="4"/>
                    <a:pt x="11" y="4"/>
                  </a:cubicBezTo>
                  <a:cubicBezTo>
                    <a:pt x="11" y="3"/>
                    <a:pt x="11" y="3"/>
                    <a:pt x="11" y="3"/>
                  </a:cubicBezTo>
                  <a:cubicBezTo>
                    <a:pt x="10" y="3"/>
                    <a:pt x="10" y="3"/>
                    <a:pt x="10" y="2"/>
                  </a:cubicBezTo>
                  <a:cubicBezTo>
                    <a:pt x="9" y="2"/>
                    <a:pt x="9" y="2"/>
                    <a:pt x="9" y="2"/>
                  </a:cubicBezTo>
                  <a:cubicBezTo>
                    <a:pt x="9" y="2"/>
                    <a:pt x="9" y="1"/>
                    <a:pt x="9" y="1"/>
                  </a:cubicBezTo>
                  <a:cubicBezTo>
                    <a:pt x="9" y="0"/>
                    <a:pt x="8" y="0"/>
                    <a:pt x="7" y="1"/>
                  </a:cubicBezTo>
                  <a:cubicBezTo>
                    <a:pt x="7" y="1"/>
                    <a:pt x="7" y="1"/>
                    <a:pt x="7" y="1"/>
                  </a:cubicBezTo>
                  <a:cubicBezTo>
                    <a:pt x="7" y="1"/>
                    <a:pt x="7" y="2"/>
                    <a:pt x="7" y="2"/>
                  </a:cubicBezTo>
                  <a:cubicBezTo>
                    <a:pt x="7" y="2"/>
                    <a:pt x="7" y="2"/>
                    <a:pt x="7" y="2"/>
                  </a:cubicBezTo>
                  <a:cubicBezTo>
                    <a:pt x="7" y="3"/>
                    <a:pt x="7" y="4"/>
                    <a:pt x="7" y="4"/>
                  </a:cubicBezTo>
                  <a:cubicBezTo>
                    <a:pt x="7" y="4"/>
                    <a:pt x="7" y="4"/>
                    <a:pt x="7" y="5"/>
                  </a:cubicBezTo>
                  <a:cubicBezTo>
                    <a:pt x="7" y="5"/>
                    <a:pt x="7" y="5"/>
                    <a:pt x="7" y="5"/>
                  </a:cubicBezTo>
                  <a:cubicBezTo>
                    <a:pt x="7" y="6"/>
                    <a:pt x="7" y="6"/>
                    <a:pt x="7" y="6"/>
                  </a:cubicBezTo>
                  <a:cubicBezTo>
                    <a:pt x="7" y="6"/>
                    <a:pt x="7" y="6"/>
                    <a:pt x="7" y="7"/>
                  </a:cubicBezTo>
                  <a:cubicBezTo>
                    <a:pt x="7" y="8"/>
                    <a:pt x="7" y="8"/>
                    <a:pt x="7" y="9"/>
                  </a:cubicBezTo>
                  <a:cubicBezTo>
                    <a:pt x="7" y="9"/>
                    <a:pt x="6" y="9"/>
                    <a:pt x="6" y="9"/>
                  </a:cubicBezTo>
                  <a:cubicBezTo>
                    <a:pt x="5" y="10"/>
                    <a:pt x="4" y="11"/>
                    <a:pt x="4" y="11"/>
                  </a:cubicBezTo>
                  <a:cubicBezTo>
                    <a:pt x="4" y="11"/>
                    <a:pt x="3" y="12"/>
                    <a:pt x="3" y="12"/>
                  </a:cubicBezTo>
                  <a:cubicBezTo>
                    <a:pt x="3" y="12"/>
                    <a:pt x="3" y="12"/>
                    <a:pt x="3" y="12"/>
                  </a:cubicBezTo>
                  <a:cubicBezTo>
                    <a:pt x="3" y="12"/>
                    <a:pt x="3" y="13"/>
                    <a:pt x="3" y="13"/>
                  </a:cubicBezTo>
                  <a:cubicBezTo>
                    <a:pt x="3" y="13"/>
                    <a:pt x="4" y="13"/>
                    <a:pt x="4" y="13"/>
                  </a:cubicBezTo>
                  <a:cubicBezTo>
                    <a:pt x="4" y="13"/>
                    <a:pt x="4" y="13"/>
                    <a:pt x="5" y="13"/>
                  </a:cubicBezTo>
                  <a:cubicBezTo>
                    <a:pt x="5" y="13"/>
                    <a:pt x="5" y="13"/>
                    <a:pt x="5" y="13"/>
                  </a:cubicBezTo>
                  <a:cubicBezTo>
                    <a:pt x="6" y="13"/>
                    <a:pt x="6" y="14"/>
                    <a:pt x="6" y="14"/>
                  </a:cubicBezTo>
                  <a:cubicBezTo>
                    <a:pt x="6" y="15"/>
                    <a:pt x="5" y="15"/>
                    <a:pt x="4" y="15"/>
                  </a:cubicBezTo>
                  <a:cubicBezTo>
                    <a:pt x="4" y="16"/>
                    <a:pt x="5" y="16"/>
                    <a:pt x="5" y="16"/>
                  </a:cubicBezTo>
                  <a:cubicBezTo>
                    <a:pt x="4" y="16"/>
                    <a:pt x="4" y="17"/>
                    <a:pt x="3" y="17"/>
                  </a:cubicBezTo>
                  <a:cubicBezTo>
                    <a:pt x="3" y="17"/>
                    <a:pt x="3" y="18"/>
                    <a:pt x="3" y="18"/>
                  </a:cubicBezTo>
                  <a:cubicBezTo>
                    <a:pt x="2" y="19"/>
                    <a:pt x="2" y="19"/>
                    <a:pt x="1" y="20"/>
                  </a:cubicBezTo>
                  <a:cubicBezTo>
                    <a:pt x="1" y="19"/>
                    <a:pt x="1" y="19"/>
                    <a:pt x="1" y="18"/>
                  </a:cubicBezTo>
                  <a:cubicBezTo>
                    <a:pt x="0" y="19"/>
                    <a:pt x="0" y="19"/>
                    <a:pt x="0" y="20"/>
                  </a:cubicBezTo>
                  <a:cubicBezTo>
                    <a:pt x="0" y="20"/>
                    <a:pt x="0" y="21"/>
                    <a:pt x="0" y="21"/>
                  </a:cubicBezTo>
                  <a:cubicBezTo>
                    <a:pt x="1" y="21"/>
                    <a:pt x="1" y="22"/>
                    <a:pt x="1" y="22"/>
                  </a:cubicBezTo>
                  <a:cubicBezTo>
                    <a:pt x="1" y="23"/>
                    <a:pt x="1" y="23"/>
                    <a:pt x="1" y="24"/>
                  </a:cubicBezTo>
                  <a:cubicBezTo>
                    <a:pt x="2" y="24"/>
                    <a:pt x="2" y="24"/>
                    <a:pt x="2" y="25"/>
                  </a:cubicBezTo>
                  <a:cubicBezTo>
                    <a:pt x="3" y="25"/>
                    <a:pt x="3" y="25"/>
                    <a:pt x="3" y="25"/>
                  </a:cubicBezTo>
                  <a:cubicBezTo>
                    <a:pt x="4" y="24"/>
                    <a:pt x="4" y="23"/>
                    <a:pt x="4" y="23"/>
                  </a:cubicBezTo>
                  <a:cubicBezTo>
                    <a:pt x="4" y="23"/>
                    <a:pt x="4" y="23"/>
                    <a:pt x="4" y="23"/>
                  </a:cubicBezTo>
                  <a:cubicBezTo>
                    <a:pt x="4" y="23"/>
                    <a:pt x="4" y="22"/>
                    <a:pt x="4" y="22"/>
                  </a:cubicBezTo>
                  <a:cubicBezTo>
                    <a:pt x="3" y="22"/>
                    <a:pt x="2" y="22"/>
                    <a:pt x="2" y="21"/>
                  </a:cubicBezTo>
                  <a:cubicBezTo>
                    <a:pt x="2" y="21"/>
                    <a:pt x="3" y="20"/>
                    <a:pt x="3" y="20"/>
                  </a:cubicBezTo>
                  <a:cubicBezTo>
                    <a:pt x="3" y="19"/>
                    <a:pt x="3" y="19"/>
                    <a:pt x="4" y="19"/>
                  </a:cubicBezTo>
                  <a:cubicBezTo>
                    <a:pt x="5" y="19"/>
                    <a:pt x="5" y="18"/>
                    <a:pt x="5" y="18"/>
                  </a:cubicBezTo>
                  <a:cubicBezTo>
                    <a:pt x="5" y="18"/>
                    <a:pt x="6" y="18"/>
                    <a:pt x="6" y="19"/>
                  </a:cubicBezTo>
                  <a:cubicBezTo>
                    <a:pt x="6" y="19"/>
                    <a:pt x="5" y="19"/>
                    <a:pt x="6" y="20"/>
                  </a:cubicBezTo>
                  <a:cubicBezTo>
                    <a:pt x="6" y="20"/>
                    <a:pt x="6" y="19"/>
                    <a:pt x="6" y="19"/>
                  </a:cubicBezTo>
                  <a:cubicBezTo>
                    <a:pt x="7" y="19"/>
                    <a:pt x="7" y="21"/>
                    <a:pt x="7" y="21"/>
                  </a:cubicBezTo>
                  <a:cubicBezTo>
                    <a:pt x="6" y="21"/>
                    <a:pt x="6" y="21"/>
                    <a:pt x="6" y="22"/>
                  </a:cubicBezTo>
                  <a:cubicBezTo>
                    <a:pt x="6" y="22"/>
                    <a:pt x="6" y="22"/>
                    <a:pt x="6" y="22"/>
                  </a:cubicBezTo>
                  <a:cubicBezTo>
                    <a:pt x="6" y="22"/>
                    <a:pt x="7" y="22"/>
                    <a:pt x="7" y="22"/>
                  </a:cubicBezTo>
                  <a:cubicBezTo>
                    <a:pt x="7" y="22"/>
                    <a:pt x="7" y="23"/>
                    <a:pt x="7" y="23"/>
                  </a:cubicBezTo>
                  <a:cubicBezTo>
                    <a:pt x="7" y="23"/>
                    <a:pt x="8" y="24"/>
                    <a:pt x="8" y="24"/>
                  </a:cubicBezTo>
                  <a:cubicBezTo>
                    <a:pt x="8" y="24"/>
                    <a:pt x="8" y="24"/>
                    <a:pt x="8" y="24"/>
                  </a:cubicBezTo>
                  <a:cubicBezTo>
                    <a:pt x="8" y="24"/>
                    <a:pt x="8" y="24"/>
                    <a:pt x="9" y="23"/>
                  </a:cubicBezTo>
                  <a:cubicBezTo>
                    <a:pt x="9" y="23"/>
                    <a:pt x="9" y="23"/>
                    <a:pt x="9" y="23"/>
                  </a:cubicBezTo>
                  <a:cubicBezTo>
                    <a:pt x="10" y="22"/>
                    <a:pt x="9" y="21"/>
                    <a:pt x="9" y="20"/>
                  </a:cubicBezTo>
                  <a:cubicBezTo>
                    <a:pt x="10" y="20"/>
                    <a:pt x="10" y="21"/>
                    <a:pt x="11" y="21"/>
                  </a:cubicBezTo>
                  <a:cubicBezTo>
                    <a:pt x="12" y="22"/>
                    <a:pt x="12" y="22"/>
                    <a:pt x="12" y="22"/>
                  </a:cubicBezTo>
                  <a:cubicBezTo>
                    <a:pt x="12" y="22"/>
                    <a:pt x="12" y="22"/>
                    <a:pt x="13" y="22"/>
                  </a:cubicBezTo>
                  <a:cubicBezTo>
                    <a:pt x="13" y="21"/>
                    <a:pt x="14" y="21"/>
                    <a:pt x="14" y="20"/>
                  </a:cubicBezTo>
                  <a:cubicBezTo>
                    <a:pt x="14" y="20"/>
                    <a:pt x="14" y="19"/>
                    <a:pt x="14" y="18"/>
                  </a:cubicBezTo>
                  <a:cubicBezTo>
                    <a:pt x="14" y="18"/>
                    <a:pt x="14" y="18"/>
                    <a:pt x="14" y="17"/>
                  </a:cubicBezTo>
                  <a:cubicBezTo>
                    <a:pt x="14" y="17"/>
                    <a:pt x="14" y="17"/>
                    <a:pt x="14" y="17"/>
                  </a:cubicBezTo>
                  <a:cubicBezTo>
                    <a:pt x="14" y="16"/>
                    <a:pt x="14" y="15"/>
                    <a:pt x="14" y="15"/>
                  </a:cubicBezTo>
                  <a:cubicBezTo>
                    <a:pt x="14" y="14"/>
                    <a:pt x="14" y="13"/>
                    <a:pt x="14" y="13"/>
                  </a:cubicBezTo>
                  <a:cubicBezTo>
                    <a:pt x="14" y="12"/>
                    <a:pt x="15" y="12"/>
                    <a:pt x="15" y="11"/>
                  </a:cubicBezTo>
                  <a:cubicBezTo>
                    <a:pt x="15" y="11"/>
                    <a:pt x="15" y="10"/>
                    <a:pt x="15" y="10"/>
                  </a:cubicBezTo>
                  <a:cubicBezTo>
                    <a:pt x="15" y="10"/>
                    <a:pt x="15" y="9"/>
                    <a:pt x="14" y="9"/>
                  </a:cubicBezTo>
                  <a:cubicBezTo>
                    <a:pt x="14" y="9"/>
                    <a:pt x="14" y="9"/>
                    <a:pt x="14" y="8"/>
                  </a:cubicBezTo>
                  <a:close/>
                  <a:moveTo>
                    <a:pt x="8" y="15"/>
                  </a:moveTo>
                  <a:cubicBezTo>
                    <a:pt x="8" y="15"/>
                    <a:pt x="8" y="15"/>
                    <a:pt x="8" y="15"/>
                  </a:cubicBezTo>
                  <a:cubicBezTo>
                    <a:pt x="8" y="15"/>
                    <a:pt x="8" y="16"/>
                    <a:pt x="8" y="16"/>
                  </a:cubicBezTo>
                  <a:cubicBezTo>
                    <a:pt x="8" y="16"/>
                    <a:pt x="8" y="16"/>
                    <a:pt x="8" y="17"/>
                  </a:cubicBezTo>
                  <a:cubicBezTo>
                    <a:pt x="8" y="17"/>
                    <a:pt x="8" y="17"/>
                    <a:pt x="7" y="18"/>
                  </a:cubicBezTo>
                  <a:cubicBezTo>
                    <a:pt x="7" y="18"/>
                    <a:pt x="7" y="18"/>
                    <a:pt x="7" y="18"/>
                  </a:cubicBezTo>
                  <a:cubicBezTo>
                    <a:pt x="7" y="17"/>
                    <a:pt x="7" y="17"/>
                    <a:pt x="7" y="16"/>
                  </a:cubicBezTo>
                  <a:cubicBezTo>
                    <a:pt x="7" y="16"/>
                    <a:pt x="7" y="16"/>
                    <a:pt x="7" y="16"/>
                  </a:cubicBezTo>
                  <a:cubicBezTo>
                    <a:pt x="7" y="16"/>
                    <a:pt x="7" y="15"/>
                    <a:pt x="7" y="15"/>
                  </a:cubicBezTo>
                  <a:cubicBezTo>
                    <a:pt x="7" y="15"/>
                    <a:pt x="7" y="14"/>
                    <a:pt x="7" y="14"/>
                  </a:cubicBezTo>
                  <a:cubicBezTo>
                    <a:pt x="7" y="14"/>
                    <a:pt x="7" y="14"/>
                    <a:pt x="7" y="14"/>
                  </a:cubicBezTo>
                  <a:cubicBezTo>
                    <a:pt x="7" y="14"/>
                    <a:pt x="8" y="14"/>
                    <a:pt x="8" y="14"/>
                  </a:cubicBezTo>
                  <a:cubicBezTo>
                    <a:pt x="8" y="14"/>
                    <a:pt x="8" y="13"/>
                    <a:pt x="8" y="13"/>
                  </a:cubicBezTo>
                  <a:cubicBezTo>
                    <a:pt x="8" y="13"/>
                    <a:pt x="8" y="14"/>
                    <a:pt x="9" y="14"/>
                  </a:cubicBezTo>
                  <a:cubicBezTo>
                    <a:pt x="8" y="14"/>
                    <a:pt x="8" y="14"/>
                    <a:pt x="8" y="15"/>
                  </a:cubicBezTo>
                  <a:close/>
                  <a:moveTo>
                    <a:pt x="11" y="14"/>
                  </a:moveTo>
                  <a:cubicBezTo>
                    <a:pt x="11" y="14"/>
                    <a:pt x="11" y="14"/>
                    <a:pt x="11" y="15"/>
                  </a:cubicBezTo>
                  <a:cubicBezTo>
                    <a:pt x="11" y="15"/>
                    <a:pt x="11" y="15"/>
                    <a:pt x="11" y="16"/>
                  </a:cubicBezTo>
                  <a:cubicBezTo>
                    <a:pt x="11" y="16"/>
                    <a:pt x="11" y="16"/>
                    <a:pt x="11" y="17"/>
                  </a:cubicBezTo>
                  <a:cubicBezTo>
                    <a:pt x="11" y="18"/>
                    <a:pt x="11" y="19"/>
                    <a:pt x="11" y="20"/>
                  </a:cubicBezTo>
                  <a:cubicBezTo>
                    <a:pt x="11" y="20"/>
                    <a:pt x="10" y="20"/>
                    <a:pt x="9" y="20"/>
                  </a:cubicBezTo>
                  <a:cubicBezTo>
                    <a:pt x="9" y="20"/>
                    <a:pt x="10" y="19"/>
                    <a:pt x="10" y="19"/>
                  </a:cubicBezTo>
                  <a:cubicBezTo>
                    <a:pt x="10" y="18"/>
                    <a:pt x="9" y="19"/>
                    <a:pt x="9" y="18"/>
                  </a:cubicBezTo>
                  <a:cubicBezTo>
                    <a:pt x="9" y="18"/>
                    <a:pt x="9" y="18"/>
                    <a:pt x="9" y="18"/>
                  </a:cubicBezTo>
                  <a:cubicBezTo>
                    <a:pt x="9" y="17"/>
                    <a:pt x="9" y="17"/>
                    <a:pt x="9" y="17"/>
                  </a:cubicBezTo>
                  <a:cubicBezTo>
                    <a:pt x="9" y="16"/>
                    <a:pt x="9" y="16"/>
                    <a:pt x="9" y="16"/>
                  </a:cubicBezTo>
                  <a:cubicBezTo>
                    <a:pt x="9" y="15"/>
                    <a:pt x="9" y="15"/>
                    <a:pt x="9" y="15"/>
                  </a:cubicBezTo>
                  <a:cubicBezTo>
                    <a:pt x="10" y="14"/>
                    <a:pt x="11" y="13"/>
                    <a:pt x="10" y="13"/>
                  </a:cubicBezTo>
                  <a:cubicBezTo>
                    <a:pt x="10" y="13"/>
                    <a:pt x="10" y="12"/>
                    <a:pt x="9" y="12"/>
                  </a:cubicBezTo>
                  <a:cubicBezTo>
                    <a:pt x="9" y="12"/>
                    <a:pt x="10" y="11"/>
                    <a:pt x="10" y="11"/>
                  </a:cubicBezTo>
                  <a:cubicBezTo>
                    <a:pt x="11" y="11"/>
                    <a:pt x="11" y="10"/>
                    <a:pt x="11" y="10"/>
                  </a:cubicBezTo>
                  <a:cubicBezTo>
                    <a:pt x="11" y="10"/>
                    <a:pt x="12" y="10"/>
                    <a:pt x="12" y="10"/>
                  </a:cubicBezTo>
                  <a:cubicBezTo>
                    <a:pt x="12" y="11"/>
                    <a:pt x="11" y="12"/>
                    <a:pt x="11" y="13"/>
                  </a:cubicBezTo>
                  <a:cubicBezTo>
                    <a:pt x="11" y="13"/>
                    <a:pt x="11" y="14"/>
                    <a:pt x="1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23"/>
            <p:cNvSpPr/>
            <p:nvPr userDrawn="1"/>
          </p:nvSpPr>
          <p:spPr bwMode="auto">
            <a:xfrm>
              <a:off x="1160463" y="4652963"/>
              <a:ext cx="90488" cy="125413"/>
            </a:xfrm>
            <a:custGeom>
              <a:avLst/>
              <a:gdLst>
                <a:gd name="T0" fmla="*/ 11 w 13"/>
                <a:gd name="T1" fmla="*/ 7 h 18"/>
                <a:gd name="T2" fmla="*/ 13 w 13"/>
                <a:gd name="T3" fmla="*/ 6 h 18"/>
                <a:gd name="T4" fmla="*/ 13 w 13"/>
                <a:gd name="T5" fmla="*/ 5 h 18"/>
                <a:gd name="T6" fmla="*/ 12 w 13"/>
                <a:gd name="T7" fmla="*/ 5 h 18"/>
                <a:gd name="T8" fmla="*/ 11 w 13"/>
                <a:gd name="T9" fmla="*/ 5 h 18"/>
                <a:gd name="T10" fmla="*/ 11 w 13"/>
                <a:gd name="T11" fmla="*/ 5 h 18"/>
                <a:gd name="T12" fmla="*/ 11 w 13"/>
                <a:gd name="T13" fmla="*/ 6 h 18"/>
                <a:gd name="T14" fmla="*/ 10 w 13"/>
                <a:gd name="T15" fmla="*/ 6 h 18"/>
                <a:gd name="T16" fmla="*/ 9 w 13"/>
                <a:gd name="T17" fmla="*/ 7 h 18"/>
                <a:gd name="T18" fmla="*/ 8 w 13"/>
                <a:gd name="T19" fmla="*/ 7 h 18"/>
                <a:gd name="T20" fmla="*/ 8 w 13"/>
                <a:gd name="T21" fmla="*/ 5 h 18"/>
                <a:gd name="T22" fmla="*/ 8 w 13"/>
                <a:gd name="T23" fmla="*/ 4 h 18"/>
                <a:gd name="T24" fmla="*/ 9 w 13"/>
                <a:gd name="T25" fmla="*/ 3 h 18"/>
                <a:gd name="T26" fmla="*/ 9 w 13"/>
                <a:gd name="T27" fmla="*/ 2 h 18"/>
                <a:gd name="T28" fmla="*/ 9 w 13"/>
                <a:gd name="T29" fmla="*/ 1 h 18"/>
                <a:gd name="T30" fmla="*/ 8 w 13"/>
                <a:gd name="T31" fmla="*/ 1 h 18"/>
                <a:gd name="T32" fmla="*/ 7 w 13"/>
                <a:gd name="T33" fmla="*/ 0 h 18"/>
                <a:gd name="T34" fmla="*/ 6 w 13"/>
                <a:gd name="T35" fmla="*/ 1 h 18"/>
                <a:gd name="T36" fmla="*/ 7 w 13"/>
                <a:gd name="T37" fmla="*/ 2 h 18"/>
                <a:gd name="T38" fmla="*/ 6 w 13"/>
                <a:gd name="T39" fmla="*/ 5 h 18"/>
                <a:gd name="T40" fmla="*/ 6 w 13"/>
                <a:gd name="T41" fmla="*/ 7 h 18"/>
                <a:gd name="T42" fmla="*/ 6 w 13"/>
                <a:gd name="T43" fmla="*/ 8 h 18"/>
                <a:gd name="T44" fmla="*/ 6 w 13"/>
                <a:gd name="T45" fmla="*/ 8 h 18"/>
                <a:gd name="T46" fmla="*/ 5 w 13"/>
                <a:gd name="T47" fmla="*/ 9 h 18"/>
                <a:gd name="T48" fmla="*/ 2 w 13"/>
                <a:gd name="T49" fmla="*/ 9 h 18"/>
                <a:gd name="T50" fmla="*/ 2 w 13"/>
                <a:gd name="T51" fmla="*/ 10 h 18"/>
                <a:gd name="T52" fmla="*/ 1 w 13"/>
                <a:gd name="T53" fmla="*/ 10 h 18"/>
                <a:gd name="T54" fmla="*/ 1 w 13"/>
                <a:gd name="T55" fmla="*/ 10 h 18"/>
                <a:gd name="T56" fmla="*/ 2 w 13"/>
                <a:gd name="T57" fmla="*/ 12 h 18"/>
                <a:gd name="T58" fmla="*/ 2 w 13"/>
                <a:gd name="T59" fmla="*/ 12 h 18"/>
                <a:gd name="T60" fmla="*/ 3 w 13"/>
                <a:gd name="T61" fmla="*/ 12 h 18"/>
                <a:gd name="T62" fmla="*/ 3 w 13"/>
                <a:gd name="T63" fmla="*/ 11 h 18"/>
                <a:gd name="T64" fmla="*/ 5 w 13"/>
                <a:gd name="T65" fmla="*/ 10 h 18"/>
                <a:gd name="T66" fmla="*/ 6 w 13"/>
                <a:gd name="T67" fmla="*/ 9 h 18"/>
                <a:gd name="T68" fmla="*/ 6 w 13"/>
                <a:gd name="T69" fmla="*/ 10 h 18"/>
                <a:gd name="T70" fmla="*/ 6 w 13"/>
                <a:gd name="T71" fmla="*/ 11 h 18"/>
                <a:gd name="T72" fmla="*/ 6 w 13"/>
                <a:gd name="T73" fmla="*/ 11 h 18"/>
                <a:gd name="T74" fmla="*/ 4 w 13"/>
                <a:gd name="T75" fmla="*/ 14 h 18"/>
                <a:gd name="T76" fmla="*/ 2 w 13"/>
                <a:gd name="T77" fmla="*/ 16 h 18"/>
                <a:gd name="T78" fmla="*/ 1 w 13"/>
                <a:gd name="T79" fmla="*/ 16 h 18"/>
                <a:gd name="T80" fmla="*/ 0 w 13"/>
                <a:gd name="T81" fmla="*/ 17 h 18"/>
                <a:gd name="T82" fmla="*/ 2 w 13"/>
                <a:gd name="T83" fmla="*/ 17 h 18"/>
                <a:gd name="T84" fmla="*/ 2 w 13"/>
                <a:gd name="T85" fmla="*/ 17 h 18"/>
                <a:gd name="T86" fmla="*/ 4 w 13"/>
                <a:gd name="T87" fmla="*/ 16 h 18"/>
                <a:gd name="T88" fmla="*/ 5 w 13"/>
                <a:gd name="T89" fmla="*/ 15 h 18"/>
                <a:gd name="T90" fmla="*/ 6 w 13"/>
                <a:gd name="T91" fmla="*/ 14 h 18"/>
                <a:gd name="T92" fmla="*/ 7 w 13"/>
                <a:gd name="T93" fmla="*/ 12 h 18"/>
                <a:gd name="T94" fmla="*/ 7 w 13"/>
                <a:gd name="T95" fmla="*/ 11 h 18"/>
                <a:gd name="T96" fmla="*/ 8 w 13"/>
                <a:gd name="T97" fmla="*/ 8 h 18"/>
                <a:gd name="T98" fmla="*/ 9 w 13"/>
                <a:gd name="T99" fmla="*/ 8 h 18"/>
                <a:gd name="T100" fmla="*/ 11 w 13"/>
                <a:gd name="T101"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 h="18">
                  <a:moveTo>
                    <a:pt x="11" y="7"/>
                  </a:moveTo>
                  <a:cubicBezTo>
                    <a:pt x="12" y="7"/>
                    <a:pt x="12" y="7"/>
                    <a:pt x="13" y="6"/>
                  </a:cubicBezTo>
                  <a:cubicBezTo>
                    <a:pt x="13" y="6"/>
                    <a:pt x="13" y="6"/>
                    <a:pt x="13" y="5"/>
                  </a:cubicBezTo>
                  <a:cubicBezTo>
                    <a:pt x="13" y="5"/>
                    <a:pt x="12" y="5"/>
                    <a:pt x="12" y="5"/>
                  </a:cubicBezTo>
                  <a:cubicBezTo>
                    <a:pt x="12" y="5"/>
                    <a:pt x="12" y="5"/>
                    <a:pt x="11" y="5"/>
                  </a:cubicBezTo>
                  <a:cubicBezTo>
                    <a:pt x="11" y="5"/>
                    <a:pt x="11" y="5"/>
                    <a:pt x="11" y="5"/>
                  </a:cubicBezTo>
                  <a:cubicBezTo>
                    <a:pt x="10" y="5"/>
                    <a:pt x="11" y="5"/>
                    <a:pt x="11" y="6"/>
                  </a:cubicBezTo>
                  <a:cubicBezTo>
                    <a:pt x="11" y="6"/>
                    <a:pt x="10" y="6"/>
                    <a:pt x="10" y="6"/>
                  </a:cubicBezTo>
                  <a:cubicBezTo>
                    <a:pt x="9" y="7"/>
                    <a:pt x="9" y="7"/>
                    <a:pt x="9" y="7"/>
                  </a:cubicBezTo>
                  <a:cubicBezTo>
                    <a:pt x="8" y="7"/>
                    <a:pt x="8" y="7"/>
                    <a:pt x="8" y="7"/>
                  </a:cubicBezTo>
                  <a:cubicBezTo>
                    <a:pt x="8" y="6"/>
                    <a:pt x="8" y="6"/>
                    <a:pt x="8" y="5"/>
                  </a:cubicBezTo>
                  <a:cubicBezTo>
                    <a:pt x="8" y="5"/>
                    <a:pt x="8" y="5"/>
                    <a:pt x="8" y="4"/>
                  </a:cubicBezTo>
                  <a:cubicBezTo>
                    <a:pt x="9" y="4"/>
                    <a:pt x="8" y="3"/>
                    <a:pt x="9" y="3"/>
                  </a:cubicBezTo>
                  <a:cubicBezTo>
                    <a:pt x="9" y="2"/>
                    <a:pt x="9" y="2"/>
                    <a:pt x="9" y="2"/>
                  </a:cubicBezTo>
                  <a:cubicBezTo>
                    <a:pt x="9" y="2"/>
                    <a:pt x="9" y="1"/>
                    <a:pt x="9" y="1"/>
                  </a:cubicBezTo>
                  <a:cubicBezTo>
                    <a:pt x="9" y="1"/>
                    <a:pt x="8" y="1"/>
                    <a:pt x="8" y="1"/>
                  </a:cubicBezTo>
                  <a:cubicBezTo>
                    <a:pt x="8" y="0"/>
                    <a:pt x="8" y="0"/>
                    <a:pt x="7" y="0"/>
                  </a:cubicBezTo>
                  <a:cubicBezTo>
                    <a:pt x="7" y="0"/>
                    <a:pt x="6" y="1"/>
                    <a:pt x="6" y="1"/>
                  </a:cubicBezTo>
                  <a:cubicBezTo>
                    <a:pt x="6" y="1"/>
                    <a:pt x="6" y="2"/>
                    <a:pt x="7" y="2"/>
                  </a:cubicBezTo>
                  <a:cubicBezTo>
                    <a:pt x="7" y="3"/>
                    <a:pt x="7" y="4"/>
                    <a:pt x="6" y="5"/>
                  </a:cubicBezTo>
                  <a:cubicBezTo>
                    <a:pt x="6" y="6"/>
                    <a:pt x="6" y="6"/>
                    <a:pt x="6" y="7"/>
                  </a:cubicBezTo>
                  <a:cubicBezTo>
                    <a:pt x="6" y="7"/>
                    <a:pt x="7" y="8"/>
                    <a:pt x="6" y="8"/>
                  </a:cubicBezTo>
                  <a:cubicBezTo>
                    <a:pt x="6" y="8"/>
                    <a:pt x="6" y="8"/>
                    <a:pt x="6" y="8"/>
                  </a:cubicBezTo>
                  <a:cubicBezTo>
                    <a:pt x="5" y="8"/>
                    <a:pt x="5" y="9"/>
                    <a:pt x="5" y="9"/>
                  </a:cubicBezTo>
                  <a:cubicBezTo>
                    <a:pt x="4" y="9"/>
                    <a:pt x="3" y="9"/>
                    <a:pt x="2" y="9"/>
                  </a:cubicBezTo>
                  <a:cubicBezTo>
                    <a:pt x="2" y="10"/>
                    <a:pt x="2" y="10"/>
                    <a:pt x="2" y="10"/>
                  </a:cubicBezTo>
                  <a:cubicBezTo>
                    <a:pt x="2" y="10"/>
                    <a:pt x="1" y="10"/>
                    <a:pt x="1" y="10"/>
                  </a:cubicBezTo>
                  <a:cubicBezTo>
                    <a:pt x="1" y="10"/>
                    <a:pt x="1" y="10"/>
                    <a:pt x="1" y="10"/>
                  </a:cubicBezTo>
                  <a:cubicBezTo>
                    <a:pt x="1" y="11"/>
                    <a:pt x="1" y="11"/>
                    <a:pt x="2" y="12"/>
                  </a:cubicBezTo>
                  <a:cubicBezTo>
                    <a:pt x="2" y="12"/>
                    <a:pt x="2" y="12"/>
                    <a:pt x="2" y="12"/>
                  </a:cubicBezTo>
                  <a:cubicBezTo>
                    <a:pt x="2" y="12"/>
                    <a:pt x="3" y="12"/>
                    <a:pt x="3" y="12"/>
                  </a:cubicBezTo>
                  <a:cubicBezTo>
                    <a:pt x="3" y="12"/>
                    <a:pt x="3" y="12"/>
                    <a:pt x="3" y="11"/>
                  </a:cubicBezTo>
                  <a:cubicBezTo>
                    <a:pt x="4" y="11"/>
                    <a:pt x="5" y="11"/>
                    <a:pt x="5" y="10"/>
                  </a:cubicBezTo>
                  <a:cubicBezTo>
                    <a:pt x="5" y="10"/>
                    <a:pt x="5" y="9"/>
                    <a:pt x="6" y="9"/>
                  </a:cubicBezTo>
                  <a:cubicBezTo>
                    <a:pt x="6" y="10"/>
                    <a:pt x="6" y="10"/>
                    <a:pt x="6" y="10"/>
                  </a:cubicBezTo>
                  <a:cubicBezTo>
                    <a:pt x="6" y="10"/>
                    <a:pt x="6" y="11"/>
                    <a:pt x="6" y="11"/>
                  </a:cubicBezTo>
                  <a:cubicBezTo>
                    <a:pt x="6" y="11"/>
                    <a:pt x="6" y="11"/>
                    <a:pt x="6" y="11"/>
                  </a:cubicBezTo>
                  <a:cubicBezTo>
                    <a:pt x="6" y="13"/>
                    <a:pt x="4" y="14"/>
                    <a:pt x="4" y="14"/>
                  </a:cubicBezTo>
                  <a:cubicBezTo>
                    <a:pt x="3" y="15"/>
                    <a:pt x="3" y="15"/>
                    <a:pt x="2" y="16"/>
                  </a:cubicBezTo>
                  <a:cubicBezTo>
                    <a:pt x="2" y="16"/>
                    <a:pt x="1" y="16"/>
                    <a:pt x="1" y="16"/>
                  </a:cubicBezTo>
                  <a:cubicBezTo>
                    <a:pt x="1" y="17"/>
                    <a:pt x="0" y="17"/>
                    <a:pt x="0" y="17"/>
                  </a:cubicBezTo>
                  <a:cubicBezTo>
                    <a:pt x="1" y="18"/>
                    <a:pt x="2" y="17"/>
                    <a:pt x="2" y="17"/>
                  </a:cubicBezTo>
                  <a:cubicBezTo>
                    <a:pt x="2" y="17"/>
                    <a:pt x="2" y="17"/>
                    <a:pt x="2" y="17"/>
                  </a:cubicBezTo>
                  <a:cubicBezTo>
                    <a:pt x="3" y="17"/>
                    <a:pt x="4" y="16"/>
                    <a:pt x="4" y="16"/>
                  </a:cubicBezTo>
                  <a:cubicBezTo>
                    <a:pt x="5" y="16"/>
                    <a:pt x="5" y="16"/>
                    <a:pt x="5" y="15"/>
                  </a:cubicBezTo>
                  <a:cubicBezTo>
                    <a:pt x="5" y="15"/>
                    <a:pt x="6" y="15"/>
                    <a:pt x="6" y="14"/>
                  </a:cubicBezTo>
                  <a:cubicBezTo>
                    <a:pt x="7" y="13"/>
                    <a:pt x="7" y="13"/>
                    <a:pt x="7" y="12"/>
                  </a:cubicBezTo>
                  <a:cubicBezTo>
                    <a:pt x="7" y="11"/>
                    <a:pt x="7" y="11"/>
                    <a:pt x="7" y="11"/>
                  </a:cubicBezTo>
                  <a:cubicBezTo>
                    <a:pt x="8" y="10"/>
                    <a:pt x="8" y="9"/>
                    <a:pt x="8" y="8"/>
                  </a:cubicBezTo>
                  <a:cubicBezTo>
                    <a:pt x="8" y="8"/>
                    <a:pt x="8" y="8"/>
                    <a:pt x="9" y="8"/>
                  </a:cubicBezTo>
                  <a:cubicBezTo>
                    <a:pt x="9" y="8"/>
                    <a:pt x="10" y="7"/>
                    <a:pt x="1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24"/>
            <p:cNvSpPr/>
            <p:nvPr userDrawn="1"/>
          </p:nvSpPr>
          <p:spPr bwMode="auto">
            <a:xfrm>
              <a:off x="1216025" y="4714875"/>
              <a:ext cx="55563" cy="49213"/>
            </a:xfrm>
            <a:custGeom>
              <a:avLst/>
              <a:gdLst>
                <a:gd name="T0" fmla="*/ 5 w 8"/>
                <a:gd name="T1" fmla="*/ 5 h 7"/>
                <a:gd name="T2" fmla="*/ 4 w 8"/>
                <a:gd name="T3" fmla="*/ 3 h 7"/>
                <a:gd name="T4" fmla="*/ 3 w 8"/>
                <a:gd name="T5" fmla="*/ 3 h 7"/>
                <a:gd name="T6" fmla="*/ 2 w 8"/>
                <a:gd name="T7" fmla="*/ 2 h 7"/>
                <a:gd name="T8" fmla="*/ 2 w 8"/>
                <a:gd name="T9" fmla="*/ 2 h 7"/>
                <a:gd name="T10" fmla="*/ 1 w 8"/>
                <a:gd name="T11" fmla="*/ 1 h 7"/>
                <a:gd name="T12" fmla="*/ 0 w 8"/>
                <a:gd name="T13" fmla="*/ 0 h 7"/>
                <a:gd name="T14" fmla="*/ 1 w 8"/>
                <a:gd name="T15" fmla="*/ 1 h 7"/>
                <a:gd name="T16" fmla="*/ 1 w 8"/>
                <a:gd name="T17" fmla="*/ 3 h 7"/>
                <a:gd name="T18" fmla="*/ 2 w 8"/>
                <a:gd name="T19" fmla="*/ 4 h 7"/>
                <a:gd name="T20" fmla="*/ 3 w 8"/>
                <a:gd name="T21" fmla="*/ 5 h 7"/>
                <a:gd name="T22" fmla="*/ 3 w 8"/>
                <a:gd name="T23" fmla="*/ 6 h 7"/>
                <a:gd name="T24" fmla="*/ 5 w 8"/>
                <a:gd name="T25" fmla="*/ 7 h 7"/>
                <a:gd name="T26" fmla="*/ 6 w 8"/>
                <a:gd name="T27" fmla="*/ 7 h 7"/>
                <a:gd name="T28" fmla="*/ 6 w 8"/>
                <a:gd name="T29" fmla="*/ 7 h 7"/>
                <a:gd name="T30" fmla="*/ 7 w 8"/>
                <a:gd name="T31" fmla="*/ 6 h 7"/>
                <a:gd name="T32" fmla="*/ 8 w 8"/>
                <a:gd name="T33" fmla="*/ 6 h 7"/>
                <a:gd name="T34" fmla="*/ 6 w 8"/>
                <a:gd name="T35" fmla="*/ 5 h 7"/>
                <a:gd name="T36" fmla="*/ 5 w 8"/>
                <a:gd name="T3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 h="7">
                  <a:moveTo>
                    <a:pt x="5" y="5"/>
                  </a:moveTo>
                  <a:cubicBezTo>
                    <a:pt x="5" y="4"/>
                    <a:pt x="4" y="4"/>
                    <a:pt x="4" y="3"/>
                  </a:cubicBezTo>
                  <a:cubicBezTo>
                    <a:pt x="3" y="3"/>
                    <a:pt x="3" y="3"/>
                    <a:pt x="3" y="3"/>
                  </a:cubicBezTo>
                  <a:cubicBezTo>
                    <a:pt x="3" y="3"/>
                    <a:pt x="3" y="2"/>
                    <a:pt x="2" y="2"/>
                  </a:cubicBezTo>
                  <a:cubicBezTo>
                    <a:pt x="2" y="2"/>
                    <a:pt x="2" y="2"/>
                    <a:pt x="2" y="2"/>
                  </a:cubicBezTo>
                  <a:cubicBezTo>
                    <a:pt x="2" y="1"/>
                    <a:pt x="1" y="1"/>
                    <a:pt x="1" y="1"/>
                  </a:cubicBezTo>
                  <a:cubicBezTo>
                    <a:pt x="1" y="0"/>
                    <a:pt x="1" y="0"/>
                    <a:pt x="0" y="0"/>
                  </a:cubicBezTo>
                  <a:cubicBezTo>
                    <a:pt x="0" y="0"/>
                    <a:pt x="1" y="1"/>
                    <a:pt x="1" y="1"/>
                  </a:cubicBezTo>
                  <a:cubicBezTo>
                    <a:pt x="1" y="2"/>
                    <a:pt x="1" y="2"/>
                    <a:pt x="1" y="3"/>
                  </a:cubicBezTo>
                  <a:cubicBezTo>
                    <a:pt x="1" y="3"/>
                    <a:pt x="2" y="4"/>
                    <a:pt x="2" y="4"/>
                  </a:cubicBezTo>
                  <a:cubicBezTo>
                    <a:pt x="2" y="4"/>
                    <a:pt x="2" y="5"/>
                    <a:pt x="3" y="5"/>
                  </a:cubicBezTo>
                  <a:cubicBezTo>
                    <a:pt x="3" y="5"/>
                    <a:pt x="3" y="6"/>
                    <a:pt x="3" y="6"/>
                  </a:cubicBezTo>
                  <a:cubicBezTo>
                    <a:pt x="4" y="6"/>
                    <a:pt x="4" y="7"/>
                    <a:pt x="5" y="7"/>
                  </a:cubicBezTo>
                  <a:cubicBezTo>
                    <a:pt x="5" y="7"/>
                    <a:pt x="5" y="7"/>
                    <a:pt x="6" y="7"/>
                  </a:cubicBezTo>
                  <a:cubicBezTo>
                    <a:pt x="6" y="7"/>
                    <a:pt x="6" y="7"/>
                    <a:pt x="6" y="7"/>
                  </a:cubicBezTo>
                  <a:cubicBezTo>
                    <a:pt x="6" y="7"/>
                    <a:pt x="7" y="7"/>
                    <a:pt x="7" y="6"/>
                  </a:cubicBezTo>
                  <a:cubicBezTo>
                    <a:pt x="8" y="6"/>
                    <a:pt x="8" y="6"/>
                    <a:pt x="8" y="6"/>
                  </a:cubicBezTo>
                  <a:cubicBezTo>
                    <a:pt x="8" y="5"/>
                    <a:pt x="7" y="5"/>
                    <a:pt x="6" y="5"/>
                  </a:cubicBezTo>
                  <a:cubicBezTo>
                    <a:pt x="6" y="5"/>
                    <a:pt x="6"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25"/>
            <p:cNvSpPr>
              <a:spLocks noEditPoints="1"/>
            </p:cNvSpPr>
            <p:nvPr userDrawn="1"/>
          </p:nvSpPr>
          <p:spPr bwMode="auto">
            <a:xfrm>
              <a:off x="1562100" y="4638675"/>
              <a:ext cx="96838" cy="168275"/>
            </a:xfrm>
            <a:custGeom>
              <a:avLst/>
              <a:gdLst>
                <a:gd name="T0" fmla="*/ 12 w 14"/>
                <a:gd name="T1" fmla="*/ 5 h 24"/>
                <a:gd name="T2" fmla="*/ 14 w 14"/>
                <a:gd name="T3" fmla="*/ 2 h 24"/>
                <a:gd name="T4" fmla="*/ 13 w 14"/>
                <a:gd name="T5" fmla="*/ 1 h 24"/>
                <a:gd name="T6" fmla="*/ 11 w 14"/>
                <a:gd name="T7" fmla="*/ 4 h 24"/>
                <a:gd name="T8" fmla="*/ 10 w 14"/>
                <a:gd name="T9" fmla="*/ 5 h 24"/>
                <a:gd name="T10" fmla="*/ 9 w 14"/>
                <a:gd name="T11" fmla="*/ 7 h 24"/>
                <a:gd name="T12" fmla="*/ 10 w 14"/>
                <a:gd name="T13" fmla="*/ 9 h 24"/>
                <a:gd name="T14" fmla="*/ 8 w 14"/>
                <a:gd name="T15" fmla="*/ 6 h 24"/>
                <a:gd name="T16" fmla="*/ 9 w 14"/>
                <a:gd name="T17" fmla="*/ 3 h 24"/>
                <a:gd name="T18" fmla="*/ 9 w 14"/>
                <a:gd name="T19" fmla="*/ 0 h 24"/>
                <a:gd name="T20" fmla="*/ 7 w 14"/>
                <a:gd name="T21" fmla="*/ 2 h 24"/>
                <a:gd name="T22" fmla="*/ 5 w 14"/>
                <a:gd name="T23" fmla="*/ 5 h 24"/>
                <a:gd name="T24" fmla="*/ 3 w 14"/>
                <a:gd name="T25" fmla="*/ 6 h 24"/>
                <a:gd name="T26" fmla="*/ 4 w 14"/>
                <a:gd name="T27" fmla="*/ 8 h 24"/>
                <a:gd name="T28" fmla="*/ 2 w 14"/>
                <a:gd name="T29" fmla="*/ 8 h 24"/>
                <a:gd name="T30" fmla="*/ 2 w 14"/>
                <a:gd name="T31" fmla="*/ 11 h 24"/>
                <a:gd name="T32" fmla="*/ 4 w 14"/>
                <a:gd name="T33" fmla="*/ 11 h 24"/>
                <a:gd name="T34" fmla="*/ 5 w 14"/>
                <a:gd name="T35" fmla="*/ 9 h 24"/>
                <a:gd name="T36" fmla="*/ 5 w 14"/>
                <a:gd name="T37" fmla="*/ 11 h 24"/>
                <a:gd name="T38" fmla="*/ 9 w 14"/>
                <a:gd name="T39" fmla="*/ 9 h 24"/>
                <a:gd name="T40" fmla="*/ 7 w 14"/>
                <a:gd name="T41" fmla="*/ 12 h 24"/>
                <a:gd name="T42" fmla="*/ 4 w 14"/>
                <a:gd name="T43" fmla="*/ 13 h 24"/>
                <a:gd name="T44" fmla="*/ 5 w 14"/>
                <a:gd name="T45" fmla="*/ 14 h 24"/>
                <a:gd name="T46" fmla="*/ 9 w 14"/>
                <a:gd name="T47" fmla="*/ 11 h 24"/>
                <a:gd name="T48" fmla="*/ 8 w 14"/>
                <a:gd name="T49" fmla="*/ 15 h 24"/>
                <a:gd name="T50" fmla="*/ 6 w 14"/>
                <a:gd name="T51" fmla="*/ 18 h 24"/>
                <a:gd name="T52" fmla="*/ 4 w 14"/>
                <a:gd name="T53" fmla="*/ 20 h 24"/>
                <a:gd name="T54" fmla="*/ 0 w 14"/>
                <a:gd name="T55" fmla="*/ 22 h 24"/>
                <a:gd name="T56" fmla="*/ 4 w 14"/>
                <a:gd name="T57" fmla="*/ 21 h 24"/>
                <a:gd name="T58" fmla="*/ 8 w 14"/>
                <a:gd name="T59" fmla="*/ 18 h 24"/>
                <a:gd name="T60" fmla="*/ 8 w 14"/>
                <a:gd name="T61" fmla="*/ 22 h 24"/>
                <a:gd name="T62" fmla="*/ 6 w 14"/>
                <a:gd name="T63" fmla="*/ 23 h 24"/>
                <a:gd name="T64" fmla="*/ 9 w 14"/>
                <a:gd name="T65" fmla="*/ 23 h 24"/>
                <a:gd name="T66" fmla="*/ 11 w 14"/>
                <a:gd name="T67" fmla="*/ 21 h 24"/>
                <a:gd name="T68" fmla="*/ 9 w 14"/>
                <a:gd name="T69" fmla="*/ 18 h 24"/>
                <a:gd name="T70" fmla="*/ 11 w 14"/>
                <a:gd name="T71" fmla="*/ 17 h 24"/>
                <a:gd name="T72" fmla="*/ 9 w 14"/>
                <a:gd name="T73" fmla="*/ 14 h 24"/>
                <a:gd name="T74" fmla="*/ 14 w 14"/>
                <a:gd name="T75" fmla="*/ 9 h 24"/>
                <a:gd name="T76" fmla="*/ 11 w 14"/>
                <a:gd name="T77" fmla="*/ 9 h 24"/>
                <a:gd name="T78" fmla="*/ 12 w 14"/>
                <a:gd name="T79" fmla="*/ 6 h 24"/>
                <a:gd name="T80" fmla="*/ 5 w 14"/>
                <a:gd name="T81" fmla="*/ 6 h 24"/>
                <a:gd name="T82" fmla="*/ 7 w 14"/>
                <a:gd name="T83" fmla="*/ 8 h 24"/>
                <a:gd name="T84" fmla="*/ 7 w 14"/>
                <a:gd name="T8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 h="24">
                  <a:moveTo>
                    <a:pt x="12" y="6"/>
                  </a:moveTo>
                  <a:cubicBezTo>
                    <a:pt x="12" y="6"/>
                    <a:pt x="12" y="6"/>
                    <a:pt x="12" y="6"/>
                  </a:cubicBezTo>
                  <a:cubicBezTo>
                    <a:pt x="12" y="6"/>
                    <a:pt x="12" y="5"/>
                    <a:pt x="12" y="5"/>
                  </a:cubicBezTo>
                  <a:cubicBezTo>
                    <a:pt x="12" y="5"/>
                    <a:pt x="13" y="4"/>
                    <a:pt x="13" y="3"/>
                  </a:cubicBezTo>
                  <a:cubicBezTo>
                    <a:pt x="13" y="3"/>
                    <a:pt x="13" y="3"/>
                    <a:pt x="14" y="3"/>
                  </a:cubicBezTo>
                  <a:cubicBezTo>
                    <a:pt x="14" y="3"/>
                    <a:pt x="14" y="2"/>
                    <a:pt x="14" y="2"/>
                  </a:cubicBezTo>
                  <a:cubicBezTo>
                    <a:pt x="14" y="2"/>
                    <a:pt x="14" y="2"/>
                    <a:pt x="13" y="1"/>
                  </a:cubicBezTo>
                  <a:cubicBezTo>
                    <a:pt x="14" y="1"/>
                    <a:pt x="14" y="1"/>
                    <a:pt x="14" y="1"/>
                  </a:cubicBezTo>
                  <a:cubicBezTo>
                    <a:pt x="13" y="1"/>
                    <a:pt x="13" y="1"/>
                    <a:pt x="13" y="1"/>
                  </a:cubicBezTo>
                  <a:cubicBezTo>
                    <a:pt x="13" y="1"/>
                    <a:pt x="12" y="1"/>
                    <a:pt x="12" y="1"/>
                  </a:cubicBezTo>
                  <a:cubicBezTo>
                    <a:pt x="12" y="2"/>
                    <a:pt x="12" y="2"/>
                    <a:pt x="12" y="2"/>
                  </a:cubicBezTo>
                  <a:cubicBezTo>
                    <a:pt x="12" y="3"/>
                    <a:pt x="12" y="4"/>
                    <a:pt x="11" y="4"/>
                  </a:cubicBezTo>
                  <a:cubicBezTo>
                    <a:pt x="11" y="5"/>
                    <a:pt x="11" y="6"/>
                    <a:pt x="10" y="6"/>
                  </a:cubicBezTo>
                  <a:cubicBezTo>
                    <a:pt x="10" y="6"/>
                    <a:pt x="10" y="6"/>
                    <a:pt x="10" y="6"/>
                  </a:cubicBezTo>
                  <a:cubicBezTo>
                    <a:pt x="10" y="5"/>
                    <a:pt x="10" y="5"/>
                    <a:pt x="10" y="5"/>
                  </a:cubicBezTo>
                  <a:cubicBezTo>
                    <a:pt x="9" y="5"/>
                    <a:pt x="8" y="5"/>
                    <a:pt x="8" y="5"/>
                  </a:cubicBezTo>
                  <a:cubicBezTo>
                    <a:pt x="9" y="5"/>
                    <a:pt x="9" y="5"/>
                    <a:pt x="9" y="6"/>
                  </a:cubicBezTo>
                  <a:cubicBezTo>
                    <a:pt x="9" y="6"/>
                    <a:pt x="9" y="7"/>
                    <a:pt x="9" y="7"/>
                  </a:cubicBezTo>
                  <a:cubicBezTo>
                    <a:pt x="10" y="7"/>
                    <a:pt x="10" y="7"/>
                    <a:pt x="10" y="7"/>
                  </a:cubicBezTo>
                  <a:cubicBezTo>
                    <a:pt x="10" y="8"/>
                    <a:pt x="10" y="8"/>
                    <a:pt x="10" y="8"/>
                  </a:cubicBezTo>
                  <a:cubicBezTo>
                    <a:pt x="10" y="8"/>
                    <a:pt x="10" y="9"/>
                    <a:pt x="10" y="9"/>
                  </a:cubicBezTo>
                  <a:cubicBezTo>
                    <a:pt x="10" y="9"/>
                    <a:pt x="9" y="9"/>
                    <a:pt x="8" y="9"/>
                  </a:cubicBezTo>
                  <a:cubicBezTo>
                    <a:pt x="8" y="8"/>
                    <a:pt x="7" y="7"/>
                    <a:pt x="8" y="7"/>
                  </a:cubicBezTo>
                  <a:cubicBezTo>
                    <a:pt x="8" y="7"/>
                    <a:pt x="8" y="7"/>
                    <a:pt x="8" y="6"/>
                  </a:cubicBezTo>
                  <a:cubicBezTo>
                    <a:pt x="9" y="6"/>
                    <a:pt x="8" y="5"/>
                    <a:pt x="8" y="5"/>
                  </a:cubicBezTo>
                  <a:cubicBezTo>
                    <a:pt x="8" y="4"/>
                    <a:pt x="8" y="4"/>
                    <a:pt x="8" y="4"/>
                  </a:cubicBezTo>
                  <a:cubicBezTo>
                    <a:pt x="8" y="3"/>
                    <a:pt x="9" y="3"/>
                    <a:pt x="9" y="3"/>
                  </a:cubicBezTo>
                  <a:cubicBezTo>
                    <a:pt x="9" y="3"/>
                    <a:pt x="10" y="2"/>
                    <a:pt x="10" y="2"/>
                  </a:cubicBezTo>
                  <a:cubicBezTo>
                    <a:pt x="10" y="2"/>
                    <a:pt x="10" y="1"/>
                    <a:pt x="10" y="1"/>
                  </a:cubicBezTo>
                  <a:cubicBezTo>
                    <a:pt x="10" y="1"/>
                    <a:pt x="10" y="0"/>
                    <a:pt x="9" y="0"/>
                  </a:cubicBezTo>
                  <a:cubicBezTo>
                    <a:pt x="9" y="0"/>
                    <a:pt x="9" y="0"/>
                    <a:pt x="8" y="0"/>
                  </a:cubicBezTo>
                  <a:cubicBezTo>
                    <a:pt x="8" y="0"/>
                    <a:pt x="7" y="0"/>
                    <a:pt x="7" y="0"/>
                  </a:cubicBezTo>
                  <a:cubicBezTo>
                    <a:pt x="7" y="1"/>
                    <a:pt x="7" y="1"/>
                    <a:pt x="7" y="2"/>
                  </a:cubicBezTo>
                  <a:cubicBezTo>
                    <a:pt x="7" y="3"/>
                    <a:pt x="7" y="3"/>
                    <a:pt x="7" y="4"/>
                  </a:cubicBezTo>
                  <a:cubicBezTo>
                    <a:pt x="7" y="4"/>
                    <a:pt x="7" y="4"/>
                    <a:pt x="7" y="5"/>
                  </a:cubicBezTo>
                  <a:cubicBezTo>
                    <a:pt x="7" y="5"/>
                    <a:pt x="6" y="5"/>
                    <a:pt x="5" y="5"/>
                  </a:cubicBezTo>
                  <a:cubicBezTo>
                    <a:pt x="5" y="5"/>
                    <a:pt x="4" y="5"/>
                    <a:pt x="4" y="5"/>
                  </a:cubicBezTo>
                  <a:cubicBezTo>
                    <a:pt x="4" y="6"/>
                    <a:pt x="4" y="6"/>
                    <a:pt x="4" y="6"/>
                  </a:cubicBezTo>
                  <a:cubicBezTo>
                    <a:pt x="3" y="6"/>
                    <a:pt x="3" y="6"/>
                    <a:pt x="3" y="6"/>
                  </a:cubicBezTo>
                  <a:cubicBezTo>
                    <a:pt x="3" y="6"/>
                    <a:pt x="2" y="7"/>
                    <a:pt x="2" y="7"/>
                  </a:cubicBezTo>
                  <a:cubicBezTo>
                    <a:pt x="2" y="7"/>
                    <a:pt x="3" y="7"/>
                    <a:pt x="3" y="7"/>
                  </a:cubicBezTo>
                  <a:cubicBezTo>
                    <a:pt x="3" y="7"/>
                    <a:pt x="3" y="7"/>
                    <a:pt x="4" y="8"/>
                  </a:cubicBezTo>
                  <a:cubicBezTo>
                    <a:pt x="4" y="8"/>
                    <a:pt x="4" y="8"/>
                    <a:pt x="4" y="9"/>
                  </a:cubicBezTo>
                  <a:cubicBezTo>
                    <a:pt x="4" y="9"/>
                    <a:pt x="4" y="9"/>
                    <a:pt x="4" y="9"/>
                  </a:cubicBezTo>
                  <a:cubicBezTo>
                    <a:pt x="3" y="9"/>
                    <a:pt x="3" y="8"/>
                    <a:pt x="2" y="8"/>
                  </a:cubicBezTo>
                  <a:cubicBezTo>
                    <a:pt x="2" y="9"/>
                    <a:pt x="2" y="9"/>
                    <a:pt x="2" y="9"/>
                  </a:cubicBezTo>
                  <a:cubicBezTo>
                    <a:pt x="2" y="10"/>
                    <a:pt x="2" y="10"/>
                    <a:pt x="2" y="10"/>
                  </a:cubicBezTo>
                  <a:cubicBezTo>
                    <a:pt x="2" y="10"/>
                    <a:pt x="2" y="11"/>
                    <a:pt x="2" y="11"/>
                  </a:cubicBezTo>
                  <a:cubicBezTo>
                    <a:pt x="2" y="11"/>
                    <a:pt x="2" y="11"/>
                    <a:pt x="2" y="11"/>
                  </a:cubicBezTo>
                  <a:cubicBezTo>
                    <a:pt x="3" y="11"/>
                    <a:pt x="3" y="12"/>
                    <a:pt x="3" y="12"/>
                  </a:cubicBezTo>
                  <a:cubicBezTo>
                    <a:pt x="4" y="12"/>
                    <a:pt x="4" y="11"/>
                    <a:pt x="4" y="11"/>
                  </a:cubicBezTo>
                  <a:cubicBezTo>
                    <a:pt x="4" y="10"/>
                    <a:pt x="4" y="10"/>
                    <a:pt x="4" y="10"/>
                  </a:cubicBezTo>
                  <a:cubicBezTo>
                    <a:pt x="5" y="10"/>
                    <a:pt x="5" y="10"/>
                    <a:pt x="5" y="10"/>
                  </a:cubicBezTo>
                  <a:cubicBezTo>
                    <a:pt x="5" y="10"/>
                    <a:pt x="5" y="9"/>
                    <a:pt x="5" y="9"/>
                  </a:cubicBezTo>
                  <a:cubicBezTo>
                    <a:pt x="5" y="9"/>
                    <a:pt x="5" y="8"/>
                    <a:pt x="5" y="8"/>
                  </a:cubicBezTo>
                  <a:cubicBezTo>
                    <a:pt x="6" y="8"/>
                    <a:pt x="6" y="9"/>
                    <a:pt x="6" y="9"/>
                  </a:cubicBezTo>
                  <a:cubicBezTo>
                    <a:pt x="6" y="10"/>
                    <a:pt x="5" y="10"/>
                    <a:pt x="5" y="11"/>
                  </a:cubicBezTo>
                  <a:cubicBezTo>
                    <a:pt x="5" y="11"/>
                    <a:pt x="6" y="10"/>
                    <a:pt x="6" y="10"/>
                  </a:cubicBezTo>
                  <a:cubicBezTo>
                    <a:pt x="6" y="10"/>
                    <a:pt x="6" y="9"/>
                    <a:pt x="7" y="9"/>
                  </a:cubicBezTo>
                  <a:cubicBezTo>
                    <a:pt x="7" y="10"/>
                    <a:pt x="8" y="10"/>
                    <a:pt x="9" y="9"/>
                  </a:cubicBezTo>
                  <a:cubicBezTo>
                    <a:pt x="9" y="9"/>
                    <a:pt x="9" y="10"/>
                    <a:pt x="9" y="10"/>
                  </a:cubicBezTo>
                  <a:cubicBezTo>
                    <a:pt x="9" y="11"/>
                    <a:pt x="8" y="11"/>
                    <a:pt x="8" y="11"/>
                  </a:cubicBezTo>
                  <a:cubicBezTo>
                    <a:pt x="8" y="11"/>
                    <a:pt x="7" y="11"/>
                    <a:pt x="7" y="12"/>
                  </a:cubicBezTo>
                  <a:cubicBezTo>
                    <a:pt x="7" y="12"/>
                    <a:pt x="6" y="12"/>
                    <a:pt x="6" y="12"/>
                  </a:cubicBezTo>
                  <a:cubicBezTo>
                    <a:pt x="6" y="12"/>
                    <a:pt x="5" y="13"/>
                    <a:pt x="5" y="13"/>
                  </a:cubicBezTo>
                  <a:cubicBezTo>
                    <a:pt x="5" y="13"/>
                    <a:pt x="5" y="13"/>
                    <a:pt x="4" y="13"/>
                  </a:cubicBezTo>
                  <a:cubicBezTo>
                    <a:pt x="4" y="13"/>
                    <a:pt x="3" y="14"/>
                    <a:pt x="3" y="14"/>
                  </a:cubicBezTo>
                  <a:cubicBezTo>
                    <a:pt x="3" y="15"/>
                    <a:pt x="4" y="15"/>
                    <a:pt x="4" y="15"/>
                  </a:cubicBezTo>
                  <a:cubicBezTo>
                    <a:pt x="5" y="15"/>
                    <a:pt x="5" y="14"/>
                    <a:pt x="5" y="14"/>
                  </a:cubicBezTo>
                  <a:cubicBezTo>
                    <a:pt x="6" y="14"/>
                    <a:pt x="6" y="14"/>
                    <a:pt x="6" y="13"/>
                  </a:cubicBezTo>
                  <a:cubicBezTo>
                    <a:pt x="7" y="13"/>
                    <a:pt x="7" y="13"/>
                    <a:pt x="8" y="12"/>
                  </a:cubicBezTo>
                  <a:cubicBezTo>
                    <a:pt x="8" y="12"/>
                    <a:pt x="8" y="11"/>
                    <a:pt x="9" y="11"/>
                  </a:cubicBezTo>
                  <a:cubicBezTo>
                    <a:pt x="9" y="11"/>
                    <a:pt x="10" y="11"/>
                    <a:pt x="10" y="11"/>
                  </a:cubicBezTo>
                  <a:cubicBezTo>
                    <a:pt x="9" y="13"/>
                    <a:pt x="9" y="14"/>
                    <a:pt x="7" y="14"/>
                  </a:cubicBezTo>
                  <a:cubicBezTo>
                    <a:pt x="8" y="15"/>
                    <a:pt x="8" y="15"/>
                    <a:pt x="8" y="15"/>
                  </a:cubicBezTo>
                  <a:cubicBezTo>
                    <a:pt x="8" y="15"/>
                    <a:pt x="8" y="15"/>
                    <a:pt x="8" y="16"/>
                  </a:cubicBezTo>
                  <a:cubicBezTo>
                    <a:pt x="8" y="16"/>
                    <a:pt x="7" y="17"/>
                    <a:pt x="7" y="17"/>
                  </a:cubicBezTo>
                  <a:cubicBezTo>
                    <a:pt x="6" y="17"/>
                    <a:pt x="6" y="18"/>
                    <a:pt x="6" y="18"/>
                  </a:cubicBezTo>
                  <a:cubicBezTo>
                    <a:pt x="5" y="18"/>
                    <a:pt x="5" y="18"/>
                    <a:pt x="4" y="19"/>
                  </a:cubicBezTo>
                  <a:cubicBezTo>
                    <a:pt x="4" y="19"/>
                    <a:pt x="4" y="19"/>
                    <a:pt x="4" y="19"/>
                  </a:cubicBezTo>
                  <a:cubicBezTo>
                    <a:pt x="4" y="19"/>
                    <a:pt x="4" y="19"/>
                    <a:pt x="4" y="20"/>
                  </a:cubicBezTo>
                  <a:cubicBezTo>
                    <a:pt x="3" y="20"/>
                    <a:pt x="3" y="20"/>
                    <a:pt x="3" y="20"/>
                  </a:cubicBezTo>
                  <a:cubicBezTo>
                    <a:pt x="3" y="20"/>
                    <a:pt x="3" y="20"/>
                    <a:pt x="2" y="20"/>
                  </a:cubicBezTo>
                  <a:cubicBezTo>
                    <a:pt x="2" y="21"/>
                    <a:pt x="0" y="21"/>
                    <a:pt x="0" y="22"/>
                  </a:cubicBezTo>
                  <a:cubicBezTo>
                    <a:pt x="1" y="23"/>
                    <a:pt x="2" y="22"/>
                    <a:pt x="3" y="23"/>
                  </a:cubicBezTo>
                  <a:cubicBezTo>
                    <a:pt x="3" y="22"/>
                    <a:pt x="3" y="22"/>
                    <a:pt x="4" y="22"/>
                  </a:cubicBezTo>
                  <a:cubicBezTo>
                    <a:pt x="4" y="22"/>
                    <a:pt x="4" y="22"/>
                    <a:pt x="4" y="21"/>
                  </a:cubicBezTo>
                  <a:cubicBezTo>
                    <a:pt x="5" y="21"/>
                    <a:pt x="6" y="20"/>
                    <a:pt x="6" y="20"/>
                  </a:cubicBezTo>
                  <a:cubicBezTo>
                    <a:pt x="6" y="19"/>
                    <a:pt x="7" y="19"/>
                    <a:pt x="7" y="18"/>
                  </a:cubicBezTo>
                  <a:cubicBezTo>
                    <a:pt x="8" y="18"/>
                    <a:pt x="8" y="18"/>
                    <a:pt x="8" y="18"/>
                  </a:cubicBezTo>
                  <a:cubicBezTo>
                    <a:pt x="9" y="18"/>
                    <a:pt x="8" y="19"/>
                    <a:pt x="8" y="20"/>
                  </a:cubicBezTo>
                  <a:cubicBezTo>
                    <a:pt x="8" y="21"/>
                    <a:pt x="9" y="21"/>
                    <a:pt x="9" y="21"/>
                  </a:cubicBezTo>
                  <a:cubicBezTo>
                    <a:pt x="9" y="22"/>
                    <a:pt x="8" y="21"/>
                    <a:pt x="8" y="22"/>
                  </a:cubicBezTo>
                  <a:cubicBezTo>
                    <a:pt x="8" y="22"/>
                    <a:pt x="8" y="22"/>
                    <a:pt x="8" y="22"/>
                  </a:cubicBezTo>
                  <a:cubicBezTo>
                    <a:pt x="7" y="22"/>
                    <a:pt x="6" y="22"/>
                    <a:pt x="5" y="22"/>
                  </a:cubicBezTo>
                  <a:cubicBezTo>
                    <a:pt x="5" y="23"/>
                    <a:pt x="6" y="23"/>
                    <a:pt x="6" y="23"/>
                  </a:cubicBezTo>
                  <a:cubicBezTo>
                    <a:pt x="7" y="23"/>
                    <a:pt x="7" y="23"/>
                    <a:pt x="7" y="23"/>
                  </a:cubicBezTo>
                  <a:cubicBezTo>
                    <a:pt x="7" y="23"/>
                    <a:pt x="8" y="23"/>
                    <a:pt x="8" y="23"/>
                  </a:cubicBezTo>
                  <a:cubicBezTo>
                    <a:pt x="9" y="23"/>
                    <a:pt x="9" y="23"/>
                    <a:pt x="9" y="23"/>
                  </a:cubicBezTo>
                  <a:cubicBezTo>
                    <a:pt x="9" y="23"/>
                    <a:pt x="10" y="24"/>
                    <a:pt x="10" y="23"/>
                  </a:cubicBezTo>
                  <a:cubicBezTo>
                    <a:pt x="10" y="23"/>
                    <a:pt x="11" y="23"/>
                    <a:pt x="11" y="23"/>
                  </a:cubicBezTo>
                  <a:cubicBezTo>
                    <a:pt x="12" y="22"/>
                    <a:pt x="11" y="22"/>
                    <a:pt x="11" y="21"/>
                  </a:cubicBezTo>
                  <a:cubicBezTo>
                    <a:pt x="10" y="21"/>
                    <a:pt x="10" y="20"/>
                    <a:pt x="10" y="20"/>
                  </a:cubicBezTo>
                  <a:cubicBezTo>
                    <a:pt x="10" y="20"/>
                    <a:pt x="10" y="19"/>
                    <a:pt x="10" y="19"/>
                  </a:cubicBezTo>
                  <a:cubicBezTo>
                    <a:pt x="10" y="19"/>
                    <a:pt x="9" y="19"/>
                    <a:pt x="9" y="18"/>
                  </a:cubicBezTo>
                  <a:cubicBezTo>
                    <a:pt x="9" y="18"/>
                    <a:pt x="9" y="18"/>
                    <a:pt x="9" y="18"/>
                  </a:cubicBezTo>
                  <a:cubicBezTo>
                    <a:pt x="9" y="18"/>
                    <a:pt x="9" y="17"/>
                    <a:pt x="9" y="17"/>
                  </a:cubicBezTo>
                  <a:cubicBezTo>
                    <a:pt x="10" y="17"/>
                    <a:pt x="10" y="17"/>
                    <a:pt x="11" y="17"/>
                  </a:cubicBezTo>
                  <a:cubicBezTo>
                    <a:pt x="12" y="17"/>
                    <a:pt x="12" y="16"/>
                    <a:pt x="12" y="15"/>
                  </a:cubicBezTo>
                  <a:cubicBezTo>
                    <a:pt x="12" y="15"/>
                    <a:pt x="11" y="15"/>
                    <a:pt x="11" y="15"/>
                  </a:cubicBezTo>
                  <a:cubicBezTo>
                    <a:pt x="11" y="14"/>
                    <a:pt x="10" y="14"/>
                    <a:pt x="9" y="14"/>
                  </a:cubicBezTo>
                  <a:cubicBezTo>
                    <a:pt x="10" y="13"/>
                    <a:pt x="10" y="12"/>
                    <a:pt x="11" y="12"/>
                  </a:cubicBezTo>
                  <a:cubicBezTo>
                    <a:pt x="11" y="12"/>
                    <a:pt x="12" y="12"/>
                    <a:pt x="12" y="11"/>
                  </a:cubicBezTo>
                  <a:cubicBezTo>
                    <a:pt x="13" y="11"/>
                    <a:pt x="13" y="9"/>
                    <a:pt x="14" y="9"/>
                  </a:cubicBezTo>
                  <a:cubicBezTo>
                    <a:pt x="13" y="9"/>
                    <a:pt x="14" y="9"/>
                    <a:pt x="14" y="8"/>
                  </a:cubicBezTo>
                  <a:cubicBezTo>
                    <a:pt x="14" y="8"/>
                    <a:pt x="13" y="8"/>
                    <a:pt x="13" y="8"/>
                  </a:cubicBezTo>
                  <a:cubicBezTo>
                    <a:pt x="12" y="8"/>
                    <a:pt x="12" y="8"/>
                    <a:pt x="11" y="9"/>
                  </a:cubicBezTo>
                  <a:cubicBezTo>
                    <a:pt x="11" y="9"/>
                    <a:pt x="11" y="9"/>
                    <a:pt x="11" y="9"/>
                  </a:cubicBezTo>
                  <a:cubicBezTo>
                    <a:pt x="11" y="8"/>
                    <a:pt x="11" y="8"/>
                    <a:pt x="11" y="7"/>
                  </a:cubicBezTo>
                  <a:cubicBezTo>
                    <a:pt x="11" y="7"/>
                    <a:pt x="11" y="7"/>
                    <a:pt x="12" y="6"/>
                  </a:cubicBezTo>
                  <a:close/>
                  <a:moveTo>
                    <a:pt x="5" y="8"/>
                  </a:moveTo>
                  <a:cubicBezTo>
                    <a:pt x="4" y="7"/>
                    <a:pt x="4" y="7"/>
                    <a:pt x="4" y="6"/>
                  </a:cubicBezTo>
                  <a:cubicBezTo>
                    <a:pt x="4" y="6"/>
                    <a:pt x="5" y="6"/>
                    <a:pt x="5" y="6"/>
                  </a:cubicBezTo>
                  <a:cubicBezTo>
                    <a:pt x="5" y="6"/>
                    <a:pt x="5" y="6"/>
                    <a:pt x="6" y="6"/>
                  </a:cubicBezTo>
                  <a:cubicBezTo>
                    <a:pt x="6" y="7"/>
                    <a:pt x="5" y="7"/>
                    <a:pt x="5" y="8"/>
                  </a:cubicBezTo>
                  <a:close/>
                  <a:moveTo>
                    <a:pt x="7" y="8"/>
                  </a:moveTo>
                  <a:cubicBezTo>
                    <a:pt x="6" y="8"/>
                    <a:pt x="6" y="8"/>
                    <a:pt x="5" y="8"/>
                  </a:cubicBezTo>
                  <a:cubicBezTo>
                    <a:pt x="6" y="7"/>
                    <a:pt x="6" y="6"/>
                    <a:pt x="6" y="6"/>
                  </a:cubicBezTo>
                  <a:cubicBezTo>
                    <a:pt x="7" y="6"/>
                    <a:pt x="7" y="7"/>
                    <a:pt x="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26"/>
            <p:cNvSpPr/>
            <p:nvPr userDrawn="1"/>
          </p:nvSpPr>
          <p:spPr bwMode="auto">
            <a:xfrm>
              <a:off x="1555750" y="4737100"/>
              <a:ext cx="20638" cy="34925"/>
            </a:xfrm>
            <a:custGeom>
              <a:avLst/>
              <a:gdLst>
                <a:gd name="T0" fmla="*/ 3 w 3"/>
                <a:gd name="T1" fmla="*/ 4 h 5"/>
                <a:gd name="T2" fmla="*/ 3 w 3"/>
                <a:gd name="T3" fmla="*/ 2 h 5"/>
                <a:gd name="T4" fmla="*/ 3 w 3"/>
                <a:gd name="T5" fmla="*/ 1 h 5"/>
                <a:gd name="T6" fmla="*/ 1 w 3"/>
                <a:gd name="T7" fmla="*/ 0 h 5"/>
                <a:gd name="T8" fmla="*/ 1 w 3"/>
                <a:gd name="T9" fmla="*/ 1 h 5"/>
                <a:gd name="T10" fmla="*/ 1 w 3"/>
                <a:gd name="T11" fmla="*/ 3 h 5"/>
                <a:gd name="T12" fmla="*/ 1 w 3"/>
                <a:gd name="T13" fmla="*/ 3 h 5"/>
                <a:gd name="T14" fmla="*/ 1 w 3"/>
                <a:gd name="T15" fmla="*/ 4 h 5"/>
                <a:gd name="T16" fmla="*/ 0 w 3"/>
                <a:gd name="T17" fmla="*/ 4 h 5"/>
                <a:gd name="T18" fmla="*/ 0 w 3"/>
                <a:gd name="T19" fmla="*/ 5 h 5"/>
                <a:gd name="T20" fmla="*/ 1 w 3"/>
                <a:gd name="T21" fmla="*/ 5 h 5"/>
                <a:gd name="T22" fmla="*/ 3 w 3"/>
                <a:gd name="T23" fmla="*/ 5 h 5"/>
                <a:gd name="T24" fmla="*/ 3 w 3"/>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5">
                  <a:moveTo>
                    <a:pt x="3" y="4"/>
                  </a:moveTo>
                  <a:cubicBezTo>
                    <a:pt x="3" y="3"/>
                    <a:pt x="3" y="2"/>
                    <a:pt x="3" y="2"/>
                  </a:cubicBezTo>
                  <a:cubicBezTo>
                    <a:pt x="3" y="2"/>
                    <a:pt x="3" y="2"/>
                    <a:pt x="3" y="1"/>
                  </a:cubicBezTo>
                  <a:cubicBezTo>
                    <a:pt x="2" y="1"/>
                    <a:pt x="2" y="0"/>
                    <a:pt x="1" y="0"/>
                  </a:cubicBezTo>
                  <a:cubicBezTo>
                    <a:pt x="1" y="0"/>
                    <a:pt x="1" y="1"/>
                    <a:pt x="1" y="1"/>
                  </a:cubicBezTo>
                  <a:cubicBezTo>
                    <a:pt x="1" y="2"/>
                    <a:pt x="1" y="2"/>
                    <a:pt x="1" y="3"/>
                  </a:cubicBezTo>
                  <a:cubicBezTo>
                    <a:pt x="1" y="3"/>
                    <a:pt x="1" y="3"/>
                    <a:pt x="1" y="3"/>
                  </a:cubicBezTo>
                  <a:cubicBezTo>
                    <a:pt x="1" y="3"/>
                    <a:pt x="1" y="3"/>
                    <a:pt x="1" y="4"/>
                  </a:cubicBezTo>
                  <a:cubicBezTo>
                    <a:pt x="1" y="4"/>
                    <a:pt x="0" y="4"/>
                    <a:pt x="0" y="4"/>
                  </a:cubicBezTo>
                  <a:cubicBezTo>
                    <a:pt x="0" y="4"/>
                    <a:pt x="0" y="5"/>
                    <a:pt x="0" y="5"/>
                  </a:cubicBezTo>
                  <a:cubicBezTo>
                    <a:pt x="0" y="5"/>
                    <a:pt x="1" y="5"/>
                    <a:pt x="1" y="5"/>
                  </a:cubicBezTo>
                  <a:cubicBezTo>
                    <a:pt x="2" y="5"/>
                    <a:pt x="2" y="5"/>
                    <a:pt x="3" y="5"/>
                  </a:cubicBezTo>
                  <a:cubicBezTo>
                    <a:pt x="3" y="5"/>
                    <a:pt x="3"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27"/>
            <p:cNvSpPr/>
            <p:nvPr userDrawn="1"/>
          </p:nvSpPr>
          <p:spPr bwMode="auto">
            <a:xfrm>
              <a:off x="808038" y="4652963"/>
              <a:ext cx="20638" cy="20638"/>
            </a:xfrm>
            <a:custGeom>
              <a:avLst/>
              <a:gdLst>
                <a:gd name="T0" fmla="*/ 1 w 3"/>
                <a:gd name="T1" fmla="*/ 2 h 3"/>
                <a:gd name="T2" fmla="*/ 3 w 3"/>
                <a:gd name="T3" fmla="*/ 2 h 3"/>
                <a:gd name="T4" fmla="*/ 3 w 3"/>
                <a:gd name="T5" fmla="*/ 1 h 3"/>
                <a:gd name="T6" fmla="*/ 2 w 3"/>
                <a:gd name="T7" fmla="*/ 0 h 3"/>
                <a:gd name="T8" fmla="*/ 0 w 3"/>
                <a:gd name="T9" fmla="*/ 1 h 3"/>
                <a:gd name="T10" fmla="*/ 1 w 3"/>
                <a:gd name="T11" fmla="*/ 2 h 3"/>
                <a:gd name="T12" fmla="*/ 1 w 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3" h="3">
                  <a:moveTo>
                    <a:pt x="1" y="2"/>
                  </a:moveTo>
                  <a:cubicBezTo>
                    <a:pt x="2" y="2"/>
                    <a:pt x="3" y="3"/>
                    <a:pt x="3" y="2"/>
                  </a:cubicBezTo>
                  <a:cubicBezTo>
                    <a:pt x="3" y="2"/>
                    <a:pt x="3" y="1"/>
                    <a:pt x="3" y="1"/>
                  </a:cubicBezTo>
                  <a:cubicBezTo>
                    <a:pt x="3" y="0"/>
                    <a:pt x="2" y="0"/>
                    <a:pt x="2" y="0"/>
                  </a:cubicBezTo>
                  <a:cubicBezTo>
                    <a:pt x="1" y="0"/>
                    <a:pt x="0" y="0"/>
                    <a:pt x="0" y="1"/>
                  </a:cubicBezTo>
                  <a:cubicBezTo>
                    <a:pt x="0" y="1"/>
                    <a:pt x="0" y="1"/>
                    <a:pt x="1" y="2"/>
                  </a:cubicBezTo>
                  <a:cubicBezTo>
                    <a:pt x="1"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28"/>
            <p:cNvSpPr/>
            <p:nvPr userDrawn="1"/>
          </p:nvSpPr>
          <p:spPr bwMode="auto">
            <a:xfrm>
              <a:off x="781050" y="4667250"/>
              <a:ext cx="69850" cy="41275"/>
            </a:xfrm>
            <a:custGeom>
              <a:avLst/>
              <a:gdLst>
                <a:gd name="T0" fmla="*/ 1 w 10"/>
                <a:gd name="T1" fmla="*/ 6 h 6"/>
                <a:gd name="T2" fmla="*/ 3 w 10"/>
                <a:gd name="T3" fmla="*/ 6 h 6"/>
                <a:gd name="T4" fmla="*/ 3 w 10"/>
                <a:gd name="T5" fmla="*/ 5 h 6"/>
                <a:gd name="T6" fmla="*/ 4 w 10"/>
                <a:gd name="T7" fmla="*/ 5 h 6"/>
                <a:gd name="T8" fmla="*/ 5 w 10"/>
                <a:gd name="T9" fmla="*/ 4 h 6"/>
                <a:gd name="T10" fmla="*/ 6 w 10"/>
                <a:gd name="T11" fmla="*/ 3 h 6"/>
                <a:gd name="T12" fmla="*/ 7 w 10"/>
                <a:gd name="T13" fmla="*/ 2 h 6"/>
                <a:gd name="T14" fmla="*/ 10 w 10"/>
                <a:gd name="T15" fmla="*/ 0 h 6"/>
                <a:gd name="T16" fmla="*/ 9 w 10"/>
                <a:gd name="T17" fmla="*/ 0 h 6"/>
                <a:gd name="T18" fmla="*/ 9 w 10"/>
                <a:gd name="T19" fmla="*/ 0 h 6"/>
                <a:gd name="T20" fmla="*/ 7 w 10"/>
                <a:gd name="T21" fmla="*/ 1 h 6"/>
                <a:gd name="T22" fmla="*/ 6 w 10"/>
                <a:gd name="T23" fmla="*/ 2 h 6"/>
                <a:gd name="T24" fmla="*/ 5 w 10"/>
                <a:gd name="T25" fmla="*/ 2 h 6"/>
                <a:gd name="T26" fmla="*/ 5 w 10"/>
                <a:gd name="T27" fmla="*/ 2 h 6"/>
                <a:gd name="T28" fmla="*/ 3 w 10"/>
                <a:gd name="T29" fmla="*/ 3 h 6"/>
                <a:gd name="T30" fmla="*/ 2 w 10"/>
                <a:gd name="T31" fmla="*/ 4 h 6"/>
                <a:gd name="T32" fmla="*/ 0 w 10"/>
                <a:gd name="T33" fmla="*/ 5 h 6"/>
                <a:gd name="T34" fmla="*/ 0 w 10"/>
                <a:gd name="T35" fmla="*/ 6 h 6"/>
                <a:gd name="T36" fmla="*/ 1 w 10"/>
                <a:gd name="T3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6">
                  <a:moveTo>
                    <a:pt x="1" y="6"/>
                  </a:moveTo>
                  <a:cubicBezTo>
                    <a:pt x="1" y="6"/>
                    <a:pt x="2" y="6"/>
                    <a:pt x="3" y="6"/>
                  </a:cubicBezTo>
                  <a:cubicBezTo>
                    <a:pt x="3" y="6"/>
                    <a:pt x="3" y="6"/>
                    <a:pt x="3" y="5"/>
                  </a:cubicBezTo>
                  <a:cubicBezTo>
                    <a:pt x="4" y="5"/>
                    <a:pt x="4" y="5"/>
                    <a:pt x="4" y="5"/>
                  </a:cubicBezTo>
                  <a:cubicBezTo>
                    <a:pt x="4" y="4"/>
                    <a:pt x="4" y="4"/>
                    <a:pt x="5" y="4"/>
                  </a:cubicBezTo>
                  <a:cubicBezTo>
                    <a:pt x="5" y="4"/>
                    <a:pt x="6" y="3"/>
                    <a:pt x="6" y="3"/>
                  </a:cubicBezTo>
                  <a:cubicBezTo>
                    <a:pt x="7" y="2"/>
                    <a:pt x="7" y="2"/>
                    <a:pt x="7" y="2"/>
                  </a:cubicBezTo>
                  <a:cubicBezTo>
                    <a:pt x="9" y="2"/>
                    <a:pt x="10" y="1"/>
                    <a:pt x="10" y="0"/>
                  </a:cubicBezTo>
                  <a:cubicBezTo>
                    <a:pt x="10" y="0"/>
                    <a:pt x="10" y="0"/>
                    <a:pt x="9" y="0"/>
                  </a:cubicBezTo>
                  <a:cubicBezTo>
                    <a:pt x="9" y="0"/>
                    <a:pt x="9" y="0"/>
                    <a:pt x="9" y="0"/>
                  </a:cubicBezTo>
                  <a:cubicBezTo>
                    <a:pt x="8" y="0"/>
                    <a:pt x="8" y="1"/>
                    <a:pt x="7" y="1"/>
                  </a:cubicBezTo>
                  <a:cubicBezTo>
                    <a:pt x="7" y="1"/>
                    <a:pt x="6" y="2"/>
                    <a:pt x="6" y="2"/>
                  </a:cubicBezTo>
                  <a:cubicBezTo>
                    <a:pt x="6" y="2"/>
                    <a:pt x="5" y="2"/>
                    <a:pt x="5" y="2"/>
                  </a:cubicBezTo>
                  <a:cubicBezTo>
                    <a:pt x="5" y="2"/>
                    <a:pt x="5" y="2"/>
                    <a:pt x="5" y="2"/>
                  </a:cubicBezTo>
                  <a:cubicBezTo>
                    <a:pt x="4" y="3"/>
                    <a:pt x="4" y="3"/>
                    <a:pt x="3" y="3"/>
                  </a:cubicBezTo>
                  <a:cubicBezTo>
                    <a:pt x="3" y="3"/>
                    <a:pt x="2" y="4"/>
                    <a:pt x="2" y="4"/>
                  </a:cubicBezTo>
                  <a:cubicBezTo>
                    <a:pt x="1" y="4"/>
                    <a:pt x="0" y="5"/>
                    <a:pt x="0" y="5"/>
                  </a:cubicBezTo>
                  <a:cubicBezTo>
                    <a:pt x="0" y="5"/>
                    <a:pt x="0" y="5"/>
                    <a:pt x="0" y="6"/>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29"/>
            <p:cNvSpPr/>
            <p:nvPr userDrawn="1"/>
          </p:nvSpPr>
          <p:spPr bwMode="auto">
            <a:xfrm>
              <a:off x="808038" y="4694238"/>
              <a:ext cx="42863" cy="42863"/>
            </a:xfrm>
            <a:custGeom>
              <a:avLst/>
              <a:gdLst>
                <a:gd name="T0" fmla="*/ 5 w 6"/>
                <a:gd name="T1" fmla="*/ 3 h 6"/>
                <a:gd name="T2" fmla="*/ 4 w 6"/>
                <a:gd name="T3" fmla="*/ 3 h 6"/>
                <a:gd name="T4" fmla="*/ 5 w 6"/>
                <a:gd name="T5" fmla="*/ 3 h 6"/>
                <a:gd name="T6" fmla="*/ 5 w 6"/>
                <a:gd name="T7" fmla="*/ 2 h 6"/>
                <a:gd name="T8" fmla="*/ 6 w 6"/>
                <a:gd name="T9" fmla="*/ 1 h 6"/>
                <a:gd name="T10" fmla="*/ 4 w 6"/>
                <a:gd name="T11" fmla="*/ 0 h 6"/>
                <a:gd name="T12" fmla="*/ 3 w 6"/>
                <a:gd name="T13" fmla="*/ 1 h 6"/>
                <a:gd name="T14" fmla="*/ 1 w 6"/>
                <a:gd name="T15" fmla="*/ 2 h 6"/>
                <a:gd name="T16" fmla="*/ 0 w 6"/>
                <a:gd name="T17" fmla="*/ 3 h 6"/>
                <a:gd name="T18" fmla="*/ 1 w 6"/>
                <a:gd name="T19" fmla="*/ 3 h 6"/>
                <a:gd name="T20" fmla="*/ 2 w 6"/>
                <a:gd name="T21" fmla="*/ 2 h 6"/>
                <a:gd name="T22" fmla="*/ 3 w 6"/>
                <a:gd name="T23" fmla="*/ 2 h 6"/>
                <a:gd name="T24" fmla="*/ 3 w 6"/>
                <a:gd name="T25" fmla="*/ 2 h 6"/>
                <a:gd name="T26" fmla="*/ 3 w 6"/>
                <a:gd name="T27" fmla="*/ 3 h 6"/>
                <a:gd name="T28" fmla="*/ 3 w 6"/>
                <a:gd name="T29" fmla="*/ 3 h 6"/>
                <a:gd name="T30" fmla="*/ 2 w 6"/>
                <a:gd name="T31" fmla="*/ 3 h 6"/>
                <a:gd name="T32" fmla="*/ 2 w 6"/>
                <a:gd name="T33" fmla="*/ 4 h 6"/>
                <a:gd name="T34" fmla="*/ 2 w 6"/>
                <a:gd name="T35" fmla="*/ 5 h 6"/>
                <a:gd name="T36" fmla="*/ 3 w 6"/>
                <a:gd name="T37" fmla="*/ 5 h 6"/>
                <a:gd name="T38" fmla="*/ 4 w 6"/>
                <a:gd name="T39" fmla="*/ 5 h 6"/>
                <a:gd name="T40" fmla="*/ 5 w 6"/>
                <a:gd name="T4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 h="6">
                  <a:moveTo>
                    <a:pt x="5" y="3"/>
                  </a:moveTo>
                  <a:cubicBezTo>
                    <a:pt x="4" y="3"/>
                    <a:pt x="4" y="3"/>
                    <a:pt x="4" y="3"/>
                  </a:cubicBezTo>
                  <a:cubicBezTo>
                    <a:pt x="3" y="3"/>
                    <a:pt x="4" y="3"/>
                    <a:pt x="5" y="3"/>
                  </a:cubicBezTo>
                  <a:cubicBezTo>
                    <a:pt x="5" y="2"/>
                    <a:pt x="5" y="2"/>
                    <a:pt x="5" y="2"/>
                  </a:cubicBezTo>
                  <a:cubicBezTo>
                    <a:pt x="5" y="2"/>
                    <a:pt x="6" y="2"/>
                    <a:pt x="6" y="1"/>
                  </a:cubicBezTo>
                  <a:cubicBezTo>
                    <a:pt x="5" y="1"/>
                    <a:pt x="5" y="1"/>
                    <a:pt x="4" y="0"/>
                  </a:cubicBezTo>
                  <a:cubicBezTo>
                    <a:pt x="4" y="0"/>
                    <a:pt x="4" y="1"/>
                    <a:pt x="3" y="1"/>
                  </a:cubicBezTo>
                  <a:cubicBezTo>
                    <a:pt x="3" y="1"/>
                    <a:pt x="2" y="2"/>
                    <a:pt x="1" y="2"/>
                  </a:cubicBezTo>
                  <a:cubicBezTo>
                    <a:pt x="1" y="2"/>
                    <a:pt x="0" y="3"/>
                    <a:pt x="0" y="3"/>
                  </a:cubicBezTo>
                  <a:cubicBezTo>
                    <a:pt x="0" y="4"/>
                    <a:pt x="1" y="3"/>
                    <a:pt x="1" y="3"/>
                  </a:cubicBezTo>
                  <a:cubicBezTo>
                    <a:pt x="1" y="3"/>
                    <a:pt x="2" y="3"/>
                    <a:pt x="2" y="2"/>
                  </a:cubicBezTo>
                  <a:cubicBezTo>
                    <a:pt x="2" y="2"/>
                    <a:pt x="3" y="2"/>
                    <a:pt x="3" y="2"/>
                  </a:cubicBezTo>
                  <a:cubicBezTo>
                    <a:pt x="3" y="2"/>
                    <a:pt x="3" y="2"/>
                    <a:pt x="3" y="2"/>
                  </a:cubicBezTo>
                  <a:cubicBezTo>
                    <a:pt x="3" y="2"/>
                    <a:pt x="3" y="3"/>
                    <a:pt x="3" y="3"/>
                  </a:cubicBezTo>
                  <a:cubicBezTo>
                    <a:pt x="3" y="3"/>
                    <a:pt x="3" y="3"/>
                    <a:pt x="3" y="3"/>
                  </a:cubicBezTo>
                  <a:cubicBezTo>
                    <a:pt x="3" y="3"/>
                    <a:pt x="2" y="3"/>
                    <a:pt x="2" y="3"/>
                  </a:cubicBezTo>
                  <a:cubicBezTo>
                    <a:pt x="2" y="4"/>
                    <a:pt x="2" y="4"/>
                    <a:pt x="2" y="4"/>
                  </a:cubicBezTo>
                  <a:cubicBezTo>
                    <a:pt x="2" y="4"/>
                    <a:pt x="1" y="5"/>
                    <a:pt x="2" y="5"/>
                  </a:cubicBezTo>
                  <a:cubicBezTo>
                    <a:pt x="2" y="6"/>
                    <a:pt x="3" y="5"/>
                    <a:pt x="3" y="5"/>
                  </a:cubicBezTo>
                  <a:cubicBezTo>
                    <a:pt x="3" y="5"/>
                    <a:pt x="4" y="5"/>
                    <a:pt x="4" y="5"/>
                  </a:cubicBezTo>
                  <a:cubicBezTo>
                    <a:pt x="5" y="4"/>
                    <a:pt x="5"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30"/>
            <p:cNvSpPr/>
            <p:nvPr userDrawn="1"/>
          </p:nvSpPr>
          <p:spPr bwMode="auto">
            <a:xfrm>
              <a:off x="795338" y="4714875"/>
              <a:ext cx="20638" cy="22225"/>
            </a:xfrm>
            <a:custGeom>
              <a:avLst/>
              <a:gdLst>
                <a:gd name="T0" fmla="*/ 1 w 3"/>
                <a:gd name="T1" fmla="*/ 3 h 3"/>
                <a:gd name="T2" fmla="*/ 2 w 3"/>
                <a:gd name="T3" fmla="*/ 3 h 3"/>
                <a:gd name="T4" fmla="*/ 1 w 3"/>
                <a:gd name="T5" fmla="*/ 0 h 3"/>
                <a:gd name="T6" fmla="*/ 0 w 3"/>
                <a:gd name="T7" fmla="*/ 1 h 3"/>
                <a:gd name="T8" fmla="*/ 0 w 3"/>
                <a:gd name="T9" fmla="*/ 2 h 3"/>
                <a:gd name="T10" fmla="*/ 1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1" y="3"/>
                  </a:moveTo>
                  <a:cubicBezTo>
                    <a:pt x="2" y="3"/>
                    <a:pt x="2" y="3"/>
                    <a:pt x="2" y="3"/>
                  </a:cubicBezTo>
                  <a:cubicBezTo>
                    <a:pt x="3" y="2"/>
                    <a:pt x="2" y="0"/>
                    <a:pt x="1" y="0"/>
                  </a:cubicBezTo>
                  <a:cubicBezTo>
                    <a:pt x="1" y="0"/>
                    <a:pt x="0" y="0"/>
                    <a:pt x="0" y="1"/>
                  </a:cubicBezTo>
                  <a:cubicBezTo>
                    <a:pt x="0" y="1"/>
                    <a:pt x="0"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31"/>
            <p:cNvSpPr>
              <a:spLocks noEditPoints="1"/>
            </p:cNvSpPr>
            <p:nvPr userDrawn="1"/>
          </p:nvSpPr>
          <p:spPr bwMode="auto">
            <a:xfrm>
              <a:off x="774700" y="4737100"/>
              <a:ext cx="53975" cy="55563"/>
            </a:xfrm>
            <a:custGeom>
              <a:avLst/>
              <a:gdLst>
                <a:gd name="T0" fmla="*/ 7 w 8"/>
                <a:gd name="T1" fmla="*/ 1 h 8"/>
                <a:gd name="T2" fmla="*/ 7 w 8"/>
                <a:gd name="T3" fmla="*/ 0 h 8"/>
                <a:gd name="T4" fmla="*/ 6 w 8"/>
                <a:gd name="T5" fmla="*/ 1 h 8"/>
                <a:gd name="T6" fmla="*/ 6 w 8"/>
                <a:gd name="T7" fmla="*/ 2 h 8"/>
                <a:gd name="T8" fmla="*/ 4 w 8"/>
                <a:gd name="T9" fmla="*/ 3 h 8"/>
                <a:gd name="T10" fmla="*/ 3 w 8"/>
                <a:gd name="T11" fmla="*/ 3 h 8"/>
                <a:gd name="T12" fmla="*/ 3 w 8"/>
                <a:gd name="T13" fmla="*/ 4 h 8"/>
                <a:gd name="T14" fmla="*/ 2 w 8"/>
                <a:gd name="T15" fmla="*/ 4 h 8"/>
                <a:gd name="T16" fmla="*/ 1 w 8"/>
                <a:gd name="T17" fmla="*/ 4 h 8"/>
                <a:gd name="T18" fmla="*/ 1 w 8"/>
                <a:gd name="T19" fmla="*/ 4 h 8"/>
                <a:gd name="T20" fmla="*/ 0 w 8"/>
                <a:gd name="T21" fmla="*/ 5 h 8"/>
                <a:gd name="T22" fmla="*/ 0 w 8"/>
                <a:gd name="T23" fmla="*/ 5 h 8"/>
                <a:gd name="T24" fmla="*/ 0 w 8"/>
                <a:gd name="T25" fmla="*/ 7 h 8"/>
                <a:gd name="T26" fmla="*/ 1 w 8"/>
                <a:gd name="T27" fmla="*/ 8 h 8"/>
                <a:gd name="T28" fmla="*/ 2 w 8"/>
                <a:gd name="T29" fmla="*/ 7 h 8"/>
                <a:gd name="T30" fmla="*/ 3 w 8"/>
                <a:gd name="T31" fmla="*/ 6 h 8"/>
                <a:gd name="T32" fmla="*/ 4 w 8"/>
                <a:gd name="T33" fmla="*/ 5 h 8"/>
                <a:gd name="T34" fmla="*/ 4 w 8"/>
                <a:gd name="T35" fmla="*/ 4 h 8"/>
                <a:gd name="T36" fmla="*/ 5 w 8"/>
                <a:gd name="T37" fmla="*/ 5 h 8"/>
                <a:gd name="T38" fmla="*/ 6 w 8"/>
                <a:gd name="T39" fmla="*/ 6 h 8"/>
                <a:gd name="T40" fmla="*/ 7 w 8"/>
                <a:gd name="T41" fmla="*/ 7 h 8"/>
                <a:gd name="T42" fmla="*/ 8 w 8"/>
                <a:gd name="T43" fmla="*/ 6 h 8"/>
                <a:gd name="T44" fmla="*/ 7 w 8"/>
                <a:gd name="T45" fmla="*/ 4 h 8"/>
                <a:gd name="T46" fmla="*/ 7 w 8"/>
                <a:gd name="T47" fmla="*/ 1 h 8"/>
                <a:gd name="T48" fmla="*/ 6 w 8"/>
                <a:gd name="T49" fmla="*/ 5 h 8"/>
                <a:gd name="T50" fmla="*/ 5 w 8"/>
                <a:gd name="T51" fmla="*/ 4 h 8"/>
                <a:gd name="T52" fmla="*/ 5 w 8"/>
                <a:gd name="T53" fmla="*/ 4 h 8"/>
                <a:gd name="T54" fmla="*/ 6 w 8"/>
                <a:gd name="T55" fmla="*/ 3 h 8"/>
                <a:gd name="T56" fmla="*/ 6 w 8"/>
                <a:gd name="T57" fmla="*/ 4 h 8"/>
                <a:gd name="T58" fmla="*/ 6 w 8"/>
                <a:gd name="T59"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 h="8">
                  <a:moveTo>
                    <a:pt x="7" y="1"/>
                  </a:moveTo>
                  <a:cubicBezTo>
                    <a:pt x="7" y="0"/>
                    <a:pt x="7" y="0"/>
                    <a:pt x="7" y="0"/>
                  </a:cubicBezTo>
                  <a:cubicBezTo>
                    <a:pt x="6" y="0"/>
                    <a:pt x="6" y="0"/>
                    <a:pt x="6" y="1"/>
                  </a:cubicBezTo>
                  <a:cubicBezTo>
                    <a:pt x="6" y="1"/>
                    <a:pt x="6" y="2"/>
                    <a:pt x="6" y="2"/>
                  </a:cubicBezTo>
                  <a:cubicBezTo>
                    <a:pt x="5" y="2"/>
                    <a:pt x="4" y="3"/>
                    <a:pt x="4" y="3"/>
                  </a:cubicBezTo>
                  <a:cubicBezTo>
                    <a:pt x="4" y="3"/>
                    <a:pt x="3" y="3"/>
                    <a:pt x="3" y="3"/>
                  </a:cubicBezTo>
                  <a:cubicBezTo>
                    <a:pt x="3" y="3"/>
                    <a:pt x="3" y="4"/>
                    <a:pt x="3" y="4"/>
                  </a:cubicBezTo>
                  <a:cubicBezTo>
                    <a:pt x="2" y="4"/>
                    <a:pt x="2" y="4"/>
                    <a:pt x="2" y="4"/>
                  </a:cubicBezTo>
                  <a:cubicBezTo>
                    <a:pt x="2" y="4"/>
                    <a:pt x="2" y="4"/>
                    <a:pt x="1" y="4"/>
                  </a:cubicBezTo>
                  <a:cubicBezTo>
                    <a:pt x="1" y="4"/>
                    <a:pt x="1" y="4"/>
                    <a:pt x="1" y="4"/>
                  </a:cubicBezTo>
                  <a:cubicBezTo>
                    <a:pt x="0" y="4"/>
                    <a:pt x="0" y="5"/>
                    <a:pt x="0" y="5"/>
                  </a:cubicBezTo>
                  <a:cubicBezTo>
                    <a:pt x="0" y="5"/>
                    <a:pt x="0" y="5"/>
                    <a:pt x="0" y="5"/>
                  </a:cubicBezTo>
                  <a:cubicBezTo>
                    <a:pt x="0" y="6"/>
                    <a:pt x="0" y="7"/>
                    <a:pt x="0" y="7"/>
                  </a:cubicBezTo>
                  <a:cubicBezTo>
                    <a:pt x="0" y="7"/>
                    <a:pt x="1" y="8"/>
                    <a:pt x="1" y="8"/>
                  </a:cubicBezTo>
                  <a:cubicBezTo>
                    <a:pt x="2" y="8"/>
                    <a:pt x="2" y="7"/>
                    <a:pt x="2" y="7"/>
                  </a:cubicBezTo>
                  <a:cubicBezTo>
                    <a:pt x="2" y="7"/>
                    <a:pt x="3" y="6"/>
                    <a:pt x="3" y="6"/>
                  </a:cubicBezTo>
                  <a:cubicBezTo>
                    <a:pt x="3" y="6"/>
                    <a:pt x="3" y="5"/>
                    <a:pt x="4" y="5"/>
                  </a:cubicBezTo>
                  <a:cubicBezTo>
                    <a:pt x="4" y="5"/>
                    <a:pt x="4" y="4"/>
                    <a:pt x="4" y="4"/>
                  </a:cubicBezTo>
                  <a:cubicBezTo>
                    <a:pt x="5" y="4"/>
                    <a:pt x="5" y="5"/>
                    <a:pt x="5" y="5"/>
                  </a:cubicBezTo>
                  <a:cubicBezTo>
                    <a:pt x="6" y="6"/>
                    <a:pt x="6" y="6"/>
                    <a:pt x="6" y="6"/>
                  </a:cubicBezTo>
                  <a:cubicBezTo>
                    <a:pt x="6" y="6"/>
                    <a:pt x="6" y="7"/>
                    <a:pt x="7" y="7"/>
                  </a:cubicBezTo>
                  <a:cubicBezTo>
                    <a:pt x="7" y="7"/>
                    <a:pt x="7" y="6"/>
                    <a:pt x="8" y="6"/>
                  </a:cubicBezTo>
                  <a:cubicBezTo>
                    <a:pt x="8" y="5"/>
                    <a:pt x="8" y="4"/>
                    <a:pt x="7" y="4"/>
                  </a:cubicBezTo>
                  <a:cubicBezTo>
                    <a:pt x="7" y="3"/>
                    <a:pt x="8" y="1"/>
                    <a:pt x="7" y="1"/>
                  </a:cubicBezTo>
                  <a:close/>
                  <a:moveTo>
                    <a:pt x="6" y="5"/>
                  </a:moveTo>
                  <a:cubicBezTo>
                    <a:pt x="6" y="5"/>
                    <a:pt x="6" y="5"/>
                    <a:pt x="5" y="4"/>
                  </a:cubicBezTo>
                  <a:cubicBezTo>
                    <a:pt x="5" y="4"/>
                    <a:pt x="5" y="4"/>
                    <a:pt x="5" y="4"/>
                  </a:cubicBezTo>
                  <a:cubicBezTo>
                    <a:pt x="5" y="4"/>
                    <a:pt x="5" y="3"/>
                    <a:pt x="6" y="3"/>
                  </a:cubicBezTo>
                  <a:cubicBezTo>
                    <a:pt x="6" y="2"/>
                    <a:pt x="6" y="3"/>
                    <a:pt x="6" y="4"/>
                  </a:cubicBezTo>
                  <a:cubicBezTo>
                    <a:pt x="6" y="4"/>
                    <a:pt x="6" y="4"/>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32"/>
            <p:cNvSpPr/>
            <p:nvPr userDrawn="1"/>
          </p:nvSpPr>
          <p:spPr bwMode="auto">
            <a:xfrm>
              <a:off x="836613" y="4743450"/>
              <a:ext cx="14288" cy="34925"/>
            </a:xfrm>
            <a:custGeom>
              <a:avLst/>
              <a:gdLst>
                <a:gd name="T0" fmla="*/ 0 w 2"/>
                <a:gd name="T1" fmla="*/ 0 h 5"/>
                <a:gd name="T2" fmla="*/ 0 w 2"/>
                <a:gd name="T3" fmla="*/ 1 h 5"/>
                <a:gd name="T4" fmla="*/ 0 w 2"/>
                <a:gd name="T5" fmla="*/ 4 h 5"/>
                <a:gd name="T6" fmla="*/ 1 w 2"/>
                <a:gd name="T7" fmla="*/ 5 h 5"/>
                <a:gd name="T8" fmla="*/ 2 w 2"/>
                <a:gd name="T9" fmla="*/ 4 h 5"/>
                <a:gd name="T10" fmla="*/ 2 w 2"/>
                <a:gd name="T11" fmla="*/ 1 h 5"/>
                <a:gd name="T12" fmla="*/ 0 w 2"/>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 h="5">
                  <a:moveTo>
                    <a:pt x="0" y="0"/>
                  </a:moveTo>
                  <a:cubicBezTo>
                    <a:pt x="0" y="0"/>
                    <a:pt x="0" y="1"/>
                    <a:pt x="0" y="1"/>
                  </a:cubicBezTo>
                  <a:cubicBezTo>
                    <a:pt x="0" y="2"/>
                    <a:pt x="0" y="3"/>
                    <a:pt x="0" y="4"/>
                  </a:cubicBezTo>
                  <a:cubicBezTo>
                    <a:pt x="0" y="4"/>
                    <a:pt x="0" y="5"/>
                    <a:pt x="1" y="5"/>
                  </a:cubicBezTo>
                  <a:cubicBezTo>
                    <a:pt x="1" y="5"/>
                    <a:pt x="1" y="4"/>
                    <a:pt x="2" y="4"/>
                  </a:cubicBezTo>
                  <a:cubicBezTo>
                    <a:pt x="2" y="3"/>
                    <a:pt x="2" y="2"/>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3" name="Freeform 233"/>
            <p:cNvSpPr>
              <a:spLocks noEditPoints="1"/>
            </p:cNvSpPr>
            <p:nvPr userDrawn="1"/>
          </p:nvSpPr>
          <p:spPr bwMode="auto">
            <a:xfrm>
              <a:off x="4686300" y="3575050"/>
              <a:ext cx="2784475" cy="1266825"/>
            </a:xfrm>
            <a:custGeom>
              <a:avLst/>
              <a:gdLst>
                <a:gd name="T0" fmla="*/ 384 w 403"/>
                <a:gd name="T1" fmla="*/ 114 h 181"/>
                <a:gd name="T2" fmla="*/ 315 w 403"/>
                <a:gd name="T3" fmla="*/ 64 h 181"/>
                <a:gd name="T4" fmla="*/ 233 w 403"/>
                <a:gd name="T5" fmla="*/ 25 h 181"/>
                <a:gd name="T6" fmla="*/ 225 w 403"/>
                <a:gd name="T7" fmla="*/ 16 h 181"/>
                <a:gd name="T8" fmla="*/ 201 w 403"/>
                <a:gd name="T9" fmla="*/ 0 h 181"/>
                <a:gd name="T10" fmla="*/ 167 w 403"/>
                <a:gd name="T11" fmla="*/ 17 h 181"/>
                <a:gd name="T12" fmla="*/ 176 w 403"/>
                <a:gd name="T13" fmla="*/ 25 h 181"/>
                <a:gd name="T14" fmla="*/ 62 w 403"/>
                <a:gd name="T15" fmla="*/ 87 h 181"/>
                <a:gd name="T16" fmla="*/ 19 w 403"/>
                <a:gd name="T17" fmla="*/ 115 h 181"/>
                <a:gd name="T18" fmla="*/ 18 w 403"/>
                <a:gd name="T19" fmla="*/ 181 h 181"/>
                <a:gd name="T20" fmla="*/ 225 w 403"/>
                <a:gd name="T21" fmla="*/ 181 h 181"/>
                <a:gd name="T22" fmla="*/ 220 w 403"/>
                <a:gd name="T23" fmla="*/ 5 h 181"/>
                <a:gd name="T24" fmla="*/ 182 w 403"/>
                <a:gd name="T25" fmla="*/ 5 h 181"/>
                <a:gd name="T26" fmla="*/ 182 w 403"/>
                <a:gd name="T27" fmla="*/ 5 h 181"/>
                <a:gd name="T28" fmla="*/ 219 w 403"/>
                <a:gd name="T29" fmla="*/ 18 h 181"/>
                <a:gd name="T30" fmla="*/ 168 w 403"/>
                <a:gd name="T31" fmla="*/ 19 h 181"/>
                <a:gd name="T32" fmla="*/ 187 w 403"/>
                <a:gd name="T33" fmla="*/ 33 h 181"/>
                <a:gd name="T34" fmla="*/ 178 w 403"/>
                <a:gd name="T35" fmla="*/ 25 h 181"/>
                <a:gd name="T36" fmla="*/ 189 w 403"/>
                <a:gd name="T37" fmla="*/ 44 h 181"/>
                <a:gd name="T38" fmla="*/ 197 w 403"/>
                <a:gd name="T39" fmla="*/ 92 h 181"/>
                <a:gd name="T40" fmla="*/ 206 w 403"/>
                <a:gd name="T41" fmla="*/ 75 h 181"/>
                <a:gd name="T42" fmla="*/ 197 w 403"/>
                <a:gd name="T43" fmla="*/ 101 h 181"/>
                <a:gd name="T44" fmla="*/ 197 w 403"/>
                <a:gd name="T45" fmla="*/ 62 h 181"/>
                <a:gd name="T46" fmla="*/ 206 w 403"/>
                <a:gd name="T47" fmla="*/ 114 h 181"/>
                <a:gd name="T48" fmla="*/ 197 w 403"/>
                <a:gd name="T49" fmla="*/ 53 h 181"/>
                <a:gd name="T50" fmla="*/ 206 w 403"/>
                <a:gd name="T51" fmla="*/ 123 h 181"/>
                <a:gd name="T52" fmla="*/ 197 w 403"/>
                <a:gd name="T53" fmla="*/ 49 h 181"/>
                <a:gd name="T54" fmla="*/ 195 w 403"/>
                <a:gd name="T55" fmla="*/ 52 h 181"/>
                <a:gd name="T56" fmla="*/ 195 w 403"/>
                <a:gd name="T57" fmla="*/ 61 h 181"/>
                <a:gd name="T58" fmla="*/ 195 w 403"/>
                <a:gd name="T59" fmla="*/ 83 h 181"/>
                <a:gd name="T60" fmla="*/ 195 w 403"/>
                <a:gd name="T61" fmla="*/ 102 h 181"/>
                <a:gd name="T62" fmla="*/ 195 w 403"/>
                <a:gd name="T63" fmla="*/ 115 h 181"/>
                <a:gd name="T64" fmla="*/ 189 w 403"/>
                <a:gd name="T65" fmla="*/ 140 h 181"/>
                <a:gd name="T66" fmla="*/ 197 w 403"/>
                <a:gd name="T67" fmla="*/ 140 h 181"/>
                <a:gd name="T68" fmla="*/ 208 w 403"/>
                <a:gd name="T69" fmla="*/ 140 h 181"/>
                <a:gd name="T70" fmla="*/ 214 w 403"/>
                <a:gd name="T71" fmla="*/ 33 h 181"/>
                <a:gd name="T72" fmla="*/ 189 w 403"/>
                <a:gd name="T73" fmla="*/ 145 h 181"/>
                <a:gd name="T74" fmla="*/ 216 w 403"/>
                <a:gd name="T75" fmla="*/ 179 h 181"/>
                <a:gd name="T76" fmla="*/ 227 w 403"/>
                <a:gd name="T77" fmla="*/ 179 h 181"/>
                <a:gd name="T78" fmla="*/ 382 w 403"/>
                <a:gd name="T79" fmla="*/ 115 h 181"/>
                <a:gd name="T80" fmla="*/ 227 w 403"/>
                <a:gd name="T81" fmla="*/ 72 h 181"/>
                <a:gd name="T82" fmla="*/ 384 w 403"/>
                <a:gd name="T83" fmla="*/ 113 h 181"/>
                <a:gd name="T84" fmla="*/ 341 w 403"/>
                <a:gd name="T85" fmla="*/ 89 h 181"/>
                <a:gd name="T86" fmla="*/ 315 w 403"/>
                <a:gd name="T87" fmla="*/ 70 h 181"/>
                <a:gd name="T88" fmla="*/ 310 w 403"/>
                <a:gd name="T89" fmla="*/ 67 h 181"/>
                <a:gd name="T90" fmla="*/ 93 w 403"/>
                <a:gd name="T91" fmla="*/ 67 h 181"/>
                <a:gd name="T92" fmla="*/ 65 w 403"/>
                <a:gd name="T93" fmla="*/ 90 h 181"/>
                <a:gd name="T94" fmla="*/ 8 w 403"/>
                <a:gd name="T95" fmla="*/ 107 h 181"/>
                <a:gd name="T96" fmla="*/ 176 w 403"/>
                <a:gd name="T97" fmla="*/ 113 h 181"/>
                <a:gd name="T98" fmla="*/ 21 w 403"/>
                <a:gd name="T99" fmla="*/ 117 h 181"/>
                <a:gd name="T100" fmla="*/ 176 w 403"/>
                <a:gd name="T101" fmla="*/ 179 h 181"/>
                <a:gd name="T102" fmla="*/ 214 w 403"/>
                <a:gd name="T103" fmla="*/ 14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181">
                  <a:moveTo>
                    <a:pt x="384" y="179"/>
                  </a:moveTo>
                  <a:cubicBezTo>
                    <a:pt x="384" y="179"/>
                    <a:pt x="384" y="179"/>
                    <a:pt x="384" y="179"/>
                  </a:cubicBezTo>
                  <a:cubicBezTo>
                    <a:pt x="384" y="115"/>
                    <a:pt x="384" y="115"/>
                    <a:pt x="384" y="115"/>
                  </a:cubicBezTo>
                  <a:cubicBezTo>
                    <a:pt x="384" y="115"/>
                    <a:pt x="384" y="115"/>
                    <a:pt x="384" y="115"/>
                  </a:cubicBezTo>
                  <a:cubicBezTo>
                    <a:pt x="384" y="115"/>
                    <a:pt x="384" y="115"/>
                    <a:pt x="384" y="114"/>
                  </a:cubicBezTo>
                  <a:cubicBezTo>
                    <a:pt x="403" y="105"/>
                    <a:pt x="403" y="105"/>
                    <a:pt x="403" y="105"/>
                  </a:cubicBezTo>
                  <a:cubicBezTo>
                    <a:pt x="403" y="104"/>
                    <a:pt x="403" y="104"/>
                    <a:pt x="403" y="104"/>
                  </a:cubicBezTo>
                  <a:cubicBezTo>
                    <a:pt x="403" y="103"/>
                    <a:pt x="403" y="103"/>
                    <a:pt x="403" y="103"/>
                  </a:cubicBezTo>
                  <a:cubicBezTo>
                    <a:pt x="341" y="87"/>
                    <a:pt x="341" y="87"/>
                    <a:pt x="341" y="87"/>
                  </a:cubicBezTo>
                  <a:cubicBezTo>
                    <a:pt x="315" y="64"/>
                    <a:pt x="315" y="64"/>
                    <a:pt x="315" y="64"/>
                  </a:cubicBezTo>
                  <a:cubicBezTo>
                    <a:pt x="315" y="63"/>
                    <a:pt x="315" y="63"/>
                    <a:pt x="314" y="63"/>
                  </a:cubicBezTo>
                  <a:cubicBezTo>
                    <a:pt x="310" y="65"/>
                    <a:pt x="310" y="65"/>
                    <a:pt x="310" y="65"/>
                  </a:cubicBezTo>
                  <a:cubicBezTo>
                    <a:pt x="227" y="65"/>
                    <a:pt x="227" y="65"/>
                    <a:pt x="227" y="65"/>
                  </a:cubicBezTo>
                  <a:cubicBezTo>
                    <a:pt x="227" y="25"/>
                    <a:pt x="227" y="25"/>
                    <a:pt x="227" y="25"/>
                  </a:cubicBezTo>
                  <a:cubicBezTo>
                    <a:pt x="233" y="25"/>
                    <a:pt x="233" y="25"/>
                    <a:pt x="233" y="25"/>
                  </a:cubicBezTo>
                  <a:cubicBezTo>
                    <a:pt x="233" y="25"/>
                    <a:pt x="234" y="25"/>
                    <a:pt x="234" y="24"/>
                  </a:cubicBezTo>
                  <a:cubicBezTo>
                    <a:pt x="237" y="17"/>
                    <a:pt x="237" y="17"/>
                    <a:pt x="237" y="17"/>
                  </a:cubicBezTo>
                  <a:cubicBezTo>
                    <a:pt x="237" y="17"/>
                    <a:pt x="237" y="17"/>
                    <a:pt x="237" y="16"/>
                  </a:cubicBezTo>
                  <a:cubicBezTo>
                    <a:pt x="237" y="16"/>
                    <a:pt x="237" y="16"/>
                    <a:pt x="236" y="16"/>
                  </a:cubicBezTo>
                  <a:cubicBezTo>
                    <a:pt x="225" y="16"/>
                    <a:pt x="225" y="16"/>
                    <a:pt x="225" y="16"/>
                  </a:cubicBezTo>
                  <a:cubicBezTo>
                    <a:pt x="222" y="4"/>
                    <a:pt x="222" y="4"/>
                    <a:pt x="222" y="4"/>
                  </a:cubicBezTo>
                  <a:cubicBezTo>
                    <a:pt x="222" y="4"/>
                    <a:pt x="222" y="3"/>
                    <a:pt x="221" y="3"/>
                  </a:cubicBezTo>
                  <a:cubicBezTo>
                    <a:pt x="206" y="3"/>
                    <a:pt x="206" y="3"/>
                    <a:pt x="206" y="3"/>
                  </a:cubicBezTo>
                  <a:cubicBezTo>
                    <a:pt x="203" y="0"/>
                    <a:pt x="203" y="0"/>
                    <a:pt x="203" y="0"/>
                  </a:cubicBezTo>
                  <a:cubicBezTo>
                    <a:pt x="202" y="0"/>
                    <a:pt x="202" y="0"/>
                    <a:pt x="201" y="0"/>
                  </a:cubicBezTo>
                  <a:cubicBezTo>
                    <a:pt x="198" y="3"/>
                    <a:pt x="198" y="3"/>
                    <a:pt x="198" y="3"/>
                  </a:cubicBezTo>
                  <a:cubicBezTo>
                    <a:pt x="181" y="3"/>
                    <a:pt x="181" y="3"/>
                    <a:pt x="181" y="3"/>
                  </a:cubicBezTo>
                  <a:cubicBezTo>
                    <a:pt x="181" y="3"/>
                    <a:pt x="180" y="4"/>
                    <a:pt x="180" y="4"/>
                  </a:cubicBezTo>
                  <a:cubicBezTo>
                    <a:pt x="178" y="17"/>
                    <a:pt x="178" y="17"/>
                    <a:pt x="178" y="17"/>
                  </a:cubicBezTo>
                  <a:cubicBezTo>
                    <a:pt x="167" y="17"/>
                    <a:pt x="167" y="17"/>
                    <a:pt x="167" y="17"/>
                  </a:cubicBezTo>
                  <a:cubicBezTo>
                    <a:pt x="166" y="17"/>
                    <a:pt x="166" y="17"/>
                    <a:pt x="166" y="17"/>
                  </a:cubicBezTo>
                  <a:cubicBezTo>
                    <a:pt x="165" y="17"/>
                    <a:pt x="165" y="18"/>
                    <a:pt x="166" y="18"/>
                  </a:cubicBezTo>
                  <a:cubicBezTo>
                    <a:pt x="169" y="25"/>
                    <a:pt x="169" y="25"/>
                    <a:pt x="169" y="25"/>
                  </a:cubicBezTo>
                  <a:cubicBezTo>
                    <a:pt x="169" y="25"/>
                    <a:pt x="170" y="25"/>
                    <a:pt x="170" y="25"/>
                  </a:cubicBezTo>
                  <a:cubicBezTo>
                    <a:pt x="176" y="25"/>
                    <a:pt x="176" y="25"/>
                    <a:pt x="176" y="25"/>
                  </a:cubicBezTo>
                  <a:cubicBezTo>
                    <a:pt x="176" y="65"/>
                    <a:pt x="176" y="65"/>
                    <a:pt x="176" y="65"/>
                  </a:cubicBezTo>
                  <a:cubicBezTo>
                    <a:pt x="93" y="65"/>
                    <a:pt x="93" y="65"/>
                    <a:pt x="93" y="65"/>
                  </a:cubicBezTo>
                  <a:cubicBezTo>
                    <a:pt x="89" y="63"/>
                    <a:pt x="89" y="63"/>
                    <a:pt x="89" y="63"/>
                  </a:cubicBezTo>
                  <a:cubicBezTo>
                    <a:pt x="88" y="63"/>
                    <a:pt x="88" y="63"/>
                    <a:pt x="88" y="64"/>
                  </a:cubicBezTo>
                  <a:cubicBezTo>
                    <a:pt x="62" y="87"/>
                    <a:pt x="62" y="87"/>
                    <a:pt x="62" y="87"/>
                  </a:cubicBezTo>
                  <a:cubicBezTo>
                    <a:pt x="0" y="103"/>
                    <a:pt x="0" y="103"/>
                    <a:pt x="0" y="103"/>
                  </a:cubicBezTo>
                  <a:cubicBezTo>
                    <a:pt x="0" y="103"/>
                    <a:pt x="0" y="103"/>
                    <a:pt x="0" y="104"/>
                  </a:cubicBezTo>
                  <a:cubicBezTo>
                    <a:pt x="0" y="104"/>
                    <a:pt x="0" y="104"/>
                    <a:pt x="0" y="105"/>
                  </a:cubicBezTo>
                  <a:cubicBezTo>
                    <a:pt x="18" y="114"/>
                    <a:pt x="18" y="114"/>
                    <a:pt x="18" y="114"/>
                  </a:cubicBezTo>
                  <a:cubicBezTo>
                    <a:pt x="19" y="115"/>
                    <a:pt x="19" y="115"/>
                    <a:pt x="19" y="115"/>
                  </a:cubicBezTo>
                  <a:cubicBezTo>
                    <a:pt x="19" y="115"/>
                    <a:pt x="19" y="115"/>
                    <a:pt x="19" y="115"/>
                  </a:cubicBezTo>
                  <a:cubicBezTo>
                    <a:pt x="19" y="179"/>
                    <a:pt x="19" y="179"/>
                    <a:pt x="19" y="179"/>
                  </a:cubicBezTo>
                  <a:cubicBezTo>
                    <a:pt x="18" y="179"/>
                    <a:pt x="18" y="179"/>
                    <a:pt x="18" y="179"/>
                  </a:cubicBezTo>
                  <a:cubicBezTo>
                    <a:pt x="18" y="179"/>
                    <a:pt x="17" y="179"/>
                    <a:pt x="17" y="180"/>
                  </a:cubicBezTo>
                  <a:cubicBezTo>
                    <a:pt x="17" y="181"/>
                    <a:pt x="18" y="181"/>
                    <a:pt x="18" y="181"/>
                  </a:cubicBezTo>
                  <a:cubicBezTo>
                    <a:pt x="178" y="181"/>
                    <a:pt x="178" y="181"/>
                    <a:pt x="178" y="181"/>
                  </a:cubicBezTo>
                  <a:cubicBezTo>
                    <a:pt x="179" y="181"/>
                    <a:pt x="179" y="181"/>
                    <a:pt x="179" y="181"/>
                  </a:cubicBezTo>
                  <a:cubicBezTo>
                    <a:pt x="188" y="181"/>
                    <a:pt x="188" y="181"/>
                    <a:pt x="188" y="181"/>
                  </a:cubicBezTo>
                  <a:cubicBezTo>
                    <a:pt x="215" y="181"/>
                    <a:pt x="215" y="181"/>
                    <a:pt x="215" y="181"/>
                  </a:cubicBezTo>
                  <a:cubicBezTo>
                    <a:pt x="225" y="181"/>
                    <a:pt x="225" y="181"/>
                    <a:pt x="225" y="181"/>
                  </a:cubicBezTo>
                  <a:cubicBezTo>
                    <a:pt x="225" y="181"/>
                    <a:pt x="225" y="181"/>
                    <a:pt x="225" y="181"/>
                  </a:cubicBezTo>
                  <a:cubicBezTo>
                    <a:pt x="384" y="181"/>
                    <a:pt x="384" y="181"/>
                    <a:pt x="384" y="181"/>
                  </a:cubicBezTo>
                  <a:cubicBezTo>
                    <a:pt x="384" y="181"/>
                    <a:pt x="385" y="181"/>
                    <a:pt x="385" y="180"/>
                  </a:cubicBezTo>
                  <a:cubicBezTo>
                    <a:pt x="385" y="179"/>
                    <a:pt x="384" y="179"/>
                    <a:pt x="384" y="179"/>
                  </a:cubicBezTo>
                  <a:close/>
                  <a:moveTo>
                    <a:pt x="220" y="5"/>
                  </a:moveTo>
                  <a:cubicBezTo>
                    <a:pt x="223" y="16"/>
                    <a:pt x="223" y="16"/>
                    <a:pt x="223" y="16"/>
                  </a:cubicBezTo>
                  <a:cubicBezTo>
                    <a:pt x="220" y="16"/>
                    <a:pt x="220" y="16"/>
                    <a:pt x="220" y="16"/>
                  </a:cubicBezTo>
                  <a:cubicBezTo>
                    <a:pt x="208" y="5"/>
                    <a:pt x="208" y="5"/>
                    <a:pt x="208" y="5"/>
                  </a:cubicBezTo>
                  <a:lnTo>
                    <a:pt x="220" y="5"/>
                  </a:lnTo>
                  <a:close/>
                  <a:moveTo>
                    <a:pt x="182" y="5"/>
                  </a:moveTo>
                  <a:cubicBezTo>
                    <a:pt x="196" y="5"/>
                    <a:pt x="196" y="5"/>
                    <a:pt x="196" y="5"/>
                  </a:cubicBezTo>
                  <a:cubicBezTo>
                    <a:pt x="185" y="16"/>
                    <a:pt x="185" y="16"/>
                    <a:pt x="185" y="16"/>
                  </a:cubicBezTo>
                  <a:cubicBezTo>
                    <a:pt x="185" y="16"/>
                    <a:pt x="185" y="16"/>
                    <a:pt x="185" y="16"/>
                  </a:cubicBezTo>
                  <a:cubicBezTo>
                    <a:pt x="180" y="16"/>
                    <a:pt x="180" y="16"/>
                    <a:pt x="180" y="16"/>
                  </a:cubicBezTo>
                  <a:lnTo>
                    <a:pt x="182" y="5"/>
                  </a:lnTo>
                  <a:close/>
                  <a:moveTo>
                    <a:pt x="168" y="19"/>
                  </a:moveTo>
                  <a:cubicBezTo>
                    <a:pt x="185" y="19"/>
                    <a:pt x="185" y="19"/>
                    <a:pt x="185" y="19"/>
                  </a:cubicBezTo>
                  <a:cubicBezTo>
                    <a:pt x="185" y="19"/>
                    <a:pt x="185" y="19"/>
                    <a:pt x="185" y="18"/>
                  </a:cubicBezTo>
                  <a:cubicBezTo>
                    <a:pt x="202" y="2"/>
                    <a:pt x="202" y="2"/>
                    <a:pt x="202" y="2"/>
                  </a:cubicBezTo>
                  <a:cubicBezTo>
                    <a:pt x="219" y="18"/>
                    <a:pt x="219" y="18"/>
                    <a:pt x="219" y="18"/>
                  </a:cubicBezTo>
                  <a:cubicBezTo>
                    <a:pt x="219" y="18"/>
                    <a:pt x="219" y="18"/>
                    <a:pt x="219" y="18"/>
                  </a:cubicBezTo>
                  <a:cubicBezTo>
                    <a:pt x="235" y="18"/>
                    <a:pt x="235" y="18"/>
                    <a:pt x="235" y="18"/>
                  </a:cubicBezTo>
                  <a:cubicBezTo>
                    <a:pt x="232" y="23"/>
                    <a:pt x="232" y="23"/>
                    <a:pt x="232" y="23"/>
                  </a:cubicBezTo>
                  <a:cubicBezTo>
                    <a:pt x="170" y="23"/>
                    <a:pt x="170" y="23"/>
                    <a:pt x="170" y="23"/>
                  </a:cubicBezTo>
                  <a:lnTo>
                    <a:pt x="168" y="19"/>
                  </a:lnTo>
                  <a:close/>
                  <a:moveTo>
                    <a:pt x="179" y="179"/>
                  </a:moveTo>
                  <a:cubicBezTo>
                    <a:pt x="179" y="179"/>
                    <a:pt x="179" y="179"/>
                    <a:pt x="178" y="179"/>
                  </a:cubicBezTo>
                  <a:cubicBezTo>
                    <a:pt x="178" y="179"/>
                    <a:pt x="178" y="179"/>
                    <a:pt x="178" y="179"/>
                  </a:cubicBezTo>
                  <a:cubicBezTo>
                    <a:pt x="178" y="33"/>
                    <a:pt x="178" y="33"/>
                    <a:pt x="178" y="33"/>
                  </a:cubicBezTo>
                  <a:cubicBezTo>
                    <a:pt x="187" y="33"/>
                    <a:pt x="187" y="33"/>
                    <a:pt x="187" y="33"/>
                  </a:cubicBezTo>
                  <a:cubicBezTo>
                    <a:pt x="187" y="179"/>
                    <a:pt x="187" y="179"/>
                    <a:pt x="187" y="179"/>
                  </a:cubicBezTo>
                  <a:lnTo>
                    <a:pt x="179" y="179"/>
                  </a:lnTo>
                  <a:close/>
                  <a:moveTo>
                    <a:pt x="225" y="31"/>
                  </a:moveTo>
                  <a:cubicBezTo>
                    <a:pt x="178" y="31"/>
                    <a:pt x="178" y="31"/>
                    <a:pt x="178" y="31"/>
                  </a:cubicBezTo>
                  <a:cubicBezTo>
                    <a:pt x="178" y="25"/>
                    <a:pt x="178" y="25"/>
                    <a:pt x="178" y="25"/>
                  </a:cubicBezTo>
                  <a:cubicBezTo>
                    <a:pt x="225" y="25"/>
                    <a:pt x="225" y="25"/>
                    <a:pt x="225" y="25"/>
                  </a:cubicBezTo>
                  <a:lnTo>
                    <a:pt x="225" y="31"/>
                  </a:lnTo>
                  <a:close/>
                  <a:moveTo>
                    <a:pt x="214" y="47"/>
                  </a:moveTo>
                  <a:cubicBezTo>
                    <a:pt x="189" y="47"/>
                    <a:pt x="189" y="47"/>
                    <a:pt x="189" y="47"/>
                  </a:cubicBezTo>
                  <a:cubicBezTo>
                    <a:pt x="189" y="44"/>
                    <a:pt x="189" y="44"/>
                    <a:pt x="189" y="44"/>
                  </a:cubicBezTo>
                  <a:cubicBezTo>
                    <a:pt x="214" y="44"/>
                    <a:pt x="214" y="44"/>
                    <a:pt x="214" y="44"/>
                  </a:cubicBezTo>
                  <a:lnTo>
                    <a:pt x="214" y="47"/>
                  </a:lnTo>
                  <a:close/>
                  <a:moveTo>
                    <a:pt x="206" y="84"/>
                  </a:moveTo>
                  <a:cubicBezTo>
                    <a:pt x="206" y="92"/>
                    <a:pt x="206" y="92"/>
                    <a:pt x="206" y="92"/>
                  </a:cubicBezTo>
                  <a:cubicBezTo>
                    <a:pt x="197" y="92"/>
                    <a:pt x="197" y="92"/>
                    <a:pt x="197" y="92"/>
                  </a:cubicBezTo>
                  <a:cubicBezTo>
                    <a:pt x="197" y="84"/>
                    <a:pt x="197" y="84"/>
                    <a:pt x="197" y="84"/>
                  </a:cubicBezTo>
                  <a:lnTo>
                    <a:pt x="206" y="84"/>
                  </a:lnTo>
                  <a:close/>
                  <a:moveTo>
                    <a:pt x="197" y="82"/>
                  </a:moveTo>
                  <a:cubicBezTo>
                    <a:pt x="197" y="75"/>
                    <a:pt x="197" y="75"/>
                    <a:pt x="197" y="75"/>
                  </a:cubicBezTo>
                  <a:cubicBezTo>
                    <a:pt x="206" y="75"/>
                    <a:pt x="206" y="75"/>
                    <a:pt x="206" y="75"/>
                  </a:cubicBezTo>
                  <a:cubicBezTo>
                    <a:pt x="206" y="82"/>
                    <a:pt x="206" y="82"/>
                    <a:pt x="206" y="82"/>
                  </a:cubicBezTo>
                  <a:lnTo>
                    <a:pt x="197" y="82"/>
                  </a:lnTo>
                  <a:close/>
                  <a:moveTo>
                    <a:pt x="206" y="94"/>
                  </a:moveTo>
                  <a:cubicBezTo>
                    <a:pt x="206" y="101"/>
                    <a:pt x="206" y="101"/>
                    <a:pt x="206" y="101"/>
                  </a:cubicBezTo>
                  <a:cubicBezTo>
                    <a:pt x="197" y="101"/>
                    <a:pt x="197" y="101"/>
                    <a:pt x="197" y="101"/>
                  </a:cubicBezTo>
                  <a:cubicBezTo>
                    <a:pt x="197" y="94"/>
                    <a:pt x="197" y="94"/>
                    <a:pt x="197" y="94"/>
                  </a:cubicBezTo>
                  <a:lnTo>
                    <a:pt x="206" y="94"/>
                  </a:lnTo>
                  <a:close/>
                  <a:moveTo>
                    <a:pt x="206" y="73"/>
                  </a:moveTo>
                  <a:cubicBezTo>
                    <a:pt x="197" y="73"/>
                    <a:pt x="197" y="73"/>
                    <a:pt x="197" y="73"/>
                  </a:cubicBezTo>
                  <a:cubicBezTo>
                    <a:pt x="197" y="62"/>
                    <a:pt x="197" y="62"/>
                    <a:pt x="197" y="62"/>
                  </a:cubicBezTo>
                  <a:cubicBezTo>
                    <a:pt x="206" y="62"/>
                    <a:pt x="206" y="62"/>
                    <a:pt x="206" y="62"/>
                  </a:cubicBezTo>
                  <a:lnTo>
                    <a:pt x="206" y="73"/>
                  </a:lnTo>
                  <a:close/>
                  <a:moveTo>
                    <a:pt x="197" y="103"/>
                  </a:moveTo>
                  <a:cubicBezTo>
                    <a:pt x="206" y="103"/>
                    <a:pt x="206" y="103"/>
                    <a:pt x="206" y="103"/>
                  </a:cubicBezTo>
                  <a:cubicBezTo>
                    <a:pt x="206" y="114"/>
                    <a:pt x="206" y="114"/>
                    <a:pt x="206" y="114"/>
                  </a:cubicBezTo>
                  <a:cubicBezTo>
                    <a:pt x="197" y="114"/>
                    <a:pt x="197" y="114"/>
                    <a:pt x="197" y="114"/>
                  </a:cubicBezTo>
                  <a:lnTo>
                    <a:pt x="197" y="103"/>
                  </a:lnTo>
                  <a:close/>
                  <a:moveTo>
                    <a:pt x="206" y="60"/>
                  </a:moveTo>
                  <a:cubicBezTo>
                    <a:pt x="197" y="60"/>
                    <a:pt x="197" y="60"/>
                    <a:pt x="197" y="60"/>
                  </a:cubicBezTo>
                  <a:cubicBezTo>
                    <a:pt x="197" y="53"/>
                    <a:pt x="197" y="53"/>
                    <a:pt x="197" y="53"/>
                  </a:cubicBezTo>
                  <a:cubicBezTo>
                    <a:pt x="206" y="53"/>
                    <a:pt x="206" y="53"/>
                    <a:pt x="206" y="53"/>
                  </a:cubicBezTo>
                  <a:lnTo>
                    <a:pt x="206" y="60"/>
                  </a:lnTo>
                  <a:close/>
                  <a:moveTo>
                    <a:pt x="197" y="116"/>
                  </a:moveTo>
                  <a:cubicBezTo>
                    <a:pt x="206" y="116"/>
                    <a:pt x="206" y="116"/>
                    <a:pt x="206" y="116"/>
                  </a:cubicBezTo>
                  <a:cubicBezTo>
                    <a:pt x="206" y="123"/>
                    <a:pt x="206" y="123"/>
                    <a:pt x="206" y="123"/>
                  </a:cubicBezTo>
                  <a:cubicBezTo>
                    <a:pt x="197" y="123"/>
                    <a:pt x="197" y="123"/>
                    <a:pt x="197" y="123"/>
                  </a:cubicBezTo>
                  <a:lnTo>
                    <a:pt x="197" y="116"/>
                  </a:lnTo>
                  <a:close/>
                  <a:moveTo>
                    <a:pt x="206" y="51"/>
                  </a:moveTo>
                  <a:cubicBezTo>
                    <a:pt x="197" y="51"/>
                    <a:pt x="197" y="51"/>
                    <a:pt x="197" y="51"/>
                  </a:cubicBezTo>
                  <a:cubicBezTo>
                    <a:pt x="197" y="49"/>
                    <a:pt x="197" y="49"/>
                    <a:pt x="197" y="49"/>
                  </a:cubicBezTo>
                  <a:cubicBezTo>
                    <a:pt x="206" y="49"/>
                    <a:pt x="206" y="49"/>
                    <a:pt x="206" y="49"/>
                  </a:cubicBezTo>
                  <a:lnTo>
                    <a:pt x="206" y="51"/>
                  </a:lnTo>
                  <a:close/>
                  <a:moveTo>
                    <a:pt x="189" y="49"/>
                  </a:moveTo>
                  <a:cubicBezTo>
                    <a:pt x="195" y="49"/>
                    <a:pt x="195" y="49"/>
                    <a:pt x="195" y="49"/>
                  </a:cubicBezTo>
                  <a:cubicBezTo>
                    <a:pt x="195" y="52"/>
                    <a:pt x="195" y="52"/>
                    <a:pt x="195" y="52"/>
                  </a:cubicBezTo>
                  <a:cubicBezTo>
                    <a:pt x="195" y="52"/>
                    <a:pt x="195" y="52"/>
                    <a:pt x="195" y="52"/>
                  </a:cubicBezTo>
                  <a:cubicBezTo>
                    <a:pt x="195" y="52"/>
                    <a:pt x="195" y="52"/>
                    <a:pt x="195" y="52"/>
                  </a:cubicBezTo>
                  <a:cubicBezTo>
                    <a:pt x="195" y="61"/>
                    <a:pt x="195" y="61"/>
                    <a:pt x="195" y="61"/>
                  </a:cubicBezTo>
                  <a:cubicBezTo>
                    <a:pt x="195" y="61"/>
                    <a:pt x="195" y="61"/>
                    <a:pt x="195" y="61"/>
                  </a:cubicBezTo>
                  <a:cubicBezTo>
                    <a:pt x="195" y="61"/>
                    <a:pt x="195" y="61"/>
                    <a:pt x="195" y="61"/>
                  </a:cubicBezTo>
                  <a:cubicBezTo>
                    <a:pt x="195" y="74"/>
                    <a:pt x="195" y="74"/>
                    <a:pt x="195" y="74"/>
                  </a:cubicBezTo>
                  <a:cubicBezTo>
                    <a:pt x="195" y="74"/>
                    <a:pt x="195" y="74"/>
                    <a:pt x="195" y="74"/>
                  </a:cubicBezTo>
                  <a:cubicBezTo>
                    <a:pt x="195" y="74"/>
                    <a:pt x="195" y="74"/>
                    <a:pt x="195" y="74"/>
                  </a:cubicBezTo>
                  <a:cubicBezTo>
                    <a:pt x="195" y="83"/>
                    <a:pt x="195" y="83"/>
                    <a:pt x="195" y="83"/>
                  </a:cubicBezTo>
                  <a:cubicBezTo>
                    <a:pt x="195" y="83"/>
                    <a:pt x="195" y="83"/>
                    <a:pt x="195" y="83"/>
                  </a:cubicBezTo>
                  <a:cubicBezTo>
                    <a:pt x="195" y="83"/>
                    <a:pt x="195" y="83"/>
                    <a:pt x="195" y="83"/>
                  </a:cubicBezTo>
                  <a:cubicBezTo>
                    <a:pt x="195" y="93"/>
                    <a:pt x="195" y="93"/>
                    <a:pt x="195" y="93"/>
                  </a:cubicBezTo>
                  <a:cubicBezTo>
                    <a:pt x="195" y="93"/>
                    <a:pt x="195" y="93"/>
                    <a:pt x="195" y="93"/>
                  </a:cubicBezTo>
                  <a:cubicBezTo>
                    <a:pt x="195" y="94"/>
                    <a:pt x="195" y="94"/>
                    <a:pt x="195" y="94"/>
                  </a:cubicBezTo>
                  <a:cubicBezTo>
                    <a:pt x="195" y="102"/>
                    <a:pt x="195" y="102"/>
                    <a:pt x="195" y="102"/>
                  </a:cubicBezTo>
                  <a:cubicBezTo>
                    <a:pt x="195" y="102"/>
                    <a:pt x="195" y="102"/>
                    <a:pt x="195" y="102"/>
                  </a:cubicBezTo>
                  <a:cubicBezTo>
                    <a:pt x="195" y="103"/>
                    <a:pt x="195" y="103"/>
                    <a:pt x="195" y="103"/>
                  </a:cubicBezTo>
                  <a:cubicBezTo>
                    <a:pt x="195" y="115"/>
                    <a:pt x="195" y="115"/>
                    <a:pt x="195" y="115"/>
                  </a:cubicBezTo>
                  <a:cubicBezTo>
                    <a:pt x="195" y="115"/>
                    <a:pt x="195" y="115"/>
                    <a:pt x="195" y="115"/>
                  </a:cubicBezTo>
                  <a:cubicBezTo>
                    <a:pt x="195" y="115"/>
                    <a:pt x="195" y="115"/>
                    <a:pt x="195" y="115"/>
                  </a:cubicBezTo>
                  <a:cubicBezTo>
                    <a:pt x="195" y="124"/>
                    <a:pt x="195" y="124"/>
                    <a:pt x="195" y="124"/>
                  </a:cubicBezTo>
                  <a:cubicBezTo>
                    <a:pt x="195" y="124"/>
                    <a:pt x="195" y="124"/>
                    <a:pt x="195" y="124"/>
                  </a:cubicBezTo>
                  <a:cubicBezTo>
                    <a:pt x="195" y="124"/>
                    <a:pt x="195" y="124"/>
                    <a:pt x="195" y="124"/>
                  </a:cubicBezTo>
                  <a:cubicBezTo>
                    <a:pt x="195" y="140"/>
                    <a:pt x="195" y="140"/>
                    <a:pt x="195" y="140"/>
                  </a:cubicBezTo>
                  <a:cubicBezTo>
                    <a:pt x="189" y="140"/>
                    <a:pt x="189" y="140"/>
                    <a:pt x="189" y="140"/>
                  </a:cubicBezTo>
                  <a:lnTo>
                    <a:pt x="189" y="49"/>
                  </a:lnTo>
                  <a:close/>
                  <a:moveTo>
                    <a:pt x="197" y="125"/>
                  </a:moveTo>
                  <a:cubicBezTo>
                    <a:pt x="206" y="125"/>
                    <a:pt x="206" y="125"/>
                    <a:pt x="206" y="125"/>
                  </a:cubicBezTo>
                  <a:cubicBezTo>
                    <a:pt x="206" y="140"/>
                    <a:pt x="206" y="140"/>
                    <a:pt x="206" y="140"/>
                  </a:cubicBezTo>
                  <a:cubicBezTo>
                    <a:pt x="197" y="140"/>
                    <a:pt x="197" y="140"/>
                    <a:pt x="197" y="140"/>
                  </a:cubicBezTo>
                  <a:lnTo>
                    <a:pt x="197" y="125"/>
                  </a:lnTo>
                  <a:close/>
                  <a:moveTo>
                    <a:pt x="208" y="49"/>
                  </a:moveTo>
                  <a:cubicBezTo>
                    <a:pt x="214" y="49"/>
                    <a:pt x="214" y="49"/>
                    <a:pt x="214" y="49"/>
                  </a:cubicBezTo>
                  <a:cubicBezTo>
                    <a:pt x="214" y="140"/>
                    <a:pt x="214" y="140"/>
                    <a:pt x="214" y="140"/>
                  </a:cubicBezTo>
                  <a:cubicBezTo>
                    <a:pt x="208" y="140"/>
                    <a:pt x="208" y="140"/>
                    <a:pt x="208" y="140"/>
                  </a:cubicBezTo>
                  <a:lnTo>
                    <a:pt x="208" y="49"/>
                  </a:lnTo>
                  <a:close/>
                  <a:moveTo>
                    <a:pt x="214" y="42"/>
                  </a:moveTo>
                  <a:cubicBezTo>
                    <a:pt x="189" y="42"/>
                    <a:pt x="189" y="42"/>
                    <a:pt x="189" y="42"/>
                  </a:cubicBezTo>
                  <a:cubicBezTo>
                    <a:pt x="189" y="33"/>
                    <a:pt x="189" y="33"/>
                    <a:pt x="189" y="33"/>
                  </a:cubicBezTo>
                  <a:cubicBezTo>
                    <a:pt x="214" y="33"/>
                    <a:pt x="214" y="33"/>
                    <a:pt x="214" y="33"/>
                  </a:cubicBezTo>
                  <a:lnTo>
                    <a:pt x="214" y="42"/>
                  </a:lnTo>
                  <a:close/>
                  <a:moveTo>
                    <a:pt x="189" y="142"/>
                  </a:moveTo>
                  <a:cubicBezTo>
                    <a:pt x="214" y="142"/>
                    <a:pt x="214" y="142"/>
                    <a:pt x="214" y="142"/>
                  </a:cubicBezTo>
                  <a:cubicBezTo>
                    <a:pt x="214" y="145"/>
                    <a:pt x="214" y="145"/>
                    <a:pt x="214" y="145"/>
                  </a:cubicBezTo>
                  <a:cubicBezTo>
                    <a:pt x="189" y="145"/>
                    <a:pt x="189" y="145"/>
                    <a:pt x="189" y="145"/>
                  </a:cubicBezTo>
                  <a:lnTo>
                    <a:pt x="189" y="142"/>
                  </a:lnTo>
                  <a:close/>
                  <a:moveTo>
                    <a:pt x="216" y="33"/>
                  </a:moveTo>
                  <a:cubicBezTo>
                    <a:pt x="225" y="33"/>
                    <a:pt x="225" y="33"/>
                    <a:pt x="225" y="33"/>
                  </a:cubicBezTo>
                  <a:cubicBezTo>
                    <a:pt x="225" y="179"/>
                    <a:pt x="225" y="179"/>
                    <a:pt x="225" y="179"/>
                  </a:cubicBezTo>
                  <a:cubicBezTo>
                    <a:pt x="216" y="179"/>
                    <a:pt x="216" y="179"/>
                    <a:pt x="216" y="179"/>
                  </a:cubicBezTo>
                  <a:lnTo>
                    <a:pt x="216" y="33"/>
                  </a:lnTo>
                  <a:close/>
                  <a:moveTo>
                    <a:pt x="227" y="119"/>
                  </a:moveTo>
                  <a:cubicBezTo>
                    <a:pt x="382" y="119"/>
                    <a:pt x="382" y="119"/>
                    <a:pt x="382" y="119"/>
                  </a:cubicBezTo>
                  <a:cubicBezTo>
                    <a:pt x="382" y="179"/>
                    <a:pt x="382" y="179"/>
                    <a:pt x="382" y="179"/>
                  </a:cubicBezTo>
                  <a:cubicBezTo>
                    <a:pt x="227" y="179"/>
                    <a:pt x="227" y="179"/>
                    <a:pt x="227" y="179"/>
                  </a:cubicBezTo>
                  <a:lnTo>
                    <a:pt x="227" y="119"/>
                  </a:lnTo>
                  <a:close/>
                  <a:moveTo>
                    <a:pt x="382" y="117"/>
                  </a:moveTo>
                  <a:cubicBezTo>
                    <a:pt x="227" y="117"/>
                    <a:pt x="227" y="117"/>
                    <a:pt x="227" y="117"/>
                  </a:cubicBezTo>
                  <a:cubicBezTo>
                    <a:pt x="227" y="115"/>
                    <a:pt x="227" y="115"/>
                    <a:pt x="227" y="115"/>
                  </a:cubicBezTo>
                  <a:cubicBezTo>
                    <a:pt x="382" y="115"/>
                    <a:pt x="382" y="115"/>
                    <a:pt x="382" y="115"/>
                  </a:cubicBezTo>
                  <a:lnTo>
                    <a:pt x="382" y="117"/>
                  </a:lnTo>
                  <a:close/>
                  <a:moveTo>
                    <a:pt x="384" y="113"/>
                  </a:moveTo>
                  <a:cubicBezTo>
                    <a:pt x="227" y="113"/>
                    <a:pt x="227" y="113"/>
                    <a:pt x="227" y="113"/>
                  </a:cubicBezTo>
                  <a:cubicBezTo>
                    <a:pt x="227" y="72"/>
                    <a:pt x="227" y="72"/>
                    <a:pt x="227" y="72"/>
                  </a:cubicBezTo>
                  <a:cubicBezTo>
                    <a:pt x="227" y="72"/>
                    <a:pt x="227" y="72"/>
                    <a:pt x="227" y="72"/>
                  </a:cubicBezTo>
                  <a:cubicBezTo>
                    <a:pt x="314" y="72"/>
                    <a:pt x="314" y="72"/>
                    <a:pt x="314" y="72"/>
                  </a:cubicBezTo>
                  <a:cubicBezTo>
                    <a:pt x="336" y="92"/>
                    <a:pt x="336" y="92"/>
                    <a:pt x="336" y="92"/>
                  </a:cubicBezTo>
                  <a:cubicBezTo>
                    <a:pt x="337" y="92"/>
                    <a:pt x="337" y="92"/>
                    <a:pt x="337" y="92"/>
                  </a:cubicBezTo>
                  <a:cubicBezTo>
                    <a:pt x="394" y="107"/>
                    <a:pt x="394" y="107"/>
                    <a:pt x="394" y="107"/>
                  </a:cubicBezTo>
                  <a:lnTo>
                    <a:pt x="384" y="113"/>
                  </a:lnTo>
                  <a:close/>
                  <a:moveTo>
                    <a:pt x="310" y="67"/>
                  </a:moveTo>
                  <a:cubicBezTo>
                    <a:pt x="310" y="67"/>
                    <a:pt x="310" y="67"/>
                    <a:pt x="310" y="67"/>
                  </a:cubicBezTo>
                  <a:cubicBezTo>
                    <a:pt x="314" y="66"/>
                    <a:pt x="314" y="66"/>
                    <a:pt x="314" y="66"/>
                  </a:cubicBezTo>
                  <a:cubicBezTo>
                    <a:pt x="340" y="89"/>
                    <a:pt x="340" y="89"/>
                    <a:pt x="340" y="89"/>
                  </a:cubicBezTo>
                  <a:cubicBezTo>
                    <a:pt x="340" y="89"/>
                    <a:pt x="340" y="89"/>
                    <a:pt x="341" y="89"/>
                  </a:cubicBezTo>
                  <a:cubicBezTo>
                    <a:pt x="400" y="104"/>
                    <a:pt x="400" y="104"/>
                    <a:pt x="400" y="104"/>
                  </a:cubicBezTo>
                  <a:cubicBezTo>
                    <a:pt x="397" y="105"/>
                    <a:pt x="397" y="105"/>
                    <a:pt x="397" y="105"/>
                  </a:cubicBezTo>
                  <a:cubicBezTo>
                    <a:pt x="397" y="105"/>
                    <a:pt x="397" y="105"/>
                    <a:pt x="397" y="105"/>
                  </a:cubicBezTo>
                  <a:cubicBezTo>
                    <a:pt x="338" y="90"/>
                    <a:pt x="338" y="90"/>
                    <a:pt x="338" y="90"/>
                  </a:cubicBezTo>
                  <a:cubicBezTo>
                    <a:pt x="315" y="70"/>
                    <a:pt x="315" y="70"/>
                    <a:pt x="315" y="70"/>
                  </a:cubicBezTo>
                  <a:cubicBezTo>
                    <a:pt x="315" y="70"/>
                    <a:pt x="315" y="70"/>
                    <a:pt x="314" y="70"/>
                  </a:cubicBezTo>
                  <a:cubicBezTo>
                    <a:pt x="227" y="70"/>
                    <a:pt x="227" y="70"/>
                    <a:pt x="227" y="70"/>
                  </a:cubicBezTo>
                  <a:cubicBezTo>
                    <a:pt x="227" y="70"/>
                    <a:pt x="227" y="70"/>
                    <a:pt x="227" y="70"/>
                  </a:cubicBezTo>
                  <a:cubicBezTo>
                    <a:pt x="227" y="67"/>
                    <a:pt x="227" y="67"/>
                    <a:pt x="227" y="67"/>
                  </a:cubicBezTo>
                  <a:lnTo>
                    <a:pt x="310" y="67"/>
                  </a:lnTo>
                  <a:close/>
                  <a:moveTo>
                    <a:pt x="62" y="89"/>
                  </a:moveTo>
                  <a:cubicBezTo>
                    <a:pt x="63" y="89"/>
                    <a:pt x="63" y="89"/>
                    <a:pt x="63" y="89"/>
                  </a:cubicBezTo>
                  <a:cubicBezTo>
                    <a:pt x="89" y="66"/>
                    <a:pt x="89" y="66"/>
                    <a:pt x="89" y="66"/>
                  </a:cubicBezTo>
                  <a:cubicBezTo>
                    <a:pt x="93" y="67"/>
                    <a:pt x="93" y="67"/>
                    <a:pt x="93" y="67"/>
                  </a:cubicBezTo>
                  <a:cubicBezTo>
                    <a:pt x="93" y="67"/>
                    <a:pt x="93" y="67"/>
                    <a:pt x="93" y="67"/>
                  </a:cubicBezTo>
                  <a:cubicBezTo>
                    <a:pt x="176" y="67"/>
                    <a:pt x="176" y="67"/>
                    <a:pt x="176" y="67"/>
                  </a:cubicBezTo>
                  <a:cubicBezTo>
                    <a:pt x="176" y="70"/>
                    <a:pt x="176" y="70"/>
                    <a:pt x="176" y="70"/>
                  </a:cubicBezTo>
                  <a:cubicBezTo>
                    <a:pt x="88" y="70"/>
                    <a:pt x="88" y="70"/>
                    <a:pt x="88" y="70"/>
                  </a:cubicBezTo>
                  <a:cubicBezTo>
                    <a:pt x="88" y="70"/>
                    <a:pt x="88" y="70"/>
                    <a:pt x="88" y="70"/>
                  </a:cubicBezTo>
                  <a:cubicBezTo>
                    <a:pt x="65" y="90"/>
                    <a:pt x="65" y="90"/>
                    <a:pt x="65" y="90"/>
                  </a:cubicBezTo>
                  <a:cubicBezTo>
                    <a:pt x="6" y="105"/>
                    <a:pt x="6" y="105"/>
                    <a:pt x="6" y="105"/>
                  </a:cubicBezTo>
                  <a:cubicBezTo>
                    <a:pt x="6" y="105"/>
                    <a:pt x="6" y="105"/>
                    <a:pt x="6" y="105"/>
                  </a:cubicBezTo>
                  <a:cubicBezTo>
                    <a:pt x="3" y="104"/>
                    <a:pt x="3" y="104"/>
                    <a:pt x="3" y="104"/>
                  </a:cubicBezTo>
                  <a:lnTo>
                    <a:pt x="62" y="89"/>
                  </a:lnTo>
                  <a:close/>
                  <a:moveTo>
                    <a:pt x="8" y="107"/>
                  </a:moveTo>
                  <a:cubicBezTo>
                    <a:pt x="66" y="92"/>
                    <a:pt x="66" y="92"/>
                    <a:pt x="66" y="92"/>
                  </a:cubicBezTo>
                  <a:cubicBezTo>
                    <a:pt x="66" y="92"/>
                    <a:pt x="66" y="92"/>
                    <a:pt x="66" y="92"/>
                  </a:cubicBezTo>
                  <a:cubicBezTo>
                    <a:pt x="89" y="72"/>
                    <a:pt x="89" y="72"/>
                    <a:pt x="89" y="72"/>
                  </a:cubicBezTo>
                  <a:cubicBezTo>
                    <a:pt x="176" y="72"/>
                    <a:pt x="176" y="72"/>
                    <a:pt x="176" y="72"/>
                  </a:cubicBezTo>
                  <a:cubicBezTo>
                    <a:pt x="176" y="113"/>
                    <a:pt x="176" y="113"/>
                    <a:pt x="176" y="113"/>
                  </a:cubicBezTo>
                  <a:cubicBezTo>
                    <a:pt x="19" y="113"/>
                    <a:pt x="19" y="113"/>
                    <a:pt x="19" y="113"/>
                  </a:cubicBezTo>
                  <a:lnTo>
                    <a:pt x="8" y="107"/>
                  </a:lnTo>
                  <a:close/>
                  <a:moveTo>
                    <a:pt x="176" y="115"/>
                  </a:moveTo>
                  <a:cubicBezTo>
                    <a:pt x="176" y="117"/>
                    <a:pt x="176" y="117"/>
                    <a:pt x="176" y="117"/>
                  </a:cubicBezTo>
                  <a:cubicBezTo>
                    <a:pt x="21" y="117"/>
                    <a:pt x="21" y="117"/>
                    <a:pt x="21" y="117"/>
                  </a:cubicBezTo>
                  <a:cubicBezTo>
                    <a:pt x="21" y="115"/>
                    <a:pt x="21" y="115"/>
                    <a:pt x="21" y="115"/>
                  </a:cubicBezTo>
                  <a:lnTo>
                    <a:pt x="176" y="115"/>
                  </a:lnTo>
                  <a:close/>
                  <a:moveTo>
                    <a:pt x="21" y="119"/>
                  </a:moveTo>
                  <a:cubicBezTo>
                    <a:pt x="176" y="119"/>
                    <a:pt x="176" y="119"/>
                    <a:pt x="176" y="119"/>
                  </a:cubicBezTo>
                  <a:cubicBezTo>
                    <a:pt x="176" y="179"/>
                    <a:pt x="176" y="179"/>
                    <a:pt x="176" y="179"/>
                  </a:cubicBezTo>
                  <a:cubicBezTo>
                    <a:pt x="21" y="179"/>
                    <a:pt x="21" y="179"/>
                    <a:pt x="21" y="179"/>
                  </a:cubicBezTo>
                  <a:lnTo>
                    <a:pt x="21" y="119"/>
                  </a:lnTo>
                  <a:close/>
                  <a:moveTo>
                    <a:pt x="189" y="179"/>
                  </a:moveTo>
                  <a:cubicBezTo>
                    <a:pt x="189" y="147"/>
                    <a:pt x="189" y="147"/>
                    <a:pt x="189" y="147"/>
                  </a:cubicBezTo>
                  <a:cubicBezTo>
                    <a:pt x="214" y="147"/>
                    <a:pt x="214" y="147"/>
                    <a:pt x="214" y="147"/>
                  </a:cubicBezTo>
                  <a:cubicBezTo>
                    <a:pt x="214" y="179"/>
                    <a:pt x="214" y="179"/>
                    <a:pt x="214" y="179"/>
                  </a:cubicBezTo>
                  <a:lnTo>
                    <a:pt x="189"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4" name="Freeform 234"/>
            <p:cNvSpPr/>
            <p:nvPr userDrawn="1"/>
          </p:nvSpPr>
          <p:spPr bwMode="auto">
            <a:xfrm>
              <a:off x="6034088" y="3622675"/>
              <a:ext cx="96838" cy="92075"/>
            </a:xfrm>
            <a:custGeom>
              <a:avLst/>
              <a:gdLst>
                <a:gd name="T0" fmla="*/ 39 w 61"/>
                <a:gd name="T1" fmla="*/ 22 h 58"/>
                <a:gd name="T2" fmla="*/ 30 w 61"/>
                <a:gd name="T3" fmla="*/ 0 h 58"/>
                <a:gd name="T4" fmla="*/ 22 w 61"/>
                <a:gd name="T5" fmla="*/ 22 h 58"/>
                <a:gd name="T6" fmla="*/ 0 w 61"/>
                <a:gd name="T7" fmla="*/ 22 h 58"/>
                <a:gd name="T8" fmla="*/ 17 w 61"/>
                <a:gd name="T9" fmla="*/ 36 h 58"/>
                <a:gd name="T10" fmla="*/ 13 w 61"/>
                <a:gd name="T11" fmla="*/ 58 h 58"/>
                <a:gd name="T12" fmla="*/ 30 w 61"/>
                <a:gd name="T13" fmla="*/ 44 h 58"/>
                <a:gd name="T14" fmla="*/ 48 w 61"/>
                <a:gd name="T15" fmla="*/ 58 h 58"/>
                <a:gd name="T16" fmla="*/ 43 w 61"/>
                <a:gd name="T17" fmla="*/ 36 h 58"/>
                <a:gd name="T18" fmla="*/ 61 w 61"/>
                <a:gd name="T19" fmla="*/ 22 h 58"/>
                <a:gd name="T20" fmla="*/ 39 w 61"/>
                <a:gd name="T21" fmla="*/ 2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58">
                  <a:moveTo>
                    <a:pt x="39" y="22"/>
                  </a:moveTo>
                  <a:lnTo>
                    <a:pt x="30" y="0"/>
                  </a:lnTo>
                  <a:lnTo>
                    <a:pt x="22" y="22"/>
                  </a:lnTo>
                  <a:lnTo>
                    <a:pt x="0" y="22"/>
                  </a:lnTo>
                  <a:lnTo>
                    <a:pt x="17" y="36"/>
                  </a:lnTo>
                  <a:lnTo>
                    <a:pt x="13" y="58"/>
                  </a:lnTo>
                  <a:lnTo>
                    <a:pt x="30" y="44"/>
                  </a:lnTo>
                  <a:lnTo>
                    <a:pt x="48" y="58"/>
                  </a:lnTo>
                  <a:lnTo>
                    <a:pt x="43" y="36"/>
                  </a:lnTo>
                  <a:lnTo>
                    <a:pt x="61" y="22"/>
                  </a:lnTo>
                  <a:lnTo>
                    <a:pt x="39"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5" name="Freeform 235"/>
            <p:cNvSpPr/>
            <p:nvPr userDrawn="1"/>
          </p:nvSpPr>
          <p:spPr bwMode="auto">
            <a:xfrm>
              <a:off x="6034088" y="4630738"/>
              <a:ext cx="14288"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6" name="Freeform 236"/>
            <p:cNvSpPr/>
            <p:nvPr userDrawn="1"/>
          </p:nvSpPr>
          <p:spPr bwMode="auto">
            <a:xfrm>
              <a:off x="6110288"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7" name="Freeform 237"/>
            <p:cNvSpPr/>
            <p:nvPr userDrawn="1"/>
          </p:nvSpPr>
          <p:spPr bwMode="auto">
            <a:xfrm>
              <a:off x="6069013"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1" y="0"/>
                    <a:pt x="0" y="0"/>
                    <a:pt x="0" y="1"/>
                  </a:cubicBezTo>
                  <a:cubicBezTo>
                    <a:pt x="0" y="24"/>
                    <a:pt x="0" y="24"/>
                    <a:pt x="0" y="24"/>
                  </a:cubicBezTo>
                  <a:cubicBezTo>
                    <a:pt x="0" y="25"/>
                    <a:pt x="1"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8" name="Freeform 238"/>
            <p:cNvSpPr/>
            <p:nvPr userDrawn="1"/>
          </p:nvSpPr>
          <p:spPr bwMode="auto">
            <a:xfrm>
              <a:off x="6040438"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2" y="6"/>
                    <a:pt x="2" y="6"/>
                    <a:pt x="2" y="5"/>
                  </a:cubicBezTo>
                  <a:cubicBezTo>
                    <a:pt x="2" y="1"/>
                    <a:pt x="2" y="1"/>
                    <a:pt x="2" y="1"/>
                  </a:cubicBezTo>
                  <a:cubicBezTo>
                    <a:pt x="2" y="0"/>
                    <a:pt x="2" y="0"/>
                    <a:pt x="1" y="0"/>
                  </a:cubicBezTo>
                  <a:cubicBezTo>
                    <a:pt x="1" y="0"/>
                    <a:pt x="0" y="0"/>
                    <a:pt x="0" y="1"/>
                  </a:cubicBezTo>
                  <a:cubicBezTo>
                    <a:pt x="0" y="5"/>
                    <a:pt x="0" y="5"/>
                    <a:pt x="0" y="5"/>
                  </a:cubicBezTo>
                  <a:cubicBezTo>
                    <a:pt x="0" y="6"/>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9" name="Freeform 239"/>
            <p:cNvSpPr/>
            <p:nvPr userDrawn="1"/>
          </p:nvSpPr>
          <p:spPr bwMode="auto">
            <a:xfrm>
              <a:off x="6102350"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1" y="6"/>
                    <a:pt x="2" y="6"/>
                    <a:pt x="2" y="5"/>
                  </a:cubicBezTo>
                  <a:cubicBezTo>
                    <a:pt x="2" y="1"/>
                    <a:pt x="2" y="1"/>
                    <a:pt x="2" y="1"/>
                  </a:cubicBezTo>
                  <a:cubicBezTo>
                    <a:pt x="2" y="0"/>
                    <a:pt x="1" y="0"/>
                    <a:pt x="1" y="0"/>
                  </a:cubicBezTo>
                  <a:cubicBezTo>
                    <a:pt x="0" y="0"/>
                    <a:pt x="0" y="0"/>
                    <a:pt x="0" y="1"/>
                  </a:cubicBezTo>
                  <a:cubicBezTo>
                    <a:pt x="0" y="5"/>
                    <a:pt x="0" y="5"/>
                    <a:pt x="0" y="5"/>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0" name="Freeform 240"/>
            <p:cNvSpPr/>
            <p:nvPr userDrawn="1"/>
          </p:nvSpPr>
          <p:spPr bwMode="auto">
            <a:xfrm>
              <a:off x="580548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1" name="Freeform 241"/>
            <p:cNvSpPr/>
            <p:nvPr userDrawn="1"/>
          </p:nvSpPr>
          <p:spPr bwMode="auto">
            <a:xfrm>
              <a:off x="5702300"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2" name="Freeform 242"/>
            <p:cNvSpPr/>
            <p:nvPr userDrawn="1"/>
          </p:nvSpPr>
          <p:spPr bwMode="auto">
            <a:xfrm>
              <a:off x="559911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 name="Freeform 243"/>
            <p:cNvSpPr/>
            <p:nvPr userDrawn="1"/>
          </p:nvSpPr>
          <p:spPr bwMode="auto">
            <a:xfrm>
              <a:off x="549433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 name="Freeform 244"/>
            <p:cNvSpPr/>
            <p:nvPr userDrawn="1"/>
          </p:nvSpPr>
          <p:spPr bwMode="auto">
            <a:xfrm>
              <a:off x="5391150"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45"/>
            <p:cNvSpPr/>
            <p:nvPr userDrawn="1"/>
          </p:nvSpPr>
          <p:spPr bwMode="auto">
            <a:xfrm>
              <a:off x="528796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46"/>
            <p:cNvSpPr/>
            <p:nvPr userDrawn="1"/>
          </p:nvSpPr>
          <p:spPr bwMode="auto">
            <a:xfrm>
              <a:off x="5183188"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47"/>
            <p:cNvSpPr/>
            <p:nvPr userDrawn="1"/>
          </p:nvSpPr>
          <p:spPr bwMode="auto">
            <a:xfrm>
              <a:off x="50800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48"/>
            <p:cNvSpPr/>
            <p:nvPr userDrawn="1"/>
          </p:nvSpPr>
          <p:spPr bwMode="auto">
            <a:xfrm>
              <a:off x="497681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49"/>
            <p:cNvSpPr/>
            <p:nvPr userDrawn="1"/>
          </p:nvSpPr>
          <p:spPr bwMode="auto">
            <a:xfrm>
              <a:off x="4879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250"/>
            <p:cNvSpPr/>
            <p:nvPr userDrawn="1"/>
          </p:nvSpPr>
          <p:spPr bwMode="auto">
            <a:xfrm>
              <a:off x="580548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51"/>
            <p:cNvSpPr/>
            <p:nvPr userDrawn="1"/>
          </p:nvSpPr>
          <p:spPr bwMode="auto">
            <a:xfrm>
              <a:off x="5702300"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52"/>
            <p:cNvSpPr/>
            <p:nvPr userDrawn="1"/>
          </p:nvSpPr>
          <p:spPr bwMode="auto">
            <a:xfrm>
              <a:off x="559911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53"/>
            <p:cNvSpPr/>
            <p:nvPr userDrawn="1"/>
          </p:nvSpPr>
          <p:spPr bwMode="auto">
            <a:xfrm>
              <a:off x="549433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254"/>
            <p:cNvSpPr/>
            <p:nvPr userDrawn="1"/>
          </p:nvSpPr>
          <p:spPr bwMode="auto">
            <a:xfrm>
              <a:off x="5391150"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255"/>
            <p:cNvSpPr/>
            <p:nvPr userDrawn="1"/>
          </p:nvSpPr>
          <p:spPr bwMode="auto">
            <a:xfrm>
              <a:off x="528796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256"/>
            <p:cNvSpPr/>
            <p:nvPr userDrawn="1"/>
          </p:nvSpPr>
          <p:spPr bwMode="auto">
            <a:xfrm>
              <a:off x="5183188"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257"/>
            <p:cNvSpPr/>
            <p:nvPr userDrawn="1"/>
          </p:nvSpPr>
          <p:spPr bwMode="auto">
            <a:xfrm>
              <a:off x="50800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258"/>
            <p:cNvSpPr/>
            <p:nvPr userDrawn="1"/>
          </p:nvSpPr>
          <p:spPr bwMode="auto">
            <a:xfrm>
              <a:off x="497681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259"/>
            <p:cNvSpPr/>
            <p:nvPr userDrawn="1"/>
          </p:nvSpPr>
          <p:spPr bwMode="auto">
            <a:xfrm>
              <a:off x="4879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260"/>
            <p:cNvSpPr/>
            <p:nvPr userDrawn="1"/>
          </p:nvSpPr>
          <p:spPr bwMode="auto">
            <a:xfrm>
              <a:off x="72231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261"/>
            <p:cNvSpPr/>
            <p:nvPr userDrawn="1"/>
          </p:nvSpPr>
          <p:spPr bwMode="auto">
            <a:xfrm>
              <a:off x="7118350" y="4435475"/>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262"/>
            <p:cNvSpPr/>
            <p:nvPr userDrawn="1"/>
          </p:nvSpPr>
          <p:spPr bwMode="auto">
            <a:xfrm>
              <a:off x="701516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263"/>
            <p:cNvSpPr/>
            <p:nvPr userDrawn="1"/>
          </p:nvSpPr>
          <p:spPr bwMode="auto">
            <a:xfrm>
              <a:off x="6911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264"/>
            <p:cNvSpPr/>
            <p:nvPr userDrawn="1"/>
          </p:nvSpPr>
          <p:spPr bwMode="auto">
            <a:xfrm>
              <a:off x="68072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265"/>
            <p:cNvSpPr/>
            <p:nvPr userDrawn="1"/>
          </p:nvSpPr>
          <p:spPr bwMode="auto">
            <a:xfrm>
              <a:off x="670401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66"/>
            <p:cNvSpPr/>
            <p:nvPr userDrawn="1"/>
          </p:nvSpPr>
          <p:spPr bwMode="auto">
            <a:xfrm>
              <a:off x="6600825"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267"/>
            <p:cNvSpPr/>
            <p:nvPr userDrawn="1"/>
          </p:nvSpPr>
          <p:spPr bwMode="auto">
            <a:xfrm>
              <a:off x="6497638"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268"/>
            <p:cNvSpPr/>
            <p:nvPr userDrawn="1"/>
          </p:nvSpPr>
          <p:spPr bwMode="auto">
            <a:xfrm>
              <a:off x="639286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269"/>
            <p:cNvSpPr/>
            <p:nvPr userDrawn="1"/>
          </p:nvSpPr>
          <p:spPr bwMode="auto">
            <a:xfrm>
              <a:off x="62960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270"/>
            <p:cNvSpPr/>
            <p:nvPr userDrawn="1"/>
          </p:nvSpPr>
          <p:spPr bwMode="auto">
            <a:xfrm>
              <a:off x="72231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271"/>
            <p:cNvSpPr/>
            <p:nvPr userDrawn="1"/>
          </p:nvSpPr>
          <p:spPr bwMode="auto">
            <a:xfrm>
              <a:off x="7118350" y="4603750"/>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272"/>
            <p:cNvSpPr/>
            <p:nvPr userDrawn="1"/>
          </p:nvSpPr>
          <p:spPr bwMode="auto">
            <a:xfrm>
              <a:off x="701516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273"/>
            <p:cNvSpPr/>
            <p:nvPr userDrawn="1"/>
          </p:nvSpPr>
          <p:spPr bwMode="auto">
            <a:xfrm>
              <a:off x="6911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274"/>
            <p:cNvSpPr/>
            <p:nvPr userDrawn="1"/>
          </p:nvSpPr>
          <p:spPr bwMode="auto">
            <a:xfrm>
              <a:off x="68072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275"/>
            <p:cNvSpPr/>
            <p:nvPr userDrawn="1"/>
          </p:nvSpPr>
          <p:spPr bwMode="auto">
            <a:xfrm>
              <a:off x="670401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276"/>
            <p:cNvSpPr/>
            <p:nvPr userDrawn="1"/>
          </p:nvSpPr>
          <p:spPr bwMode="auto">
            <a:xfrm>
              <a:off x="6600825"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277"/>
            <p:cNvSpPr/>
            <p:nvPr userDrawn="1"/>
          </p:nvSpPr>
          <p:spPr bwMode="auto">
            <a:xfrm>
              <a:off x="6497638"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278"/>
            <p:cNvSpPr/>
            <p:nvPr userDrawn="1"/>
          </p:nvSpPr>
          <p:spPr bwMode="auto">
            <a:xfrm>
              <a:off x="639286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279"/>
            <p:cNvSpPr/>
            <p:nvPr userDrawn="1"/>
          </p:nvSpPr>
          <p:spPr bwMode="auto">
            <a:xfrm>
              <a:off x="62960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280"/>
            <p:cNvSpPr>
              <a:spLocks noEditPoints="1"/>
            </p:cNvSpPr>
            <p:nvPr userDrawn="1"/>
          </p:nvSpPr>
          <p:spPr bwMode="auto">
            <a:xfrm>
              <a:off x="2101850" y="4162425"/>
              <a:ext cx="2170113" cy="679450"/>
            </a:xfrm>
            <a:custGeom>
              <a:avLst/>
              <a:gdLst>
                <a:gd name="T0" fmla="*/ 164 w 314"/>
                <a:gd name="T1" fmla="*/ 68 h 97"/>
                <a:gd name="T2" fmla="*/ 111 w 314"/>
                <a:gd name="T3" fmla="*/ 20 h 97"/>
                <a:gd name="T4" fmla="*/ 83 w 314"/>
                <a:gd name="T5" fmla="*/ 60 h 97"/>
                <a:gd name="T6" fmla="*/ 64 w 314"/>
                <a:gd name="T7" fmla="*/ 72 h 97"/>
                <a:gd name="T8" fmla="*/ 44 w 314"/>
                <a:gd name="T9" fmla="*/ 60 h 97"/>
                <a:gd name="T10" fmla="*/ 36 w 314"/>
                <a:gd name="T11" fmla="*/ 60 h 97"/>
                <a:gd name="T12" fmla="*/ 21 w 314"/>
                <a:gd name="T13" fmla="*/ 79 h 97"/>
                <a:gd name="T14" fmla="*/ 113 w 314"/>
                <a:gd name="T15" fmla="*/ 87 h 97"/>
                <a:gd name="T16" fmla="*/ 163 w 314"/>
                <a:gd name="T17" fmla="*/ 86 h 97"/>
                <a:gd name="T18" fmla="*/ 261 w 314"/>
                <a:gd name="T19" fmla="*/ 40 h 97"/>
                <a:gd name="T20" fmla="*/ 261 w 314"/>
                <a:gd name="T21" fmla="*/ 59 h 97"/>
                <a:gd name="T22" fmla="*/ 261 w 314"/>
                <a:gd name="T23" fmla="*/ 87 h 97"/>
                <a:gd name="T24" fmla="*/ 313 w 314"/>
                <a:gd name="T25" fmla="*/ 97 h 97"/>
                <a:gd name="T26" fmla="*/ 73 w 314"/>
                <a:gd name="T27" fmla="*/ 95 h 97"/>
                <a:gd name="T28" fmla="*/ 67 w 314"/>
                <a:gd name="T29" fmla="*/ 77 h 97"/>
                <a:gd name="T30" fmla="*/ 84 w 314"/>
                <a:gd name="T31" fmla="*/ 58 h 97"/>
                <a:gd name="T32" fmla="*/ 75 w 314"/>
                <a:gd name="T33" fmla="*/ 94 h 97"/>
                <a:gd name="T34" fmla="*/ 48 w 314"/>
                <a:gd name="T35" fmla="*/ 58 h 97"/>
                <a:gd name="T36" fmla="*/ 62 w 314"/>
                <a:gd name="T37" fmla="*/ 73 h 97"/>
                <a:gd name="T38" fmla="*/ 39 w 314"/>
                <a:gd name="T39" fmla="*/ 74 h 97"/>
                <a:gd name="T40" fmla="*/ 22 w 314"/>
                <a:gd name="T41" fmla="*/ 64 h 97"/>
                <a:gd name="T42" fmla="*/ 32 w 314"/>
                <a:gd name="T43" fmla="*/ 64 h 97"/>
                <a:gd name="T44" fmla="*/ 23 w 314"/>
                <a:gd name="T45" fmla="*/ 77 h 97"/>
                <a:gd name="T46" fmla="*/ 28 w 314"/>
                <a:gd name="T47" fmla="*/ 95 h 97"/>
                <a:gd name="T48" fmla="*/ 132 w 314"/>
                <a:gd name="T49" fmla="*/ 53 h 97"/>
                <a:gd name="T50" fmla="*/ 144 w 314"/>
                <a:gd name="T51" fmla="*/ 63 h 97"/>
                <a:gd name="T52" fmla="*/ 113 w 314"/>
                <a:gd name="T53" fmla="*/ 43 h 97"/>
                <a:gd name="T54" fmla="*/ 145 w 314"/>
                <a:gd name="T55" fmla="*/ 32 h 97"/>
                <a:gd name="T56" fmla="*/ 163 w 314"/>
                <a:gd name="T57" fmla="*/ 37 h 97"/>
                <a:gd name="T58" fmla="*/ 163 w 314"/>
                <a:gd name="T59" fmla="*/ 45 h 97"/>
                <a:gd name="T60" fmla="*/ 113 w 314"/>
                <a:gd name="T61" fmla="*/ 30 h 97"/>
                <a:gd name="T62" fmla="*/ 154 w 314"/>
                <a:gd name="T63" fmla="*/ 68 h 97"/>
                <a:gd name="T64" fmla="*/ 163 w 314"/>
                <a:gd name="T65" fmla="*/ 20 h 97"/>
                <a:gd name="T66" fmla="*/ 113 w 314"/>
                <a:gd name="T67" fmla="*/ 79 h 97"/>
                <a:gd name="T68" fmla="*/ 113 w 314"/>
                <a:gd name="T69" fmla="*/ 79 h 97"/>
                <a:gd name="T70" fmla="*/ 287 w 314"/>
                <a:gd name="T71" fmla="*/ 48 h 97"/>
                <a:gd name="T72" fmla="*/ 288 w 314"/>
                <a:gd name="T73" fmla="*/ 41 h 97"/>
                <a:gd name="T74" fmla="*/ 312 w 314"/>
                <a:gd name="T75" fmla="*/ 41 h 97"/>
                <a:gd name="T76" fmla="*/ 288 w 314"/>
                <a:gd name="T77" fmla="*/ 60 h 97"/>
                <a:gd name="T78" fmla="*/ 297 w 314"/>
                <a:gd name="T79" fmla="*/ 60 h 97"/>
                <a:gd name="T80" fmla="*/ 272 w 314"/>
                <a:gd name="T81" fmla="*/ 67 h 97"/>
                <a:gd name="T82" fmla="*/ 272 w 314"/>
                <a:gd name="T83" fmla="*/ 69 h 97"/>
                <a:gd name="T84" fmla="*/ 288 w 314"/>
                <a:gd name="T85" fmla="*/ 69 h 97"/>
                <a:gd name="T86" fmla="*/ 304 w 314"/>
                <a:gd name="T87" fmla="*/ 77 h 97"/>
                <a:gd name="T88" fmla="*/ 305 w 314"/>
                <a:gd name="T89" fmla="*/ 69 h 97"/>
                <a:gd name="T90" fmla="*/ 305 w 314"/>
                <a:gd name="T91" fmla="*/ 50 h 97"/>
                <a:gd name="T92" fmla="*/ 304 w 314"/>
                <a:gd name="T93" fmla="*/ 50 h 97"/>
                <a:gd name="T94" fmla="*/ 287 w 314"/>
                <a:gd name="T95" fmla="*/ 58 h 97"/>
                <a:gd name="T96" fmla="*/ 272 w 314"/>
                <a:gd name="T97" fmla="*/ 50 h 97"/>
                <a:gd name="T98" fmla="*/ 270 w 314"/>
                <a:gd name="T99" fmla="*/ 58 h 97"/>
                <a:gd name="T100" fmla="*/ 270 w 314"/>
                <a:gd name="T101" fmla="*/ 77 h 97"/>
                <a:gd name="T102" fmla="*/ 263 w 314"/>
                <a:gd name="T103" fmla="*/ 79 h 97"/>
                <a:gd name="T104" fmla="*/ 280 w 314"/>
                <a:gd name="T105" fmla="*/ 79 h 97"/>
                <a:gd name="T106" fmla="*/ 295 w 314"/>
                <a:gd name="T107" fmla="*/ 86 h 97"/>
                <a:gd name="T108" fmla="*/ 297 w 314"/>
                <a:gd name="T109" fmla="*/ 79 h 97"/>
                <a:gd name="T110" fmla="*/ 263 w 314"/>
                <a:gd name="T111" fmla="*/ 48 h 97"/>
                <a:gd name="T112" fmla="*/ 263 w 314"/>
                <a:gd name="T113" fmla="*/ 95 h 97"/>
                <a:gd name="T114" fmla="*/ 280 w 314"/>
                <a:gd name="T115" fmla="*/ 88 h 97"/>
                <a:gd name="T116" fmla="*/ 295 w 314"/>
                <a:gd name="T117" fmla="*/ 95 h 97"/>
                <a:gd name="T118" fmla="*/ 297 w 314"/>
                <a:gd name="T119" fmla="*/ 88 h 97"/>
                <a:gd name="T120" fmla="*/ 312 w 314"/>
                <a:gd name="T121" fmla="*/ 39 h 97"/>
                <a:gd name="T122" fmla="*/ 288 w 314"/>
                <a:gd name="T123" fmla="*/ 39 h 97"/>
                <a:gd name="T124" fmla="*/ 271 w 314"/>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4" h="97">
                  <a:moveTo>
                    <a:pt x="263" y="1"/>
                  </a:moveTo>
                  <a:cubicBezTo>
                    <a:pt x="263" y="0"/>
                    <a:pt x="262" y="0"/>
                    <a:pt x="262" y="1"/>
                  </a:cubicBezTo>
                  <a:cubicBezTo>
                    <a:pt x="173" y="63"/>
                    <a:pt x="173" y="63"/>
                    <a:pt x="173" y="63"/>
                  </a:cubicBezTo>
                  <a:cubicBezTo>
                    <a:pt x="172" y="63"/>
                    <a:pt x="172" y="63"/>
                    <a:pt x="172" y="64"/>
                  </a:cubicBezTo>
                  <a:cubicBezTo>
                    <a:pt x="172" y="84"/>
                    <a:pt x="172" y="84"/>
                    <a:pt x="172" y="84"/>
                  </a:cubicBezTo>
                  <a:cubicBezTo>
                    <a:pt x="164" y="84"/>
                    <a:pt x="164" y="84"/>
                    <a:pt x="164" y="84"/>
                  </a:cubicBezTo>
                  <a:cubicBezTo>
                    <a:pt x="164" y="68"/>
                    <a:pt x="164" y="68"/>
                    <a:pt x="164" y="68"/>
                  </a:cubicBezTo>
                  <a:cubicBezTo>
                    <a:pt x="164" y="68"/>
                    <a:pt x="164" y="68"/>
                    <a:pt x="164" y="68"/>
                  </a:cubicBezTo>
                  <a:cubicBezTo>
                    <a:pt x="164" y="19"/>
                    <a:pt x="164" y="19"/>
                    <a:pt x="164" y="19"/>
                  </a:cubicBezTo>
                  <a:cubicBezTo>
                    <a:pt x="164" y="19"/>
                    <a:pt x="164" y="18"/>
                    <a:pt x="164" y="18"/>
                  </a:cubicBezTo>
                  <a:cubicBezTo>
                    <a:pt x="146" y="7"/>
                    <a:pt x="146" y="7"/>
                    <a:pt x="146" y="7"/>
                  </a:cubicBezTo>
                  <a:cubicBezTo>
                    <a:pt x="145" y="7"/>
                    <a:pt x="145" y="7"/>
                    <a:pt x="145" y="7"/>
                  </a:cubicBezTo>
                  <a:cubicBezTo>
                    <a:pt x="112" y="19"/>
                    <a:pt x="112" y="19"/>
                    <a:pt x="112" y="19"/>
                  </a:cubicBezTo>
                  <a:cubicBezTo>
                    <a:pt x="111" y="19"/>
                    <a:pt x="111" y="20"/>
                    <a:pt x="111" y="20"/>
                  </a:cubicBezTo>
                  <a:cubicBezTo>
                    <a:pt x="111" y="95"/>
                    <a:pt x="111" y="95"/>
                    <a:pt x="111" y="95"/>
                  </a:cubicBezTo>
                  <a:cubicBezTo>
                    <a:pt x="80" y="95"/>
                    <a:pt x="80" y="95"/>
                    <a:pt x="80" y="95"/>
                  </a:cubicBezTo>
                  <a:cubicBezTo>
                    <a:pt x="80" y="79"/>
                    <a:pt x="80" y="79"/>
                    <a:pt x="80" y="79"/>
                  </a:cubicBezTo>
                  <a:cubicBezTo>
                    <a:pt x="96" y="79"/>
                    <a:pt x="96" y="79"/>
                    <a:pt x="96" y="79"/>
                  </a:cubicBezTo>
                  <a:cubicBezTo>
                    <a:pt x="83" y="66"/>
                    <a:pt x="83" y="66"/>
                    <a:pt x="83" y="66"/>
                  </a:cubicBezTo>
                  <a:cubicBezTo>
                    <a:pt x="89" y="66"/>
                    <a:pt x="89" y="66"/>
                    <a:pt x="89" y="66"/>
                  </a:cubicBezTo>
                  <a:cubicBezTo>
                    <a:pt x="83" y="60"/>
                    <a:pt x="83" y="60"/>
                    <a:pt x="83" y="60"/>
                  </a:cubicBezTo>
                  <a:cubicBezTo>
                    <a:pt x="89" y="60"/>
                    <a:pt x="89" y="60"/>
                    <a:pt x="89" y="60"/>
                  </a:cubicBezTo>
                  <a:cubicBezTo>
                    <a:pt x="76" y="48"/>
                    <a:pt x="76" y="48"/>
                    <a:pt x="76" y="48"/>
                  </a:cubicBezTo>
                  <a:cubicBezTo>
                    <a:pt x="64" y="60"/>
                    <a:pt x="64" y="60"/>
                    <a:pt x="64" y="60"/>
                  </a:cubicBezTo>
                  <a:cubicBezTo>
                    <a:pt x="70" y="60"/>
                    <a:pt x="70" y="60"/>
                    <a:pt x="70" y="60"/>
                  </a:cubicBezTo>
                  <a:cubicBezTo>
                    <a:pt x="64" y="66"/>
                    <a:pt x="64" y="66"/>
                    <a:pt x="64" y="66"/>
                  </a:cubicBezTo>
                  <a:cubicBezTo>
                    <a:pt x="70" y="66"/>
                    <a:pt x="70" y="66"/>
                    <a:pt x="70" y="66"/>
                  </a:cubicBezTo>
                  <a:cubicBezTo>
                    <a:pt x="64" y="72"/>
                    <a:pt x="64" y="72"/>
                    <a:pt x="64" y="72"/>
                  </a:cubicBezTo>
                  <a:cubicBezTo>
                    <a:pt x="58" y="66"/>
                    <a:pt x="58" y="66"/>
                    <a:pt x="58" y="66"/>
                  </a:cubicBezTo>
                  <a:cubicBezTo>
                    <a:pt x="63" y="66"/>
                    <a:pt x="63" y="66"/>
                    <a:pt x="63" y="66"/>
                  </a:cubicBezTo>
                  <a:cubicBezTo>
                    <a:pt x="58" y="60"/>
                    <a:pt x="58" y="60"/>
                    <a:pt x="58" y="60"/>
                  </a:cubicBezTo>
                  <a:cubicBezTo>
                    <a:pt x="63" y="60"/>
                    <a:pt x="63" y="60"/>
                    <a:pt x="63" y="60"/>
                  </a:cubicBezTo>
                  <a:cubicBezTo>
                    <a:pt x="51" y="48"/>
                    <a:pt x="51" y="48"/>
                    <a:pt x="51" y="48"/>
                  </a:cubicBezTo>
                  <a:cubicBezTo>
                    <a:pt x="39" y="60"/>
                    <a:pt x="39" y="60"/>
                    <a:pt x="39" y="60"/>
                  </a:cubicBezTo>
                  <a:cubicBezTo>
                    <a:pt x="44" y="60"/>
                    <a:pt x="44" y="60"/>
                    <a:pt x="44" y="60"/>
                  </a:cubicBezTo>
                  <a:cubicBezTo>
                    <a:pt x="39" y="66"/>
                    <a:pt x="39" y="66"/>
                    <a:pt x="39" y="66"/>
                  </a:cubicBezTo>
                  <a:cubicBezTo>
                    <a:pt x="44" y="66"/>
                    <a:pt x="44" y="66"/>
                    <a:pt x="44" y="66"/>
                  </a:cubicBezTo>
                  <a:cubicBezTo>
                    <a:pt x="38" y="72"/>
                    <a:pt x="38" y="72"/>
                    <a:pt x="38" y="72"/>
                  </a:cubicBezTo>
                  <a:cubicBezTo>
                    <a:pt x="31" y="66"/>
                    <a:pt x="31" y="66"/>
                    <a:pt x="31" y="66"/>
                  </a:cubicBezTo>
                  <a:cubicBezTo>
                    <a:pt x="36" y="66"/>
                    <a:pt x="36" y="66"/>
                    <a:pt x="36" y="66"/>
                  </a:cubicBezTo>
                  <a:cubicBezTo>
                    <a:pt x="31" y="60"/>
                    <a:pt x="31" y="60"/>
                    <a:pt x="31" y="60"/>
                  </a:cubicBezTo>
                  <a:cubicBezTo>
                    <a:pt x="36" y="60"/>
                    <a:pt x="36" y="60"/>
                    <a:pt x="36" y="60"/>
                  </a:cubicBezTo>
                  <a:cubicBezTo>
                    <a:pt x="24" y="48"/>
                    <a:pt x="24" y="48"/>
                    <a:pt x="24" y="48"/>
                  </a:cubicBezTo>
                  <a:cubicBezTo>
                    <a:pt x="12" y="60"/>
                    <a:pt x="12" y="60"/>
                    <a:pt x="12" y="60"/>
                  </a:cubicBezTo>
                  <a:cubicBezTo>
                    <a:pt x="17" y="60"/>
                    <a:pt x="17" y="60"/>
                    <a:pt x="17" y="60"/>
                  </a:cubicBezTo>
                  <a:cubicBezTo>
                    <a:pt x="12" y="66"/>
                    <a:pt x="12" y="66"/>
                    <a:pt x="12" y="66"/>
                  </a:cubicBezTo>
                  <a:cubicBezTo>
                    <a:pt x="17" y="66"/>
                    <a:pt x="17" y="66"/>
                    <a:pt x="17" y="66"/>
                  </a:cubicBezTo>
                  <a:cubicBezTo>
                    <a:pt x="4" y="79"/>
                    <a:pt x="4" y="79"/>
                    <a:pt x="4" y="79"/>
                  </a:cubicBezTo>
                  <a:cubicBezTo>
                    <a:pt x="21" y="79"/>
                    <a:pt x="21" y="79"/>
                    <a:pt x="21" y="79"/>
                  </a:cubicBezTo>
                  <a:cubicBezTo>
                    <a:pt x="21" y="95"/>
                    <a:pt x="21" y="95"/>
                    <a:pt x="21" y="95"/>
                  </a:cubicBezTo>
                  <a:cubicBezTo>
                    <a:pt x="1" y="95"/>
                    <a:pt x="1" y="95"/>
                    <a:pt x="1" y="95"/>
                  </a:cubicBezTo>
                  <a:cubicBezTo>
                    <a:pt x="1" y="95"/>
                    <a:pt x="0" y="96"/>
                    <a:pt x="0" y="96"/>
                  </a:cubicBezTo>
                  <a:cubicBezTo>
                    <a:pt x="0" y="97"/>
                    <a:pt x="1" y="97"/>
                    <a:pt x="1" y="97"/>
                  </a:cubicBezTo>
                  <a:cubicBezTo>
                    <a:pt x="112" y="97"/>
                    <a:pt x="112" y="97"/>
                    <a:pt x="112" y="97"/>
                  </a:cubicBezTo>
                  <a:cubicBezTo>
                    <a:pt x="113" y="97"/>
                    <a:pt x="113" y="97"/>
                    <a:pt x="113" y="96"/>
                  </a:cubicBezTo>
                  <a:cubicBezTo>
                    <a:pt x="113" y="87"/>
                    <a:pt x="113" y="87"/>
                    <a:pt x="113" y="87"/>
                  </a:cubicBezTo>
                  <a:cubicBezTo>
                    <a:pt x="143" y="79"/>
                    <a:pt x="143" y="79"/>
                    <a:pt x="143" y="79"/>
                  </a:cubicBezTo>
                  <a:cubicBezTo>
                    <a:pt x="143" y="96"/>
                    <a:pt x="143" y="96"/>
                    <a:pt x="143" y="96"/>
                  </a:cubicBezTo>
                  <a:cubicBezTo>
                    <a:pt x="143" y="97"/>
                    <a:pt x="144" y="97"/>
                    <a:pt x="144" y="97"/>
                  </a:cubicBezTo>
                  <a:cubicBezTo>
                    <a:pt x="145" y="97"/>
                    <a:pt x="145" y="97"/>
                    <a:pt x="145" y="96"/>
                  </a:cubicBezTo>
                  <a:cubicBezTo>
                    <a:pt x="145" y="79"/>
                    <a:pt x="145" y="79"/>
                    <a:pt x="145" y="79"/>
                  </a:cubicBezTo>
                  <a:cubicBezTo>
                    <a:pt x="163" y="86"/>
                    <a:pt x="163" y="86"/>
                    <a:pt x="163" y="86"/>
                  </a:cubicBezTo>
                  <a:cubicBezTo>
                    <a:pt x="163" y="86"/>
                    <a:pt x="163" y="86"/>
                    <a:pt x="163" y="86"/>
                  </a:cubicBezTo>
                  <a:cubicBezTo>
                    <a:pt x="163" y="86"/>
                    <a:pt x="163" y="86"/>
                    <a:pt x="163" y="86"/>
                  </a:cubicBezTo>
                  <a:cubicBezTo>
                    <a:pt x="173" y="86"/>
                    <a:pt x="173" y="86"/>
                    <a:pt x="173" y="86"/>
                  </a:cubicBezTo>
                  <a:cubicBezTo>
                    <a:pt x="174" y="86"/>
                    <a:pt x="174" y="85"/>
                    <a:pt x="174" y="85"/>
                  </a:cubicBezTo>
                  <a:cubicBezTo>
                    <a:pt x="174" y="64"/>
                    <a:pt x="174" y="64"/>
                    <a:pt x="174" y="64"/>
                  </a:cubicBezTo>
                  <a:cubicBezTo>
                    <a:pt x="261" y="4"/>
                    <a:pt x="261" y="4"/>
                    <a:pt x="261" y="4"/>
                  </a:cubicBezTo>
                  <a:cubicBezTo>
                    <a:pt x="261" y="40"/>
                    <a:pt x="261" y="40"/>
                    <a:pt x="261" y="40"/>
                  </a:cubicBezTo>
                  <a:cubicBezTo>
                    <a:pt x="261" y="40"/>
                    <a:pt x="261" y="40"/>
                    <a:pt x="261" y="40"/>
                  </a:cubicBezTo>
                  <a:cubicBezTo>
                    <a:pt x="261" y="40"/>
                    <a:pt x="261" y="40"/>
                    <a:pt x="261" y="40"/>
                  </a:cubicBezTo>
                  <a:cubicBezTo>
                    <a:pt x="261" y="49"/>
                    <a:pt x="261" y="49"/>
                    <a:pt x="261" y="49"/>
                  </a:cubicBezTo>
                  <a:cubicBezTo>
                    <a:pt x="261" y="49"/>
                    <a:pt x="261" y="49"/>
                    <a:pt x="261" y="49"/>
                  </a:cubicBezTo>
                  <a:cubicBezTo>
                    <a:pt x="261" y="49"/>
                    <a:pt x="261" y="49"/>
                    <a:pt x="261" y="50"/>
                  </a:cubicBezTo>
                  <a:cubicBezTo>
                    <a:pt x="261" y="59"/>
                    <a:pt x="261" y="59"/>
                    <a:pt x="261" y="59"/>
                  </a:cubicBezTo>
                  <a:cubicBezTo>
                    <a:pt x="261" y="59"/>
                    <a:pt x="261" y="59"/>
                    <a:pt x="261" y="59"/>
                  </a:cubicBezTo>
                  <a:cubicBezTo>
                    <a:pt x="261" y="59"/>
                    <a:pt x="261" y="59"/>
                    <a:pt x="261" y="59"/>
                  </a:cubicBezTo>
                  <a:cubicBezTo>
                    <a:pt x="261" y="68"/>
                    <a:pt x="261" y="68"/>
                    <a:pt x="261" y="68"/>
                  </a:cubicBezTo>
                  <a:cubicBezTo>
                    <a:pt x="261" y="68"/>
                    <a:pt x="261" y="68"/>
                    <a:pt x="261" y="68"/>
                  </a:cubicBezTo>
                  <a:cubicBezTo>
                    <a:pt x="261" y="68"/>
                    <a:pt x="261" y="68"/>
                    <a:pt x="261" y="68"/>
                  </a:cubicBezTo>
                  <a:cubicBezTo>
                    <a:pt x="261" y="77"/>
                    <a:pt x="261" y="77"/>
                    <a:pt x="261" y="77"/>
                  </a:cubicBezTo>
                  <a:cubicBezTo>
                    <a:pt x="261" y="77"/>
                    <a:pt x="261" y="77"/>
                    <a:pt x="261" y="78"/>
                  </a:cubicBezTo>
                  <a:cubicBezTo>
                    <a:pt x="261" y="78"/>
                    <a:pt x="261" y="78"/>
                    <a:pt x="261" y="78"/>
                  </a:cubicBezTo>
                  <a:cubicBezTo>
                    <a:pt x="261" y="87"/>
                    <a:pt x="261" y="87"/>
                    <a:pt x="261" y="87"/>
                  </a:cubicBezTo>
                  <a:cubicBezTo>
                    <a:pt x="261" y="87"/>
                    <a:pt x="261" y="87"/>
                    <a:pt x="261" y="87"/>
                  </a:cubicBezTo>
                  <a:cubicBezTo>
                    <a:pt x="261" y="87"/>
                    <a:pt x="261" y="87"/>
                    <a:pt x="261" y="87"/>
                  </a:cubicBezTo>
                  <a:cubicBezTo>
                    <a:pt x="261" y="96"/>
                    <a:pt x="261" y="96"/>
                    <a:pt x="261" y="96"/>
                  </a:cubicBezTo>
                  <a:cubicBezTo>
                    <a:pt x="261" y="96"/>
                    <a:pt x="261" y="96"/>
                    <a:pt x="261" y="96"/>
                  </a:cubicBezTo>
                  <a:cubicBezTo>
                    <a:pt x="261" y="97"/>
                    <a:pt x="261" y="97"/>
                    <a:pt x="262" y="97"/>
                  </a:cubicBezTo>
                  <a:cubicBezTo>
                    <a:pt x="312" y="97"/>
                    <a:pt x="312" y="97"/>
                    <a:pt x="312" y="97"/>
                  </a:cubicBezTo>
                  <a:cubicBezTo>
                    <a:pt x="313" y="97"/>
                    <a:pt x="313" y="97"/>
                    <a:pt x="313" y="97"/>
                  </a:cubicBezTo>
                  <a:cubicBezTo>
                    <a:pt x="314" y="96"/>
                    <a:pt x="314" y="96"/>
                    <a:pt x="314" y="96"/>
                  </a:cubicBezTo>
                  <a:cubicBezTo>
                    <a:pt x="314" y="35"/>
                    <a:pt x="314" y="35"/>
                    <a:pt x="314" y="35"/>
                  </a:cubicBezTo>
                  <a:cubicBezTo>
                    <a:pt x="314" y="35"/>
                    <a:pt x="314" y="34"/>
                    <a:pt x="313" y="34"/>
                  </a:cubicBezTo>
                  <a:lnTo>
                    <a:pt x="263" y="1"/>
                  </a:lnTo>
                  <a:close/>
                  <a:moveTo>
                    <a:pt x="71" y="79"/>
                  </a:moveTo>
                  <a:cubicBezTo>
                    <a:pt x="73" y="79"/>
                    <a:pt x="73" y="79"/>
                    <a:pt x="73" y="79"/>
                  </a:cubicBezTo>
                  <a:cubicBezTo>
                    <a:pt x="73" y="95"/>
                    <a:pt x="73" y="95"/>
                    <a:pt x="73" y="95"/>
                  </a:cubicBezTo>
                  <a:cubicBezTo>
                    <a:pt x="54" y="95"/>
                    <a:pt x="54" y="95"/>
                    <a:pt x="54" y="95"/>
                  </a:cubicBezTo>
                  <a:cubicBezTo>
                    <a:pt x="54" y="79"/>
                    <a:pt x="54" y="79"/>
                    <a:pt x="54" y="79"/>
                  </a:cubicBezTo>
                  <a:cubicBezTo>
                    <a:pt x="56" y="79"/>
                    <a:pt x="56" y="79"/>
                    <a:pt x="56" y="79"/>
                  </a:cubicBezTo>
                  <a:lnTo>
                    <a:pt x="71" y="79"/>
                  </a:lnTo>
                  <a:close/>
                  <a:moveTo>
                    <a:pt x="61" y="77"/>
                  </a:moveTo>
                  <a:cubicBezTo>
                    <a:pt x="64" y="74"/>
                    <a:pt x="64" y="74"/>
                    <a:pt x="64" y="74"/>
                  </a:cubicBezTo>
                  <a:cubicBezTo>
                    <a:pt x="67" y="77"/>
                    <a:pt x="67" y="77"/>
                    <a:pt x="67" y="77"/>
                  </a:cubicBezTo>
                  <a:lnTo>
                    <a:pt x="61" y="77"/>
                  </a:lnTo>
                  <a:close/>
                  <a:moveTo>
                    <a:pt x="74" y="64"/>
                  </a:moveTo>
                  <a:cubicBezTo>
                    <a:pt x="69" y="64"/>
                    <a:pt x="69" y="64"/>
                    <a:pt x="69" y="64"/>
                  </a:cubicBezTo>
                  <a:cubicBezTo>
                    <a:pt x="74" y="58"/>
                    <a:pt x="74" y="58"/>
                    <a:pt x="74" y="58"/>
                  </a:cubicBezTo>
                  <a:cubicBezTo>
                    <a:pt x="69" y="58"/>
                    <a:pt x="69" y="58"/>
                    <a:pt x="69" y="58"/>
                  </a:cubicBezTo>
                  <a:cubicBezTo>
                    <a:pt x="76" y="50"/>
                    <a:pt x="76" y="50"/>
                    <a:pt x="76" y="50"/>
                  </a:cubicBezTo>
                  <a:cubicBezTo>
                    <a:pt x="84" y="58"/>
                    <a:pt x="84" y="58"/>
                    <a:pt x="84" y="58"/>
                  </a:cubicBezTo>
                  <a:cubicBezTo>
                    <a:pt x="79" y="58"/>
                    <a:pt x="79" y="58"/>
                    <a:pt x="79" y="58"/>
                  </a:cubicBezTo>
                  <a:cubicBezTo>
                    <a:pt x="84" y="64"/>
                    <a:pt x="84" y="64"/>
                    <a:pt x="84" y="64"/>
                  </a:cubicBezTo>
                  <a:cubicBezTo>
                    <a:pt x="79" y="64"/>
                    <a:pt x="79" y="64"/>
                    <a:pt x="79" y="64"/>
                  </a:cubicBezTo>
                  <a:cubicBezTo>
                    <a:pt x="92" y="77"/>
                    <a:pt x="92" y="77"/>
                    <a:pt x="92" y="77"/>
                  </a:cubicBezTo>
                  <a:cubicBezTo>
                    <a:pt x="78" y="77"/>
                    <a:pt x="78" y="77"/>
                    <a:pt x="78" y="77"/>
                  </a:cubicBezTo>
                  <a:cubicBezTo>
                    <a:pt x="78" y="94"/>
                    <a:pt x="78" y="94"/>
                    <a:pt x="78" y="94"/>
                  </a:cubicBezTo>
                  <a:cubicBezTo>
                    <a:pt x="75" y="94"/>
                    <a:pt x="75" y="94"/>
                    <a:pt x="75" y="94"/>
                  </a:cubicBezTo>
                  <a:cubicBezTo>
                    <a:pt x="75" y="77"/>
                    <a:pt x="75" y="77"/>
                    <a:pt x="75" y="77"/>
                  </a:cubicBezTo>
                  <a:cubicBezTo>
                    <a:pt x="69" y="77"/>
                    <a:pt x="69" y="77"/>
                    <a:pt x="69" y="77"/>
                  </a:cubicBezTo>
                  <a:cubicBezTo>
                    <a:pt x="65" y="73"/>
                    <a:pt x="65" y="73"/>
                    <a:pt x="65" y="73"/>
                  </a:cubicBezTo>
                  <a:lnTo>
                    <a:pt x="74" y="64"/>
                  </a:lnTo>
                  <a:close/>
                  <a:moveTo>
                    <a:pt x="49" y="64"/>
                  </a:moveTo>
                  <a:cubicBezTo>
                    <a:pt x="43" y="64"/>
                    <a:pt x="43" y="64"/>
                    <a:pt x="43" y="64"/>
                  </a:cubicBezTo>
                  <a:cubicBezTo>
                    <a:pt x="48" y="58"/>
                    <a:pt x="48" y="58"/>
                    <a:pt x="48" y="58"/>
                  </a:cubicBezTo>
                  <a:cubicBezTo>
                    <a:pt x="43" y="58"/>
                    <a:pt x="43" y="58"/>
                    <a:pt x="43" y="58"/>
                  </a:cubicBezTo>
                  <a:cubicBezTo>
                    <a:pt x="51" y="50"/>
                    <a:pt x="51" y="50"/>
                    <a:pt x="51" y="50"/>
                  </a:cubicBezTo>
                  <a:cubicBezTo>
                    <a:pt x="59" y="58"/>
                    <a:pt x="59" y="58"/>
                    <a:pt x="59" y="58"/>
                  </a:cubicBezTo>
                  <a:cubicBezTo>
                    <a:pt x="53" y="58"/>
                    <a:pt x="53" y="58"/>
                    <a:pt x="53" y="58"/>
                  </a:cubicBezTo>
                  <a:cubicBezTo>
                    <a:pt x="59" y="64"/>
                    <a:pt x="59" y="64"/>
                    <a:pt x="59" y="64"/>
                  </a:cubicBezTo>
                  <a:cubicBezTo>
                    <a:pt x="54" y="64"/>
                    <a:pt x="54" y="64"/>
                    <a:pt x="54" y="64"/>
                  </a:cubicBezTo>
                  <a:cubicBezTo>
                    <a:pt x="62" y="73"/>
                    <a:pt x="62" y="73"/>
                    <a:pt x="62" y="73"/>
                  </a:cubicBezTo>
                  <a:cubicBezTo>
                    <a:pt x="58" y="77"/>
                    <a:pt x="58" y="77"/>
                    <a:pt x="58" y="77"/>
                  </a:cubicBezTo>
                  <a:cubicBezTo>
                    <a:pt x="52" y="77"/>
                    <a:pt x="52" y="77"/>
                    <a:pt x="52" y="77"/>
                  </a:cubicBezTo>
                  <a:cubicBezTo>
                    <a:pt x="52" y="94"/>
                    <a:pt x="52" y="94"/>
                    <a:pt x="52" y="94"/>
                  </a:cubicBezTo>
                  <a:cubicBezTo>
                    <a:pt x="49" y="94"/>
                    <a:pt x="49" y="94"/>
                    <a:pt x="49" y="94"/>
                  </a:cubicBezTo>
                  <a:cubicBezTo>
                    <a:pt x="49" y="77"/>
                    <a:pt x="49" y="77"/>
                    <a:pt x="49" y="77"/>
                  </a:cubicBezTo>
                  <a:cubicBezTo>
                    <a:pt x="42" y="77"/>
                    <a:pt x="42" y="77"/>
                    <a:pt x="42" y="77"/>
                  </a:cubicBezTo>
                  <a:cubicBezTo>
                    <a:pt x="39" y="74"/>
                    <a:pt x="39" y="74"/>
                    <a:pt x="39" y="74"/>
                  </a:cubicBezTo>
                  <a:lnTo>
                    <a:pt x="49" y="64"/>
                  </a:lnTo>
                  <a:close/>
                  <a:moveTo>
                    <a:pt x="40" y="77"/>
                  </a:moveTo>
                  <a:cubicBezTo>
                    <a:pt x="35" y="77"/>
                    <a:pt x="35" y="77"/>
                    <a:pt x="35" y="77"/>
                  </a:cubicBezTo>
                  <a:cubicBezTo>
                    <a:pt x="38" y="75"/>
                    <a:pt x="38" y="75"/>
                    <a:pt x="38" y="75"/>
                  </a:cubicBezTo>
                  <a:lnTo>
                    <a:pt x="40" y="77"/>
                  </a:lnTo>
                  <a:close/>
                  <a:moveTo>
                    <a:pt x="8" y="77"/>
                  </a:moveTo>
                  <a:cubicBezTo>
                    <a:pt x="22" y="64"/>
                    <a:pt x="22" y="64"/>
                    <a:pt x="22" y="64"/>
                  </a:cubicBezTo>
                  <a:cubicBezTo>
                    <a:pt x="16" y="64"/>
                    <a:pt x="16" y="64"/>
                    <a:pt x="16" y="64"/>
                  </a:cubicBezTo>
                  <a:cubicBezTo>
                    <a:pt x="22" y="58"/>
                    <a:pt x="22" y="58"/>
                    <a:pt x="22" y="58"/>
                  </a:cubicBezTo>
                  <a:cubicBezTo>
                    <a:pt x="16" y="58"/>
                    <a:pt x="16" y="58"/>
                    <a:pt x="16" y="58"/>
                  </a:cubicBezTo>
                  <a:cubicBezTo>
                    <a:pt x="24" y="50"/>
                    <a:pt x="24" y="50"/>
                    <a:pt x="24" y="50"/>
                  </a:cubicBezTo>
                  <a:cubicBezTo>
                    <a:pt x="32" y="58"/>
                    <a:pt x="32" y="58"/>
                    <a:pt x="32" y="58"/>
                  </a:cubicBezTo>
                  <a:cubicBezTo>
                    <a:pt x="27" y="58"/>
                    <a:pt x="27" y="58"/>
                    <a:pt x="27" y="58"/>
                  </a:cubicBezTo>
                  <a:cubicBezTo>
                    <a:pt x="32" y="64"/>
                    <a:pt x="32" y="64"/>
                    <a:pt x="32" y="64"/>
                  </a:cubicBezTo>
                  <a:cubicBezTo>
                    <a:pt x="27" y="64"/>
                    <a:pt x="27" y="64"/>
                    <a:pt x="27" y="64"/>
                  </a:cubicBezTo>
                  <a:cubicBezTo>
                    <a:pt x="36" y="74"/>
                    <a:pt x="36" y="74"/>
                    <a:pt x="36" y="74"/>
                  </a:cubicBezTo>
                  <a:cubicBezTo>
                    <a:pt x="33" y="77"/>
                    <a:pt x="33" y="77"/>
                    <a:pt x="33" y="77"/>
                  </a:cubicBezTo>
                  <a:cubicBezTo>
                    <a:pt x="26" y="77"/>
                    <a:pt x="26" y="77"/>
                    <a:pt x="26" y="77"/>
                  </a:cubicBezTo>
                  <a:cubicBezTo>
                    <a:pt x="26" y="94"/>
                    <a:pt x="26" y="94"/>
                    <a:pt x="26" y="94"/>
                  </a:cubicBezTo>
                  <a:cubicBezTo>
                    <a:pt x="23" y="94"/>
                    <a:pt x="23" y="94"/>
                    <a:pt x="23" y="94"/>
                  </a:cubicBezTo>
                  <a:cubicBezTo>
                    <a:pt x="23" y="77"/>
                    <a:pt x="23" y="77"/>
                    <a:pt x="23" y="77"/>
                  </a:cubicBezTo>
                  <a:lnTo>
                    <a:pt x="8" y="77"/>
                  </a:lnTo>
                  <a:close/>
                  <a:moveTo>
                    <a:pt x="28" y="79"/>
                  </a:moveTo>
                  <a:cubicBezTo>
                    <a:pt x="31" y="79"/>
                    <a:pt x="31" y="79"/>
                    <a:pt x="31" y="79"/>
                  </a:cubicBezTo>
                  <a:cubicBezTo>
                    <a:pt x="44" y="79"/>
                    <a:pt x="44" y="79"/>
                    <a:pt x="44" y="79"/>
                  </a:cubicBezTo>
                  <a:cubicBezTo>
                    <a:pt x="48" y="79"/>
                    <a:pt x="48" y="79"/>
                    <a:pt x="48" y="79"/>
                  </a:cubicBezTo>
                  <a:cubicBezTo>
                    <a:pt x="48" y="95"/>
                    <a:pt x="48" y="95"/>
                    <a:pt x="48" y="95"/>
                  </a:cubicBezTo>
                  <a:cubicBezTo>
                    <a:pt x="28" y="95"/>
                    <a:pt x="28" y="95"/>
                    <a:pt x="28" y="95"/>
                  </a:cubicBezTo>
                  <a:lnTo>
                    <a:pt x="28" y="79"/>
                  </a:lnTo>
                  <a:close/>
                  <a:moveTo>
                    <a:pt x="113" y="45"/>
                  </a:moveTo>
                  <a:cubicBezTo>
                    <a:pt x="129" y="51"/>
                    <a:pt x="129" y="51"/>
                    <a:pt x="129" y="51"/>
                  </a:cubicBezTo>
                  <a:cubicBezTo>
                    <a:pt x="113" y="56"/>
                    <a:pt x="113" y="56"/>
                    <a:pt x="113" y="56"/>
                  </a:cubicBezTo>
                  <a:lnTo>
                    <a:pt x="113" y="45"/>
                  </a:lnTo>
                  <a:close/>
                  <a:moveTo>
                    <a:pt x="113" y="58"/>
                  </a:moveTo>
                  <a:cubicBezTo>
                    <a:pt x="132" y="53"/>
                    <a:pt x="132" y="53"/>
                    <a:pt x="132" y="53"/>
                  </a:cubicBezTo>
                  <a:cubicBezTo>
                    <a:pt x="140" y="56"/>
                    <a:pt x="140" y="56"/>
                    <a:pt x="140" y="56"/>
                  </a:cubicBezTo>
                  <a:cubicBezTo>
                    <a:pt x="113" y="63"/>
                    <a:pt x="113" y="63"/>
                    <a:pt x="113" y="63"/>
                  </a:cubicBezTo>
                  <a:lnTo>
                    <a:pt x="113" y="58"/>
                  </a:lnTo>
                  <a:close/>
                  <a:moveTo>
                    <a:pt x="113" y="65"/>
                  </a:moveTo>
                  <a:cubicBezTo>
                    <a:pt x="142" y="57"/>
                    <a:pt x="142" y="57"/>
                    <a:pt x="142" y="57"/>
                  </a:cubicBezTo>
                  <a:cubicBezTo>
                    <a:pt x="151" y="65"/>
                    <a:pt x="151" y="65"/>
                    <a:pt x="151" y="65"/>
                  </a:cubicBezTo>
                  <a:cubicBezTo>
                    <a:pt x="144" y="63"/>
                    <a:pt x="144" y="63"/>
                    <a:pt x="144" y="63"/>
                  </a:cubicBezTo>
                  <a:cubicBezTo>
                    <a:pt x="144" y="63"/>
                    <a:pt x="144" y="63"/>
                    <a:pt x="144" y="63"/>
                  </a:cubicBezTo>
                  <a:cubicBezTo>
                    <a:pt x="113" y="71"/>
                    <a:pt x="113" y="71"/>
                    <a:pt x="113" y="71"/>
                  </a:cubicBezTo>
                  <a:lnTo>
                    <a:pt x="113" y="65"/>
                  </a:lnTo>
                  <a:close/>
                  <a:moveTo>
                    <a:pt x="143" y="55"/>
                  </a:moveTo>
                  <a:cubicBezTo>
                    <a:pt x="143" y="55"/>
                    <a:pt x="143" y="55"/>
                    <a:pt x="143" y="55"/>
                  </a:cubicBezTo>
                  <a:cubicBezTo>
                    <a:pt x="143" y="55"/>
                    <a:pt x="143" y="55"/>
                    <a:pt x="143" y="55"/>
                  </a:cubicBezTo>
                  <a:cubicBezTo>
                    <a:pt x="113" y="43"/>
                    <a:pt x="113" y="43"/>
                    <a:pt x="113" y="43"/>
                  </a:cubicBezTo>
                  <a:cubicBezTo>
                    <a:pt x="113" y="37"/>
                    <a:pt x="113" y="37"/>
                    <a:pt x="113" y="37"/>
                  </a:cubicBezTo>
                  <a:cubicBezTo>
                    <a:pt x="142" y="50"/>
                    <a:pt x="142" y="50"/>
                    <a:pt x="142" y="50"/>
                  </a:cubicBezTo>
                  <a:cubicBezTo>
                    <a:pt x="163" y="69"/>
                    <a:pt x="163" y="69"/>
                    <a:pt x="163" y="69"/>
                  </a:cubicBezTo>
                  <a:cubicBezTo>
                    <a:pt x="163" y="73"/>
                    <a:pt x="163" y="73"/>
                    <a:pt x="163" y="73"/>
                  </a:cubicBezTo>
                  <a:lnTo>
                    <a:pt x="143" y="55"/>
                  </a:lnTo>
                  <a:close/>
                  <a:moveTo>
                    <a:pt x="163" y="43"/>
                  </a:moveTo>
                  <a:cubicBezTo>
                    <a:pt x="145" y="32"/>
                    <a:pt x="145" y="32"/>
                    <a:pt x="145" y="32"/>
                  </a:cubicBezTo>
                  <a:cubicBezTo>
                    <a:pt x="144" y="32"/>
                    <a:pt x="144" y="32"/>
                    <a:pt x="144" y="32"/>
                  </a:cubicBezTo>
                  <a:cubicBezTo>
                    <a:pt x="122" y="39"/>
                    <a:pt x="122" y="39"/>
                    <a:pt x="122" y="39"/>
                  </a:cubicBezTo>
                  <a:cubicBezTo>
                    <a:pt x="122" y="39"/>
                    <a:pt x="122" y="39"/>
                    <a:pt x="122" y="39"/>
                  </a:cubicBezTo>
                  <a:cubicBezTo>
                    <a:pt x="115" y="36"/>
                    <a:pt x="115" y="36"/>
                    <a:pt x="115" y="36"/>
                  </a:cubicBezTo>
                  <a:cubicBezTo>
                    <a:pt x="144" y="25"/>
                    <a:pt x="144" y="25"/>
                    <a:pt x="144" y="25"/>
                  </a:cubicBezTo>
                  <a:cubicBezTo>
                    <a:pt x="162" y="37"/>
                    <a:pt x="162" y="37"/>
                    <a:pt x="162" y="37"/>
                  </a:cubicBezTo>
                  <a:cubicBezTo>
                    <a:pt x="162" y="37"/>
                    <a:pt x="163" y="37"/>
                    <a:pt x="163" y="37"/>
                  </a:cubicBezTo>
                  <a:lnTo>
                    <a:pt x="163" y="43"/>
                  </a:lnTo>
                  <a:close/>
                  <a:moveTo>
                    <a:pt x="144" y="48"/>
                  </a:moveTo>
                  <a:cubicBezTo>
                    <a:pt x="143" y="48"/>
                    <a:pt x="143" y="48"/>
                    <a:pt x="143" y="48"/>
                  </a:cubicBezTo>
                  <a:cubicBezTo>
                    <a:pt x="125" y="40"/>
                    <a:pt x="125" y="40"/>
                    <a:pt x="125" y="40"/>
                  </a:cubicBezTo>
                  <a:cubicBezTo>
                    <a:pt x="144" y="34"/>
                    <a:pt x="144" y="34"/>
                    <a:pt x="144" y="34"/>
                  </a:cubicBezTo>
                  <a:cubicBezTo>
                    <a:pt x="162" y="45"/>
                    <a:pt x="162" y="45"/>
                    <a:pt x="162" y="45"/>
                  </a:cubicBezTo>
                  <a:cubicBezTo>
                    <a:pt x="162" y="45"/>
                    <a:pt x="163" y="45"/>
                    <a:pt x="163" y="45"/>
                  </a:cubicBezTo>
                  <a:cubicBezTo>
                    <a:pt x="163" y="66"/>
                    <a:pt x="163" y="66"/>
                    <a:pt x="163" y="66"/>
                  </a:cubicBezTo>
                  <a:lnTo>
                    <a:pt x="144" y="48"/>
                  </a:lnTo>
                  <a:close/>
                  <a:moveTo>
                    <a:pt x="163" y="35"/>
                  </a:moveTo>
                  <a:cubicBezTo>
                    <a:pt x="145" y="23"/>
                    <a:pt x="145" y="23"/>
                    <a:pt x="145" y="23"/>
                  </a:cubicBezTo>
                  <a:cubicBezTo>
                    <a:pt x="144" y="23"/>
                    <a:pt x="144" y="23"/>
                    <a:pt x="144" y="23"/>
                  </a:cubicBezTo>
                  <a:cubicBezTo>
                    <a:pt x="113" y="35"/>
                    <a:pt x="113" y="35"/>
                    <a:pt x="113" y="35"/>
                  </a:cubicBezTo>
                  <a:cubicBezTo>
                    <a:pt x="113" y="30"/>
                    <a:pt x="113" y="30"/>
                    <a:pt x="113" y="30"/>
                  </a:cubicBezTo>
                  <a:cubicBezTo>
                    <a:pt x="144" y="18"/>
                    <a:pt x="144" y="18"/>
                    <a:pt x="144" y="18"/>
                  </a:cubicBezTo>
                  <a:cubicBezTo>
                    <a:pt x="162" y="30"/>
                    <a:pt x="162" y="30"/>
                    <a:pt x="162" y="30"/>
                  </a:cubicBezTo>
                  <a:cubicBezTo>
                    <a:pt x="162" y="30"/>
                    <a:pt x="163" y="30"/>
                    <a:pt x="163" y="30"/>
                  </a:cubicBezTo>
                  <a:lnTo>
                    <a:pt x="163" y="35"/>
                  </a:lnTo>
                  <a:close/>
                  <a:moveTo>
                    <a:pt x="113" y="73"/>
                  </a:moveTo>
                  <a:cubicBezTo>
                    <a:pt x="144" y="64"/>
                    <a:pt x="144" y="64"/>
                    <a:pt x="144" y="64"/>
                  </a:cubicBezTo>
                  <a:cubicBezTo>
                    <a:pt x="154" y="68"/>
                    <a:pt x="154" y="68"/>
                    <a:pt x="154" y="68"/>
                  </a:cubicBezTo>
                  <a:cubicBezTo>
                    <a:pt x="162" y="76"/>
                    <a:pt x="162" y="76"/>
                    <a:pt x="162" y="76"/>
                  </a:cubicBezTo>
                  <a:cubicBezTo>
                    <a:pt x="144" y="69"/>
                    <a:pt x="144" y="69"/>
                    <a:pt x="144" y="69"/>
                  </a:cubicBezTo>
                  <a:cubicBezTo>
                    <a:pt x="144" y="69"/>
                    <a:pt x="144" y="69"/>
                    <a:pt x="144" y="69"/>
                  </a:cubicBezTo>
                  <a:cubicBezTo>
                    <a:pt x="113" y="77"/>
                    <a:pt x="113" y="77"/>
                    <a:pt x="113" y="77"/>
                  </a:cubicBezTo>
                  <a:lnTo>
                    <a:pt x="113" y="73"/>
                  </a:lnTo>
                  <a:close/>
                  <a:moveTo>
                    <a:pt x="145" y="9"/>
                  </a:moveTo>
                  <a:cubicBezTo>
                    <a:pt x="163" y="20"/>
                    <a:pt x="163" y="20"/>
                    <a:pt x="163" y="20"/>
                  </a:cubicBezTo>
                  <a:cubicBezTo>
                    <a:pt x="163" y="28"/>
                    <a:pt x="163" y="28"/>
                    <a:pt x="163" y="28"/>
                  </a:cubicBezTo>
                  <a:cubicBezTo>
                    <a:pt x="145" y="17"/>
                    <a:pt x="145" y="17"/>
                    <a:pt x="145" y="17"/>
                  </a:cubicBezTo>
                  <a:cubicBezTo>
                    <a:pt x="144" y="16"/>
                    <a:pt x="144" y="16"/>
                    <a:pt x="144" y="16"/>
                  </a:cubicBezTo>
                  <a:cubicBezTo>
                    <a:pt x="113" y="28"/>
                    <a:pt x="113" y="28"/>
                    <a:pt x="113" y="28"/>
                  </a:cubicBezTo>
                  <a:cubicBezTo>
                    <a:pt x="113" y="21"/>
                    <a:pt x="113" y="21"/>
                    <a:pt x="113" y="21"/>
                  </a:cubicBezTo>
                  <a:lnTo>
                    <a:pt x="145" y="9"/>
                  </a:lnTo>
                  <a:close/>
                  <a:moveTo>
                    <a:pt x="113" y="79"/>
                  </a:moveTo>
                  <a:cubicBezTo>
                    <a:pt x="144" y="71"/>
                    <a:pt x="144" y="71"/>
                    <a:pt x="144" y="71"/>
                  </a:cubicBezTo>
                  <a:cubicBezTo>
                    <a:pt x="163" y="78"/>
                    <a:pt x="163" y="78"/>
                    <a:pt x="163" y="78"/>
                  </a:cubicBezTo>
                  <a:cubicBezTo>
                    <a:pt x="163" y="84"/>
                    <a:pt x="163" y="84"/>
                    <a:pt x="163" y="84"/>
                  </a:cubicBezTo>
                  <a:cubicBezTo>
                    <a:pt x="144" y="77"/>
                    <a:pt x="144" y="77"/>
                    <a:pt x="144" y="77"/>
                  </a:cubicBezTo>
                  <a:cubicBezTo>
                    <a:pt x="144" y="77"/>
                    <a:pt x="144" y="77"/>
                    <a:pt x="144" y="77"/>
                  </a:cubicBezTo>
                  <a:cubicBezTo>
                    <a:pt x="113" y="85"/>
                    <a:pt x="113" y="85"/>
                    <a:pt x="113" y="85"/>
                  </a:cubicBezTo>
                  <a:lnTo>
                    <a:pt x="113" y="79"/>
                  </a:lnTo>
                  <a:close/>
                  <a:moveTo>
                    <a:pt x="278" y="41"/>
                  </a:moveTo>
                  <a:cubicBezTo>
                    <a:pt x="278" y="48"/>
                    <a:pt x="278" y="48"/>
                    <a:pt x="278" y="48"/>
                  </a:cubicBezTo>
                  <a:cubicBezTo>
                    <a:pt x="272" y="48"/>
                    <a:pt x="272" y="48"/>
                    <a:pt x="272" y="48"/>
                  </a:cubicBezTo>
                  <a:cubicBezTo>
                    <a:pt x="272" y="41"/>
                    <a:pt x="272" y="41"/>
                    <a:pt x="272" y="41"/>
                  </a:cubicBezTo>
                  <a:lnTo>
                    <a:pt x="278" y="41"/>
                  </a:lnTo>
                  <a:close/>
                  <a:moveTo>
                    <a:pt x="287" y="41"/>
                  </a:moveTo>
                  <a:cubicBezTo>
                    <a:pt x="287" y="48"/>
                    <a:pt x="287" y="48"/>
                    <a:pt x="287" y="48"/>
                  </a:cubicBezTo>
                  <a:cubicBezTo>
                    <a:pt x="280" y="48"/>
                    <a:pt x="280" y="48"/>
                    <a:pt x="280" y="48"/>
                  </a:cubicBezTo>
                  <a:cubicBezTo>
                    <a:pt x="280" y="41"/>
                    <a:pt x="280" y="41"/>
                    <a:pt x="280" y="41"/>
                  </a:cubicBezTo>
                  <a:lnTo>
                    <a:pt x="287" y="41"/>
                  </a:lnTo>
                  <a:close/>
                  <a:moveTo>
                    <a:pt x="295" y="41"/>
                  </a:moveTo>
                  <a:cubicBezTo>
                    <a:pt x="295" y="48"/>
                    <a:pt x="295" y="48"/>
                    <a:pt x="295" y="48"/>
                  </a:cubicBezTo>
                  <a:cubicBezTo>
                    <a:pt x="288" y="48"/>
                    <a:pt x="288" y="48"/>
                    <a:pt x="288" y="48"/>
                  </a:cubicBezTo>
                  <a:cubicBezTo>
                    <a:pt x="288" y="41"/>
                    <a:pt x="288" y="41"/>
                    <a:pt x="288" y="41"/>
                  </a:cubicBezTo>
                  <a:lnTo>
                    <a:pt x="295" y="41"/>
                  </a:lnTo>
                  <a:close/>
                  <a:moveTo>
                    <a:pt x="304" y="41"/>
                  </a:moveTo>
                  <a:cubicBezTo>
                    <a:pt x="304" y="48"/>
                    <a:pt x="304" y="48"/>
                    <a:pt x="304" y="48"/>
                  </a:cubicBezTo>
                  <a:cubicBezTo>
                    <a:pt x="297" y="48"/>
                    <a:pt x="297" y="48"/>
                    <a:pt x="297" y="48"/>
                  </a:cubicBezTo>
                  <a:cubicBezTo>
                    <a:pt x="297" y="41"/>
                    <a:pt x="297" y="41"/>
                    <a:pt x="297" y="41"/>
                  </a:cubicBezTo>
                  <a:lnTo>
                    <a:pt x="304" y="41"/>
                  </a:lnTo>
                  <a:close/>
                  <a:moveTo>
                    <a:pt x="312" y="41"/>
                  </a:moveTo>
                  <a:cubicBezTo>
                    <a:pt x="312" y="48"/>
                    <a:pt x="312" y="48"/>
                    <a:pt x="312" y="48"/>
                  </a:cubicBezTo>
                  <a:cubicBezTo>
                    <a:pt x="305" y="48"/>
                    <a:pt x="305" y="48"/>
                    <a:pt x="305" y="48"/>
                  </a:cubicBezTo>
                  <a:cubicBezTo>
                    <a:pt x="305" y="41"/>
                    <a:pt x="305" y="41"/>
                    <a:pt x="305" y="41"/>
                  </a:cubicBezTo>
                  <a:lnTo>
                    <a:pt x="312" y="41"/>
                  </a:lnTo>
                  <a:close/>
                  <a:moveTo>
                    <a:pt x="295" y="67"/>
                  </a:moveTo>
                  <a:cubicBezTo>
                    <a:pt x="288" y="67"/>
                    <a:pt x="288" y="67"/>
                    <a:pt x="288" y="67"/>
                  </a:cubicBezTo>
                  <a:cubicBezTo>
                    <a:pt x="288" y="60"/>
                    <a:pt x="288" y="60"/>
                    <a:pt x="288" y="60"/>
                  </a:cubicBezTo>
                  <a:cubicBezTo>
                    <a:pt x="295" y="60"/>
                    <a:pt x="295" y="60"/>
                    <a:pt x="295" y="60"/>
                  </a:cubicBezTo>
                  <a:lnTo>
                    <a:pt x="295" y="67"/>
                  </a:lnTo>
                  <a:close/>
                  <a:moveTo>
                    <a:pt x="297" y="60"/>
                  </a:moveTo>
                  <a:cubicBezTo>
                    <a:pt x="304" y="60"/>
                    <a:pt x="304" y="60"/>
                    <a:pt x="304" y="60"/>
                  </a:cubicBezTo>
                  <a:cubicBezTo>
                    <a:pt x="304" y="67"/>
                    <a:pt x="304" y="67"/>
                    <a:pt x="304" y="67"/>
                  </a:cubicBezTo>
                  <a:cubicBezTo>
                    <a:pt x="297" y="67"/>
                    <a:pt x="297" y="67"/>
                    <a:pt x="297" y="67"/>
                  </a:cubicBezTo>
                  <a:lnTo>
                    <a:pt x="297" y="60"/>
                  </a:lnTo>
                  <a:close/>
                  <a:moveTo>
                    <a:pt x="287" y="67"/>
                  </a:moveTo>
                  <a:cubicBezTo>
                    <a:pt x="280" y="67"/>
                    <a:pt x="280" y="67"/>
                    <a:pt x="280" y="67"/>
                  </a:cubicBezTo>
                  <a:cubicBezTo>
                    <a:pt x="280" y="60"/>
                    <a:pt x="280" y="60"/>
                    <a:pt x="280" y="60"/>
                  </a:cubicBezTo>
                  <a:cubicBezTo>
                    <a:pt x="287" y="60"/>
                    <a:pt x="287" y="60"/>
                    <a:pt x="287" y="60"/>
                  </a:cubicBezTo>
                  <a:lnTo>
                    <a:pt x="287" y="67"/>
                  </a:lnTo>
                  <a:close/>
                  <a:moveTo>
                    <a:pt x="278" y="67"/>
                  </a:moveTo>
                  <a:cubicBezTo>
                    <a:pt x="272" y="67"/>
                    <a:pt x="272" y="67"/>
                    <a:pt x="272" y="67"/>
                  </a:cubicBezTo>
                  <a:cubicBezTo>
                    <a:pt x="272" y="60"/>
                    <a:pt x="272" y="60"/>
                    <a:pt x="272" y="60"/>
                  </a:cubicBezTo>
                  <a:cubicBezTo>
                    <a:pt x="278" y="60"/>
                    <a:pt x="278" y="60"/>
                    <a:pt x="278" y="60"/>
                  </a:cubicBezTo>
                  <a:lnTo>
                    <a:pt x="278" y="67"/>
                  </a:lnTo>
                  <a:close/>
                  <a:moveTo>
                    <a:pt x="278" y="69"/>
                  </a:moveTo>
                  <a:cubicBezTo>
                    <a:pt x="278" y="77"/>
                    <a:pt x="278" y="77"/>
                    <a:pt x="278" y="77"/>
                  </a:cubicBezTo>
                  <a:cubicBezTo>
                    <a:pt x="272" y="77"/>
                    <a:pt x="272" y="77"/>
                    <a:pt x="272" y="77"/>
                  </a:cubicBezTo>
                  <a:cubicBezTo>
                    <a:pt x="272" y="69"/>
                    <a:pt x="272" y="69"/>
                    <a:pt x="272" y="69"/>
                  </a:cubicBezTo>
                  <a:lnTo>
                    <a:pt x="278" y="69"/>
                  </a:lnTo>
                  <a:close/>
                  <a:moveTo>
                    <a:pt x="280" y="69"/>
                  </a:moveTo>
                  <a:cubicBezTo>
                    <a:pt x="287" y="69"/>
                    <a:pt x="287" y="69"/>
                    <a:pt x="287" y="69"/>
                  </a:cubicBezTo>
                  <a:cubicBezTo>
                    <a:pt x="287" y="77"/>
                    <a:pt x="287" y="77"/>
                    <a:pt x="287" y="77"/>
                  </a:cubicBezTo>
                  <a:cubicBezTo>
                    <a:pt x="280" y="77"/>
                    <a:pt x="280" y="77"/>
                    <a:pt x="280" y="77"/>
                  </a:cubicBezTo>
                  <a:lnTo>
                    <a:pt x="280" y="69"/>
                  </a:lnTo>
                  <a:close/>
                  <a:moveTo>
                    <a:pt x="288" y="69"/>
                  </a:moveTo>
                  <a:cubicBezTo>
                    <a:pt x="295" y="69"/>
                    <a:pt x="295" y="69"/>
                    <a:pt x="295" y="69"/>
                  </a:cubicBezTo>
                  <a:cubicBezTo>
                    <a:pt x="295" y="77"/>
                    <a:pt x="295" y="77"/>
                    <a:pt x="295" y="77"/>
                  </a:cubicBezTo>
                  <a:cubicBezTo>
                    <a:pt x="288" y="77"/>
                    <a:pt x="288" y="77"/>
                    <a:pt x="288" y="77"/>
                  </a:cubicBezTo>
                  <a:lnTo>
                    <a:pt x="288" y="69"/>
                  </a:lnTo>
                  <a:close/>
                  <a:moveTo>
                    <a:pt x="297" y="69"/>
                  </a:moveTo>
                  <a:cubicBezTo>
                    <a:pt x="304" y="69"/>
                    <a:pt x="304" y="69"/>
                    <a:pt x="304" y="69"/>
                  </a:cubicBezTo>
                  <a:cubicBezTo>
                    <a:pt x="304" y="77"/>
                    <a:pt x="304" y="77"/>
                    <a:pt x="304" y="77"/>
                  </a:cubicBezTo>
                  <a:cubicBezTo>
                    <a:pt x="297" y="77"/>
                    <a:pt x="297" y="77"/>
                    <a:pt x="297" y="77"/>
                  </a:cubicBezTo>
                  <a:lnTo>
                    <a:pt x="297" y="69"/>
                  </a:lnTo>
                  <a:close/>
                  <a:moveTo>
                    <a:pt x="305" y="69"/>
                  </a:moveTo>
                  <a:cubicBezTo>
                    <a:pt x="312" y="69"/>
                    <a:pt x="312" y="69"/>
                    <a:pt x="312" y="69"/>
                  </a:cubicBezTo>
                  <a:cubicBezTo>
                    <a:pt x="312" y="77"/>
                    <a:pt x="312" y="77"/>
                    <a:pt x="312" y="77"/>
                  </a:cubicBezTo>
                  <a:cubicBezTo>
                    <a:pt x="305" y="77"/>
                    <a:pt x="305" y="77"/>
                    <a:pt x="305" y="77"/>
                  </a:cubicBezTo>
                  <a:lnTo>
                    <a:pt x="305" y="69"/>
                  </a:lnTo>
                  <a:close/>
                  <a:moveTo>
                    <a:pt x="305" y="67"/>
                  </a:moveTo>
                  <a:cubicBezTo>
                    <a:pt x="305" y="60"/>
                    <a:pt x="305" y="60"/>
                    <a:pt x="305" y="60"/>
                  </a:cubicBezTo>
                  <a:cubicBezTo>
                    <a:pt x="312" y="60"/>
                    <a:pt x="312" y="60"/>
                    <a:pt x="312" y="60"/>
                  </a:cubicBezTo>
                  <a:cubicBezTo>
                    <a:pt x="312" y="67"/>
                    <a:pt x="312" y="67"/>
                    <a:pt x="312" y="67"/>
                  </a:cubicBezTo>
                  <a:lnTo>
                    <a:pt x="305" y="67"/>
                  </a:lnTo>
                  <a:close/>
                  <a:moveTo>
                    <a:pt x="305" y="58"/>
                  </a:moveTo>
                  <a:cubicBezTo>
                    <a:pt x="305" y="50"/>
                    <a:pt x="305" y="50"/>
                    <a:pt x="305" y="50"/>
                  </a:cubicBezTo>
                  <a:cubicBezTo>
                    <a:pt x="312" y="50"/>
                    <a:pt x="312" y="50"/>
                    <a:pt x="312" y="50"/>
                  </a:cubicBezTo>
                  <a:cubicBezTo>
                    <a:pt x="312" y="58"/>
                    <a:pt x="312" y="58"/>
                    <a:pt x="312" y="58"/>
                  </a:cubicBezTo>
                  <a:lnTo>
                    <a:pt x="305" y="58"/>
                  </a:lnTo>
                  <a:close/>
                  <a:moveTo>
                    <a:pt x="304" y="58"/>
                  </a:moveTo>
                  <a:cubicBezTo>
                    <a:pt x="297" y="58"/>
                    <a:pt x="297" y="58"/>
                    <a:pt x="297" y="58"/>
                  </a:cubicBezTo>
                  <a:cubicBezTo>
                    <a:pt x="297" y="50"/>
                    <a:pt x="297" y="50"/>
                    <a:pt x="297" y="50"/>
                  </a:cubicBezTo>
                  <a:cubicBezTo>
                    <a:pt x="304" y="50"/>
                    <a:pt x="304" y="50"/>
                    <a:pt x="304" y="50"/>
                  </a:cubicBezTo>
                  <a:lnTo>
                    <a:pt x="304" y="58"/>
                  </a:lnTo>
                  <a:close/>
                  <a:moveTo>
                    <a:pt x="295" y="58"/>
                  </a:moveTo>
                  <a:cubicBezTo>
                    <a:pt x="288" y="58"/>
                    <a:pt x="288" y="58"/>
                    <a:pt x="288" y="58"/>
                  </a:cubicBezTo>
                  <a:cubicBezTo>
                    <a:pt x="288" y="50"/>
                    <a:pt x="288" y="50"/>
                    <a:pt x="288" y="50"/>
                  </a:cubicBezTo>
                  <a:cubicBezTo>
                    <a:pt x="295" y="50"/>
                    <a:pt x="295" y="50"/>
                    <a:pt x="295" y="50"/>
                  </a:cubicBezTo>
                  <a:lnTo>
                    <a:pt x="295" y="58"/>
                  </a:lnTo>
                  <a:close/>
                  <a:moveTo>
                    <a:pt x="287" y="58"/>
                  </a:moveTo>
                  <a:cubicBezTo>
                    <a:pt x="280" y="58"/>
                    <a:pt x="280" y="58"/>
                    <a:pt x="280" y="58"/>
                  </a:cubicBezTo>
                  <a:cubicBezTo>
                    <a:pt x="280" y="50"/>
                    <a:pt x="280" y="50"/>
                    <a:pt x="280" y="50"/>
                  </a:cubicBezTo>
                  <a:cubicBezTo>
                    <a:pt x="287" y="50"/>
                    <a:pt x="287" y="50"/>
                    <a:pt x="287" y="50"/>
                  </a:cubicBezTo>
                  <a:lnTo>
                    <a:pt x="287" y="58"/>
                  </a:lnTo>
                  <a:close/>
                  <a:moveTo>
                    <a:pt x="278" y="58"/>
                  </a:moveTo>
                  <a:cubicBezTo>
                    <a:pt x="272" y="58"/>
                    <a:pt x="272" y="58"/>
                    <a:pt x="272" y="58"/>
                  </a:cubicBezTo>
                  <a:cubicBezTo>
                    <a:pt x="272" y="50"/>
                    <a:pt x="272" y="50"/>
                    <a:pt x="272" y="50"/>
                  </a:cubicBezTo>
                  <a:cubicBezTo>
                    <a:pt x="278" y="50"/>
                    <a:pt x="278" y="50"/>
                    <a:pt x="278" y="50"/>
                  </a:cubicBezTo>
                  <a:lnTo>
                    <a:pt x="278" y="58"/>
                  </a:lnTo>
                  <a:close/>
                  <a:moveTo>
                    <a:pt x="270" y="58"/>
                  </a:moveTo>
                  <a:cubicBezTo>
                    <a:pt x="263" y="58"/>
                    <a:pt x="263" y="58"/>
                    <a:pt x="263" y="58"/>
                  </a:cubicBezTo>
                  <a:cubicBezTo>
                    <a:pt x="263" y="50"/>
                    <a:pt x="263" y="50"/>
                    <a:pt x="263" y="50"/>
                  </a:cubicBezTo>
                  <a:cubicBezTo>
                    <a:pt x="270" y="50"/>
                    <a:pt x="270" y="50"/>
                    <a:pt x="270" y="50"/>
                  </a:cubicBezTo>
                  <a:lnTo>
                    <a:pt x="270" y="58"/>
                  </a:lnTo>
                  <a:close/>
                  <a:moveTo>
                    <a:pt x="270" y="60"/>
                  </a:moveTo>
                  <a:cubicBezTo>
                    <a:pt x="270" y="67"/>
                    <a:pt x="270" y="67"/>
                    <a:pt x="270" y="67"/>
                  </a:cubicBezTo>
                  <a:cubicBezTo>
                    <a:pt x="263" y="67"/>
                    <a:pt x="263" y="67"/>
                    <a:pt x="263" y="67"/>
                  </a:cubicBezTo>
                  <a:cubicBezTo>
                    <a:pt x="263" y="60"/>
                    <a:pt x="263" y="60"/>
                    <a:pt x="263" y="60"/>
                  </a:cubicBezTo>
                  <a:lnTo>
                    <a:pt x="270" y="60"/>
                  </a:lnTo>
                  <a:close/>
                  <a:moveTo>
                    <a:pt x="270" y="69"/>
                  </a:moveTo>
                  <a:cubicBezTo>
                    <a:pt x="270" y="77"/>
                    <a:pt x="270" y="77"/>
                    <a:pt x="270" y="77"/>
                  </a:cubicBezTo>
                  <a:cubicBezTo>
                    <a:pt x="263" y="77"/>
                    <a:pt x="263" y="77"/>
                    <a:pt x="263" y="77"/>
                  </a:cubicBezTo>
                  <a:cubicBezTo>
                    <a:pt x="263" y="69"/>
                    <a:pt x="263" y="69"/>
                    <a:pt x="263" y="69"/>
                  </a:cubicBezTo>
                  <a:lnTo>
                    <a:pt x="270" y="69"/>
                  </a:lnTo>
                  <a:close/>
                  <a:moveTo>
                    <a:pt x="270" y="79"/>
                  </a:moveTo>
                  <a:cubicBezTo>
                    <a:pt x="270" y="86"/>
                    <a:pt x="270" y="86"/>
                    <a:pt x="270" y="86"/>
                  </a:cubicBezTo>
                  <a:cubicBezTo>
                    <a:pt x="263" y="86"/>
                    <a:pt x="263" y="86"/>
                    <a:pt x="263" y="86"/>
                  </a:cubicBezTo>
                  <a:cubicBezTo>
                    <a:pt x="263" y="79"/>
                    <a:pt x="263" y="79"/>
                    <a:pt x="263" y="79"/>
                  </a:cubicBezTo>
                  <a:lnTo>
                    <a:pt x="270" y="79"/>
                  </a:lnTo>
                  <a:close/>
                  <a:moveTo>
                    <a:pt x="272" y="79"/>
                  </a:moveTo>
                  <a:cubicBezTo>
                    <a:pt x="278" y="79"/>
                    <a:pt x="278" y="79"/>
                    <a:pt x="278" y="79"/>
                  </a:cubicBezTo>
                  <a:cubicBezTo>
                    <a:pt x="278" y="86"/>
                    <a:pt x="278" y="86"/>
                    <a:pt x="278" y="86"/>
                  </a:cubicBezTo>
                  <a:cubicBezTo>
                    <a:pt x="272" y="86"/>
                    <a:pt x="272" y="86"/>
                    <a:pt x="272" y="86"/>
                  </a:cubicBezTo>
                  <a:lnTo>
                    <a:pt x="272" y="79"/>
                  </a:lnTo>
                  <a:close/>
                  <a:moveTo>
                    <a:pt x="280" y="79"/>
                  </a:moveTo>
                  <a:cubicBezTo>
                    <a:pt x="287" y="79"/>
                    <a:pt x="287" y="79"/>
                    <a:pt x="287" y="79"/>
                  </a:cubicBezTo>
                  <a:cubicBezTo>
                    <a:pt x="287" y="86"/>
                    <a:pt x="287" y="86"/>
                    <a:pt x="287" y="86"/>
                  </a:cubicBezTo>
                  <a:cubicBezTo>
                    <a:pt x="280" y="86"/>
                    <a:pt x="280" y="86"/>
                    <a:pt x="280" y="86"/>
                  </a:cubicBezTo>
                  <a:lnTo>
                    <a:pt x="280" y="79"/>
                  </a:lnTo>
                  <a:close/>
                  <a:moveTo>
                    <a:pt x="288" y="79"/>
                  </a:moveTo>
                  <a:cubicBezTo>
                    <a:pt x="295" y="79"/>
                    <a:pt x="295" y="79"/>
                    <a:pt x="295" y="79"/>
                  </a:cubicBezTo>
                  <a:cubicBezTo>
                    <a:pt x="295" y="86"/>
                    <a:pt x="295" y="86"/>
                    <a:pt x="295" y="86"/>
                  </a:cubicBezTo>
                  <a:cubicBezTo>
                    <a:pt x="288" y="86"/>
                    <a:pt x="288" y="86"/>
                    <a:pt x="288" y="86"/>
                  </a:cubicBezTo>
                  <a:lnTo>
                    <a:pt x="288" y="79"/>
                  </a:lnTo>
                  <a:close/>
                  <a:moveTo>
                    <a:pt x="297" y="79"/>
                  </a:moveTo>
                  <a:cubicBezTo>
                    <a:pt x="304" y="79"/>
                    <a:pt x="304" y="79"/>
                    <a:pt x="304" y="79"/>
                  </a:cubicBezTo>
                  <a:cubicBezTo>
                    <a:pt x="304" y="86"/>
                    <a:pt x="304" y="86"/>
                    <a:pt x="304" y="86"/>
                  </a:cubicBezTo>
                  <a:cubicBezTo>
                    <a:pt x="297" y="86"/>
                    <a:pt x="297" y="86"/>
                    <a:pt x="297" y="86"/>
                  </a:cubicBezTo>
                  <a:lnTo>
                    <a:pt x="297" y="79"/>
                  </a:lnTo>
                  <a:close/>
                  <a:moveTo>
                    <a:pt x="305" y="79"/>
                  </a:moveTo>
                  <a:cubicBezTo>
                    <a:pt x="312" y="79"/>
                    <a:pt x="312" y="79"/>
                    <a:pt x="312" y="79"/>
                  </a:cubicBezTo>
                  <a:cubicBezTo>
                    <a:pt x="312" y="86"/>
                    <a:pt x="312" y="86"/>
                    <a:pt x="312" y="86"/>
                  </a:cubicBezTo>
                  <a:cubicBezTo>
                    <a:pt x="305" y="86"/>
                    <a:pt x="305" y="86"/>
                    <a:pt x="305" y="86"/>
                  </a:cubicBezTo>
                  <a:lnTo>
                    <a:pt x="305" y="79"/>
                  </a:lnTo>
                  <a:close/>
                  <a:moveTo>
                    <a:pt x="270" y="48"/>
                  </a:moveTo>
                  <a:cubicBezTo>
                    <a:pt x="263" y="48"/>
                    <a:pt x="263" y="48"/>
                    <a:pt x="263" y="48"/>
                  </a:cubicBezTo>
                  <a:cubicBezTo>
                    <a:pt x="263" y="41"/>
                    <a:pt x="263" y="41"/>
                    <a:pt x="263" y="41"/>
                  </a:cubicBezTo>
                  <a:cubicBezTo>
                    <a:pt x="270" y="41"/>
                    <a:pt x="270" y="41"/>
                    <a:pt x="270" y="41"/>
                  </a:cubicBezTo>
                  <a:lnTo>
                    <a:pt x="270" y="48"/>
                  </a:lnTo>
                  <a:close/>
                  <a:moveTo>
                    <a:pt x="263" y="88"/>
                  </a:moveTo>
                  <a:cubicBezTo>
                    <a:pt x="270" y="88"/>
                    <a:pt x="270" y="88"/>
                    <a:pt x="270" y="88"/>
                  </a:cubicBezTo>
                  <a:cubicBezTo>
                    <a:pt x="270" y="95"/>
                    <a:pt x="270" y="95"/>
                    <a:pt x="270" y="95"/>
                  </a:cubicBezTo>
                  <a:cubicBezTo>
                    <a:pt x="263" y="95"/>
                    <a:pt x="263" y="95"/>
                    <a:pt x="263" y="95"/>
                  </a:cubicBezTo>
                  <a:lnTo>
                    <a:pt x="263" y="88"/>
                  </a:lnTo>
                  <a:close/>
                  <a:moveTo>
                    <a:pt x="272" y="88"/>
                  </a:moveTo>
                  <a:cubicBezTo>
                    <a:pt x="278" y="88"/>
                    <a:pt x="278" y="88"/>
                    <a:pt x="278" y="88"/>
                  </a:cubicBezTo>
                  <a:cubicBezTo>
                    <a:pt x="278" y="95"/>
                    <a:pt x="278" y="95"/>
                    <a:pt x="278" y="95"/>
                  </a:cubicBezTo>
                  <a:cubicBezTo>
                    <a:pt x="272" y="95"/>
                    <a:pt x="272" y="95"/>
                    <a:pt x="272" y="95"/>
                  </a:cubicBezTo>
                  <a:lnTo>
                    <a:pt x="272" y="88"/>
                  </a:lnTo>
                  <a:close/>
                  <a:moveTo>
                    <a:pt x="280" y="88"/>
                  </a:moveTo>
                  <a:cubicBezTo>
                    <a:pt x="287" y="88"/>
                    <a:pt x="287" y="88"/>
                    <a:pt x="287" y="88"/>
                  </a:cubicBezTo>
                  <a:cubicBezTo>
                    <a:pt x="287" y="95"/>
                    <a:pt x="287" y="95"/>
                    <a:pt x="287" y="95"/>
                  </a:cubicBezTo>
                  <a:cubicBezTo>
                    <a:pt x="280" y="95"/>
                    <a:pt x="280" y="95"/>
                    <a:pt x="280" y="95"/>
                  </a:cubicBezTo>
                  <a:lnTo>
                    <a:pt x="280" y="88"/>
                  </a:lnTo>
                  <a:close/>
                  <a:moveTo>
                    <a:pt x="288" y="88"/>
                  </a:moveTo>
                  <a:cubicBezTo>
                    <a:pt x="295" y="88"/>
                    <a:pt x="295" y="88"/>
                    <a:pt x="295" y="88"/>
                  </a:cubicBezTo>
                  <a:cubicBezTo>
                    <a:pt x="295" y="95"/>
                    <a:pt x="295" y="95"/>
                    <a:pt x="295" y="95"/>
                  </a:cubicBezTo>
                  <a:cubicBezTo>
                    <a:pt x="288" y="95"/>
                    <a:pt x="288" y="95"/>
                    <a:pt x="288" y="95"/>
                  </a:cubicBezTo>
                  <a:lnTo>
                    <a:pt x="288" y="88"/>
                  </a:lnTo>
                  <a:close/>
                  <a:moveTo>
                    <a:pt x="297" y="88"/>
                  </a:moveTo>
                  <a:cubicBezTo>
                    <a:pt x="304" y="88"/>
                    <a:pt x="304" y="88"/>
                    <a:pt x="304" y="88"/>
                  </a:cubicBezTo>
                  <a:cubicBezTo>
                    <a:pt x="304" y="95"/>
                    <a:pt x="304" y="95"/>
                    <a:pt x="304" y="95"/>
                  </a:cubicBezTo>
                  <a:cubicBezTo>
                    <a:pt x="297" y="95"/>
                    <a:pt x="297" y="95"/>
                    <a:pt x="297" y="95"/>
                  </a:cubicBezTo>
                  <a:lnTo>
                    <a:pt x="297" y="88"/>
                  </a:lnTo>
                  <a:close/>
                  <a:moveTo>
                    <a:pt x="305" y="88"/>
                  </a:moveTo>
                  <a:cubicBezTo>
                    <a:pt x="312" y="88"/>
                    <a:pt x="312" y="88"/>
                    <a:pt x="312" y="88"/>
                  </a:cubicBezTo>
                  <a:cubicBezTo>
                    <a:pt x="312" y="95"/>
                    <a:pt x="312" y="95"/>
                    <a:pt x="312" y="95"/>
                  </a:cubicBezTo>
                  <a:cubicBezTo>
                    <a:pt x="305" y="95"/>
                    <a:pt x="305" y="95"/>
                    <a:pt x="305" y="95"/>
                  </a:cubicBezTo>
                  <a:lnTo>
                    <a:pt x="305" y="88"/>
                  </a:lnTo>
                  <a:close/>
                  <a:moveTo>
                    <a:pt x="312" y="36"/>
                  </a:moveTo>
                  <a:cubicBezTo>
                    <a:pt x="312" y="39"/>
                    <a:pt x="312" y="39"/>
                    <a:pt x="312" y="39"/>
                  </a:cubicBezTo>
                  <a:cubicBezTo>
                    <a:pt x="305" y="39"/>
                    <a:pt x="305" y="39"/>
                    <a:pt x="305" y="39"/>
                  </a:cubicBezTo>
                  <a:cubicBezTo>
                    <a:pt x="305" y="39"/>
                    <a:pt x="304" y="39"/>
                    <a:pt x="304" y="39"/>
                  </a:cubicBezTo>
                  <a:cubicBezTo>
                    <a:pt x="304" y="39"/>
                    <a:pt x="304" y="39"/>
                    <a:pt x="304" y="39"/>
                  </a:cubicBezTo>
                  <a:cubicBezTo>
                    <a:pt x="296" y="39"/>
                    <a:pt x="296" y="39"/>
                    <a:pt x="296" y="39"/>
                  </a:cubicBezTo>
                  <a:cubicBezTo>
                    <a:pt x="296" y="39"/>
                    <a:pt x="296" y="39"/>
                    <a:pt x="296" y="39"/>
                  </a:cubicBezTo>
                  <a:cubicBezTo>
                    <a:pt x="296" y="39"/>
                    <a:pt x="296" y="39"/>
                    <a:pt x="296" y="39"/>
                  </a:cubicBezTo>
                  <a:cubicBezTo>
                    <a:pt x="288" y="39"/>
                    <a:pt x="288" y="39"/>
                    <a:pt x="288" y="39"/>
                  </a:cubicBezTo>
                  <a:cubicBezTo>
                    <a:pt x="288" y="39"/>
                    <a:pt x="288" y="39"/>
                    <a:pt x="288" y="39"/>
                  </a:cubicBezTo>
                  <a:cubicBezTo>
                    <a:pt x="287" y="39"/>
                    <a:pt x="287" y="39"/>
                    <a:pt x="287" y="39"/>
                  </a:cubicBezTo>
                  <a:cubicBezTo>
                    <a:pt x="279" y="39"/>
                    <a:pt x="279" y="39"/>
                    <a:pt x="279" y="39"/>
                  </a:cubicBezTo>
                  <a:cubicBezTo>
                    <a:pt x="279" y="39"/>
                    <a:pt x="279" y="39"/>
                    <a:pt x="279" y="39"/>
                  </a:cubicBezTo>
                  <a:cubicBezTo>
                    <a:pt x="279" y="39"/>
                    <a:pt x="279" y="39"/>
                    <a:pt x="279" y="39"/>
                  </a:cubicBezTo>
                  <a:cubicBezTo>
                    <a:pt x="271" y="39"/>
                    <a:pt x="271" y="39"/>
                    <a:pt x="271" y="39"/>
                  </a:cubicBezTo>
                  <a:cubicBezTo>
                    <a:pt x="271" y="39"/>
                    <a:pt x="271" y="39"/>
                    <a:pt x="271" y="39"/>
                  </a:cubicBezTo>
                  <a:cubicBezTo>
                    <a:pt x="271" y="39"/>
                    <a:pt x="271" y="39"/>
                    <a:pt x="270" y="39"/>
                  </a:cubicBezTo>
                  <a:cubicBezTo>
                    <a:pt x="263" y="39"/>
                    <a:pt x="263" y="39"/>
                    <a:pt x="263" y="39"/>
                  </a:cubicBezTo>
                  <a:cubicBezTo>
                    <a:pt x="263" y="3"/>
                    <a:pt x="263" y="3"/>
                    <a:pt x="263" y="3"/>
                  </a:cubicBezTo>
                  <a:lnTo>
                    <a:pt x="312"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281"/>
            <p:cNvSpPr>
              <a:spLocks noEditPoints="1"/>
            </p:cNvSpPr>
            <p:nvPr userDrawn="1"/>
          </p:nvSpPr>
          <p:spPr bwMode="auto">
            <a:xfrm>
              <a:off x="4313238" y="4302125"/>
              <a:ext cx="434975" cy="531813"/>
            </a:xfrm>
            <a:custGeom>
              <a:avLst/>
              <a:gdLst>
                <a:gd name="T0" fmla="*/ 217 w 274"/>
                <a:gd name="T1" fmla="*/ 119 h 335"/>
                <a:gd name="T2" fmla="*/ 178 w 274"/>
                <a:gd name="T3" fmla="*/ 80 h 335"/>
                <a:gd name="T4" fmla="*/ 217 w 274"/>
                <a:gd name="T5" fmla="*/ 80 h 335"/>
                <a:gd name="T6" fmla="*/ 139 w 274"/>
                <a:gd name="T7" fmla="*/ 0 h 335"/>
                <a:gd name="T8" fmla="*/ 56 w 274"/>
                <a:gd name="T9" fmla="*/ 80 h 335"/>
                <a:gd name="T10" fmla="*/ 96 w 274"/>
                <a:gd name="T11" fmla="*/ 80 h 335"/>
                <a:gd name="T12" fmla="*/ 56 w 274"/>
                <a:gd name="T13" fmla="*/ 119 h 335"/>
                <a:gd name="T14" fmla="*/ 96 w 274"/>
                <a:gd name="T15" fmla="*/ 119 h 335"/>
                <a:gd name="T16" fmla="*/ 0 w 274"/>
                <a:gd name="T17" fmla="*/ 216 h 335"/>
                <a:gd name="T18" fmla="*/ 117 w 274"/>
                <a:gd name="T19" fmla="*/ 216 h 335"/>
                <a:gd name="T20" fmla="*/ 117 w 274"/>
                <a:gd name="T21" fmla="*/ 335 h 335"/>
                <a:gd name="T22" fmla="*/ 156 w 274"/>
                <a:gd name="T23" fmla="*/ 335 h 335"/>
                <a:gd name="T24" fmla="*/ 156 w 274"/>
                <a:gd name="T25" fmla="*/ 216 h 335"/>
                <a:gd name="T26" fmla="*/ 274 w 274"/>
                <a:gd name="T27" fmla="*/ 216 h 335"/>
                <a:gd name="T28" fmla="*/ 183 w 274"/>
                <a:gd name="T29" fmla="*/ 119 h 335"/>
                <a:gd name="T30" fmla="*/ 217 w 274"/>
                <a:gd name="T31" fmla="*/ 119 h 335"/>
                <a:gd name="T32" fmla="*/ 252 w 274"/>
                <a:gd name="T33" fmla="*/ 207 h 335"/>
                <a:gd name="T34" fmla="*/ 152 w 274"/>
                <a:gd name="T35" fmla="*/ 207 h 335"/>
                <a:gd name="T36" fmla="*/ 152 w 274"/>
                <a:gd name="T37" fmla="*/ 331 h 335"/>
                <a:gd name="T38" fmla="*/ 122 w 274"/>
                <a:gd name="T39" fmla="*/ 331 h 335"/>
                <a:gd name="T40" fmla="*/ 122 w 274"/>
                <a:gd name="T41" fmla="*/ 207 h 335"/>
                <a:gd name="T42" fmla="*/ 21 w 274"/>
                <a:gd name="T43" fmla="*/ 207 h 335"/>
                <a:gd name="T44" fmla="*/ 113 w 274"/>
                <a:gd name="T45" fmla="*/ 110 h 335"/>
                <a:gd name="T46" fmla="*/ 78 w 274"/>
                <a:gd name="T47" fmla="*/ 110 h 335"/>
                <a:gd name="T48" fmla="*/ 113 w 274"/>
                <a:gd name="T49" fmla="*/ 75 h 335"/>
                <a:gd name="T50" fmla="*/ 78 w 274"/>
                <a:gd name="T51" fmla="*/ 75 h 335"/>
                <a:gd name="T52" fmla="*/ 139 w 274"/>
                <a:gd name="T53" fmla="*/ 9 h 335"/>
                <a:gd name="T54" fmla="*/ 200 w 274"/>
                <a:gd name="T55" fmla="*/ 75 h 335"/>
                <a:gd name="T56" fmla="*/ 161 w 274"/>
                <a:gd name="T57" fmla="*/ 75 h 335"/>
                <a:gd name="T58" fmla="*/ 200 w 274"/>
                <a:gd name="T59" fmla="*/ 110 h 335"/>
                <a:gd name="T60" fmla="*/ 161 w 274"/>
                <a:gd name="T61" fmla="*/ 110 h 335"/>
                <a:gd name="T62" fmla="*/ 252 w 274"/>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4" h="335">
                  <a:moveTo>
                    <a:pt x="217" y="119"/>
                  </a:moveTo>
                  <a:lnTo>
                    <a:pt x="178" y="80"/>
                  </a:lnTo>
                  <a:lnTo>
                    <a:pt x="217" y="80"/>
                  </a:lnTo>
                  <a:lnTo>
                    <a:pt x="139" y="0"/>
                  </a:lnTo>
                  <a:lnTo>
                    <a:pt x="56" y="80"/>
                  </a:lnTo>
                  <a:lnTo>
                    <a:pt x="96" y="80"/>
                  </a:lnTo>
                  <a:lnTo>
                    <a:pt x="56" y="119"/>
                  </a:lnTo>
                  <a:lnTo>
                    <a:pt x="96" y="119"/>
                  </a:lnTo>
                  <a:lnTo>
                    <a:pt x="0" y="216"/>
                  </a:lnTo>
                  <a:lnTo>
                    <a:pt x="117" y="216"/>
                  </a:lnTo>
                  <a:lnTo>
                    <a:pt x="117" y="335"/>
                  </a:lnTo>
                  <a:lnTo>
                    <a:pt x="156" y="335"/>
                  </a:lnTo>
                  <a:lnTo>
                    <a:pt x="156" y="216"/>
                  </a:lnTo>
                  <a:lnTo>
                    <a:pt x="274" y="216"/>
                  </a:lnTo>
                  <a:lnTo>
                    <a:pt x="183" y="119"/>
                  </a:lnTo>
                  <a:lnTo>
                    <a:pt x="217" y="119"/>
                  </a:lnTo>
                  <a:close/>
                  <a:moveTo>
                    <a:pt x="252" y="207"/>
                  </a:moveTo>
                  <a:lnTo>
                    <a:pt x="152" y="207"/>
                  </a:lnTo>
                  <a:lnTo>
                    <a:pt x="152" y="331"/>
                  </a:lnTo>
                  <a:lnTo>
                    <a:pt x="122" y="331"/>
                  </a:lnTo>
                  <a:lnTo>
                    <a:pt x="122" y="207"/>
                  </a:lnTo>
                  <a:lnTo>
                    <a:pt x="21" y="207"/>
                  </a:lnTo>
                  <a:lnTo>
                    <a:pt x="113" y="110"/>
                  </a:lnTo>
                  <a:lnTo>
                    <a:pt x="78" y="110"/>
                  </a:lnTo>
                  <a:lnTo>
                    <a:pt x="113" y="75"/>
                  </a:lnTo>
                  <a:lnTo>
                    <a:pt x="78" y="75"/>
                  </a:lnTo>
                  <a:lnTo>
                    <a:pt x="139" y="9"/>
                  </a:lnTo>
                  <a:lnTo>
                    <a:pt x="200" y="75"/>
                  </a:lnTo>
                  <a:lnTo>
                    <a:pt x="161" y="75"/>
                  </a:lnTo>
                  <a:lnTo>
                    <a:pt x="200"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282"/>
            <p:cNvSpPr>
              <a:spLocks noEditPoints="1"/>
            </p:cNvSpPr>
            <p:nvPr userDrawn="1"/>
          </p:nvSpPr>
          <p:spPr bwMode="auto">
            <a:xfrm>
              <a:off x="7381875" y="4302125"/>
              <a:ext cx="428625" cy="531813"/>
            </a:xfrm>
            <a:custGeom>
              <a:avLst/>
              <a:gdLst>
                <a:gd name="T0" fmla="*/ 217 w 270"/>
                <a:gd name="T1" fmla="*/ 119 h 335"/>
                <a:gd name="T2" fmla="*/ 178 w 270"/>
                <a:gd name="T3" fmla="*/ 80 h 335"/>
                <a:gd name="T4" fmla="*/ 217 w 270"/>
                <a:gd name="T5" fmla="*/ 80 h 335"/>
                <a:gd name="T6" fmla="*/ 139 w 270"/>
                <a:gd name="T7" fmla="*/ 0 h 335"/>
                <a:gd name="T8" fmla="*/ 56 w 270"/>
                <a:gd name="T9" fmla="*/ 80 h 335"/>
                <a:gd name="T10" fmla="*/ 96 w 270"/>
                <a:gd name="T11" fmla="*/ 80 h 335"/>
                <a:gd name="T12" fmla="*/ 56 w 270"/>
                <a:gd name="T13" fmla="*/ 119 h 335"/>
                <a:gd name="T14" fmla="*/ 96 w 270"/>
                <a:gd name="T15" fmla="*/ 119 h 335"/>
                <a:gd name="T16" fmla="*/ 0 w 270"/>
                <a:gd name="T17" fmla="*/ 216 h 335"/>
                <a:gd name="T18" fmla="*/ 113 w 270"/>
                <a:gd name="T19" fmla="*/ 216 h 335"/>
                <a:gd name="T20" fmla="*/ 113 w 270"/>
                <a:gd name="T21" fmla="*/ 335 h 335"/>
                <a:gd name="T22" fmla="*/ 157 w 270"/>
                <a:gd name="T23" fmla="*/ 335 h 335"/>
                <a:gd name="T24" fmla="*/ 157 w 270"/>
                <a:gd name="T25" fmla="*/ 216 h 335"/>
                <a:gd name="T26" fmla="*/ 270 w 270"/>
                <a:gd name="T27" fmla="*/ 216 h 335"/>
                <a:gd name="T28" fmla="*/ 178 w 270"/>
                <a:gd name="T29" fmla="*/ 119 h 335"/>
                <a:gd name="T30" fmla="*/ 217 w 270"/>
                <a:gd name="T31" fmla="*/ 119 h 335"/>
                <a:gd name="T32" fmla="*/ 252 w 270"/>
                <a:gd name="T33" fmla="*/ 207 h 335"/>
                <a:gd name="T34" fmla="*/ 148 w 270"/>
                <a:gd name="T35" fmla="*/ 207 h 335"/>
                <a:gd name="T36" fmla="*/ 148 w 270"/>
                <a:gd name="T37" fmla="*/ 331 h 335"/>
                <a:gd name="T38" fmla="*/ 122 w 270"/>
                <a:gd name="T39" fmla="*/ 331 h 335"/>
                <a:gd name="T40" fmla="*/ 122 w 270"/>
                <a:gd name="T41" fmla="*/ 207 h 335"/>
                <a:gd name="T42" fmla="*/ 22 w 270"/>
                <a:gd name="T43" fmla="*/ 207 h 335"/>
                <a:gd name="T44" fmla="*/ 113 w 270"/>
                <a:gd name="T45" fmla="*/ 110 h 335"/>
                <a:gd name="T46" fmla="*/ 74 w 270"/>
                <a:gd name="T47" fmla="*/ 110 h 335"/>
                <a:gd name="T48" fmla="*/ 113 w 270"/>
                <a:gd name="T49" fmla="*/ 75 h 335"/>
                <a:gd name="T50" fmla="*/ 74 w 270"/>
                <a:gd name="T51" fmla="*/ 75 h 335"/>
                <a:gd name="T52" fmla="*/ 139 w 270"/>
                <a:gd name="T53" fmla="*/ 9 h 335"/>
                <a:gd name="T54" fmla="*/ 196 w 270"/>
                <a:gd name="T55" fmla="*/ 75 h 335"/>
                <a:gd name="T56" fmla="*/ 161 w 270"/>
                <a:gd name="T57" fmla="*/ 75 h 335"/>
                <a:gd name="T58" fmla="*/ 196 w 270"/>
                <a:gd name="T59" fmla="*/ 110 h 335"/>
                <a:gd name="T60" fmla="*/ 161 w 270"/>
                <a:gd name="T61" fmla="*/ 110 h 335"/>
                <a:gd name="T62" fmla="*/ 252 w 270"/>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0" h="335">
                  <a:moveTo>
                    <a:pt x="217" y="119"/>
                  </a:moveTo>
                  <a:lnTo>
                    <a:pt x="178" y="80"/>
                  </a:lnTo>
                  <a:lnTo>
                    <a:pt x="217" y="80"/>
                  </a:lnTo>
                  <a:lnTo>
                    <a:pt x="139" y="0"/>
                  </a:lnTo>
                  <a:lnTo>
                    <a:pt x="56" y="80"/>
                  </a:lnTo>
                  <a:lnTo>
                    <a:pt x="96" y="80"/>
                  </a:lnTo>
                  <a:lnTo>
                    <a:pt x="56" y="119"/>
                  </a:lnTo>
                  <a:lnTo>
                    <a:pt x="96" y="119"/>
                  </a:lnTo>
                  <a:lnTo>
                    <a:pt x="0" y="216"/>
                  </a:lnTo>
                  <a:lnTo>
                    <a:pt x="113" y="216"/>
                  </a:lnTo>
                  <a:lnTo>
                    <a:pt x="113" y="335"/>
                  </a:lnTo>
                  <a:lnTo>
                    <a:pt x="157" y="335"/>
                  </a:lnTo>
                  <a:lnTo>
                    <a:pt x="157" y="216"/>
                  </a:lnTo>
                  <a:lnTo>
                    <a:pt x="270" y="216"/>
                  </a:lnTo>
                  <a:lnTo>
                    <a:pt x="178" y="119"/>
                  </a:lnTo>
                  <a:lnTo>
                    <a:pt x="217" y="119"/>
                  </a:lnTo>
                  <a:close/>
                  <a:moveTo>
                    <a:pt x="252" y="207"/>
                  </a:moveTo>
                  <a:lnTo>
                    <a:pt x="148" y="207"/>
                  </a:lnTo>
                  <a:lnTo>
                    <a:pt x="148" y="331"/>
                  </a:lnTo>
                  <a:lnTo>
                    <a:pt x="122" y="331"/>
                  </a:lnTo>
                  <a:lnTo>
                    <a:pt x="122" y="207"/>
                  </a:lnTo>
                  <a:lnTo>
                    <a:pt x="22" y="207"/>
                  </a:lnTo>
                  <a:lnTo>
                    <a:pt x="113" y="110"/>
                  </a:lnTo>
                  <a:lnTo>
                    <a:pt x="74" y="110"/>
                  </a:lnTo>
                  <a:lnTo>
                    <a:pt x="113" y="75"/>
                  </a:lnTo>
                  <a:lnTo>
                    <a:pt x="74" y="75"/>
                  </a:lnTo>
                  <a:lnTo>
                    <a:pt x="139" y="9"/>
                  </a:lnTo>
                  <a:lnTo>
                    <a:pt x="196" y="75"/>
                  </a:lnTo>
                  <a:lnTo>
                    <a:pt x="161" y="75"/>
                  </a:lnTo>
                  <a:lnTo>
                    <a:pt x="196"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283"/>
            <p:cNvSpPr>
              <a:spLocks noEditPoints="1"/>
            </p:cNvSpPr>
            <p:nvPr userDrawn="1"/>
          </p:nvSpPr>
          <p:spPr bwMode="auto">
            <a:xfrm>
              <a:off x="11722100" y="4714875"/>
              <a:ext cx="26988" cy="34925"/>
            </a:xfrm>
            <a:custGeom>
              <a:avLst/>
              <a:gdLst>
                <a:gd name="T0" fmla="*/ 2 w 4"/>
                <a:gd name="T1" fmla="*/ 0 h 5"/>
                <a:gd name="T2" fmla="*/ 0 w 4"/>
                <a:gd name="T3" fmla="*/ 1 h 5"/>
                <a:gd name="T4" fmla="*/ 1 w 4"/>
                <a:gd name="T5" fmla="*/ 4 h 5"/>
                <a:gd name="T6" fmla="*/ 2 w 4"/>
                <a:gd name="T7" fmla="*/ 5 h 5"/>
                <a:gd name="T8" fmla="*/ 3 w 4"/>
                <a:gd name="T9" fmla="*/ 4 h 5"/>
                <a:gd name="T10" fmla="*/ 3 w 4"/>
                <a:gd name="T11" fmla="*/ 1 h 5"/>
                <a:gd name="T12" fmla="*/ 2 w 4"/>
                <a:gd name="T13" fmla="*/ 0 h 5"/>
                <a:gd name="T14" fmla="*/ 2 w 4"/>
                <a:gd name="T15" fmla="*/ 4 h 5"/>
                <a:gd name="T16" fmla="*/ 1 w 4"/>
                <a:gd name="T17" fmla="*/ 3 h 5"/>
                <a:gd name="T18" fmla="*/ 1 w 4"/>
                <a:gd name="T19" fmla="*/ 1 h 5"/>
                <a:gd name="T20" fmla="*/ 2 w 4"/>
                <a:gd name="T21" fmla="*/ 1 h 5"/>
                <a:gd name="T22" fmla="*/ 2 w 4"/>
                <a:gd name="T23" fmla="*/ 1 h 5"/>
                <a:gd name="T24" fmla="*/ 2 w 4"/>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0"/>
                  </a:moveTo>
                  <a:cubicBezTo>
                    <a:pt x="1" y="0"/>
                    <a:pt x="1" y="0"/>
                    <a:pt x="0" y="1"/>
                  </a:cubicBezTo>
                  <a:cubicBezTo>
                    <a:pt x="0" y="1"/>
                    <a:pt x="0" y="4"/>
                    <a:pt x="1" y="4"/>
                  </a:cubicBezTo>
                  <a:cubicBezTo>
                    <a:pt x="1" y="4"/>
                    <a:pt x="2" y="5"/>
                    <a:pt x="2" y="5"/>
                  </a:cubicBezTo>
                  <a:cubicBezTo>
                    <a:pt x="2" y="5"/>
                    <a:pt x="2" y="4"/>
                    <a:pt x="3" y="4"/>
                  </a:cubicBezTo>
                  <a:cubicBezTo>
                    <a:pt x="4" y="4"/>
                    <a:pt x="4" y="2"/>
                    <a:pt x="3" y="1"/>
                  </a:cubicBezTo>
                  <a:cubicBezTo>
                    <a:pt x="3" y="0"/>
                    <a:pt x="2" y="0"/>
                    <a:pt x="2" y="0"/>
                  </a:cubicBezTo>
                  <a:close/>
                  <a:moveTo>
                    <a:pt x="2" y="4"/>
                  </a:moveTo>
                  <a:cubicBezTo>
                    <a:pt x="2" y="4"/>
                    <a:pt x="2" y="4"/>
                    <a:pt x="1" y="3"/>
                  </a:cubicBezTo>
                  <a:cubicBezTo>
                    <a:pt x="1" y="3"/>
                    <a:pt x="1" y="2"/>
                    <a:pt x="1" y="1"/>
                  </a:cubicBezTo>
                  <a:cubicBezTo>
                    <a:pt x="1" y="1"/>
                    <a:pt x="1" y="1"/>
                    <a:pt x="2" y="1"/>
                  </a:cubicBezTo>
                  <a:cubicBezTo>
                    <a:pt x="2" y="1"/>
                    <a:pt x="2" y="1"/>
                    <a:pt x="2" y="1"/>
                  </a:cubicBezTo>
                  <a:cubicBezTo>
                    <a:pt x="3" y="2"/>
                    <a:pt x="3"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284"/>
            <p:cNvSpPr>
              <a:spLocks noEditPoints="1"/>
            </p:cNvSpPr>
            <p:nvPr userDrawn="1"/>
          </p:nvSpPr>
          <p:spPr bwMode="auto">
            <a:xfrm>
              <a:off x="11798300" y="4778375"/>
              <a:ext cx="20638" cy="34925"/>
            </a:xfrm>
            <a:custGeom>
              <a:avLst/>
              <a:gdLst>
                <a:gd name="T0" fmla="*/ 0 w 3"/>
                <a:gd name="T1" fmla="*/ 3 h 5"/>
                <a:gd name="T2" fmla="*/ 1 w 3"/>
                <a:gd name="T3" fmla="*/ 5 h 5"/>
                <a:gd name="T4" fmla="*/ 2 w 3"/>
                <a:gd name="T5" fmla="*/ 5 h 5"/>
                <a:gd name="T6" fmla="*/ 3 w 3"/>
                <a:gd name="T7" fmla="*/ 4 h 5"/>
                <a:gd name="T8" fmla="*/ 3 w 3"/>
                <a:gd name="T9" fmla="*/ 1 h 5"/>
                <a:gd name="T10" fmla="*/ 1 w 3"/>
                <a:gd name="T11" fmla="*/ 0 h 5"/>
                <a:gd name="T12" fmla="*/ 0 w 3"/>
                <a:gd name="T13" fmla="*/ 3 h 5"/>
                <a:gd name="T14" fmla="*/ 2 w 3"/>
                <a:gd name="T15" fmla="*/ 1 h 5"/>
                <a:gd name="T16" fmla="*/ 2 w 3"/>
                <a:gd name="T17" fmla="*/ 2 h 5"/>
                <a:gd name="T18" fmla="*/ 2 w 3"/>
                <a:gd name="T19" fmla="*/ 4 h 5"/>
                <a:gd name="T20" fmla="*/ 2 w 3"/>
                <a:gd name="T21" fmla="*/ 4 h 5"/>
                <a:gd name="T22" fmla="*/ 1 w 3"/>
                <a:gd name="T23" fmla="*/ 4 h 5"/>
                <a:gd name="T24" fmla="*/ 1 w 3"/>
                <a:gd name="T25" fmla="*/ 3 h 5"/>
                <a:gd name="T26" fmla="*/ 1 w 3"/>
                <a:gd name="T27" fmla="*/ 1 h 5"/>
                <a:gd name="T28" fmla="*/ 2 w 3"/>
                <a:gd name="T2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5">
                  <a:moveTo>
                    <a:pt x="0" y="3"/>
                  </a:moveTo>
                  <a:cubicBezTo>
                    <a:pt x="0" y="4"/>
                    <a:pt x="1" y="5"/>
                    <a:pt x="1" y="5"/>
                  </a:cubicBezTo>
                  <a:cubicBezTo>
                    <a:pt x="2" y="5"/>
                    <a:pt x="2" y="5"/>
                    <a:pt x="2" y="5"/>
                  </a:cubicBezTo>
                  <a:cubicBezTo>
                    <a:pt x="2" y="5"/>
                    <a:pt x="2" y="5"/>
                    <a:pt x="3" y="4"/>
                  </a:cubicBezTo>
                  <a:cubicBezTo>
                    <a:pt x="3" y="4"/>
                    <a:pt x="3" y="2"/>
                    <a:pt x="3" y="1"/>
                  </a:cubicBezTo>
                  <a:cubicBezTo>
                    <a:pt x="3" y="1"/>
                    <a:pt x="2" y="0"/>
                    <a:pt x="1" y="0"/>
                  </a:cubicBezTo>
                  <a:cubicBezTo>
                    <a:pt x="0" y="1"/>
                    <a:pt x="0" y="2"/>
                    <a:pt x="0" y="3"/>
                  </a:cubicBezTo>
                  <a:close/>
                  <a:moveTo>
                    <a:pt x="2" y="1"/>
                  </a:moveTo>
                  <a:cubicBezTo>
                    <a:pt x="2" y="1"/>
                    <a:pt x="2" y="1"/>
                    <a:pt x="2" y="2"/>
                  </a:cubicBezTo>
                  <a:cubicBezTo>
                    <a:pt x="2" y="2"/>
                    <a:pt x="2" y="3"/>
                    <a:pt x="2" y="4"/>
                  </a:cubicBezTo>
                  <a:cubicBezTo>
                    <a:pt x="2" y="4"/>
                    <a:pt x="2" y="4"/>
                    <a:pt x="2" y="4"/>
                  </a:cubicBezTo>
                  <a:cubicBezTo>
                    <a:pt x="2" y="4"/>
                    <a:pt x="1" y="4"/>
                    <a:pt x="1" y="4"/>
                  </a:cubicBezTo>
                  <a:cubicBezTo>
                    <a:pt x="1" y="4"/>
                    <a:pt x="1" y="3"/>
                    <a:pt x="1" y="3"/>
                  </a:cubicBezTo>
                  <a:cubicBezTo>
                    <a:pt x="1" y="2"/>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85"/>
            <p:cNvSpPr>
              <a:spLocks noEditPoints="1"/>
            </p:cNvSpPr>
            <p:nvPr userDrawn="1"/>
          </p:nvSpPr>
          <p:spPr bwMode="auto">
            <a:xfrm>
              <a:off x="10941050" y="4232275"/>
              <a:ext cx="1244600" cy="615950"/>
            </a:xfrm>
            <a:custGeom>
              <a:avLst/>
              <a:gdLst>
                <a:gd name="T0" fmla="*/ 175 w 180"/>
                <a:gd name="T1" fmla="*/ 84 h 88"/>
                <a:gd name="T2" fmla="*/ 168 w 180"/>
                <a:gd name="T3" fmla="*/ 84 h 88"/>
                <a:gd name="T4" fmla="*/ 168 w 180"/>
                <a:gd name="T5" fmla="*/ 3 h 88"/>
                <a:gd name="T6" fmla="*/ 165 w 180"/>
                <a:gd name="T7" fmla="*/ 0 h 88"/>
                <a:gd name="T8" fmla="*/ 56 w 180"/>
                <a:gd name="T9" fmla="*/ 0 h 88"/>
                <a:gd name="T10" fmla="*/ 52 w 180"/>
                <a:gd name="T11" fmla="*/ 5 h 88"/>
                <a:gd name="T12" fmla="*/ 52 w 180"/>
                <a:gd name="T13" fmla="*/ 42 h 88"/>
                <a:gd name="T14" fmla="*/ 125 w 180"/>
                <a:gd name="T15" fmla="*/ 43 h 88"/>
                <a:gd name="T16" fmla="*/ 127 w 180"/>
                <a:gd name="T17" fmla="*/ 65 h 88"/>
                <a:gd name="T18" fmla="*/ 165 w 180"/>
                <a:gd name="T19" fmla="*/ 66 h 88"/>
                <a:gd name="T20" fmla="*/ 107 w 180"/>
                <a:gd name="T21" fmla="*/ 85 h 88"/>
                <a:gd name="T22" fmla="*/ 126 w 180"/>
                <a:gd name="T23" fmla="*/ 66 h 88"/>
                <a:gd name="T24" fmla="*/ 126 w 180"/>
                <a:gd name="T25" fmla="*/ 45 h 88"/>
                <a:gd name="T26" fmla="*/ 21 w 180"/>
                <a:gd name="T27" fmla="*/ 43 h 88"/>
                <a:gd name="T28" fmla="*/ 17 w 180"/>
                <a:gd name="T29" fmla="*/ 44 h 88"/>
                <a:gd name="T30" fmla="*/ 16 w 180"/>
                <a:gd name="T31" fmla="*/ 49 h 88"/>
                <a:gd name="T32" fmla="*/ 15 w 180"/>
                <a:gd name="T33" fmla="*/ 65 h 88"/>
                <a:gd name="T34" fmla="*/ 13 w 180"/>
                <a:gd name="T35" fmla="*/ 64 h 88"/>
                <a:gd name="T36" fmla="*/ 10 w 180"/>
                <a:gd name="T37" fmla="*/ 62 h 88"/>
                <a:gd name="T38" fmla="*/ 6 w 180"/>
                <a:gd name="T39" fmla="*/ 62 h 88"/>
                <a:gd name="T40" fmla="*/ 5 w 180"/>
                <a:gd name="T41" fmla="*/ 68 h 88"/>
                <a:gd name="T42" fmla="*/ 5 w 180"/>
                <a:gd name="T43" fmla="*/ 84 h 88"/>
                <a:gd name="T44" fmla="*/ 0 w 180"/>
                <a:gd name="T45" fmla="*/ 86 h 88"/>
                <a:gd name="T46" fmla="*/ 3 w 180"/>
                <a:gd name="T47" fmla="*/ 88 h 88"/>
                <a:gd name="T48" fmla="*/ 6 w 180"/>
                <a:gd name="T49" fmla="*/ 88 h 88"/>
                <a:gd name="T50" fmla="*/ 172 w 180"/>
                <a:gd name="T51" fmla="*/ 88 h 88"/>
                <a:gd name="T52" fmla="*/ 180 w 180"/>
                <a:gd name="T53" fmla="*/ 87 h 88"/>
                <a:gd name="T54" fmla="*/ 178 w 180"/>
                <a:gd name="T55" fmla="*/ 87 h 88"/>
                <a:gd name="T56" fmla="*/ 169 w 180"/>
                <a:gd name="T57" fmla="*/ 87 h 88"/>
                <a:gd name="T58" fmla="*/ 5 w 180"/>
                <a:gd name="T59" fmla="*/ 87 h 88"/>
                <a:gd name="T60" fmla="*/ 1 w 180"/>
                <a:gd name="T61" fmla="*/ 86 h 88"/>
                <a:gd name="T62" fmla="*/ 4 w 180"/>
                <a:gd name="T63" fmla="*/ 85 h 88"/>
                <a:gd name="T64" fmla="*/ 6 w 180"/>
                <a:gd name="T65" fmla="*/ 85 h 88"/>
                <a:gd name="T66" fmla="*/ 6 w 180"/>
                <a:gd name="T67" fmla="*/ 68 h 88"/>
                <a:gd name="T68" fmla="*/ 7 w 180"/>
                <a:gd name="T69" fmla="*/ 63 h 88"/>
                <a:gd name="T70" fmla="*/ 10 w 180"/>
                <a:gd name="T71" fmla="*/ 63 h 88"/>
                <a:gd name="T72" fmla="*/ 12 w 180"/>
                <a:gd name="T73" fmla="*/ 64 h 88"/>
                <a:gd name="T74" fmla="*/ 13 w 180"/>
                <a:gd name="T75" fmla="*/ 66 h 88"/>
                <a:gd name="T76" fmla="*/ 17 w 180"/>
                <a:gd name="T77" fmla="*/ 66 h 88"/>
                <a:gd name="T78" fmla="*/ 17 w 180"/>
                <a:gd name="T79" fmla="*/ 66 h 88"/>
                <a:gd name="T80" fmla="*/ 17 w 180"/>
                <a:gd name="T81" fmla="*/ 48 h 88"/>
                <a:gd name="T82" fmla="*/ 20 w 180"/>
                <a:gd name="T83" fmla="*/ 44 h 88"/>
                <a:gd name="T84" fmla="*/ 125 w 180"/>
                <a:gd name="T85" fmla="*/ 44 h 88"/>
                <a:gd name="T86" fmla="*/ 126 w 180"/>
                <a:gd name="T87" fmla="*/ 65 h 88"/>
                <a:gd name="T88" fmla="*/ 106 w 180"/>
                <a:gd name="T89" fmla="*/ 66 h 88"/>
                <a:gd name="T90" fmla="*/ 107 w 180"/>
                <a:gd name="T91" fmla="*/ 85 h 88"/>
                <a:gd name="T92" fmla="*/ 166 w 180"/>
                <a:gd name="T93" fmla="*/ 85 h 88"/>
                <a:gd name="T94" fmla="*/ 166 w 180"/>
                <a:gd name="T95" fmla="*/ 65 h 88"/>
                <a:gd name="T96" fmla="*/ 128 w 180"/>
                <a:gd name="T97" fmla="*/ 45 h 88"/>
                <a:gd name="T98" fmla="*/ 53 w 180"/>
                <a:gd name="T99" fmla="*/ 42 h 88"/>
                <a:gd name="T100" fmla="*/ 53 w 180"/>
                <a:gd name="T101" fmla="*/ 5 h 88"/>
                <a:gd name="T102" fmla="*/ 56 w 180"/>
                <a:gd name="T103" fmla="*/ 1 h 88"/>
                <a:gd name="T104" fmla="*/ 165 w 180"/>
                <a:gd name="T105" fmla="*/ 1 h 88"/>
                <a:gd name="T106" fmla="*/ 167 w 180"/>
                <a:gd name="T107" fmla="*/ 3 h 88"/>
                <a:gd name="T108" fmla="*/ 167 w 180"/>
                <a:gd name="T109" fmla="*/ 85 h 88"/>
                <a:gd name="T110" fmla="*/ 174 w 180"/>
                <a:gd name="T111" fmla="*/ 85 h 88"/>
                <a:gd name="T112" fmla="*/ 179 w 180"/>
                <a:gd name="T113" fmla="*/ 86 h 88"/>
                <a:gd name="T114" fmla="*/ 178 w 180"/>
                <a:gd name="T115" fmla="*/ 8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0" h="88">
                  <a:moveTo>
                    <a:pt x="180" y="85"/>
                  </a:moveTo>
                  <a:cubicBezTo>
                    <a:pt x="179" y="84"/>
                    <a:pt x="177" y="84"/>
                    <a:pt x="175" y="84"/>
                  </a:cubicBezTo>
                  <a:cubicBezTo>
                    <a:pt x="175" y="84"/>
                    <a:pt x="175" y="84"/>
                    <a:pt x="174" y="84"/>
                  </a:cubicBezTo>
                  <a:cubicBezTo>
                    <a:pt x="168" y="84"/>
                    <a:pt x="168" y="84"/>
                    <a:pt x="168" y="84"/>
                  </a:cubicBezTo>
                  <a:cubicBezTo>
                    <a:pt x="168" y="80"/>
                    <a:pt x="168" y="73"/>
                    <a:pt x="168" y="64"/>
                  </a:cubicBezTo>
                  <a:cubicBezTo>
                    <a:pt x="168" y="40"/>
                    <a:pt x="168" y="4"/>
                    <a:pt x="168" y="3"/>
                  </a:cubicBezTo>
                  <a:cubicBezTo>
                    <a:pt x="168" y="3"/>
                    <a:pt x="168" y="2"/>
                    <a:pt x="167" y="1"/>
                  </a:cubicBezTo>
                  <a:cubicBezTo>
                    <a:pt x="167" y="0"/>
                    <a:pt x="166" y="0"/>
                    <a:pt x="165" y="0"/>
                  </a:cubicBezTo>
                  <a:cubicBezTo>
                    <a:pt x="57" y="0"/>
                    <a:pt x="57" y="0"/>
                    <a:pt x="57" y="0"/>
                  </a:cubicBezTo>
                  <a:cubicBezTo>
                    <a:pt x="57" y="0"/>
                    <a:pt x="56" y="0"/>
                    <a:pt x="56" y="0"/>
                  </a:cubicBezTo>
                  <a:cubicBezTo>
                    <a:pt x="55" y="0"/>
                    <a:pt x="54" y="0"/>
                    <a:pt x="53" y="0"/>
                  </a:cubicBezTo>
                  <a:cubicBezTo>
                    <a:pt x="52" y="0"/>
                    <a:pt x="52" y="3"/>
                    <a:pt x="52" y="5"/>
                  </a:cubicBezTo>
                  <a:cubicBezTo>
                    <a:pt x="52" y="6"/>
                    <a:pt x="52" y="6"/>
                    <a:pt x="52" y="6"/>
                  </a:cubicBezTo>
                  <a:cubicBezTo>
                    <a:pt x="52" y="42"/>
                    <a:pt x="52" y="42"/>
                    <a:pt x="52" y="42"/>
                  </a:cubicBezTo>
                  <a:cubicBezTo>
                    <a:pt x="52" y="43"/>
                    <a:pt x="52" y="43"/>
                    <a:pt x="52" y="43"/>
                  </a:cubicBezTo>
                  <a:cubicBezTo>
                    <a:pt x="125" y="43"/>
                    <a:pt x="125" y="43"/>
                    <a:pt x="125" y="43"/>
                  </a:cubicBezTo>
                  <a:cubicBezTo>
                    <a:pt x="126" y="43"/>
                    <a:pt x="127" y="44"/>
                    <a:pt x="127" y="45"/>
                  </a:cubicBezTo>
                  <a:cubicBezTo>
                    <a:pt x="127" y="65"/>
                    <a:pt x="127" y="65"/>
                    <a:pt x="127" y="65"/>
                  </a:cubicBezTo>
                  <a:cubicBezTo>
                    <a:pt x="127" y="66"/>
                    <a:pt x="127" y="66"/>
                    <a:pt x="127" y="66"/>
                  </a:cubicBezTo>
                  <a:cubicBezTo>
                    <a:pt x="165" y="66"/>
                    <a:pt x="165" y="66"/>
                    <a:pt x="165" y="66"/>
                  </a:cubicBezTo>
                  <a:cubicBezTo>
                    <a:pt x="165" y="85"/>
                    <a:pt x="165" y="85"/>
                    <a:pt x="165" y="85"/>
                  </a:cubicBezTo>
                  <a:cubicBezTo>
                    <a:pt x="107" y="85"/>
                    <a:pt x="107" y="85"/>
                    <a:pt x="107" y="85"/>
                  </a:cubicBezTo>
                  <a:cubicBezTo>
                    <a:pt x="107" y="66"/>
                    <a:pt x="107" y="66"/>
                    <a:pt x="107" y="66"/>
                  </a:cubicBezTo>
                  <a:cubicBezTo>
                    <a:pt x="126" y="66"/>
                    <a:pt x="126" y="66"/>
                    <a:pt x="126" y="66"/>
                  </a:cubicBezTo>
                  <a:cubicBezTo>
                    <a:pt x="126" y="66"/>
                    <a:pt x="126" y="66"/>
                    <a:pt x="126" y="65"/>
                  </a:cubicBezTo>
                  <a:cubicBezTo>
                    <a:pt x="126" y="45"/>
                    <a:pt x="126" y="45"/>
                    <a:pt x="126" y="45"/>
                  </a:cubicBezTo>
                  <a:cubicBezTo>
                    <a:pt x="126" y="44"/>
                    <a:pt x="126" y="43"/>
                    <a:pt x="125" y="43"/>
                  </a:cubicBezTo>
                  <a:cubicBezTo>
                    <a:pt x="21" y="43"/>
                    <a:pt x="21" y="43"/>
                    <a:pt x="21" y="43"/>
                  </a:cubicBezTo>
                  <a:cubicBezTo>
                    <a:pt x="21" y="43"/>
                    <a:pt x="21" y="43"/>
                    <a:pt x="20" y="43"/>
                  </a:cubicBezTo>
                  <a:cubicBezTo>
                    <a:pt x="19" y="43"/>
                    <a:pt x="18" y="43"/>
                    <a:pt x="17" y="44"/>
                  </a:cubicBezTo>
                  <a:cubicBezTo>
                    <a:pt x="16" y="44"/>
                    <a:pt x="16" y="46"/>
                    <a:pt x="16" y="48"/>
                  </a:cubicBezTo>
                  <a:cubicBezTo>
                    <a:pt x="16" y="48"/>
                    <a:pt x="16" y="49"/>
                    <a:pt x="16" y="49"/>
                  </a:cubicBezTo>
                  <a:cubicBezTo>
                    <a:pt x="16" y="65"/>
                    <a:pt x="16" y="65"/>
                    <a:pt x="16" y="65"/>
                  </a:cubicBezTo>
                  <a:cubicBezTo>
                    <a:pt x="16" y="65"/>
                    <a:pt x="16" y="65"/>
                    <a:pt x="15" y="65"/>
                  </a:cubicBezTo>
                  <a:cubicBezTo>
                    <a:pt x="15" y="65"/>
                    <a:pt x="14" y="65"/>
                    <a:pt x="13" y="65"/>
                  </a:cubicBezTo>
                  <a:cubicBezTo>
                    <a:pt x="13" y="65"/>
                    <a:pt x="13" y="65"/>
                    <a:pt x="13" y="64"/>
                  </a:cubicBezTo>
                  <a:cubicBezTo>
                    <a:pt x="13" y="64"/>
                    <a:pt x="13" y="63"/>
                    <a:pt x="13" y="62"/>
                  </a:cubicBezTo>
                  <a:cubicBezTo>
                    <a:pt x="12" y="62"/>
                    <a:pt x="11" y="62"/>
                    <a:pt x="10" y="62"/>
                  </a:cubicBezTo>
                  <a:cubicBezTo>
                    <a:pt x="10" y="62"/>
                    <a:pt x="9" y="62"/>
                    <a:pt x="9" y="62"/>
                  </a:cubicBezTo>
                  <a:cubicBezTo>
                    <a:pt x="8" y="62"/>
                    <a:pt x="7" y="62"/>
                    <a:pt x="6" y="62"/>
                  </a:cubicBezTo>
                  <a:cubicBezTo>
                    <a:pt x="5" y="63"/>
                    <a:pt x="5" y="64"/>
                    <a:pt x="5" y="66"/>
                  </a:cubicBezTo>
                  <a:cubicBezTo>
                    <a:pt x="5" y="67"/>
                    <a:pt x="5" y="67"/>
                    <a:pt x="5" y="68"/>
                  </a:cubicBezTo>
                  <a:cubicBezTo>
                    <a:pt x="5" y="72"/>
                    <a:pt x="5" y="72"/>
                    <a:pt x="5" y="72"/>
                  </a:cubicBezTo>
                  <a:cubicBezTo>
                    <a:pt x="5" y="76"/>
                    <a:pt x="5" y="81"/>
                    <a:pt x="5" y="84"/>
                  </a:cubicBezTo>
                  <a:cubicBezTo>
                    <a:pt x="5" y="84"/>
                    <a:pt x="5" y="84"/>
                    <a:pt x="4" y="84"/>
                  </a:cubicBezTo>
                  <a:cubicBezTo>
                    <a:pt x="3" y="84"/>
                    <a:pt x="0" y="84"/>
                    <a:pt x="0" y="86"/>
                  </a:cubicBezTo>
                  <a:cubicBezTo>
                    <a:pt x="0" y="87"/>
                    <a:pt x="0" y="87"/>
                    <a:pt x="1" y="87"/>
                  </a:cubicBezTo>
                  <a:cubicBezTo>
                    <a:pt x="1" y="88"/>
                    <a:pt x="2" y="88"/>
                    <a:pt x="3" y="88"/>
                  </a:cubicBezTo>
                  <a:cubicBezTo>
                    <a:pt x="4" y="88"/>
                    <a:pt x="4" y="88"/>
                    <a:pt x="5" y="88"/>
                  </a:cubicBezTo>
                  <a:cubicBezTo>
                    <a:pt x="5" y="88"/>
                    <a:pt x="6" y="88"/>
                    <a:pt x="6" y="88"/>
                  </a:cubicBezTo>
                  <a:cubicBezTo>
                    <a:pt x="169" y="88"/>
                    <a:pt x="169" y="88"/>
                    <a:pt x="169" y="88"/>
                  </a:cubicBezTo>
                  <a:cubicBezTo>
                    <a:pt x="170" y="88"/>
                    <a:pt x="171" y="88"/>
                    <a:pt x="172" y="88"/>
                  </a:cubicBezTo>
                  <a:cubicBezTo>
                    <a:pt x="174" y="88"/>
                    <a:pt x="176" y="88"/>
                    <a:pt x="178" y="88"/>
                  </a:cubicBezTo>
                  <a:cubicBezTo>
                    <a:pt x="180" y="88"/>
                    <a:pt x="180" y="87"/>
                    <a:pt x="180" y="87"/>
                  </a:cubicBezTo>
                  <a:cubicBezTo>
                    <a:pt x="180" y="86"/>
                    <a:pt x="180" y="85"/>
                    <a:pt x="180" y="85"/>
                  </a:cubicBezTo>
                  <a:close/>
                  <a:moveTo>
                    <a:pt x="178" y="87"/>
                  </a:moveTo>
                  <a:cubicBezTo>
                    <a:pt x="176" y="87"/>
                    <a:pt x="174" y="87"/>
                    <a:pt x="172" y="87"/>
                  </a:cubicBezTo>
                  <a:cubicBezTo>
                    <a:pt x="171" y="87"/>
                    <a:pt x="170" y="87"/>
                    <a:pt x="169" y="87"/>
                  </a:cubicBezTo>
                  <a:cubicBezTo>
                    <a:pt x="6" y="87"/>
                    <a:pt x="6" y="87"/>
                    <a:pt x="6" y="87"/>
                  </a:cubicBezTo>
                  <a:cubicBezTo>
                    <a:pt x="6" y="87"/>
                    <a:pt x="5" y="87"/>
                    <a:pt x="5" y="87"/>
                  </a:cubicBezTo>
                  <a:cubicBezTo>
                    <a:pt x="3" y="87"/>
                    <a:pt x="2" y="87"/>
                    <a:pt x="1" y="87"/>
                  </a:cubicBezTo>
                  <a:cubicBezTo>
                    <a:pt x="1" y="87"/>
                    <a:pt x="1" y="87"/>
                    <a:pt x="1" y="86"/>
                  </a:cubicBezTo>
                  <a:cubicBezTo>
                    <a:pt x="1" y="85"/>
                    <a:pt x="2" y="85"/>
                    <a:pt x="3" y="85"/>
                  </a:cubicBezTo>
                  <a:cubicBezTo>
                    <a:pt x="3" y="85"/>
                    <a:pt x="4" y="85"/>
                    <a:pt x="4" y="85"/>
                  </a:cubicBezTo>
                  <a:cubicBezTo>
                    <a:pt x="5" y="85"/>
                    <a:pt x="5" y="85"/>
                    <a:pt x="6" y="85"/>
                  </a:cubicBezTo>
                  <a:cubicBezTo>
                    <a:pt x="6" y="85"/>
                    <a:pt x="6" y="85"/>
                    <a:pt x="6" y="85"/>
                  </a:cubicBezTo>
                  <a:cubicBezTo>
                    <a:pt x="6" y="81"/>
                    <a:pt x="6" y="76"/>
                    <a:pt x="6" y="72"/>
                  </a:cubicBezTo>
                  <a:cubicBezTo>
                    <a:pt x="6" y="68"/>
                    <a:pt x="6" y="68"/>
                    <a:pt x="6" y="68"/>
                  </a:cubicBezTo>
                  <a:cubicBezTo>
                    <a:pt x="6" y="67"/>
                    <a:pt x="6" y="67"/>
                    <a:pt x="6" y="66"/>
                  </a:cubicBezTo>
                  <a:cubicBezTo>
                    <a:pt x="6" y="65"/>
                    <a:pt x="6" y="63"/>
                    <a:pt x="7" y="63"/>
                  </a:cubicBezTo>
                  <a:cubicBezTo>
                    <a:pt x="7" y="62"/>
                    <a:pt x="8" y="63"/>
                    <a:pt x="9" y="63"/>
                  </a:cubicBezTo>
                  <a:cubicBezTo>
                    <a:pt x="9" y="63"/>
                    <a:pt x="10" y="63"/>
                    <a:pt x="10" y="63"/>
                  </a:cubicBezTo>
                  <a:cubicBezTo>
                    <a:pt x="11" y="62"/>
                    <a:pt x="12" y="62"/>
                    <a:pt x="12" y="63"/>
                  </a:cubicBezTo>
                  <a:cubicBezTo>
                    <a:pt x="12" y="63"/>
                    <a:pt x="12" y="64"/>
                    <a:pt x="12" y="64"/>
                  </a:cubicBezTo>
                  <a:cubicBezTo>
                    <a:pt x="12" y="65"/>
                    <a:pt x="12" y="65"/>
                    <a:pt x="12" y="66"/>
                  </a:cubicBezTo>
                  <a:cubicBezTo>
                    <a:pt x="12" y="66"/>
                    <a:pt x="12" y="66"/>
                    <a:pt x="13" y="66"/>
                  </a:cubicBezTo>
                  <a:cubicBezTo>
                    <a:pt x="13" y="66"/>
                    <a:pt x="14" y="66"/>
                    <a:pt x="15" y="66"/>
                  </a:cubicBezTo>
                  <a:cubicBezTo>
                    <a:pt x="16" y="66"/>
                    <a:pt x="16" y="66"/>
                    <a:pt x="17" y="66"/>
                  </a:cubicBezTo>
                  <a:cubicBezTo>
                    <a:pt x="17" y="66"/>
                    <a:pt x="17" y="66"/>
                    <a:pt x="17" y="66"/>
                  </a:cubicBezTo>
                  <a:cubicBezTo>
                    <a:pt x="17" y="66"/>
                    <a:pt x="17" y="66"/>
                    <a:pt x="17" y="66"/>
                  </a:cubicBezTo>
                  <a:cubicBezTo>
                    <a:pt x="17" y="49"/>
                    <a:pt x="17" y="49"/>
                    <a:pt x="17" y="49"/>
                  </a:cubicBezTo>
                  <a:cubicBezTo>
                    <a:pt x="17" y="49"/>
                    <a:pt x="17" y="48"/>
                    <a:pt x="17" y="48"/>
                  </a:cubicBezTo>
                  <a:cubicBezTo>
                    <a:pt x="17" y="47"/>
                    <a:pt x="17" y="45"/>
                    <a:pt x="18" y="44"/>
                  </a:cubicBezTo>
                  <a:cubicBezTo>
                    <a:pt x="18" y="44"/>
                    <a:pt x="19" y="44"/>
                    <a:pt x="20" y="44"/>
                  </a:cubicBezTo>
                  <a:cubicBezTo>
                    <a:pt x="21" y="44"/>
                    <a:pt x="21" y="44"/>
                    <a:pt x="21" y="44"/>
                  </a:cubicBezTo>
                  <a:cubicBezTo>
                    <a:pt x="125" y="44"/>
                    <a:pt x="125" y="44"/>
                    <a:pt x="125" y="44"/>
                  </a:cubicBezTo>
                  <a:cubicBezTo>
                    <a:pt x="125" y="44"/>
                    <a:pt x="126" y="44"/>
                    <a:pt x="126" y="45"/>
                  </a:cubicBezTo>
                  <a:cubicBezTo>
                    <a:pt x="126" y="65"/>
                    <a:pt x="126" y="65"/>
                    <a:pt x="126" y="65"/>
                  </a:cubicBezTo>
                  <a:cubicBezTo>
                    <a:pt x="107" y="65"/>
                    <a:pt x="107" y="65"/>
                    <a:pt x="107" y="65"/>
                  </a:cubicBezTo>
                  <a:cubicBezTo>
                    <a:pt x="107" y="65"/>
                    <a:pt x="106" y="65"/>
                    <a:pt x="106" y="66"/>
                  </a:cubicBezTo>
                  <a:cubicBezTo>
                    <a:pt x="106" y="85"/>
                    <a:pt x="106" y="85"/>
                    <a:pt x="106" y="85"/>
                  </a:cubicBezTo>
                  <a:cubicBezTo>
                    <a:pt x="106" y="85"/>
                    <a:pt x="107" y="85"/>
                    <a:pt x="107" y="85"/>
                  </a:cubicBezTo>
                  <a:cubicBezTo>
                    <a:pt x="166" y="85"/>
                    <a:pt x="166" y="85"/>
                    <a:pt x="166" y="85"/>
                  </a:cubicBezTo>
                  <a:cubicBezTo>
                    <a:pt x="166" y="85"/>
                    <a:pt x="166" y="85"/>
                    <a:pt x="166" y="85"/>
                  </a:cubicBezTo>
                  <a:cubicBezTo>
                    <a:pt x="166" y="65"/>
                    <a:pt x="166" y="65"/>
                    <a:pt x="166" y="65"/>
                  </a:cubicBezTo>
                  <a:cubicBezTo>
                    <a:pt x="166" y="65"/>
                    <a:pt x="166" y="65"/>
                    <a:pt x="166" y="65"/>
                  </a:cubicBezTo>
                  <a:cubicBezTo>
                    <a:pt x="128" y="65"/>
                    <a:pt x="128" y="65"/>
                    <a:pt x="128" y="65"/>
                  </a:cubicBezTo>
                  <a:cubicBezTo>
                    <a:pt x="128" y="45"/>
                    <a:pt x="128" y="45"/>
                    <a:pt x="128" y="45"/>
                  </a:cubicBezTo>
                  <a:cubicBezTo>
                    <a:pt x="128" y="43"/>
                    <a:pt x="126" y="42"/>
                    <a:pt x="125" y="42"/>
                  </a:cubicBezTo>
                  <a:cubicBezTo>
                    <a:pt x="53" y="42"/>
                    <a:pt x="53" y="42"/>
                    <a:pt x="53" y="42"/>
                  </a:cubicBezTo>
                  <a:cubicBezTo>
                    <a:pt x="53" y="6"/>
                    <a:pt x="53" y="6"/>
                    <a:pt x="53" y="6"/>
                  </a:cubicBezTo>
                  <a:cubicBezTo>
                    <a:pt x="53" y="6"/>
                    <a:pt x="53" y="6"/>
                    <a:pt x="53" y="5"/>
                  </a:cubicBezTo>
                  <a:cubicBezTo>
                    <a:pt x="53" y="3"/>
                    <a:pt x="53" y="1"/>
                    <a:pt x="54" y="1"/>
                  </a:cubicBezTo>
                  <a:cubicBezTo>
                    <a:pt x="54" y="1"/>
                    <a:pt x="55" y="1"/>
                    <a:pt x="56" y="1"/>
                  </a:cubicBezTo>
                  <a:cubicBezTo>
                    <a:pt x="56" y="1"/>
                    <a:pt x="57" y="1"/>
                    <a:pt x="57" y="1"/>
                  </a:cubicBezTo>
                  <a:cubicBezTo>
                    <a:pt x="165" y="1"/>
                    <a:pt x="165" y="1"/>
                    <a:pt x="165" y="1"/>
                  </a:cubicBezTo>
                  <a:cubicBezTo>
                    <a:pt x="166" y="1"/>
                    <a:pt x="166" y="1"/>
                    <a:pt x="167" y="2"/>
                  </a:cubicBezTo>
                  <a:cubicBezTo>
                    <a:pt x="167" y="2"/>
                    <a:pt x="167" y="3"/>
                    <a:pt x="167" y="3"/>
                  </a:cubicBezTo>
                  <a:cubicBezTo>
                    <a:pt x="167" y="4"/>
                    <a:pt x="167" y="31"/>
                    <a:pt x="167" y="64"/>
                  </a:cubicBezTo>
                  <a:cubicBezTo>
                    <a:pt x="167" y="73"/>
                    <a:pt x="167" y="81"/>
                    <a:pt x="167" y="85"/>
                  </a:cubicBezTo>
                  <a:cubicBezTo>
                    <a:pt x="167" y="85"/>
                    <a:pt x="167" y="85"/>
                    <a:pt x="168" y="85"/>
                  </a:cubicBezTo>
                  <a:cubicBezTo>
                    <a:pt x="174" y="85"/>
                    <a:pt x="174" y="85"/>
                    <a:pt x="174" y="85"/>
                  </a:cubicBezTo>
                  <a:cubicBezTo>
                    <a:pt x="175" y="85"/>
                    <a:pt x="175" y="85"/>
                    <a:pt x="175" y="85"/>
                  </a:cubicBezTo>
                  <a:cubicBezTo>
                    <a:pt x="177" y="85"/>
                    <a:pt x="178" y="85"/>
                    <a:pt x="179" y="86"/>
                  </a:cubicBezTo>
                  <a:cubicBezTo>
                    <a:pt x="179" y="86"/>
                    <a:pt x="179" y="86"/>
                    <a:pt x="179" y="86"/>
                  </a:cubicBezTo>
                  <a:cubicBezTo>
                    <a:pt x="179" y="87"/>
                    <a:pt x="179" y="87"/>
                    <a:pt x="178"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286"/>
            <p:cNvSpPr>
              <a:spLocks noEditPoints="1"/>
            </p:cNvSpPr>
            <p:nvPr userDrawn="1"/>
          </p:nvSpPr>
          <p:spPr bwMode="auto">
            <a:xfrm>
              <a:off x="11915775" y="4275138"/>
              <a:ext cx="14288"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87"/>
            <p:cNvSpPr>
              <a:spLocks noEditPoints="1"/>
            </p:cNvSpPr>
            <p:nvPr userDrawn="1"/>
          </p:nvSpPr>
          <p:spPr bwMode="auto">
            <a:xfrm>
              <a:off x="11736388" y="4568825"/>
              <a:ext cx="12700" cy="90488"/>
            </a:xfrm>
            <a:custGeom>
              <a:avLst/>
              <a:gdLst>
                <a:gd name="T0" fmla="*/ 1 w 2"/>
                <a:gd name="T1" fmla="*/ 13 h 13"/>
                <a:gd name="T2" fmla="*/ 2 w 2"/>
                <a:gd name="T3" fmla="*/ 12 h 13"/>
                <a:gd name="T4" fmla="*/ 2 w 2"/>
                <a:gd name="T5" fmla="*/ 1 h 13"/>
                <a:gd name="T6" fmla="*/ 1 w 2"/>
                <a:gd name="T7" fmla="*/ 0 h 13"/>
                <a:gd name="T8" fmla="*/ 0 w 2"/>
                <a:gd name="T9" fmla="*/ 1 h 13"/>
                <a:gd name="T10" fmla="*/ 0 w 2"/>
                <a:gd name="T11" fmla="*/ 12 h 13"/>
                <a:gd name="T12" fmla="*/ 1 w 2"/>
                <a:gd name="T13" fmla="*/ 13 h 13"/>
                <a:gd name="T14" fmla="*/ 1 w 2"/>
                <a:gd name="T15" fmla="*/ 1 h 13"/>
                <a:gd name="T16" fmla="*/ 1 w 2"/>
                <a:gd name="T17" fmla="*/ 1 h 13"/>
                <a:gd name="T18" fmla="*/ 1 w 2"/>
                <a:gd name="T19" fmla="*/ 1 h 13"/>
                <a:gd name="T20" fmla="*/ 1 w 2"/>
                <a:gd name="T21" fmla="*/ 12 h 13"/>
                <a:gd name="T22" fmla="*/ 1 w 2"/>
                <a:gd name="T23" fmla="*/ 12 h 13"/>
                <a:gd name="T24" fmla="*/ 1 w 2"/>
                <a:gd name="T25"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3">
                  <a:moveTo>
                    <a:pt x="1" y="13"/>
                  </a:moveTo>
                  <a:cubicBezTo>
                    <a:pt x="2" y="13"/>
                    <a:pt x="2" y="13"/>
                    <a:pt x="2" y="12"/>
                  </a:cubicBezTo>
                  <a:cubicBezTo>
                    <a:pt x="2" y="1"/>
                    <a:pt x="2" y="1"/>
                    <a:pt x="2" y="1"/>
                  </a:cubicBezTo>
                  <a:cubicBezTo>
                    <a:pt x="2" y="0"/>
                    <a:pt x="2" y="0"/>
                    <a:pt x="1" y="0"/>
                  </a:cubicBezTo>
                  <a:cubicBezTo>
                    <a:pt x="0" y="0"/>
                    <a:pt x="0" y="0"/>
                    <a:pt x="0" y="1"/>
                  </a:cubicBezTo>
                  <a:cubicBezTo>
                    <a:pt x="0" y="12"/>
                    <a:pt x="0" y="12"/>
                    <a:pt x="0" y="12"/>
                  </a:cubicBezTo>
                  <a:cubicBezTo>
                    <a:pt x="0" y="13"/>
                    <a:pt x="0" y="13"/>
                    <a:pt x="1" y="13"/>
                  </a:cubicBezTo>
                  <a:close/>
                  <a:moveTo>
                    <a:pt x="1" y="1"/>
                  </a:moveTo>
                  <a:cubicBezTo>
                    <a:pt x="1" y="1"/>
                    <a:pt x="1" y="1"/>
                    <a:pt x="1" y="1"/>
                  </a:cubicBezTo>
                  <a:cubicBezTo>
                    <a:pt x="1" y="1"/>
                    <a:pt x="1" y="1"/>
                    <a:pt x="1" y="1"/>
                  </a:cubicBezTo>
                  <a:cubicBezTo>
                    <a:pt x="1" y="12"/>
                    <a:pt x="1" y="12"/>
                    <a:pt x="1" y="12"/>
                  </a:cubicBezTo>
                  <a:cubicBezTo>
                    <a:pt x="1" y="12"/>
                    <a:pt x="1" y="12"/>
                    <a:pt x="1" y="1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88"/>
            <p:cNvSpPr>
              <a:spLocks noEditPoints="1"/>
            </p:cNvSpPr>
            <p:nvPr userDrawn="1"/>
          </p:nvSpPr>
          <p:spPr bwMode="auto">
            <a:xfrm>
              <a:off x="11845925" y="4476750"/>
              <a:ext cx="242888" cy="182563"/>
            </a:xfrm>
            <a:custGeom>
              <a:avLst/>
              <a:gdLst>
                <a:gd name="T0" fmla="*/ 35 w 35"/>
                <a:gd name="T1" fmla="*/ 0 h 26"/>
                <a:gd name="T2" fmla="*/ 0 w 35"/>
                <a:gd name="T3" fmla="*/ 0 h 26"/>
                <a:gd name="T4" fmla="*/ 0 w 35"/>
                <a:gd name="T5" fmla="*/ 1 h 26"/>
                <a:gd name="T6" fmla="*/ 0 w 35"/>
                <a:gd name="T7" fmla="*/ 25 h 26"/>
                <a:gd name="T8" fmla="*/ 0 w 35"/>
                <a:gd name="T9" fmla="*/ 26 h 26"/>
                <a:gd name="T10" fmla="*/ 35 w 35"/>
                <a:gd name="T11" fmla="*/ 26 h 26"/>
                <a:gd name="T12" fmla="*/ 35 w 35"/>
                <a:gd name="T13" fmla="*/ 25 h 26"/>
                <a:gd name="T14" fmla="*/ 35 w 35"/>
                <a:gd name="T15" fmla="*/ 1 h 26"/>
                <a:gd name="T16" fmla="*/ 35 w 35"/>
                <a:gd name="T17" fmla="*/ 0 h 26"/>
                <a:gd name="T18" fmla="*/ 34 w 35"/>
                <a:gd name="T19" fmla="*/ 25 h 26"/>
                <a:gd name="T20" fmla="*/ 1 w 35"/>
                <a:gd name="T21" fmla="*/ 25 h 26"/>
                <a:gd name="T22" fmla="*/ 1 w 35"/>
                <a:gd name="T23" fmla="*/ 1 h 26"/>
                <a:gd name="T24" fmla="*/ 34 w 35"/>
                <a:gd name="T25" fmla="*/ 1 h 26"/>
                <a:gd name="T26" fmla="*/ 34 w 35"/>
                <a:gd name="T2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26">
                  <a:moveTo>
                    <a:pt x="35" y="0"/>
                  </a:moveTo>
                  <a:cubicBezTo>
                    <a:pt x="0" y="0"/>
                    <a:pt x="0" y="0"/>
                    <a:pt x="0" y="0"/>
                  </a:cubicBezTo>
                  <a:cubicBezTo>
                    <a:pt x="0" y="0"/>
                    <a:pt x="0" y="0"/>
                    <a:pt x="0" y="1"/>
                  </a:cubicBezTo>
                  <a:cubicBezTo>
                    <a:pt x="0" y="25"/>
                    <a:pt x="0" y="25"/>
                    <a:pt x="0" y="25"/>
                  </a:cubicBezTo>
                  <a:cubicBezTo>
                    <a:pt x="0" y="26"/>
                    <a:pt x="0" y="26"/>
                    <a:pt x="0" y="26"/>
                  </a:cubicBezTo>
                  <a:cubicBezTo>
                    <a:pt x="35" y="26"/>
                    <a:pt x="35" y="26"/>
                    <a:pt x="35" y="26"/>
                  </a:cubicBezTo>
                  <a:cubicBezTo>
                    <a:pt x="35" y="26"/>
                    <a:pt x="35" y="26"/>
                    <a:pt x="35" y="25"/>
                  </a:cubicBezTo>
                  <a:cubicBezTo>
                    <a:pt x="35" y="1"/>
                    <a:pt x="35" y="1"/>
                    <a:pt x="35" y="1"/>
                  </a:cubicBezTo>
                  <a:cubicBezTo>
                    <a:pt x="35" y="0"/>
                    <a:pt x="35" y="0"/>
                    <a:pt x="35" y="0"/>
                  </a:cubicBezTo>
                  <a:close/>
                  <a:moveTo>
                    <a:pt x="34" y="25"/>
                  </a:moveTo>
                  <a:cubicBezTo>
                    <a:pt x="1" y="25"/>
                    <a:pt x="1" y="25"/>
                    <a:pt x="1" y="25"/>
                  </a:cubicBezTo>
                  <a:cubicBezTo>
                    <a:pt x="1" y="1"/>
                    <a:pt x="1" y="1"/>
                    <a:pt x="1" y="1"/>
                  </a:cubicBezTo>
                  <a:cubicBezTo>
                    <a:pt x="34" y="1"/>
                    <a:pt x="34" y="1"/>
                    <a:pt x="34" y="1"/>
                  </a:cubicBezTo>
                  <a:lnTo>
                    <a:pt x="3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89"/>
            <p:cNvSpPr>
              <a:spLocks noEditPoints="1"/>
            </p:cNvSpPr>
            <p:nvPr userDrawn="1"/>
          </p:nvSpPr>
          <p:spPr bwMode="auto">
            <a:xfrm>
              <a:off x="11804650"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90"/>
            <p:cNvSpPr>
              <a:spLocks noEditPoints="1"/>
            </p:cNvSpPr>
            <p:nvPr userDrawn="1"/>
          </p:nvSpPr>
          <p:spPr bwMode="auto">
            <a:xfrm>
              <a:off x="11542713" y="4568825"/>
              <a:ext cx="20638" cy="133350"/>
            </a:xfrm>
            <a:custGeom>
              <a:avLst/>
              <a:gdLst>
                <a:gd name="T0" fmla="*/ 2 w 3"/>
                <a:gd name="T1" fmla="*/ 19 h 19"/>
                <a:gd name="T2" fmla="*/ 3 w 3"/>
                <a:gd name="T3" fmla="*/ 18 h 19"/>
                <a:gd name="T4" fmla="*/ 3 w 3"/>
                <a:gd name="T5" fmla="*/ 1 h 19"/>
                <a:gd name="T6" fmla="*/ 2 w 3"/>
                <a:gd name="T7" fmla="*/ 0 h 19"/>
                <a:gd name="T8" fmla="*/ 0 w 3"/>
                <a:gd name="T9" fmla="*/ 1 h 19"/>
                <a:gd name="T10" fmla="*/ 0 w 3"/>
                <a:gd name="T11" fmla="*/ 18 h 19"/>
                <a:gd name="T12" fmla="*/ 2 w 3"/>
                <a:gd name="T13" fmla="*/ 19 h 19"/>
                <a:gd name="T14" fmla="*/ 1 w 3"/>
                <a:gd name="T15" fmla="*/ 1 h 19"/>
                <a:gd name="T16" fmla="*/ 2 w 3"/>
                <a:gd name="T17" fmla="*/ 1 h 19"/>
                <a:gd name="T18" fmla="*/ 2 w 3"/>
                <a:gd name="T19" fmla="*/ 1 h 19"/>
                <a:gd name="T20" fmla="*/ 2 w 3"/>
                <a:gd name="T21" fmla="*/ 18 h 19"/>
                <a:gd name="T22" fmla="*/ 1 w 3"/>
                <a:gd name="T23" fmla="*/ 18 h 19"/>
                <a:gd name="T24" fmla="*/ 1 w 3"/>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19">
                  <a:moveTo>
                    <a:pt x="2" y="19"/>
                  </a:moveTo>
                  <a:cubicBezTo>
                    <a:pt x="2" y="19"/>
                    <a:pt x="3" y="19"/>
                    <a:pt x="3" y="18"/>
                  </a:cubicBezTo>
                  <a:cubicBezTo>
                    <a:pt x="3" y="1"/>
                    <a:pt x="3" y="1"/>
                    <a:pt x="3" y="1"/>
                  </a:cubicBezTo>
                  <a:cubicBezTo>
                    <a:pt x="3" y="0"/>
                    <a:pt x="2" y="0"/>
                    <a:pt x="2" y="0"/>
                  </a:cubicBezTo>
                  <a:cubicBezTo>
                    <a:pt x="1" y="0"/>
                    <a:pt x="0" y="0"/>
                    <a:pt x="0" y="1"/>
                  </a:cubicBezTo>
                  <a:cubicBezTo>
                    <a:pt x="0" y="18"/>
                    <a:pt x="0" y="18"/>
                    <a:pt x="0" y="18"/>
                  </a:cubicBezTo>
                  <a:cubicBezTo>
                    <a:pt x="0" y="19"/>
                    <a:pt x="1" y="19"/>
                    <a:pt x="2" y="19"/>
                  </a:cubicBezTo>
                  <a:close/>
                  <a:moveTo>
                    <a:pt x="1" y="1"/>
                  </a:moveTo>
                  <a:cubicBezTo>
                    <a:pt x="1" y="1"/>
                    <a:pt x="1" y="1"/>
                    <a:pt x="2" y="1"/>
                  </a:cubicBezTo>
                  <a:cubicBezTo>
                    <a:pt x="2" y="1"/>
                    <a:pt x="2" y="1"/>
                    <a:pt x="2" y="1"/>
                  </a:cubicBezTo>
                  <a:cubicBezTo>
                    <a:pt x="2" y="18"/>
                    <a:pt x="2" y="18"/>
                    <a:pt x="2" y="18"/>
                  </a:cubicBezTo>
                  <a:cubicBezTo>
                    <a:pt x="2"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91"/>
            <p:cNvSpPr>
              <a:spLocks noEditPoints="1"/>
            </p:cNvSpPr>
            <p:nvPr userDrawn="1"/>
          </p:nvSpPr>
          <p:spPr bwMode="auto">
            <a:xfrm>
              <a:off x="11363325"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2 w 2"/>
                <a:gd name="T15" fmla="*/ 30 h 31"/>
                <a:gd name="T16" fmla="*/ 1 w 2"/>
                <a:gd name="T17" fmla="*/ 30 h 31"/>
                <a:gd name="T18" fmla="*/ 1 w 2"/>
                <a:gd name="T19" fmla="*/ 2 h 31"/>
                <a:gd name="T20" fmla="*/ 1 w 2"/>
                <a:gd name="T21" fmla="*/ 1 h 31"/>
                <a:gd name="T22" fmla="*/ 2 w 2"/>
                <a:gd name="T23" fmla="*/ 2 h 31"/>
                <a:gd name="T24" fmla="*/ 2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2" y="30"/>
                  </a:moveTo>
                  <a:cubicBezTo>
                    <a:pt x="2" y="30"/>
                    <a:pt x="1" y="30"/>
                    <a:pt x="1" y="30"/>
                  </a:cubicBezTo>
                  <a:cubicBezTo>
                    <a:pt x="1" y="2"/>
                    <a:pt x="1" y="2"/>
                    <a:pt x="1" y="2"/>
                  </a:cubicBezTo>
                  <a:cubicBezTo>
                    <a:pt x="1" y="1"/>
                    <a:pt x="1" y="1"/>
                    <a:pt x="1" y="1"/>
                  </a:cubicBezTo>
                  <a:cubicBezTo>
                    <a:pt x="1" y="1"/>
                    <a:pt x="2" y="1"/>
                    <a:pt x="2" y="2"/>
                  </a:cubicBezTo>
                  <a:lnTo>
                    <a:pt x="2"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92"/>
            <p:cNvSpPr>
              <a:spLocks noEditPoints="1"/>
            </p:cNvSpPr>
            <p:nvPr userDrawn="1"/>
          </p:nvSpPr>
          <p:spPr bwMode="auto">
            <a:xfrm>
              <a:off x="11425238"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8" y="16"/>
                    <a:pt x="9" y="15"/>
                    <a:pt x="9" y="15"/>
                  </a:cubicBezTo>
                  <a:cubicBezTo>
                    <a:pt x="9" y="1"/>
                    <a:pt x="9" y="1"/>
                    <a:pt x="9" y="1"/>
                  </a:cubicBezTo>
                  <a:cubicBezTo>
                    <a:pt x="9" y="0"/>
                    <a:pt x="8" y="0"/>
                    <a:pt x="8" y="0"/>
                  </a:cubicBezTo>
                  <a:cubicBezTo>
                    <a:pt x="1" y="0"/>
                    <a:pt x="1" y="0"/>
                    <a:pt x="1" y="0"/>
                  </a:cubicBezTo>
                  <a:cubicBezTo>
                    <a:pt x="0" y="0"/>
                    <a:pt x="0" y="0"/>
                    <a:pt x="0" y="1"/>
                  </a:cubicBezTo>
                  <a:cubicBezTo>
                    <a:pt x="0" y="15"/>
                    <a:pt x="0" y="15"/>
                    <a:pt x="0" y="15"/>
                  </a:cubicBezTo>
                  <a:cubicBezTo>
                    <a:pt x="0" y="15"/>
                    <a:pt x="0"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93"/>
            <p:cNvSpPr>
              <a:spLocks noEditPoints="1"/>
            </p:cNvSpPr>
            <p:nvPr userDrawn="1"/>
          </p:nvSpPr>
          <p:spPr bwMode="auto">
            <a:xfrm>
              <a:off x="11695113"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94"/>
            <p:cNvSpPr>
              <a:spLocks noEditPoints="1"/>
            </p:cNvSpPr>
            <p:nvPr userDrawn="1"/>
          </p:nvSpPr>
          <p:spPr bwMode="auto">
            <a:xfrm>
              <a:off x="11583988"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95"/>
            <p:cNvSpPr>
              <a:spLocks noEditPoints="1"/>
            </p:cNvSpPr>
            <p:nvPr userDrawn="1"/>
          </p:nvSpPr>
          <p:spPr bwMode="auto">
            <a:xfrm>
              <a:off x="11472863"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96"/>
            <p:cNvSpPr>
              <a:spLocks noEditPoints="1"/>
            </p:cNvSpPr>
            <p:nvPr userDrawn="1"/>
          </p:nvSpPr>
          <p:spPr bwMode="auto">
            <a:xfrm>
              <a:off x="11064875" y="4799013"/>
              <a:ext cx="560388" cy="22225"/>
            </a:xfrm>
            <a:custGeom>
              <a:avLst/>
              <a:gdLst>
                <a:gd name="T0" fmla="*/ 80 w 81"/>
                <a:gd name="T1" fmla="*/ 0 h 3"/>
                <a:gd name="T2" fmla="*/ 1 w 81"/>
                <a:gd name="T3" fmla="*/ 0 h 3"/>
                <a:gd name="T4" fmla="*/ 0 w 81"/>
                <a:gd name="T5" fmla="*/ 0 h 3"/>
                <a:gd name="T6" fmla="*/ 0 w 81"/>
                <a:gd name="T7" fmla="*/ 3 h 3"/>
                <a:gd name="T8" fmla="*/ 1 w 81"/>
                <a:gd name="T9" fmla="*/ 3 h 3"/>
                <a:gd name="T10" fmla="*/ 80 w 81"/>
                <a:gd name="T11" fmla="*/ 3 h 3"/>
                <a:gd name="T12" fmla="*/ 81 w 81"/>
                <a:gd name="T13" fmla="*/ 3 h 3"/>
                <a:gd name="T14" fmla="*/ 81 w 81"/>
                <a:gd name="T15" fmla="*/ 0 h 3"/>
                <a:gd name="T16" fmla="*/ 80 w 81"/>
                <a:gd name="T17" fmla="*/ 0 h 3"/>
                <a:gd name="T18" fmla="*/ 80 w 81"/>
                <a:gd name="T19" fmla="*/ 2 h 3"/>
                <a:gd name="T20" fmla="*/ 1 w 81"/>
                <a:gd name="T21" fmla="*/ 2 h 3"/>
                <a:gd name="T22" fmla="*/ 1 w 81"/>
                <a:gd name="T23" fmla="*/ 1 h 3"/>
                <a:gd name="T24" fmla="*/ 80 w 81"/>
                <a:gd name="T25" fmla="*/ 1 h 3"/>
                <a:gd name="T26" fmla="*/ 80 w 81"/>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3">
                  <a:moveTo>
                    <a:pt x="80" y="0"/>
                  </a:moveTo>
                  <a:cubicBezTo>
                    <a:pt x="1" y="0"/>
                    <a:pt x="1" y="0"/>
                    <a:pt x="1" y="0"/>
                  </a:cubicBezTo>
                  <a:cubicBezTo>
                    <a:pt x="0" y="0"/>
                    <a:pt x="0" y="0"/>
                    <a:pt x="0" y="0"/>
                  </a:cubicBezTo>
                  <a:cubicBezTo>
                    <a:pt x="0" y="3"/>
                    <a:pt x="0" y="3"/>
                    <a:pt x="0" y="3"/>
                  </a:cubicBezTo>
                  <a:cubicBezTo>
                    <a:pt x="0" y="3"/>
                    <a:pt x="0" y="3"/>
                    <a:pt x="1" y="3"/>
                  </a:cubicBezTo>
                  <a:cubicBezTo>
                    <a:pt x="80" y="3"/>
                    <a:pt x="80" y="3"/>
                    <a:pt x="80" y="3"/>
                  </a:cubicBezTo>
                  <a:cubicBezTo>
                    <a:pt x="81" y="3"/>
                    <a:pt x="81" y="3"/>
                    <a:pt x="81" y="3"/>
                  </a:cubicBezTo>
                  <a:cubicBezTo>
                    <a:pt x="81" y="0"/>
                    <a:pt x="81" y="0"/>
                    <a:pt x="81" y="0"/>
                  </a:cubicBezTo>
                  <a:cubicBezTo>
                    <a:pt x="81" y="0"/>
                    <a:pt x="81" y="0"/>
                    <a:pt x="80" y="0"/>
                  </a:cubicBezTo>
                  <a:close/>
                  <a:moveTo>
                    <a:pt x="80" y="2"/>
                  </a:moveTo>
                  <a:cubicBezTo>
                    <a:pt x="1" y="2"/>
                    <a:pt x="1" y="2"/>
                    <a:pt x="1" y="2"/>
                  </a:cubicBezTo>
                  <a:cubicBezTo>
                    <a:pt x="1" y="1"/>
                    <a:pt x="1" y="1"/>
                    <a:pt x="1" y="1"/>
                  </a:cubicBezTo>
                  <a:cubicBezTo>
                    <a:pt x="80" y="1"/>
                    <a:pt x="80" y="1"/>
                    <a:pt x="80" y="1"/>
                  </a:cubicBezTo>
                  <a:lnTo>
                    <a:pt x="8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297"/>
            <p:cNvSpPr>
              <a:spLocks noEditPoints="1"/>
            </p:cNvSpPr>
            <p:nvPr userDrawn="1"/>
          </p:nvSpPr>
          <p:spPr bwMode="auto">
            <a:xfrm>
              <a:off x="11639550" y="4568825"/>
              <a:ext cx="12700" cy="133350"/>
            </a:xfrm>
            <a:custGeom>
              <a:avLst/>
              <a:gdLst>
                <a:gd name="T0" fmla="*/ 1 w 2"/>
                <a:gd name="T1" fmla="*/ 0 h 19"/>
                <a:gd name="T2" fmla="*/ 0 w 2"/>
                <a:gd name="T3" fmla="*/ 1 h 19"/>
                <a:gd name="T4" fmla="*/ 0 w 2"/>
                <a:gd name="T5" fmla="*/ 18 h 19"/>
                <a:gd name="T6" fmla="*/ 1 w 2"/>
                <a:gd name="T7" fmla="*/ 19 h 19"/>
                <a:gd name="T8" fmla="*/ 2 w 2"/>
                <a:gd name="T9" fmla="*/ 18 h 19"/>
                <a:gd name="T10" fmla="*/ 2 w 2"/>
                <a:gd name="T11" fmla="*/ 1 h 19"/>
                <a:gd name="T12" fmla="*/ 1 w 2"/>
                <a:gd name="T13" fmla="*/ 0 h 19"/>
                <a:gd name="T14" fmla="*/ 1 w 2"/>
                <a:gd name="T15" fmla="*/ 18 h 19"/>
                <a:gd name="T16" fmla="*/ 1 w 2"/>
                <a:gd name="T17" fmla="*/ 18 h 19"/>
                <a:gd name="T18" fmla="*/ 1 w 2"/>
                <a:gd name="T19" fmla="*/ 1 h 19"/>
                <a:gd name="T20" fmla="*/ 1 w 2"/>
                <a:gd name="T21" fmla="*/ 1 h 19"/>
                <a:gd name="T22" fmla="*/ 1 w 2"/>
                <a:gd name="T23" fmla="*/ 1 h 19"/>
                <a:gd name="T24" fmla="*/ 1 w 2"/>
                <a:gd name="T25"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0"/>
                  </a:moveTo>
                  <a:cubicBezTo>
                    <a:pt x="1" y="0"/>
                    <a:pt x="0" y="0"/>
                    <a:pt x="0" y="1"/>
                  </a:cubicBezTo>
                  <a:cubicBezTo>
                    <a:pt x="0" y="18"/>
                    <a:pt x="0" y="18"/>
                    <a:pt x="0" y="18"/>
                  </a:cubicBezTo>
                  <a:cubicBezTo>
                    <a:pt x="0" y="19"/>
                    <a:pt x="1" y="19"/>
                    <a:pt x="1" y="19"/>
                  </a:cubicBezTo>
                  <a:cubicBezTo>
                    <a:pt x="2" y="19"/>
                    <a:pt x="2" y="19"/>
                    <a:pt x="2" y="18"/>
                  </a:cubicBezTo>
                  <a:cubicBezTo>
                    <a:pt x="2" y="1"/>
                    <a:pt x="2" y="1"/>
                    <a:pt x="2" y="1"/>
                  </a:cubicBezTo>
                  <a:cubicBezTo>
                    <a:pt x="2" y="0"/>
                    <a:pt x="2" y="0"/>
                    <a:pt x="1" y="0"/>
                  </a:cubicBezTo>
                  <a:close/>
                  <a:moveTo>
                    <a:pt x="1" y="18"/>
                  </a:moveTo>
                  <a:cubicBezTo>
                    <a:pt x="1" y="18"/>
                    <a:pt x="1" y="18"/>
                    <a:pt x="1" y="18"/>
                  </a:cubicBezTo>
                  <a:cubicBezTo>
                    <a:pt x="1" y="1"/>
                    <a:pt x="1" y="1"/>
                    <a:pt x="1" y="1"/>
                  </a:cubicBezTo>
                  <a:cubicBezTo>
                    <a:pt x="1" y="1"/>
                    <a:pt x="1" y="1"/>
                    <a:pt x="1" y="1"/>
                  </a:cubicBezTo>
                  <a:cubicBezTo>
                    <a:pt x="1" y="1"/>
                    <a:pt x="1" y="1"/>
                    <a:pt x="1" y="1"/>
                  </a:cubicBezTo>
                  <a:lnTo>
                    <a:pt x="1"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98"/>
            <p:cNvSpPr>
              <a:spLocks noEditPoints="1"/>
            </p:cNvSpPr>
            <p:nvPr userDrawn="1"/>
          </p:nvSpPr>
          <p:spPr bwMode="auto">
            <a:xfrm>
              <a:off x="11064875" y="4743450"/>
              <a:ext cx="484188" cy="28575"/>
            </a:xfrm>
            <a:custGeom>
              <a:avLst/>
              <a:gdLst>
                <a:gd name="T0" fmla="*/ 1 w 70"/>
                <a:gd name="T1" fmla="*/ 4 h 4"/>
                <a:gd name="T2" fmla="*/ 70 w 70"/>
                <a:gd name="T3" fmla="*/ 4 h 4"/>
                <a:gd name="T4" fmla="*/ 70 w 70"/>
                <a:gd name="T5" fmla="*/ 4 h 4"/>
                <a:gd name="T6" fmla="*/ 70 w 70"/>
                <a:gd name="T7" fmla="*/ 1 h 4"/>
                <a:gd name="T8" fmla="*/ 70 w 70"/>
                <a:gd name="T9" fmla="*/ 0 h 4"/>
                <a:gd name="T10" fmla="*/ 1 w 70"/>
                <a:gd name="T11" fmla="*/ 0 h 4"/>
                <a:gd name="T12" fmla="*/ 0 w 70"/>
                <a:gd name="T13" fmla="*/ 1 h 4"/>
                <a:gd name="T14" fmla="*/ 0 w 70"/>
                <a:gd name="T15" fmla="*/ 4 h 4"/>
                <a:gd name="T16" fmla="*/ 1 w 70"/>
                <a:gd name="T17" fmla="*/ 4 h 4"/>
                <a:gd name="T18" fmla="*/ 1 w 70"/>
                <a:gd name="T19" fmla="*/ 1 h 4"/>
                <a:gd name="T20" fmla="*/ 69 w 70"/>
                <a:gd name="T21" fmla="*/ 1 h 4"/>
                <a:gd name="T22" fmla="*/ 69 w 70"/>
                <a:gd name="T23" fmla="*/ 3 h 4"/>
                <a:gd name="T24" fmla="*/ 1 w 70"/>
                <a:gd name="T25" fmla="*/ 3 h 4"/>
                <a:gd name="T26" fmla="*/ 1 w 70"/>
                <a:gd name="T2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4">
                  <a:moveTo>
                    <a:pt x="1" y="4"/>
                  </a:moveTo>
                  <a:cubicBezTo>
                    <a:pt x="70" y="4"/>
                    <a:pt x="70" y="4"/>
                    <a:pt x="70" y="4"/>
                  </a:cubicBezTo>
                  <a:cubicBezTo>
                    <a:pt x="70" y="4"/>
                    <a:pt x="70" y="4"/>
                    <a:pt x="70" y="4"/>
                  </a:cubicBezTo>
                  <a:cubicBezTo>
                    <a:pt x="70" y="1"/>
                    <a:pt x="70" y="1"/>
                    <a:pt x="70" y="1"/>
                  </a:cubicBezTo>
                  <a:cubicBezTo>
                    <a:pt x="70" y="1"/>
                    <a:pt x="70" y="0"/>
                    <a:pt x="70" y="0"/>
                  </a:cubicBezTo>
                  <a:cubicBezTo>
                    <a:pt x="1" y="0"/>
                    <a:pt x="1" y="0"/>
                    <a:pt x="1" y="0"/>
                  </a:cubicBezTo>
                  <a:cubicBezTo>
                    <a:pt x="0" y="0"/>
                    <a:pt x="0" y="1"/>
                    <a:pt x="0" y="1"/>
                  </a:cubicBezTo>
                  <a:cubicBezTo>
                    <a:pt x="0" y="4"/>
                    <a:pt x="0" y="4"/>
                    <a:pt x="0" y="4"/>
                  </a:cubicBezTo>
                  <a:cubicBezTo>
                    <a:pt x="0" y="4"/>
                    <a:pt x="0" y="4"/>
                    <a:pt x="1" y="4"/>
                  </a:cubicBezTo>
                  <a:close/>
                  <a:moveTo>
                    <a:pt x="1" y="1"/>
                  </a:moveTo>
                  <a:cubicBezTo>
                    <a:pt x="69" y="1"/>
                    <a:pt x="69" y="1"/>
                    <a:pt x="69" y="1"/>
                  </a:cubicBezTo>
                  <a:cubicBezTo>
                    <a:pt x="69" y="3"/>
                    <a:pt x="69" y="3"/>
                    <a:pt x="69" y="3"/>
                  </a:cubicBezTo>
                  <a:cubicBezTo>
                    <a:pt x="1" y="3"/>
                    <a:pt x="1" y="3"/>
                    <a:pt x="1" y="3"/>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99"/>
            <p:cNvSpPr>
              <a:spLocks noEditPoints="1"/>
            </p:cNvSpPr>
            <p:nvPr userDrawn="1"/>
          </p:nvSpPr>
          <p:spPr bwMode="auto">
            <a:xfrm>
              <a:off x="12026900" y="4275138"/>
              <a:ext cx="12700"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300"/>
            <p:cNvSpPr>
              <a:spLocks noEditPoints="1"/>
            </p:cNvSpPr>
            <p:nvPr userDrawn="1"/>
          </p:nvSpPr>
          <p:spPr bwMode="auto">
            <a:xfrm>
              <a:off x="11293475"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9" y="16"/>
                    <a:pt x="9" y="15"/>
                    <a:pt x="9" y="15"/>
                  </a:cubicBezTo>
                  <a:cubicBezTo>
                    <a:pt x="9" y="1"/>
                    <a:pt x="9" y="1"/>
                    <a:pt x="9" y="1"/>
                  </a:cubicBezTo>
                  <a:cubicBezTo>
                    <a:pt x="9" y="0"/>
                    <a:pt x="9" y="0"/>
                    <a:pt x="8" y="0"/>
                  </a:cubicBezTo>
                  <a:cubicBezTo>
                    <a:pt x="1" y="0"/>
                    <a:pt x="1" y="0"/>
                    <a:pt x="1" y="0"/>
                  </a:cubicBezTo>
                  <a:cubicBezTo>
                    <a:pt x="1" y="0"/>
                    <a:pt x="0" y="0"/>
                    <a:pt x="0" y="1"/>
                  </a:cubicBezTo>
                  <a:cubicBezTo>
                    <a:pt x="0" y="15"/>
                    <a:pt x="0" y="15"/>
                    <a:pt x="0" y="15"/>
                  </a:cubicBezTo>
                  <a:cubicBezTo>
                    <a:pt x="0" y="15"/>
                    <a:pt x="1"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301"/>
            <p:cNvSpPr>
              <a:spLocks noEditPoints="1"/>
            </p:cNvSpPr>
            <p:nvPr userDrawn="1"/>
          </p:nvSpPr>
          <p:spPr bwMode="auto">
            <a:xfrm>
              <a:off x="11363325" y="4589463"/>
              <a:ext cx="53975" cy="112713"/>
            </a:xfrm>
            <a:custGeom>
              <a:avLst/>
              <a:gdLst>
                <a:gd name="T0" fmla="*/ 0 w 8"/>
                <a:gd name="T1" fmla="*/ 16 h 16"/>
                <a:gd name="T2" fmla="*/ 8 w 8"/>
                <a:gd name="T3" fmla="*/ 16 h 16"/>
                <a:gd name="T4" fmla="*/ 8 w 8"/>
                <a:gd name="T5" fmla="*/ 15 h 16"/>
                <a:gd name="T6" fmla="*/ 8 w 8"/>
                <a:gd name="T7" fmla="*/ 1 h 16"/>
                <a:gd name="T8" fmla="*/ 8 w 8"/>
                <a:gd name="T9" fmla="*/ 0 h 16"/>
                <a:gd name="T10" fmla="*/ 0 w 8"/>
                <a:gd name="T11" fmla="*/ 0 h 16"/>
                <a:gd name="T12" fmla="*/ 0 w 8"/>
                <a:gd name="T13" fmla="*/ 1 h 16"/>
                <a:gd name="T14" fmla="*/ 0 w 8"/>
                <a:gd name="T15" fmla="*/ 15 h 16"/>
                <a:gd name="T16" fmla="*/ 0 w 8"/>
                <a:gd name="T17" fmla="*/ 16 h 16"/>
                <a:gd name="T18" fmla="*/ 1 w 8"/>
                <a:gd name="T19" fmla="*/ 1 h 16"/>
                <a:gd name="T20" fmla="*/ 7 w 8"/>
                <a:gd name="T21" fmla="*/ 1 h 16"/>
                <a:gd name="T22" fmla="*/ 7 w 8"/>
                <a:gd name="T23" fmla="*/ 15 h 16"/>
                <a:gd name="T24" fmla="*/ 1 w 8"/>
                <a:gd name="T25" fmla="*/ 15 h 16"/>
                <a:gd name="T26" fmla="*/ 1 w 8"/>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6">
                  <a:moveTo>
                    <a:pt x="0" y="16"/>
                  </a:moveTo>
                  <a:cubicBezTo>
                    <a:pt x="8" y="16"/>
                    <a:pt x="8" y="16"/>
                    <a:pt x="8" y="16"/>
                  </a:cubicBezTo>
                  <a:cubicBezTo>
                    <a:pt x="8" y="16"/>
                    <a:pt x="8" y="15"/>
                    <a:pt x="8" y="15"/>
                  </a:cubicBezTo>
                  <a:cubicBezTo>
                    <a:pt x="8" y="1"/>
                    <a:pt x="8" y="1"/>
                    <a:pt x="8" y="1"/>
                  </a:cubicBezTo>
                  <a:cubicBezTo>
                    <a:pt x="8" y="0"/>
                    <a:pt x="8" y="0"/>
                    <a:pt x="8" y="0"/>
                  </a:cubicBezTo>
                  <a:cubicBezTo>
                    <a:pt x="0" y="0"/>
                    <a:pt x="0" y="0"/>
                    <a:pt x="0" y="0"/>
                  </a:cubicBezTo>
                  <a:cubicBezTo>
                    <a:pt x="0" y="0"/>
                    <a:pt x="0" y="0"/>
                    <a:pt x="0" y="1"/>
                  </a:cubicBezTo>
                  <a:cubicBezTo>
                    <a:pt x="0" y="15"/>
                    <a:pt x="0" y="15"/>
                    <a:pt x="0" y="15"/>
                  </a:cubicBezTo>
                  <a:cubicBezTo>
                    <a:pt x="0" y="15"/>
                    <a:pt x="0" y="16"/>
                    <a:pt x="0" y="16"/>
                  </a:cubicBezTo>
                  <a:close/>
                  <a:moveTo>
                    <a:pt x="1" y="1"/>
                  </a:moveTo>
                  <a:cubicBezTo>
                    <a:pt x="7" y="1"/>
                    <a:pt x="7" y="1"/>
                    <a:pt x="7" y="1"/>
                  </a:cubicBezTo>
                  <a:cubicBezTo>
                    <a:pt x="7" y="15"/>
                    <a:pt x="7" y="15"/>
                    <a:pt x="7"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302"/>
            <p:cNvSpPr>
              <a:spLocks noEditPoints="1"/>
            </p:cNvSpPr>
            <p:nvPr userDrawn="1"/>
          </p:nvSpPr>
          <p:spPr bwMode="auto">
            <a:xfrm>
              <a:off x="11120438"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1 w 2"/>
                <a:gd name="T15" fmla="*/ 1 h 19"/>
                <a:gd name="T16" fmla="*/ 1 w 2"/>
                <a:gd name="T17" fmla="*/ 1 h 19"/>
                <a:gd name="T18" fmla="*/ 1 w 2"/>
                <a:gd name="T19" fmla="*/ 1 h 19"/>
                <a:gd name="T20" fmla="*/ 1 w 2"/>
                <a:gd name="T21" fmla="*/ 18 h 19"/>
                <a:gd name="T22" fmla="*/ 1 w 2"/>
                <a:gd name="T23" fmla="*/ 18 h 19"/>
                <a:gd name="T24" fmla="*/ 1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1" y="1"/>
                  </a:moveTo>
                  <a:cubicBezTo>
                    <a:pt x="1" y="1"/>
                    <a:pt x="1" y="1"/>
                    <a:pt x="1" y="1"/>
                  </a:cubicBezTo>
                  <a:cubicBezTo>
                    <a:pt x="1" y="1"/>
                    <a:pt x="1" y="1"/>
                    <a:pt x="1" y="1"/>
                  </a:cubicBezTo>
                  <a:cubicBezTo>
                    <a:pt x="1" y="18"/>
                    <a:pt x="1" y="18"/>
                    <a:pt x="1" y="18"/>
                  </a:cubicBezTo>
                  <a:cubicBezTo>
                    <a:pt x="1"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303"/>
            <p:cNvSpPr>
              <a:spLocks noEditPoints="1"/>
            </p:cNvSpPr>
            <p:nvPr userDrawn="1"/>
          </p:nvSpPr>
          <p:spPr bwMode="auto">
            <a:xfrm>
              <a:off x="11217275"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0 w 2"/>
                <a:gd name="T15" fmla="*/ 1 h 19"/>
                <a:gd name="T16" fmla="*/ 1 w 2"/>
                <a:gd name="T17" fmla="*/ 1 h 19"/>
                <a:gd name="T18" fmla="*/ 1 w 2"/>
                <a:gd name="T19" fmla="*/ 1 h 19"/>
                <a:gd name="T20" fmla="*/ 1 w 2"/>
                <a:gd name="T21" fmla="*/ 18 h 19"/>
                <a:gd name="T22" fmla="*/ 0 w 2"/>
                <a:gd name="T23" fmla="*/ 18 h 19"/>
                <a:gd name="T24" fmla="*/ 0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0" y="1"/>
                  </a:moveTo>
                  <a:cubicBezTo>
                    <a:pt x="0" y="1"/>
                    <a:pt x="1" y="1"/>
                    <a:pt x="1" y="1"/>
                  </a:cubicBezTo>
                  <a:cubicBezTo>
                    <a:pt x="1" y="1"/>
                    <a:pt x="1" y="1"/>
                    <a:pt x="1" y="1"/>
                  </a:cubicBezTo>
                  <a:cubicBezTo>
                    <a:pt x="1" y="18"/>
                    <a:pt x="1" y="18"/>
                    <a:pt x="1" y="18"/>
                  </a:cubicBezTo>
                  <a:cubicBezTo>
                    <a:pt x="1" y="18"/>
                    <a:pt x="0" y="18"/>
                    <a:pt x="0" y="18"/>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304"/>
            <p:cNvSpPr>
              <a:spLocks noEditPoints="1"/>
            </p:cNvSpPr>
            <p:nvPr userDrawn="1"/>
          </p:nvSpPr>
          <p:spPr bwMode="auto">
            <a:xfrm>
              <a:off x="12012613" y="4729163"/>
              <a:ext cx="26988" cy="34925"/>
            </a:xfrm>
            <a:custGeom>
              <a:avLst/>
              <a:gdLst>
                <a:gd name="T0" fmla="*/ 2 w 4"/>
                <a:gd name="T1" fmla="*/ 5 h 5"/>
                <a:gd name="T2" fmla="*/ 3 w 4"/>
                <a:gd name="T3" fmla="*/ 4 h 5"/>
                <a:gd name="T4" fmla="*/ 3 w 4"/>
                <a:gd name="T5" fmla="*/ 0 h 5"/>
                <a:gd name="T6" fmla="*/ 1 w 4"/>
                <a:gd name="T7" fmla="*/ 0 h 5"/>
                <a:gd name="T8" fmla="*/ 0 w 4"/>
                <a:gd name="T9" fmla="*/ 3 h 5"/>
                <a:gd name="T10" fmla="*/ 2 w 4"/>
                <a:gd name="T11" fmla="*/ 5 h 5"/>
                <a:gd name="T12" fmla="*/ 2 w 4"/>
                <a:gd name="T13" fmla="*/ 5 h 5"/>
                <a:gd name="T14" fmla="*/ 1 w 4"/>
                <a:gd name="T15" fmla="*/ 2 h 5"/>
                <a:gd name="T16" fmla="*/ 2 w 4"/>
                <a:gd name="T17" fmla="*/ 1 h 5"/>
                <a:gd name="T18" fmla="*/ 2 w 4"/>
                <a:gd name="T19" fmla="*/ 1 h 5"/>
                <a:gd name="T20" fmla="*/ 2 w 4"/>
                <a:gd name="T21" fmla="*/ 3 h 5"/>
                <a:gd name="T22" fmla="*/ 2 w 4"/>
                <a:gd name="T23" fmla="*/ 4 h 5"/>
                <a:gd name="T24" fmla="*/ 1 w 4"/>
                <a:gd name="T25"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5"/>
                  </a:moveTo>
                  <a:cubicBezTo>
                    <a:pt x="2" y="5"/>
                    <a:pt x="3" y="4"/>
                    <a:pt x="3" y="4"/>
                  </a:cubicBezTo>
                  <a:cubicBezTo>
                    <a:pt x="4" y="3"/>
                    <a:pt x="4" y="1"/>
                    <a:pt x="3" y="0"/>
                  </a:cubicBezTo>
                  <a:cubicBezTo>
                    <a:pt x="3" y="0"/>
                    <a:pt x="2" y="0"/>
                    <a:pt x="1" y="0"/>
                  </a:cubicBezTo>
                  <a:cubicBezTo>
                    <a:pt x="0" y="0"/>
                    <a:pt x="0" y="1"/>
                    <a:pt x="0" y="3"/>
                  </a:cubicBezTo>
                  <a:cubicBezTo>
                    <a:pt x="0" y="4"/>
                    <a:pt x="1" y="5"/>
                    <a:pt x="2" y="5"/>
                  </a:cubicBezTo>
                  <a:cubicBezTo>
                    <a:pt x="2" y="5"/>
                    <a:pt x="2" y="5"/>
                    <a:pt x="2" y="5"/>
                  </a:cubicBezTo>
                  <a:close/>
                  <a:moveTo>
                    <a:pt x="1" y="2"/>
                  </a:moveTo>
                  <a:cubicBezTo>
                    <a:pt x="1" y="2"/>
                    <a:pt x="1" y="1"/>
                    <a:pt x="2" y="1"/>
                  </a:cubicBezTo>
                  <a:cubicBezTo>
                    <a:pt x="2" y="1"/>
                    <a:pt x="2" y="1"/>
                    <a:pt x="2" y="1"/>
                  </a:cubicBezTo>
                  <a:cubicBezTo>
                    <a:pt x="3" y="2"/>
                    <a:pt x="3" y="3"/>
                    <a:pt x="2" y="3"/>
                  </a:cubicBezTo>
                  <a:cubicBezTo>
                    <a:pt x="2" y="4"/>
                    <a:pt x="2" y="4"/>
                    <a:pt x="2" y="4"/>
                  </a:cubicBezTo>
                  <a:cubicBezTo>
                    <a:pt x="1" y="4"/>
                    <a:pt x="1" y="3"/>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305"/>
            <p:cNvSpPr>
              <a:spLocks noEditPoints="1"/>
            </p:cNvSpPr>
            <p:nvPr userDrawn="1"/>
          </p:nvSpPr>
          <p:spPr bwMode="auto">
            <a:xfrm>
              <a:off x="11936413" y="4743450"/>
              <a:ext cx="20638" cy="34925"/>
            </a:xfrm>
            <a:custGeom>
              <a:avLst/>
              <a:gdLst>
                <a:gd name="T0" fmla="*/ 2 w 3"/>
                <a:gd name="T1" fmla="*/ 5 h 5"/>
                <a:gd name="T2" fmla="*/ 3 w 3"/>
                <a:gd name="T3" fmla="*/ 4 h 5"/>
                <a:gd name="T4" fmla="*/ 3 w 3"/>
                <a:gd name="T5" fmla="*/ 4 h 5"/>
                <a:gd name="T6" fmla="*/ 3 w 3"/>
                <a:gd name="T7" fmla="*/ 3 h 5"/>
                <a:gd name="T8" fmla="*/ 3 w 3"/>
                <a:gd name="T9" fmla="*/ 1 h 5"/>
                <a:gd name="T10" fmla="*/ 2 w 3"/>
                <a:gd name="T11" fmla="*/ 0 h 5"/>
                <a:gd name="T12" fmla="*/ 2 w 3"/>
                <a:gd name="T13" fmla="*/ 0 h 5"/>
                <a:gd name="T14" fmla="*/ 0 w 3"/>
                <a:gd name="T15" fmla="*/ 1 h 5"/>
                <a:gd name="T16" fmla="*/ 0 w 3"/>
                <a:gd name="T17" fmla="*/ 4 h 5"/>
                <a:gd name="T18" fmla="*/ 2 w 3"/>
                <a:gd name="T19" fmla="*/ 5 h 5"/>
                <a:gd name="T20" fmla="*/ 2 w 3"/>
                <a:gd name="T21" fmla="*/ 5 h 5"/>
                <a:gd name="T22" fmla="*/ 1 w 3"/>
                <a:gd name="T23" fmla="*/ 1 h 5"/>
                <a:gd name="T24" fmla="*/ 2 w 3"/>
                <a:gd name="T25" fmla="*/ 1 h 5"/>
                <a:gd name="T26" fmla="*/ 2 w 3"/>
                <a:gd name="T27" fmla="*/ 1 h 5"/>
                <a:gd name="T28" fmla="*/ 2 w 3"/>
                <a:gd name="T29" fmla="*/ 1 h 5"/>
                <a:gd name="T30" fmla="*/ 2 w 3"/>
                <a:gd name="T31" fmla="*/ 2 h 5"/>
                <a:gd name="T32" fmla="*/ 2 w 3"/>
                <a:gd name="T33" fmla="*/ 4 h 5"/>
                <a:gd name="T34" fmla="*/ 2 w 3"/>
                <a:gd name="T35" fmla="*/ 4 h 5"/>
                <a:gd name="T36" fmla="*/ 1 w 3"/>
                <a:gd name="T37" fmla="*/ 4 h 5"/>
                <a:gd name="T38" fmla="*/ 1 w 3"/>
                <a:gd name="T3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 h="5">
                  <a:moveTo>
                    <a:pt x="2" y="5"/>
                  </a:moveTo>
                  <a:cubicBezTo>
                    <a:pt x="2" y="5"/>
                    <a:pt x="3" y="4"/>
                    <a:pt x="3" y="4"/>
                  </a:cubicBezTo>
                  <a:cubicBezTo>
                    <a:pt x="3" y="4"/>
                    <a:pt x="3" y="4"/>
                    <a:pt x="3" y="4"/>
                  </a:cubicBezTo>
                  <a:cubicBezTo>
                    <a:pt x="3" y="3"/>
                    <a:pt x="3" y="3"/>
                    <a:pt x="3" y="3"/>
                  </a:cubicBezTo>
                  <a:cubicBezTo>
                    <a:pt x="3" y="2"/>
                    <a:pt x="3" y="2"/>
                    <a:pt x="3" y="1"/>
                  </a:cubicBezTo>
                  <a:cubicBezTo>
                    <a:pt x="3" y="0"/>
                    <a:pt x="2" y="0"/>
                    <a:pt x="2" y="0"/>
                  </a:cubicBezTo>
                  <a:cubicBezTo>
                    <a:pt x="2" y="0"/>
                    <a:pt x="2" y="0"/>
                    <a:pt x="2" y="0"/>
                  </a:cubicBezTo>
                  <a:cubicBezTo>
                    <a:pt x="1" y="0"/>
                    <a:pt x="0" y="1"/>
                    <a:pt x="0" y="1"/>
                  </a:cubicBezTo>
                  <a:cubicBezTo>
                    <a:pt x="0" y="2"/>
                    <a:pt x="0" y="4"/>
                    <a:pt x="0" y="4"/>
                  </a:cubicBezTo>
                  <a:cubicBezTo>
                    <a:pt x="1" y="5"/>
                    <a:pt x="1" y="5"/>
                    <a:pt x="2" y="5"/>
                  </a:cubicBezTo>
                  <a:cubicBezTo>
                    <a:pt x="2" y="5"/>
                    <a:pt x="2" y="5"/>
                    <a:pt x="2" y="5"/>
                  </a:cubicBezTo>
                  <a:close/>
                  <a:moveTo>
                    <a:pt x="1" y="1"/>
                  </a:moveTo>
                  <a:cubicBezTo>
                    <a:pt x="1" y="1"/>
                    <a:pt x="1" y="1"/>
                    <a:pt x="2" y="1"/>
                  </a:cubicBezTo>
                  <a:cubicBezTo>
                    <a:pt x="2" y="1"/>
                    <a:pt x="2" y="1"/>
                    <a:pt x="2" y="1"/>
                  </a:cubicBezTo>
                  <a:cubicBezTo>
                    <a:pt x="2" y="1"/>
                    <a:pt x="2" y="1"/>
                    <a:pt x="2" y="1"/>
                  </a:cubicBezTo>
                  <a:cubicBezTo>
                    <a:pt x="2" y="2"/>
                    <a:pt x="2" y="2"/>
                    <a:pt x="2" y="2"/>
                  </a:cubicBezTo>
                  <a:cubicBezTo>
                    <a:pt x="2" y="3"/>
                    <a:pt x="2" y="3"/>
                    <a:pt x="2" y="4"/>
                  </a:cubicBezTo>
                  <a:cubicBezTo>
                    <a:pt x="2" y="4"/>
                    <a:pt x="2" y="4"/>
                    <a:pt x="2" y="4"/>
                  </a:cubicBezTo>
                  <a:cubicBezTo>
                    <a:pt x="1" y="4"/>
                    <a:pt x="1" y="4"/>
                    <a:pt x="1" y="4"/>
                  </a:cubicBezTo>
                  <a:cubicBezTo>
                    <a:pt x="1" y="4"/>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和内容">
    <p:bg>
      <p:bgPr>
        <a:gradFill>
          <a:gsLst>
            <a:gs pos="0">
              <a:srgbClr val="1C3193"/>
            </a:gs>
            <a:gs pos="100000">
              <a:srgbClr val="10132F"/>
            </a:gs>
          </a:gsLst>
          <a:lin ang="18900000" scaled="0"/>
        </a:gradFill>
        <a:effectLst/>
      </p:bgPr>
    </p:bg>
    <p:spTree>
      <p:nvGrpSpPr>
        <p:cNvPr id="1" name=""/>
        <p:cNvGrpSpPr/>
        <p:nvPr/>
      </p:nvGrpSpPr>
      <p:grpSpPr>
        <a:xfrm>
          <a:off x="0" y="0"/>
          <a:ext cx="0" cy="0"/>
          <a:chOff x="0" y="0"/>
          <a:chExt cx="0" cy="0"/>
        </a:xfrm>
      </p:grpSpPr>
      <p:pic>
        <p:nvPicPr>
          <p:cNvPr id="8" name="图片 7" descr="logo-04"/>
          <p:cNvPicPr>
            <a:picLocks noChangeAspect="1"/>
          </p:cNvPicPr>
          <p:nvPr userDrawn="1"/>
        </p:nvPicPr>
        <p:blipFill>
          <a:blip r:embed="rId2"/>
          <a:stretch>
            <a:fillRect/>
          </a:stretch>
        </p:blipFill>
        <p:spPr>
          <a:xfrm>
            <a:off x="-268605" y="-464820"/>
            <a:ext cx="3293110" cy="217551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4.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s>
</file>

<file path=ppt/slides/_rels/slide3.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66.xml"/><Relationship Id="rId3" Type="http://schemas.openxmlformats.org/officeDocument/2006/relationships/tags" Target="../tags/tag65.xml"/><Relationship Id="rId2" Type="http://schemas.openxmlformats.org/officeDocument/2006/relationships/tags" Target="../tags/tag64.xml"/><Relationship Id="rId12" Type="http://schemas.openxmlformats.org/officeDocument/2006/relationships/notesSlide" Target="../notesSlides/notesSlide3.xml"/><Relationship Id="rId11" Type="http://schemas.openxmlformats.org/officeDocument/2006/relationships/slideLayout" Target="../slideLayouts/slideLayout12.xml"/><Relationship Id="rId10" Type="http://schemas.openxmlformats.org/officeDocument/2006/relationships/tags" Target="../tags/tag67.xml"/><Relationship Id="rId1" Type="http://schemas.openxmlformats.org/officeDocument/2006/relationships/tags" Target="../tags/tag63.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3.xml"/><Relationship Id="rId7" Type="http://schemas.openxmlformats.org/officeDocument/2006/relationships/tags" Target="../tags/tag71.xml"/><Relationship Id="rId6" Type="http://schemas.openxmlformats.org/officeDocument/2006/relationships/tags" Target="../tags/tag70.xml"/><Relationship Id="rId5" Type="http://schemas.openxmlformats.org/officeDocument/2006/relationships/image" Target="../media/image12.png"/><Relationship Id="rId4" Type="http://schemas.openxmlformats.org/officeDocument/2006/relationships/tags" Target="../tags/tag69.xml"/><Relationship Id="rId3" Type="http://schemas.openxmlformats.org/officeDocument/2006/relationships/tags" Target="../tags/tag68.xml"/><Relationship Id="rId2" Type="http://schemas.openxmlformats.org/officeDocument/2006/relationships/image" Target="../media/image11.png"/><Relationship Id="rId1" Type="http://schemas.openxmlformats.org/officeDocument/2006/relationships/image" Target="../media/image10.png"/></Relationships>
</file>

<file path=ppt/slides/_rels/slide5.xml.rels><?xml version="1.0" encoding="UTF-8" standalone="yes"?>
<Relationships xmlns="http://schemas.openxmlformats.org/package/2006/relationships"><Relationship Id="rId9" Type="http://schemas.openxmlformats.org/officeDocument/2006/relationships/image" Target="../media/image9.svg"/><Relationship Id="rId8" Type="http://schemas.openxmlformats.org/officeDocument/2006/relationships/image" Target="../media/image8.png"/><Relationship Id="rId7"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tags" Target="../tags/tag76.xml"/><Relationship Id="rId1" Type="http://schemas.openxmlformats.org/officeDocument/2006/relationships/tags" Target="../tags/tag7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3.xml"/><Relationship Id="rId8" Type="http://schemas.openxmlformats.org/officeDocument/2006/relationships/tags" Target="../tags/tag83.xml"/><Relationship Id="rId7" Type="http://schemas.openxmlformats.org/officeDocument/2006/relationships/tags" Target="../tags/tag82.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image" Target="../media/image10.png"/><Relationship Id="rId10" Type="http://schemas.openxmlformats.org/officeDocument/2006/relationships/notesSlide" Target="../notesSlides/notesSlide6.xml"/><Relationship Id="rId1" Type="http://schemas.openxmlformats.org/officeDocument/2006/relationships/tags" Target="../tags/tag77.xml"/></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7.xml"/><Relationship Id="rId6" Type="http://schemas.openxmlformats.org/officeDocument/2006/relationships/slideLayout" Target="../slideLayouts/slideLayout3.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image" Target="../media/image13.jpeg"/><Relationship Id="rId2" Type="http://schemas.openxmlformats.org/officeDocument/2006/relationships/image" Target="../media/image10.png"/><Relationship Id="rId1" Type="http://schemas.openxmlformats.org/officeDocument/2006/relationships/tags" Target="../tags/tag84.xml"/></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8.xml"/><Relationship Id="rId8" Type="http://schemas.openxmlformats.org/officeDocument/2006/relationships/slideLayout" Target="../slideLayouts/slideLayout3.xml"/><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tags" Target="../tags/tag87.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3.xml"/><Relationship Id="rId7" Type="http://schemas.openxmlformats.org/officeDocument/2006/relationships/tags" Target="../tags/tag9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9" Type="http://schemas.openxmlformats.org/officeDocument/2006/relationships/notesSlide" Target="../notesSlides/notesSlide10.xml"/><Relationship Id="rId8" Type="http://schemas.openxmlformats.org/officeDocument/2006/relationships/slideLayout" Target="../slideLayouts/slideLayout3.xml"/><Relationship Id="rId7" Type="http://schemas.openxmlformats.org/officeDocument/2006/relationships/tags" Target="../tags/tag9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tags" Target="../tags/tag97.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3.xml"/><Relationship Id="rId7" Type="http://schemas.openxmlformats.org/officeDocument/2006/relationships/tags" Target="../tags/tag10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9" Type="http://schemas.openxmlformats.org/officeDocument/2006/relationships/tags" Target="../tags/tag107.xml"/><Relationship Id="rId8" Type="http://schemas.openxmlformats.org/officeDocument/2006/relationships/image" Target="../media/image8.png"/><Relationship Id="rId7"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106.xml"/><Relationship Id="rId3" Type="http://schemas.openxmlformats.org/officeDocument/2006/relationships/tags" Target="../tags/tag105.xml"/><Relationship Id="rId2" Type="http://schemas.openxmlformats.org/officeDocument/2006/relationships/tags" Target="../tags/tag104.xml"/><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tags" Target="../tags/tag103.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slideLayout" Target="../slideLayouts/slideLayout3.xml"/><Relationship Id="rId5" Type="http://schemas.openxmlformats.org/officeDocument/2006/relationships/tags" Target="../tags/tag111.xml"/><Relationship Id="rId4" Type="http://schemas.openxmlformats.org/officeDocument/2006/relationships/tags" Target="../tags/tag110.xml"/><Relationship Id="rId3" Type="http://schemas.openxmlformats.org/officeDocument/2006/relationships/tags" Target="../tags/tag109.xml"/><Relationship Id="rId2" Type="http://schemas.openxmlformats.org/officeDocument/2006/relationships/image" Target="../media/image10.png"/><Relationship Id="rId1" Type="http://schemas.openxmlformats.org/officeDocument/2006/relationships/tags" Target="../tags/tag108.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3.xml"/><Relationship Id="rId6" Type="http://schemas.openxmlformats.org/officeDocument/2006/relationships/tags" Target="../tags/tag115.xml"/><Relationship Id="rId5" Type="http://schemas.openxmlformats.org/officeDocument/2006/relationships/tags" Target="../tags/tag114.xml"/><Relationship Id="rId4" Type="http://schemas.openxmlformats.org/officeDocument/2006/relationships/tags" Target="../tags/tag113.xml"/><Relationship Id="rId3" Type="http://schemas.openxmlformats.org/officeDocument/2006/relationships/image" Target="../media/image22.png"/><Relationship Id="rId2" Type="http://schemas.openxmlformats.org/officeDocument/2006/relationships/tags" Target="../tags/tag112.xml"/><Relationship Id="rId1" Type="http://schemas.openxmlformats.org/officeDocument/2006/relationships/image" Target="../media/image10.pn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3.xml"/><Relationship Id="rId6" Type="http://schemas.openxmlformats.org/officeDocument/2006/relationships/tags" Target="../tags/tag119.xml"/><Relationship Id="rId5" Type="http://schemas.openxmlformats.org/officeDocument/2006/relationships/tags" Target="../tags/tag118.xml"/><Relationship Id="rId4" Type="http://schemas.openxmlformats.org/officeDocument/2006/relationships/tags" Target="../tags/tag117.xml"/><Relationship Id="rId3" Type="http://schemas.openxmlformats.org/officeDocument/2006/relationships/image" Target="../media/image23.png"/><Relationship Id="rId2" Type="http://schemas.openxmlformats.org/officeDocument/2006/relationships/tags" Target="../tags/tag116.xml"/><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notesSlide" Target="../notesSlides/notesSlide16.xml"/><Relationship Id="rId7" Type="http://schemas.openxmlformats.org/officeDocument/2006/relationships/slideLayout" Target="../slideLayouts/slideLayout3.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image" Target="../media/image24.png"/><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9" Type="http://schemas.openxmlformats.org/officeDocument/2006/relationships/tags" Target="../tags/tag128.xml"/><Relationship Id="rId8" Type="http://schemas.openxmlformats.org/officeDocument/2006/relationships/tags" Target="../tags/tag127.xml"/><Relationship Id="rId7" Type="http://schemas.openxmlformats.org/officeDocument/2006/relationships/tags" Target="../tags/tag126.xml"/><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1" Type="http://schemas.openxmlformats.org/officeDocument/2006/relationships/notesSlide" Target="../notesSlides/notesSlide17.xml"/><Relationship Id="rId10" Type="http://schemas.openxmlformats.org/officeDocument/2006/relationships/slideLayout" Target="../slideLayouts/slideLayout3.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image" Target="../media/image29.png"/><Relationship Id="rId3" Type="http://schemas.openxmlformats.org/officeDocument/2006/relationships/tags" Target="../tags/tag129.xml"/><Relationship Id="rId2" Type="http://schemas.openxmlformats.org/officeDocument/2006/relationships/image" Target="../media/image28.png"/><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3.xml"/><Relationship Id="rId6" Type="http://schemas.openxmlformats.org/officeDocument/2006/relationships/tags" Target="../tags/tag136.xml"/><Relationship Id="rId5" Type="http://schemas.openxmlformats.org/officeDocument/2006/relationships/tags" Target="../tags/tag135.xml"/><Relationship Id="rId4" Type="http://schemas.openxmlformats.org/officeDocument/2006/relationships/image" Target="../media/image30.png"/><Relationship Id="rId3" Type="http://schemas.openxmlformats.org/officeDocument/2006/relationships/tags" Target="../tags/tag134.xml"/><Relationship Id="rId2" Type="http://schemas.openxmlformats.org/officeDocument/2006/relationships/tags" Target="../tags/tag133.xml"/><Relationship Id="rId1" Type="http://schemas.openxmlformats.org/officeDocument/2006/relationships/image" Target="../media/image10.png"/></Relationships>
</file>

<file path=ppt/slides/_rels/slide20.xml.rels><?xml version="1.0" encoding="UTF-8" standalone="yes"?>
<Relationships xmlns="http://schemas.openxmlformats.org/package/2006/relationships"><Relationship Id="rId9" Type="http://schemas.openxmlformats.org/officeDocument/2006/relationships/tags" Target="../tags/tag141.xml"/><Relationship Id="rId8" Type="http://schemas.openxmlformats.org/officeDocument/2006/relationships/image" Target="../media/image8.png"/><Relationship Id="rId7" Type="http://schemas.openxmlformats.org/officeDocument/2006/relationships/image" Target="../media/image3.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tags" Target="../tags/tag140.xml"/><Relationship Id="rId3" Type="http://schemas.openxmlformats.org/officeDocument/2006/relationships/tags" Target="../tags/tag139.xml"/><Relationship Id="rId2" Type="http://schemas.openxmlformats.org/officeDocument/2006/relationships/tags" Target="../tags/tag138.xml"/><Relationship Id="rId11" Type="http://schemas.openxmlformats.org/officeDocument/2006/relationships/notesSlide" Target="../notesSlides/notesSlide20.xml"/><Relationship Id="rId10" Type="http://schemas.openxmlformats.org/officeDocument/2006/relationships/slideLayout" Target="../slideLayouts/slideLayout12.xml"/><Relationship Id="rId1" Type="http://schemas.openxmlformats.org/officeDocument/2006/relationships/tags" Target="../tags/tag137.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3.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image" Target="../media/image10.png"/></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2.xml"/><Relationship Id="rId6" Type="http://schemas.openxmlformats.org/officeDocument/2006/relationships/slideLayout" Target="../slideLayouts/slideLayout3.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2.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0" y="0"/>
            <a:ext cx="12192000" cy="6858000"/>
            <a:chOff x="0" y="0"/>
            <a:chExt cx="19200" cy="10800"/>
          </a:xfrm>
        </p:grpSpPr>
        <p:sp>
          <p:nvSpPr>
            <p:cNvPr id="6" name="直角三角形 5"/>
            <p:cNvSpPr/>
            <p:nvPr/>
          </p:nvSpPr>
          <p:spPr>
            <a:xfrm rot="5400000">
              <a:off x="1536" y="-1536"/>
              <a:ext cx="5400" cy="8472"/>
            </a:xfrm>
            <a:prstGeom prst="rtTriangle">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5400000" flipH="1" flipV="1">
              <a:off x="12264" y="3864"/>
              <a:ext cx="5400" cy="8472"/>
            </a:xfrm>
            <a:prstGeom prst="rtTriangle">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圆角 7"/>
            <p:cNvSpPr/>
            <p:nvPr/>
          </p:nvSpPr>
          <p:spPr>
            <a:xfrm>
              <a:off x="618" y="632"/>
              <a:ext cx="17964" cy="9535"/>
            </a:xfrm>
            <a:prstGeom prst="roundRect">
              <a:avLst>
                <a:gd name="adj" fmla="val 4586"/>
              </a:avLst>
            </a:prstGeom>
            <a:solidFill>
              <a:schemeClr val="bg1"/>
            </a:solidFill>
            <a:ln>
              <a:noFill/>
            </a:ln>
            <a:effectLst>
              <a:outerShdw blurRad="190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1" name="直接连接符 10"/>
            <p:cNvCxnSpPr/>
            <p:nvPr/>
          </p:nvCxnSpPr>
          <p:spPr>
            <a:xfrm>
              <a:off x="2967" y="7319"/>
              <a:ext cx="13266"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2666" y="4267"/>
              <a:ext cx="13867" cy="3052"/>
            </a:xfrm>
            <a:prstGeom prst="rect">
              <a:avLst/>
            </a:prstGeom>
            <a:noFill/>
          </p:spPr>
          <p:txBody>
            <a:bodyPr wrap="square" rtlCol="0">
              <a:spAutoFit/>
            </a:bodyPr>
            <a:lstStyle/>
            <a:p>
              <a:pPr algn="ctr"/>
              <a:r>
                <a:rPr lang="zh-CN" altLang="en-US" sz="6000" dirty="0">
                  <a:latin typeface="等线" panose="02010600030101010101" charset="-122"/>
                  <a:ea typeface="等线" panose="02010600030101010101" charset="-122"/>
                  <a:cs typeface="等线" panose="02010600030101010101" charset="-122"/>
                </a:rPr>
                <a:t>基于</a:t>
              </a:r>
              <a:r>
                <a:rPr lang="en-US" altLang="zh-CN" sz="6000" dirty="0">
                  <a:latin typeface="等线" panose="02010600030101010101" charset="-122"/>
                  <a:ea typeface="等线" panose="02010600030101010101" charset="-122"/>
                  <a:cs typeface="等线" panose="02010600030101010101" charset="-122"/>
                </a:rPr>
                <a:t>Transformer</a:t>
              </a:r>
              <a:r>
                <a:rPr lang="zh-CN" altLang="en-US" sz="6000" dirty="0">
                  <a:latin typeface="等线" panose="02010600030101010101" charset="-122"/>
                  <a:ea typeface="等线" panose="02010600030101010101" charset="-122"/>
                  <a:cs typeface="等线" panose="02010600030101010101" charset="-122"/>
                </a:rPr>
                <a:t>的渐进式</a:t>
              </a:r>
              <a:endParaRPr lang="zh-CN" altLang="en-US" sz="6000" dirty="0">
                <a:latin typeface="等线" panose="02010600030101010101" charset="-122"/>
                <a:ea typeface="等线" panose="02010600030101010101" charset="-122"/>
                <a:cs typeface="等线" panose="02010600030101010101" charset="-122"/>
              </a:endParaRPr>
            </a:p>
            <a:p>
              <a:pPr algn="ctr"/>
              <a:r>
                <a:rPr lang="zh-CN" altLang="en-US" sz="6000" dirty="0">
                  <a:latin typeface="等线" panose="02010600030101010101" charset="-122"/>
                  <a:ea typeface="等线" panose="02010600030101010101" charset="-122"/>
                  <a:cs typeface="等线" panose="02010600030101010101" charset="-122"/>
                </a:rPr>
                <a:t>文言文机器翻译</a:t>
              </a:r>
              <a:endParaRPr lang="zh-CN" altLang="en-US" sz="6000" dirty="0">
                <a:latin typeface="等线" panose="02010600030101010101" charset="-122"/>
                <a:ea typeface="等线" panose="02010600030101010101" charset="-122"/>
                <a:cs typeface="等线" panose="02010600030101010101" charset="-122"/>
              </a:endParaRPr>
            </a:p>
          </p:txBody>
        </p:sp>
        <p:cxnSp>
          <p:nvCxnSpPr>
            <p:cNvPr id="12" name="直接连接符 11"/>
            <p:cNvCxnSpPr/>
            <p:nvPr/>
          </p:nvCxnSpPr>
          <p:spPr>
            <a:xfrm>
              <a:off x="2967" y="4132"/>
              <a:ext cx="13266"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14" name="Freeform 5"/>
            <p:cNvSpPr/>
            <p:nvPr/>
          </p:nvSpPr>
          <p:spPr>
            <a:xfrm>
              <a:off x="8130" y="1684"/>
              <a:ext cx="2939" cy="1709"/>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63065F"/>
            </a:solidFill>
            <a:ln w="12700" cap="flat">
              <a:noFill/>
              <a:miter lim="400000"/>
            </a:ln>
            <a:effectLst/>
          </p:spPr>
          <p:txBody>
            <a:bodyPr wrap="square" lIns="91439" tIns="91439" rIns="91439" bIns="91439" numCol="1" anchor="t">
              <a:noAutofit/>
            </a:bodyPr>
            <a:lstStyle/>
            <a:p/>
          </p:txBody>
        </p:sp>
        <p:sp>
          <p:nvSpPr>
            <p:cNvPr id="5" name="矩形 4"/>
            <p:cNvSpPr/>
            <p:nvPr/>
          </p:nvSpPr>
          <p:spPr>
            <a:xfrm>
              <a:off x="17455" y="916"/>
              <a:ext cx="181" cy="181"/>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7120" y="916"/>
              <a:ext cx="181" cy="181"/>
            </a:xfrm>
            <a:prstGeom prst="rect">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6786" y="916"/>
              <a:ext cx="181" cy="181"/>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5400000">
              <a:off x="901" y="9040"/>
              <a:ext cx="181" cy="181"/>
            </a:xfrm>
            <a:prstGeom prst="rect">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5400000">
              <a:off x="901" y="8706"/>
              <a:ext cx="181" cy="181"/>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rot="5400000">
              <a:off x="901" y="8372"/>
              <a:ext cx="181" cy="181"/>
            </a:xfrm>
            <a:prstGeom prst="rect">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descr="03校标，中、英文校名组合"/>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7945" y="8553"/>
              <a:ext cx="2937" cy="934"/>
            </a:xfrm>
            <a:prstGeom prst="rect">
              <a:avLst/>
            </a:prstGeom>
          </p:spPr>
        </p:pic>
        <p:pic>
          <p:nvPicPr>
            <p:cNvPr id="13" name="图片 12" descr="logo-15"/>
            <p:cNvPicPr>
              <a:picLocks noChangeAspect="1"/>
            </p:cNvPicPr>
            <p:nvPr/>
          </p:nvPicPr>
          <p:blipFill>
            <a:blip r:embed="rId2"/>
            <a:srcRect r="51485"/>
            <a:stretch>
              <a:fillRect/>
            </a:stretch>
          </p:blipFill>
          <p:spPr>
            <a:xfrm>
              <a:off x="452" y="411"/>
              <a:ext cx="1650" cy="1909"/>
            </a:xfrm>
            <a:prstGeom prst="rect">
              <a:avLst/>
            </a:prstGeom>
          </p:spPr>
        </p:pic>
        <p:sp>
          <p:nvSpPr>
            <p:cNvPr id="3" name="文本框 2"/>
            <p:cNvSpPr txBox="1"/>
            <p:nvPr/>
          </p:nvSpPr>
          <p:spPr>
            <a:xfrm>
              <a:off x="2967" y="7454"/>
              <a:ext cx="13567" cy="725"/>
            </a:xfrm>
            <a:prstGeom prst="rect">
              <a:avLst/>
            </a:prstGeom>
            <a:noFill/>
          </p:spPr>
          <p:txBody>
            <a:bodyPr wrap="square" rtlCol="0">
              <a:spAutoFit/>
            </a:bodyPr>
            <a:p>
              <a:pPr algn="ctr"/>
              <a:r>
                <a:rPr lang="zh-CN" altLang="en-US" sz="2400" dirty="0">
                  <a:latin typeface="等线" panose="02010600030101010101" charset="-122"/>
                  <a:ea typeface="等线" panose="02010600030101010101" charset="-122"/>
                  <a:cs typeface="等线" panose="02010600030101010101" charset="-122"/>
                  <a:sym typeface="+mn-ea"/>
                </a:rPr>
                <a:t>汇报人：余彰恒</a:t>
              </a:r>
              <a:r>
                <a:rPr lang="en-US" altLang="zh-CN" sz="2400" dirty="0">
                  <a:latin typeface="等线" panose="02010600030101010101" charset="-122"/>
                  <a:ea typeface="等线" panose="02010600030101010101" charset="-122"/>
                  <a:cs typeface="等线" panose="02010600030101010101" charset="-122"/>
                  <a:sym typeface="+mn-ea"/>
                </a:rPr>
                <a:t>   </a:t>
              </a:r>
              <a:r>
                <a:rPr lang="zh-CN" altLang="en-US" sz="2400" dirty="0">
                  <a:latin typeface="等线" panose="02010600030101010101" charset="-122"/>
                  <a:ea typeface="等线" panose="02010600030101010101" charset="-122"/>
                  <a:cs typeface="等线" panose="02010600030101010101" charset="-122"/>
                </a:rPr>
                <a:t>指导老师：葛季栋</a:t>
              </a:r>
              <a:r>
                <a:rPr lang="en-US" altLang="zh-CN" sz="2400" dirty="0">
                  <a:latin typeface="等线" panose="02010600030101010101" charset="-122"/>
                  <a:ea typeface="等线" panose="02010600030101010101" charset="-122"/>
                  <a:cs typeface="等线" panose="02010600030101010101" charset="-122"/>
                </a:rPr>
                <a:t>   </a:t>
              </a:r>
              <a:r>
                <a:rPr lang="zh-CN" altLang="en-US" sz="2400" dirty="0">
                  <a:latin typeface="等线" panose="02010600030101010101" charset="-122"/>
                  <a:ea typeface="等线" panose="02010600030101010101" charset="-122"/>
                  <a:cs typeface="等线" panose="02010600030101010101" charset="-122"/>
                </a:rPr>
                <a:t>时间：</a:t>
              </a:r>
              <a:r>
                <a:rPr lang="en-US" altLang="zh-CN" sz="2400" dirty="0">
                  <a:latin typeface="等线" panose="02010600030101010101" charset="-122"/>
                  <a:ea typeface="等线" panose="02010600030101010101" charset="-122"/>
                  <a:cs typeface="等线" panose="02010600030101010101" charset="-122"/>
                </a:rPr>
                <a:t>2024.05.16</a:t>
              </a:r>
              <a:endParaRPr lang="en-US" altLang="zh-CN" sz="2400" dirty="0">
                <a:latin typeface="等线" panose="02010600030101010101" charset="-122"/>
                <a:ea typeface="等线" panose="02010600030101010101" charset="-122"/>
                <a:cs typeface="等线" panose="02010600030101010101" charset="-122"/>
              </a:endParaRPr>
            </a:p>
          </p:txBody>
        </p:sp>
      </p:gr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grpSp>
        <p:nvGrpSpPr>
          <p:cNvPr id="9" name="组合 8"/>
          <p:cNvGrpSpPr/>
          <p:nvPr/>
        </p:nvGrpSpPr>
        <p:grpSpPr>
          <a:xfrm>
            <a:off x="3175000" y="655270"/>
            <a:ext cx="5842000" cy="1349762"/>
            <a:chOff x="3175000" y="706070"/>
            <a:chExt cx="5842000" cy="1349762"/>
          </a:xfrm>
        </p:grpSpPr>
        <p:sp>
          <p:nvSpPr>
            <p:cNvPr id="16" name="TextBox 2"/>
            <p:cNvSpPr txBox="1"/>
            <p:nvPr>
              <p:custDataLst>
                <p:tags r:id="rId1"/>
              </p:custDataLst>
            </p:nvPr>
          </p:nvSpPr>
          <p:spPr>
            <a:xfrm>
              <a:off x="3175000" y="706070"/>
              <a:ext cx="5842000" cy="1323439"/>
            </a:xfrm>
            <a:prstGeom prst="rect">
              <a:avLst/>
            </a:prstGeom>
            <a:noFill/>
          </p:spPr>
          <p:txBody>
            <a:bodyPr wrap="square" rtlCol="0">
              <a:spAutoFit/>
            </a:bodyPr>
            <a:lstStyle>
              <a:defPPr>
                <a:defRPr lang="zh-CN"/>
              </a:defPPr>
              <a:lvl1pPr algn="ctr">
                <a:defRPr sz="10000" b="1">
                  <a:gradFill flip="none" rotWithShape="1">
                    <a:gsLst>
                      <a:gs pos="0">
                        <a:schemeClr val="bg1"/>
                      </a:gs>
                      <a:gs pos="71000">
                        <a:schemeClr val="bg1">
                          <a:alpha val="0"/>
                        </a:schemeClr>
                      </a:gs>
                    </a:gsLst>
                    <a:lin ang="5400000" scaled="0"/>
                    <a:tileRect/>
                  </a:gradFill>
                  <a:effectLst/>
                  <a:latin typeface="Arial" panose="020B0604020202020204" pitchFamily="34" charset="0"/>
                  <a:ea typeface="微软雅黑" panose="020B0503020204020204" pitchFamily="34" charset="-122"/>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8000" dirty="0">
                  <a:gradFill flip="none" rotWithShape="1">
                    <a:gsLst>
                      <a:gs pos="0">
                        <a:srgbClr val="B88F4D">
                          <a:alpha val="20000"/>
                        </a:srgbClr>
                      </a:gs>
                      <a:gs pos="71000">
                        <a:srgbClr val="B88F4D">
                          <a:alpha val="0"/>
                        </a:srgbClr>
                      </a:gs>
                    </a:gsLst>
                    <a:lin ang="5400000" scaled="0"/>
                    <a:tileRect/>
                  </a:gradFill>
                  <a:sym typeface="+mn-lt"/>
                </a:rPr>
                <a:t>CONTENT</a:t>
              </a:r>
              <a:endParaRPr lang="en-US" altLang="zh-CN" sz="8000" dirty="0">
                <a:gradFill flip="none" rotWithShape="1">
                  <a:gsLst>
                    <a:gs pos="0">
                      <a:srgbClr val="B88F4D">
                        <a:alpha val="20000"/>
                      </a:srgbClr>
                    </a:gs>
                    <a:gs pos="71000">
                      <a:srgbClr val="B88F4D">
                        <a:alpha val="0"/>
                      </a:srgbClr>
                    </a:gs>
                  </a:gsLst>
                  <a:lin ang="5400000" scaled="0"/>
                  <a:tileRect/>
                </a:gradFill>
                <a:sym typeface="+mn-lt"/>
              </a:endParaRPr>
            </a:p>
          </p:txBody>
        </p:sp>
        <p:sp>
          <p:nvSpPr>
            <p:cNvPr id="20" name="TextBox 2"/>
            <p:cNvSpPr txBox="1"/>
            <p:nvPr>
              <p:custDataLst>
                <p:tags r:id="rId2"/>
              </p:custDataLst>
            </p:nvPr>
          </p:nvSpPr>
          <p:spPr>
            <a:xfrm>
              <a:off x="4635500" y="1257300"/>
              <a:ext cx="2921000" cy="798532"/>
            </a:xfrm>
            <a:prstGeom prst="rect">
              <a:avLst/>
            </a:prstGeom>
            <a:noFill/>
          </p:spPr>
          <p:txBody>
            <a:bodyPr vert="horz"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zh-CN" altLang="en-US" sz="44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rPr>
                <a:t>目录</a:t>
              </a:r>
              <a:endParaRPr lang="en-US" altLang="zh-CN" sz="44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endParaRPr>
            </a:p>
          </p:txBody>
        </p:sp>
      </p:grpSp>
      <p:grpSp>
        <p:nvGrpSpPr>
          <p:cNvPr id="11" name="组合 10"/>
          <p:cNvGrpSpPr/>
          <p:nvPr/>
        </p:nvGrpSpPr>
        <p:grpSpPr>
          <a:xfrm>
            <a:off x="902225" y="2442820"/>
            <a:ext cx="4939774" cy="1240790"/>
            <a:chOff x="932815" y="2457450"/>
            <a:chExt cx="4939774" cy="1240790"/>
          </a:xfrm>
        </p:grpSpPr>
        <p:sp>
          <p:nvSpPr>
            <p:cNvPr id="22" name="TextBox 2"/>
            <p:cNvSpPr txBox="1"/>
            <p:nvPr>
              <p:custDataLst>
                <p:tags r:id="rId3"/>
              </p:custDataLst>
            </p:nvPr>
          </p:nvSpPr>
          <p:spPr>
            <a:xfrm>
              <a:off x="932815" y="2457450"/>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rPr>
                <a:t>01</a:t>
              </a:r>
              <a:endPar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endParaRPr>
            </a:p>
          </p:txBody>
        </p:sp>
        <p:sp>
          <p:nvSpPr>
            <p:cNvPr id="23" name="矩形 22"/>
            <p:cNvSpPr/>
            <p:nvPr/>
          </p:nvSpPr>
          <p:spPr>
            <a:xfrm>
              <a:off x="2443892" y="2554631"/>
              <a:ext cx="3428697" cy="1039340"/>
            </a:xfrm>
            <a:prstGeom prst="rect">
              <a:avLst/>
            </a:prstGeom>
          </p:spPr>
          <p:txBody>
            <a:bodyPr vert="horz" lIns="90170" tIns="46990" rIns="90170" bIns="46990" rtlCol="0" anchor="ctr" anchorCtr="0">
              <a:normAutofit/>
            </a:bodyPr>
            <a:lstStyle/>
            <a:p>
              <a:pPr>
                <a:lnSpc>
                  <a:spcPct val="120000"/>
                </a:lnSpc>
                <a:spcBef>
                  <a:spcPct val="0"/>
                </a:spcBef>
              </a:pP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研究背景</a:t>
              </a: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与意义</a:t>
              </a:r>
              <a:endPar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endParaRPr>
            </a:p>
          </p:txBody>
        </p:sp>
        <p:sp>
          <p:nvSpPr>
            <p:cNvPr id="10" name="矩形 9"/>
            <p:cNvSpPr/>
            <p:nvPr/>
          </p:nvSpPr>
          <p:spPr>
            <a:xfrm>
              <a:off x="1143000" y="2544445"/>
              <a:ext cx="1066800" cy="1066800"/>
            </a:xfrm>
            <a:prstGeom prst="rect">
              <a:avLst/>
            </a:prstGeom>
            <a:noFill/>
            <a:ln>
              <a:solidFill>
                <a:srgbClr val="B88F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934E"/>
                </a:solidFill>
              </a:endParaRPr>
            </a:p>
          </p:txBody>
        </p:sp>
      </p:grpSp>
      <p:grpSp>
        <p:nvGrpSpPr>
          <p:cNvPr id="43" name="组合 42"/>
          <p:cNvGrpSpPr/>
          <p:nvPr/>
        </p:nvGrpSpPr>
        <p:grpSpPr>
          <a:xfrm>
            <a:off x="6274325" y="2442820"/>
            <a:ext cx="5384276" cy="1240790"/>
            <a:chOff x="932815" y="2457450"/>
            <a:chExt cx="5384276" cy="1240790"/>
          </a:xfrm>
        </p:grpSpPr>
        <p:sp>
          <p:nvSpPr>
            <p:cNvPr id="44" name="TextBox 2"/>
            <p:cNvSpPr txBox="1"/>
            <p:nvPr>
              <p:custDataLst>
                <p:tags r:id="rId4"/>
              </p:custDataLst>
            </p:nvPr>
          </p:nvSpPr>
          <p:spPr>
            <a:xfrm>
              <a:off x="932815" y="2457450"/>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rPr>
                <a:t>02</a:t>
              </a:r>
              <a:endPar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endParaRPr>
            </a:p>
          </p:txBody>
        </p:sp>
        <p:sp>
          <p:nvSpPr>
            <p:cNvPr id="45" name="矩形 44"/>
            <p:cNvSpPr/>
            <p:nvPr/>
          </p:nvSpPr>
          <p:spPr>
            <a:xfrm>
              <a:off x="2443892" y="2658180"/>
              <a:ext cx="3873199" cy="839330"/>
            </a:xfrm>
            <a:prstGeom prst="rect">
              <a:avLst/>
            </a:prstGeom>
          </p:spPr>
          <p:txBody>
            <a:bodyPr vert="horz" lIns="90170" tIns="46990" rIns="90170" bIns="46990" rtlCol="0" anchor="ctr" anchorCtr="0">
              <a:normAutofit/>
            </a:bodyPr>
            <a:lstStyle/>
            <a:p>
              <a:pPr>
                <a:lnSpc>
                  <a:spcPct val="120000"/>
                </a:lnSpc>
                <a:spcBef>
                  <a:spcPct val="0"/>
                </a:spcBef>
              </a:pP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研究思路</a:t>
              </a: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与实现</a:t>
              </a:r>
              <a:endPar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endParaRPr>
            </a:p>
          </p:txBody>
        </p:sp>
        <p:sp>
          <p:nvSpPr>
            <p:cNvPr id="46" name="矩形 45"/>
            <p:cNvSpPr/>
            <p:nvPr/>
          </p:nvSpPr>
          <p:spPr>
            <a:xfrm>
              <a:off x="1143000" y="2544445"/>
              <a:ext cx="1066800" cy="1066800"/>
            </a:xfrm>
            <a:prstGeom prst="rect">
              <a:avLst/>
            </a:prstGeom>
            <a:noFill/>
            <a:ln>
              <a:solidFill>
                <a:srgbClr val="B88F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934E"/>
                </a:solidFill>
              </a:endParaRPr>
            </a:p>
          </p:txBody>
        </p:sp>
      </p:grpSp>
      <p:grpSp>
        <p:nvGrpSpPr>
          <p:cNvPr id="47" name="组合 46"/>
          <p:cNvGrpSpPr/>
          <p:nvPr/>
        </p:nvGrpSpPr>
        <p:grpSpPr>
          <a:xfrm>
            <a:off x="902225" y="4119220"/>
            <a:ext cx="5107096" cy="1240790"/>
            <a:chOff x="932815" y="2457450"/>
            <a:chExt cx="5107096" cy="1240790"/>
          </a:xfrm>
        </p:grpSpPr>
        <p:sp>
          <p:nvSpPr>
            <p:cNvPr id="48" name="TextBox 2"/>
            <p:cNvSpPr txBox="1"/>
            <p:nvPr>
              <p:custDataLst>
                <p:tags r:id="rId5"/>
              </p:custDataLst>
            </p:nvPr>
          </p:nvSpPr>
          <p:spPr>
            <a:xfrm>
              <a:off x="932815" y="2457450"/>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rPr>
                <a:t>03</a:t>
              </a:r>
              <a:endPar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endParaRPr>
            </a:p>
          </p:txBody>
        </p:sp>
        <p:sp>
          <p:nvSpPr>
            <p:cNvPr id="49" name="矩形 48"/>
            <p:cNvSpPr/>
            <p:nvPr/>
          </p:nvSpPr>
          <p:spPr>
            <a:xfrm>
              <a:off x="2443892" y="2643530"/>
              <a:ext cx="3596019" cy="869320"/>
            </a:xfrm>
            <a:prstGeom prst="rect">
              <a:avLst/>
            </a:prstGeom>
          </p:spPr>
          <p:txBody>
            <a:bodyPr vert="horz" lIns="90170" tIns="46990" rIns="90170" bIns="46990" rtlCol="0" anchor="ctr" anchorCtr="0">
              <a:normAutofit/>
            </a:bodyPr>
            <a:lstStyle/>
            <a:p>
              <a:pPr>
                <a:lnSpc>
                  <a:spcPct val="120000"/>
                </a:lnSpc>
                <a:spcBef>
                  <a:spcPct val="0"/>
                </a:spcBef>
              </a:pP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实验探究</a:t>
              </a: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与分析</a:t>
              </a:r>
              <a:endPar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endParaRPr>
            </a:p>
          </p:txBody>
        </p:sp>
        <p:sp>
          <p:nvSpPr>
            <p:cNvPr id="50" name="矩形 49"/>
            <p:cNvSpPr/>
            <p:nvPr/>
          </p:nvSpPr>
          <p:spPr>
            <a:xfrm>
              <a:off x="1143000" y="2544445"/>
              <a:ext cx="1066800" cy="1066800"/>
            </a:xfrm>
            <a:prstGeom prst="rect">
              <a:avLst/>
            </a:prstGeom>
            <a:noFill/>
            <a:ln>
              <a:solidFill>
                <a:srgbClr val="B88F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934E"/>
                </a:solidFill>
              </a:endParaRPr>
            </a:p>
          </p:txBody>
        </p:sp>
      </p:grpSp>
      <p:grpSp>
        <p:nvGrpSpPr>
          <p:cNvPr id="51" name="组合 50"/>
          <p:cNvGrpSpPr/>
          <p:nvPr/>
        </p:nvGrpSpPr>
        <p:grpSpPr>
          <a:xfrm>
            <a:off x="6274325" y="4119220"/>
            <a:ext cx="5384276" cy="1240790"/>
            <a:chOff x="932815" y="2457450"/>
            <a:chExt cx="5384276" cy="1240790"/>
          </a:xfrm>
        </p:grpSpPr>
        <p:sp>
          <p:nvSpPr>
            <p:cNvPr id="52" name="TextBox 2"/>
            <p:cNvSpPr txBox="1"/>
            <p:nvPr>
              <p:custDataLst>
                <p:tags r:id="rId6"/>
              </p:custDataLst>
            </p:nvPr>
          </p:nvSpPr>
          <p:spPr>
            <a:xfrm>
              <a:off x="932815" y="2457450"/>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rPr>
                <a:t>04</a:t>
              </a:r>
              <a:endParaRPr lang="en-US" altLang="zh-CN" sz="4000" b="1" spc="200" dirty="0">
                <a:solidFill>
                  <a:srgbClr val="BD934E"/>
                </a:solidFill>
                <a:latin typeface="Arial" panose="020B0604020202020204" pitchFamily="34" charset="0"/>
                <a:ea typeface="微软雅黑" panose="020B0503020204020204" pitchFamily="34" charset="-122"/>
                <a:cs typeface="Arial" panose="020B0604020202020204" pitchFamily="34" charset="0"/>
                <a:sym typeface="+mn-lt"/>
              </a:endParaRPr>
            </a:p>
          </p:txBody>
        </p:sp>
        <p:sp>
          <p:nvSpPr>
            <p:cNvPr id="53" name="矩形 52"/>
            <p:cNvSpPr/>
            <p:nvPr/>
          </p:nvSpPr>
          <p:spPr>
            <a:xfrm>
              <a:off x="2443893" y="2617553"/>
              <a:ext cx="3873198" cy="864730"/>
            </a:xfrm>
            <a:prstGeom prst="rect">
              <a:avLst/>
            </a:prstGeom>
          </p:spPr>
          <p:txBody>
            <a:bodyPr vert="horz" lIns="90170" tIns="46990" rIns="90170" bIns="46990" rtlCol="0" anchor="ctr" anchorCtr="0">
              <a:normAutofit/>
            </a:bodyPr>
            <a:lstStyle/>
            <a:p>
              <a:pPr>
                <a:lnSpc>
                  <a:spcPct val="120000"/>
                </a:lnSpc>
                <a:spcBef>
                  <a:spcPct val="0"/>
                </a:spcBef>
              </a:pP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工作总结</a:t>
              </a:r>
              <a:r>
                <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rPr>
                <a:t>与展望</a:t>
              </a:r>
              <a:endParaRPr lang="zh-CN" altLang="en-US" sz="2800" b="1" spc="300" dirty="0">
                <a:solidFill>
                  <a:schemeClr val="tx1">
                    <a:lumMod val="85000"/>
                    <a:lumOff val="15000"/>
                  </a:schemeClr>
                </a:solidFill>
                <a:latin typeface="Arial" panose="020B0604020202020204" pitchFamily="34" charset="0"/>
                <a:ea typeface="微软雅黑" panose="020B0503020204020204" pitchFamily="34" charset="-122"/>
                <a:cs typeface="+mj-cs"/>
              </a:endParaRPr>
            </a:p>
          </p:txBody>
        </p:sp>
        <p:sp>
          <p:nvSpPr>
            <p:cNvPr id="54" name="矩形 53"/>
            <p:cNvSpPr/>
            <p:nvPr/>
          </p:nvSpPr>
          <p:spPr>
            <a:xfrm>
              <a:off x="1143000" y="2544445"/>
              <a:ext cx="1066800" cy="1066800"/>
            </a:xfrm>
            <a:prstGeom prst="rect">
              <a:avLst/>
            </a:prstGeom>
            <a:noFill/>
            <a:ln>
              <a:solidFill>
                <a:srgbClr val="B88F4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BD934E"/>
                </a:solidFill>
              </a:endParaRPr>
            </a:p>
          </p:txBody>
        </p:sp>
      </p:grpSp>
      <p:grpSp>
        <p:nvGrpSpPr>
          <p:cNvPr id="25" name="组合 24"/>
          <p:cNvGrpSpPr/>
          <p:nvPr/>
        </p:nvGrpSpPr>
        <p:grpSpPr>
          <a:xfrm>
            <a:off x="-6350" y="5576887"/>
            <a:ext cx="12192000" cy="1281113"/>
            <a:chOff x="-6350" y="3575050"/>
            <a:chExt cx="12192000" cy="1281113"/>
          </a:xfrm>
          <a:gradFill>
            <a:gsLst>
              <a:gs pos="0">
                <a:srgbClr val="BD934E">
                  <a:alpha val="0"/>
                </a:srgbClr>
              </a:gs>
              <a:gs pos="100000">
                <a:srgbClr val="BD934E">
                  <a:alpha val="50000"/>
                </a:srgbClr>
              </a:gs>
            </a:gsLst>
            <a:lin ang="5400000" scaled="0"/>
          </a:gradFill>
        </p:grpSpPr>
        <p:grpSp>
          <p:nvGrpSpPr>
            <p:cNvPr id="26" name="Group 205"/>
            <p:cNvGrpSpPr/>
            <p:nvPr userDrawn="1"/>
          </p:nvGrpSpPr>
          <p:grpSpPr bwMode="auto">
            <a:xfrm>
              <a:off x="4810125" y="4400550"/>
              <a:ext cx="4105275" cy="433388"/>
              <a:chOff x="3030" y="2772"/>
              <a:chExt cx="2586" cy="273"/>
            </a:xfrm>
            <a:grpFill/>
          </p:grpSpPr>
          <p:sp>
            <p:nvSpPr>
              <p:cNvPr id="139" name="Line 5"/>
              <p:cNvSpPr>
                <a:spLocks noChangeShapeType="1"/>
              </p:cNvSpPr>
              <p:nvPr userDrawn="1"/>
            </p:nvSpPr>
            <p:spPr bwMode="auto">
              <a:xfrm>
                <a:off x="5616" y="2860"/>
                <a:ext cx="0" cy="0"/>
              </a:xfrm>
              <a:prstGeom prst="line">
                <a:avLst/>
              </a:prstGeom>
              <a:grpFill/>
              <a:ln w="12700" cap="rnd">
                <a:solidFill>
                  <a:srgbClr val="BF9C50"/>
                </a:solidFill>
                <a:prstDash val="solid"/>
                <a:round/>
              </a:ln>
            </p:spPr>
            <p:txBody>
              <a:bodyPr vert="horz" wrap="square" lIns="91440" tIns="45720" rIns="91440" bIns="45720" numCol="1" anchor="t" anchorCtr="0" compatLnSpc="1"/>
              <a:lstStyle/>
              <a:p>
                <a:endParaRPr lang="zh-CN" altLang="en-US"/>
              </a:p>
            </p:txBody>
          </p:sp>
          <p:sp>
            <p:nvSpPr>
              <p:cNvPr id="140" name="Freeform 6"/>
              <p:cNvSpPr/>
              <p:nvPr userDrawn="1"/>
            </p:nvSpPr>
            <p:spPr bwMode="auto">
              <a:xfrm>
                <a:off x="3657" y="2794"/>
                <a:ext cx="39" cy="9"/>
              </a:xfrm>
              <a:custGeom>
                <a:avLst/>
                <a:gdLst>
                  <a:gd name="T0" fmla="*/ 8 w 9"/>
                  <a:gd name="T1" fmla="*/ 2 h 2"/>
                  <a:gd name="T2" fmla="*/ 1 w 9"/>
                  <a:gd name="T3" fmla="*/ 2 h 2"/>
                  <a:gd name="T4" fmla="*/ 0 w 9"/>
                  <a:gd name="T5" fmla="*/ 1 h 2"/>
                  <a:gd name="T6" fmla="*/ 1 w 9"/>
                  <a:gd name="T7" fmla="*/ 0 h 2"/>
                  <a:gd name="T8" fmla="*/ 8 w 9"/>
                  <a:gd name="T9" fmla="*/ 0 h 2"/>
                  <a:gd name="T10" fmla="*/ 9 w 9"/>
                  <a:gd name="T11" fmla="*/ 1 h 2"/>
                  <a:gd name="T12" fmla="*/ 8 w 9"/>
                  <a:gd name="T13" fmla="*/ 2 h 2"/>
                </a:gdLst>
                <a:ahLst/>
                <a:cxnLst>
                  <a:cxn ang="0">
                    <a:pos x="T0" y="T1"/>
                  </a:cxn>
                  <a:cxn ang="0">
                    <a:pos x="T2" y="T3"/>
                  </a:cxn>
                  <a:cxn ang="0">
                    <a:pos x="T4" y="T5"/>
                  </a:cxn>
                  <a:cxn ang="0">
                    <a:pos x="T6" y="T7"/>
                  </a:cxn>
                  <a:cxn ang="0">
                    <a:pos x="T8" y="T9"/>
                  </a:cxn>
                  <a:cxn ang="0">
                    <a:pos x="T10" y="T11"/>
                  </a:cxn>
                  <a:cxn ang="0">
                    <a:pos x="T12" y="T13"/>
                  </a:cxn>
                </a:cxnLst>
                <a:rect l="0" t="0" r="r" b="b"/>
                <a:pathLst>
                  <a:path w="9" h="2">
                    <a:moveTo>
                      <a:pt x="8" y="2"/>
                    </a:moveTo>
                    <a:cubicBezTo>
                      <a:pt x="1" y="2"/>
                      <a:pt x="1" y="2"/>
                      <a:pt x="1" y="2"/>
                    </a:cubicBezTo>
                    <a:cubicBezTo>
                      <a:pt x="0" y="2"/>
                      <a:pt x="0" y="1"/>
                      <a:pt x="0" y="1"/>
                    </a:cubicBezTo>
                    <a:cubicBezTo>
                      <a:pt x="0" y="0"/>
                      <a:pt x="0" y="0"/>
                      <a:pt x="1" y="0"/>
                    </a:cubicBezTo>
                    <a:cubicBezTo>
                      <a:pt x="8" y="0"/>
                      <a:pt x="8" y="0"/>
                      <a:pt x="8" y="0"/>
                    </a:cubicBezTo>
                    <a:cubicBezTo>
                      <a:pt x="8" y="0"/>
                      <a:pt x="9" y="0"/>
                      <a:pt x="9" y="1"/>
                    </a:cubicBezTo>
                    <a:cubicBezTo>
                      <a:pt x="9" y="1"/>
                      <a:pt x="8" y="2"/>
                      <a:pt x="8"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1" name="Freeform 7"/>
              <p:cNvSpPr/>
              <p:nvPr userDrawn="1"/>
            </p:nvSpPr>
            <p:spPr bwMode="auto">
              <a:xfrm>
                <a:off x="303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2" name="Freeform 8"/>
              <p:cNvSpPr/>
              <p:nvPr userDrawn="1"/>
            </p:nvSpPr>
            <p:spPr bwMode="auto">
              <a:xfrm>
                <a:off x="30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3" name="Freeform 9"/>
              <p:cNvSpPr/>
              <p:nvPr userDrawn="1"/>
            </p:nvSpPr>
            <p:spPr bwMode="auto">
              <a:xfrm>
                <a:off x="30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4" name="Freeform 10"/>
              <p:cNvSpPr/>
              <p:nvPr userDrawn="1"/>
            </p:nvSpPr>
            <p:spPr bwMode="auto">
              <a:xfrm>
                <a:off x="30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5" name="Freeform 11"/>
              <p:cNvSpPr/>
              <p:nvPr userDrawn="1"/>
            </p:nvSpPr>
            <p:spPr bwMode="auto">
              <a:xfrm>
                <a:off x="30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6" name="Freeform 12"/>
              <p:cNvSpPr/>
              <p:nvPr userDrawn="1"/>
            </p:nvSpPr>
            <p:spPr bwMode="auto">
              <a:xfrm>
                <a:off x="31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7" name="Freeform 13"/>
              <p:cNvSpPr/>
              <p:nvPr userDrawn="1"/>
            </p:nvSpPr>
            <p:spPr bwMode="auto">
              <a:xfrm>
                <a:off x="31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8" name="Freeform 14"/>
              <p:cNvSpPr/>
              <p:nvPr userDrawn="1"/>
            </p:nvSpPr>
            <p:spPr bwMode="auto">
              <a:xfrm>
                <a:off x="31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9" name="Freeform 15"/>
              <p:cNvSpPr/>
              <p:nvPr userDrawn="1"/>
            </p:nvSpPr>
            <p:spPr bwMode="auto">
              <a:xfrm>
                <a:off x="314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0" name="Freeform 16"/>
              <p:cNvSpPr/>
              <p:nvPr userDrawn="1"/>
            </p:nvSpPr>
            <p:spPr bwMode="auto">
              <a:xfrm>
                <a:off x="315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1" name="Freeform 17"/>
              <p:cNvSpPr/>
              <p:nvPr userDrawn="1"/>
            </p:nvSpPr>
            <p:spPr bwMode="auto">
              <a:xfrm>
                <a:off x="31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2" name="Freeform 18"/>
              <p:cNvSpPr/>
              <p:nvPr userDrawn="1"/>
            </p:nvSpPr>
            <p:spPr bwMode="auto">
              <a:xfrm>
                <a:off x="31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3" name="Freeform 19"/>
              <p:cNvSpPr/>
              <p:nvPr userDrawn="1"/>
            </p:nvSpPr>
            <p:spPr bwMode="auto">
              <a:xfrm>
                <a:off x="31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4" name="Freeform 20"/>
              <p:cNvSpPr/>
              <p:nvPr userDrawn="1"/>
            </p:nvSpPr>
            <p:spPr bwMode="auto">
              <a:xfrm>
                <a:off x="32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5" name="Freeform 21"/>
              <p:cNvSpPr/>
              <p:nvPr userDrawn="1"/>
            </p:nvSpPr>
            <p:spPr bwMode="auto">
              <a:xfrm>
                <a:off x="32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6" name="Freeform 22"/>
              <p:cNvSpPr/>
              <p:nvPr userDrawn="1"/>
            </p:nvSpPr>
            <p:spPr bwMode="auto">
              <a:xfrm>
                <a:off x="32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7" name="Freeform 23"/>
              <p:cNvSpPr/>
              <p:nvPr userDrawn="1"/>
            </p:nvSpPr>
            <p:spPr bwMode="auto">
              <a:xfrm>
                <a:off x="325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8" name="Freeform 24"/>
              <p:cNvSpPr/>
              <p:nvPr userDrawn="1"/>
            </p:nvSpPr>
            <p:spPr bwMode="auto">
              <a:xfrm>
                <a:off x="326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9" name="Freeform 25"/>
              <p:cNvSpPr/>
              <p:nvPr userDrawn="1"/>
            </p:nvSpPr>
            <p:spPr bwMode="auto">
              <a:xfrm>
                <a:off x="327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0" name="Freeform 26"/>
              <p:cNvSpPr/>
              <p:nvPr userDrawn="1"/>
            </p:nvSpPr>
            <p:spPr bwMode="auto">
              <a:xfrm>
                <a:off x="329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1" name="Freeform 27"/>
              <p:cNvSpPr/>
              <p:nvPr userDrawn="1"/>
            </p:nvSpPr>
            <p:spPr bwMode="auto">
              <a:xfrm>
                <a:off x="330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2" name="Freeform 28"/>
              <p:cNvSpPr/>
              <p:nvPr userDrawn="1"/>
            </p:nvSpPr>
            <p:spPr bwMode="auto">
              <a:xfrm>
                <a:off x="33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3" name="Freeform 29"/>
              <p:cNvSpPr/>
              <p:nvPr userDrawn="1"/>
            </p:nvSpPr>
            <p:spPr bwMode="auto">
              <a:xfrm>
                <a:off x="33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4" name="Freeform 30"/>
              <p:cNvSpPr/>
              <p:nvPr userDrawn="1"/>
            </p:nvSpPr>
            <p:spPr bwMode="auto">
              <a:xfrm>
                <a:off x="33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5" name="Freeform 31"/>
              <p:cNvSpPr/>
              <p:nvPr userDrawn="1"/>
            </p:nvSpPr>
            <p:spPr bwMode="auto">
              <a:xfrm>
                <a:off x="33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6" name="Freeform 32"/>
              <p:cNvSpPr/>
              <p:nvPr userDrawn="1"/>
            </p:nvSpPr>
            <p:spPr bwMode="auto">
              <a:xfrm>
                <a:off x="337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7" name="Freeform 33"/>
              <p:cNvSpPr/>
              <p:nvPr userDrawn="1"/>
            </p:nvSpPr>
            <p:spPr bwMode="auto">
              <a:xfrm>
                <a:off x="338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8" name="Freeform 34"/>
              <p:cNvSpPr/>
              <p:nvPr userDrawn="1"/>
            </p:nvSpPr>
            <p:spPr bwMode="auto">
              <a:xfrm>
                <a:off x="340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9" name="Freeform 35"/>
              <p:cNvSpPr/>
              <p:nvPr userDrawn="1"/>
            </p:nvSpPr>
            <p:spPr bwMode="auto">
              <a:xfrm>
                <a:off x="341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0" name="Freeform 36"/>
              <p:cNvSpPr/>
              <p:nvPr userDrawn="1"/>
            </p:nvSpPr>
            <p:spPr bwMode="auto">
              <a:xfrm>
                <a:off x="342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1" name="Freeform 37"/>
              <p:cNvSpPr/>
              <p:nvPr userDrawn="1"/>
            </p:nvSpPr>
            <p:spPr bwMode="auto">
              <a:xfrm>
                <a:off x="34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2" name="Freeform 38"/>
              <p:cNvSpPr/>
              <p:nvPr userDrawn="1"/>
            </p:nvSpPr>
            <p:spPr bwMode="auto">
              <a:xfrm>
                <a:off x="345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3" name="Freeform 39"/>
              <p:cNvSpPr/>
              <p:nvPr userDrawn="1"/>
            </p:nvSpPr>
            <p:spPr bwMode="auto">
              <a:xfrm>
                <a:off x="347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4" name="Freeform 40"/>
              <p:cNvSpPr/>
              <p:nvPr userDrawn="1"/>
            </p:nvSpPr>
            <p:spPr bwMode="auto">
              <a:xfrm>
                <a:off x="348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5" name="Freeform 41"/>
              <p:cNvSpPr/>
              <p:nvPr userDrawn="1"/>
            </p:nvSpPr>
            <p:spPr bwMode="auto">
              <a:xfrm>
                <a:off x="349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6" name="Freeform 42"/>
              <p:cNvSpPr/>
              <p:nvPr userDrawn="1"/>
            </p:nvSpPr>
            <p:spPr bwMode="auto">
              <a:xfrm>
                <a:off x="350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7" name="Freeform 43"/>
              <p:cNvSpPr/>
              <p:nvPr userDrawn="1"/>
            </p:nvSpPr>
            <p:spPr bwMode="auto">
              <a:xfrm>
                <a:off x="352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8" name="Freeform 44"/>
              <p:cNvSpPr/>
              <p:nvPr userDrawn="1"/>
            </p:nvSpPr>
            <p:spPr bwMode="auto">
              <a:xfrm>
                <a:off x="353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79" name="Freeform 45"/>
              <p:cNvSpPr/>
              <p:nvPr userDrawn="1"/>
            </p:nvSpPr>
            <p:spPr bwMode="auto">
              <a:xfrm>
                <a:off x="35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0" name="Freeform 46"/>
              <p:cNvSpPr/>
              <p:nvPr userDrawn="1"/>
            </p:nvSpPr>
            <p:spPr bwMode="auto">
              <a:xfrm>
                <a:off x="35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1" name="Freeform 47"/>
              <p:cNvSpPr/>
              <p:nvPr userDrawn="1"/>
            </p:nvSpPr>
            <p:spPr bwMode="auto">
              <a:xfrm>
                <a:off x="35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2" name="Freeform 48"/>
              <p:cNvSpPr/>
              <p:nvPr userDrawn="1"/>
            </p:nvSpPr>
            <p:spPr bwMode="auto">
              <a:xfrm>
                <a:off x="359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3" name="Freeform 49"/>
              <p:cNvSpPr/>
              <p:nvPr userDrawn="1"/>
            </p:nvSpPr>
            <p:spPr bwMode="auto">
              <a:xfrm>
                <a:off x="360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4" name="Freeform 50"/>
              <p:cNvSpPr/>
              <p:nvPr userDrawn="1"/>
            </p:nvSpPr>
            <p:spPr bwMode="auto">
              <a:xfrm>
                <a:off x="361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5" name="Freeform 51"/>
              <p:cNvSpPr/>
              <p:nvPr userDrawn="1"/>
            </p:nvSpPr>
            <p:spPr bwMode="auto">
              <a:xfrm>
                <a:off x="36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6" name="Freeform 52"/>
              <p:cNvSpPr/>
              <p:nvPr userDrawn="1"/>
            </p:nvSpPr>
            <p:spPr bwMode="auto">
              <a:xfrm>
                <a:off x="364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7" name="Freeform 53"/>
              <p:cNvSpPr/>
              <p:nvPr userDrawn="1"/>
            </p:nvSpPr>
            <p:spPr bwMode="auto">
              <a:xfrm>
                <a:off x="366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8" name="Freeform 54"/>
              <p:cNvSpPr/>
              <p:nvPr userDrawn="1"/>
            </p:nvSpPr>
            <p:spPr bwMode="auto">
              <a:xfrm>
                <a:off x="36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89" name="Freeform 55"/>
              <p:cNvSpPr/>
              <p:nvPr userDrawn="1"/>
            </p:nvSpPr>
            <p:spPr bwMode="auto">
              <a:xfrm>
                <a:off x="36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0" name="Freeform 56"/>
              <p:cNvSpPr/>
              <p:nvPr userDrawn="1"/>
            </p:nvSpPr>
            <p:spPr bwMode="auto">
              <a:xfrm>
                <a:off x="37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1" name="Freeform 57"/>
              <p:cNvSpPr/>
              <p:nvPr userDrawn="1"/>
            </p:nvSpPr>
            <p:spPr bwMode="auto">
              <a:xfrm>
                <a:off x="37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2" name="Freeform 58"/>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3" name="Freeform 59"/>
              <p:cNvSpPr/>
              <p:nvPr userDrawn="1"/>
            </p:nvSpPr>
            <p:spPr bwMode="auto">
              <a:xfrm>
                <a:off x="37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4" name="Freeform 60"/>
              <p:cNvSpPr/>
              <p:nvPr userDrawn="1"/>
            </p:nvSpPr>
            <p:spPr bwMode="auto">
              <a:xfrm>
                <a:off x="393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5" name="Freeform 61"/>
              <p:cNvSpPr/>
              <p:nvPr userDrawn="1"/>
            </p:nvSpPr>
            <p:spPr bwMode="auto">
              <a:xfrm>
                <a:off x="394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6" name="Freeform 62"/>
              <p:cNvSpPr/>
              <p:nvPr userDrawn="1"/>
            </p:nvSpPr>
            <p:spPr bwMode="auto">
              <a:xfrm>
                <a:off x="39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7" name="Freeform 63"/>
              <p:cNvSpPr/>
              <p:nvPr userDrawn="1"/>
            </p:nvSpPr>
            <p:spPr bwMode="auto">
              <a:xfrm>
                <a:off x="39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8" name="Freeform 64"/>
              <p:cNvSpPr/>
              <p:nvPr userDrawn="1"/>
            </p:nvSpPr>
            <p:spPr bwMode="auto">
              <a:xfrm>
                <a:off x="39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99" name="Freeform 65"/>
              <p:cNvSpPr/>
              <p:nvPr userDrawn="1"/>
            </p:nvSpPr>
            <p:spPr bwMode="auto">
              <a:xfrm>
                <a:off x="40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0" name="Freeform 66"/>
              <p:cNvSpPr/>
              <p:nvPr userDrawn="1"/>
            </p:nvSpPr>
            <p:spPr bwMode="auto">
              <a:xfrm>
                <a:off x="40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1" name="Freeform 67"/>
              <p:cNvSpPr/>
              <p:nvPr userDrawn="1"/>
            </p:nvSpPr>
            <p:spPr bwMode="auto">
              <a:xfrm>
                <a:off x="402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2" name="Freeform 68"/>
              <p:cNvSpPr/>
              <p:nvPr userDrawn="1"/>
            </p:nvSpPr>
            <p:spPr bwMode="auto">
              <a:xfrm>
                <a:off x="404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3" name="Freeform 69"/>
              <p:cNvSpPr/>
              <p:nvPr userDrawn="1"/>
            </p:nvSpPr>
            <p:spPr bwMode="auto">
              <a:xfrm>
                <a:off x="405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4" name="Freeform 70"/>
              <p:cNvSpPr/>
              <p:nvPr userDrawn="1"/>
            </p:nvSpPr>
            <p:spPr bwMode="auto">
              <a:xfrm>
                <a:off x="406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5" name="Freeform 71"/>
              <p:cNvSpPr/>
              <p:nvPr userDrawn="1"/>
            </p:nvSpPr>
            <p:spPr bwMode="auto">
              <a:xfrm>
                <a:off x="407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6" name="Freeform 72"/>
              <p:cNvSpPr/>
              <p:nvPr userDrawn="1"/>
            </p:nvSpPr>
            <p:spPr bwMode="auto">
              <a:xfrm>
                <a:off x="40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7" name="Freeform 73"/>
              <p:cNvSpPr/>
              <p:nvPr userDrawn="1"/>
            </p:nvSpPr>
            <p:spPr bwMode="auto">
              <a:xfrm>
                <a:off x="41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8" name="Freeform 74"/>
              <p:cNvSpPr/>
              <p:nvPr userDrawn="1"/>
            </p:nvSpPr>
            <p:spPr bwMode="auto">
              <a:xfrm>
                <a:off x="41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09" name="Freeform 75"/>
              <p:cNvSpPr/>
              <p:nvPr userDrawn="1"/>
            </p:nvSpPr>
            <p:spPr bwMode="auto">
              <a:xfrm>
                <a:off x="41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0" name="Freeform 76"/>
              <p:cNvSpPr/>
              <p:nvPr userDrawn="1"/>
            </p:nvSpPr>
            <p:spPr bwMode="auto">
              <a:xfrm>
                <a:off x="41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1" name="Freeform 77"/>
              <p:cNvSpPr/>
              <p:nvPr userDrawn="1"/>
            </p:nvSpPr>
            <p:spPr bwMode="auto">
              <a:xfrm>
                <a:off x="416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2" name="Freeform 78"/>
              <p:cNvSpPr/>
              <p:nvPr userDrawn="1"/>
            </p:nvSpPr>
            <p:spPr bwMode="auto">
              <a:xfrm>
                <a:off x="417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3" name="Freeform 79"/>
              <p:cNvSpPr/>
              <p:nvPr userDrawn="1"/>
            </p:nvSpPr>
            <p:spPr bwMode="auto">
              <a:xfrm>
                <a:off x="418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4" name="Freeform 80"/>
              <p:cNvSpPr/>
              <p:nvPr userDrawn="1"/>
            </p:nvSpPr>
            <p:spPr bwMode="auto">
              <a:xfrm>
                <a:off x="420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5" name="Freeform 81"/>
              <p:cNvSpPr/>
              <p:nvPr userDrawn="1"/>
            </p:nvSpPr>
            <p:spPr bwMode="auto">
              <a:xfrm>
                <a:off x="421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6" name="Freeform 82"/>
              <p:cNvSpPr/>
              <p:nvPr userDrawn="1"/>
            </p:nvSpPr>
            <p:spPr bwMode="auto">
              <a:xfrm>
                <a:off x="42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7" name="Freeform 83"/>
              <p:cNvSpPr/>
              <p:nvPr userDrawn="1"/>
            </p:nvSpPr>
            <p:spPr bwMode="auto">
              <a:xfrm>
                <a:off x="42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8" name="Freeform 84"/>
              <p:cNvSpPr/>
              <p:nvPr userDrawn="1"/>
            </p:nvSpPr>
            <p:spPr bwMode="auto">
              <a:xfrm>
                <a:off x="42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19" name="Freeform 85"/>
              <p:cNvSpPr/>
              <p:nvPr userDrawn="1"/>
            </p:nvSpPr>
            <p:spPr bwMode="auto">
              <a:xfrm>
                <a:off x="42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0" name="Freeform 86"/>
              <p:cNvSpPr/>
              <p:nvPr userDrawn="1"/>
            </p:nvSpPr>
            <p:spPr bwMode="auto">
              <a:xfrm>
                <a:off x="428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1" name="Freeform 87"/>
              <p:cNvSpPr/>
              <p:nvPr userDrawn="1"/>
            </p:nvSpPr>
            <p:spPr bwMode="auto">
              <a:xfrm>
                <a:off x="429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2" name="Freeform 88"/>
              <p:cNvSpPr/>
              <p:nvPr userDrawn="1"/>
            </p:nvSpPr>
            <p:spPr bwMode="auto">
              <a:xfrm>
                <a:off x="431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3" name="Freeform 89"/>
              <p:cNvSpPr/>
              <p:nvPr userDrawn="1"/>
            </p:nvSpPr>
            <p:spPr bwMode="auto">
              <a:xfrm>
                <a:off x="432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4" name="Freeform 90"/>
              <p:cNvSpPr/>
              <p:nvPr userDrawn="1"/>
            </p:nvSpPr>
            <p:spPr bwMode="auto">
              <a:xfrm>
                <a:off x="433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5" name="Freeform 91"/>
              <p:cNvSpPr/>
              <p:nvPr userDrawn="1"/>
            </p:nvSpPr>
            <p:spPr bwMode="auto">
              <a:xfrm>
                <a:off x="434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6" name="Freeform 92"/>
              <p:cNvSpPr/>
              <p:nvPr userDrawn="1"/>
            </p:nvSpPr>
            <p:spPr bwMode="auto">
              <a:xfrm>
                <a:off x="43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7" name="Freeform 93"/>
              <p:cNvSpPr/>
              <p:nvPr userDrawn="1"/>
            </p:nvSpPr>
            <p:spPr bwMode="auto">
              <a:xfrm>
                <a:off x="43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8" name="Freeform 94"/>
              <p:cNvSpPr/>
              <p:nvPr userDrawn="1"/>
            </p:nvSpPr>
            <p:spPr bwMode="auto">
              <a:xfrm>
                <a:off x="43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29" name="Freeform 95"/>
              <p:cNvSpPr/>
              <p:nvPr userDrawn="1"/>
            </p:nvSpPr>
            <p:spPr bwMode="auto">
              <a:xfrm>
                <a:off x="4406"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0" name="Freeform 96"/>
              <p:cNvSpPr/>
              <p:nvPr userDrawn="1"/>
            </p:nvSpPr>
            <p:spPr bwMode="auto">
              <a:xfrm>
                <a:off x="441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1" name="Freeform 97"/>
              <p:cNvSpPr/>
              <p:nvPr userDrawn="1"/>
            </p:nvSpPr>
            <p:spPr bwMode="auto">
              <a:xfrm>
                <a:off x="443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2" name="Freeform 98"/>
              <p:cNvSpPr/>
              <p:nvPr userDrawn="1"/>
            </p:nvSpPr>
            <p:spPr bwMode="auto">
              <a:xfrm>
                <a:off x="444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3" name="Freeform 99"/>
              <p:cNvSpPr/>
              <p:nvPr userDrawn="1"/>
            </p:nvSpPr>
            <p:spPr bwMode="auto">
              <a:xfrm>
                <a:off x="445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4" name="Freeform 100"/>
              <p:cNvSpPr/>
              <p:nvPr userDrawn="1"/>
            </p:nvSpPr>
            <p:spPr bwMode="auto">
              <a:xfrm>
                <a:off x="447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5" name="Freeform 101"/>
              <p:cNvSpPr/>
              <p:nvPr userDrawn="1"/>
            </p:nvSpPr>
            <p:spPr bwMode="auto">
              <a:xfrm>
                <a:off x="4489"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6" name="Freeform 102"/>
              <p:cNvSpPr/>
              <p:nvPr userDrawn="1"/>
            </p:nvSpPr>
            <p:spPr bwMode="auto">
              <a:xfrm>
                <a:off x="4502"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7" name="Freeform 103"/>
              <p:cNvSpPr/>
              <p:nvPr userDrawn="1"/>
            </p:nvSpPr>
            <p:spPr bwMode="auto">
              <a:xfrm>
                <a:off x="4515"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8" name="Freeform 104"/>
              <p:cNvSpPr/>
              <p:nvPr userDrawn="1"/>
            </p:nvSpPr>
            <p:spPr bwMode="auto">
              <a:xfrm>
                <a:off x="4528"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39" name="Freeform 105"/>
              <p:cNvSpPr/>
              <p:nvPr userDrawn="1"/>
            </p:nvSpPr>
            <p:spPr bwMode="auto">
              <a:xfrm>
                <a:off x="454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106"/>
              <p:cNvSpPr/>
              <p:nvPr userDrawn="1"/>
            </p:nvSpPr>
            <p:spPr bwMode="auto">
              <a:xfrm>
                <a:off x="455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107"/>
              <p:cNvSpPr/>
              <p:nvPr userDrawn="1"/>
            </p:nvSpPr>
            <p:spPr bwMode="auto">
              <a:xfrm>
                <a:off x="4567"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108"/>
              <p:cNvSpPr/>
              <p:nvPr userDrawn="1"/>
            </p:nvSpPr>
            <p:spPr bwMode="auto">
              <a:xfrm>
                <a:off x="4580"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Freeform 109"/>
              <p:cNvSpPr/>
              <p:nvPr userDrawn="1"/>
            </p:nvSpPr>
            <p:spPr bwMode="auto">
              <a:xfrm>
                <a:off x="4593"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4" name="Freeform 110"/>
              <p:cNvSpPr/>
              <p:nvPr userDrawn="1"/>
            </p:nvSpPr>
            <p:spPr bwMode="auto">
              <a:xfrm>
                <a:off x="4611"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5" name="Freeform 111"/>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6" name="Freeform 112"/>
              <p:cNvSpPr/>
              <p:nvPr userDrawn="1"/>
            </p:nvSpPr>
            <p:spPr bwMode="auto">
              <a:xfrm>
                <a:off x="4624" y="3045"/>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7" name="Freeform 113"/>
              <p:cNvSpPr/>
              <p:nvPr userDrawn="1"/>
            </p:nvSpPr>
            <p:spPr bwMode="auto">
              <a:xfrm>
                <a:off x="304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8" name="Freeform 114"/>
              <p:cNvSpPr/>
              <p:nvPr userDrawn="1"/>
            </p:nvSpPr>
            <p:spPr bwMode="auto">
              <a:xfrm>
                <a:off x="305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9" name="Freeform 115"/>
              <p:cNvSpPr/>
              <p:nvPr userDrawn="1"/>
            </p:nvSpPr>
            <p:spPr bwMode="auto">
              <a:xfrm>
                <a:off x="306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0" name="Freeform 116"/>
              <p:cNvSpPr/>
              <p:nvPr userDrawn="1"/>
            </p:nvSpPr>
            <p:spPr bwMode="auto">
              <a:xfrm>
                <a:off x="308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1" name="Freeform 117"/>
              <p:cNvSpPr/>
              <p:nvPr userDrawn="1"/>
            </p:nvSpPr>
            <p:spPr bwMode="auto">
              <a:xfrm>
                <a:off x="30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2" name="Freeform 118"/>
              <p:cNvSpPr/>
              <p:nvPr userDrawn="1"/>
            </p:nvSpPr>
            <p:spPr bwMode="auto">
              <a:xfrm>
                <a:off x="31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3" name="Freeform 119"/>
              <p:cNvSpPr/>
              <p:nvPr userDrawn="1"/>
            </p:nvSpPr>
            <p:spPr bwMode="auto">
              <a:xfrm>
                <a:off x="312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Freeform 120"/>
              <p:cNvSpPr/>
              <p:nvPr userDrawn="1"/>
            </p:nvSpPr>
            <p:spPr bwMode="auto">
              <a:xfrm>
                <a:off x="31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Freeform 121"/>
              <p:cNvSpPr/>
              <p:nvPr userDrawn="1"/>
            </p:nvSpPr>
            <p:spPr bwMode="auto">
              <a:xfrm>
                <a:off x="31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22"/>
              <p:cNvSpPr/>
              <p:nvPr userDrawn="1"/>
            </p:nvSpPr>
            <p:spPr bwMode="auto">
              <a:xfrm>
                <a:off x="31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Freeform 123"/>
              <p:cNvSpPr/>
              <p:nvPr userDrawn="1"/>
            </p:nvSpPr>
            <p:spPr bwMode="auto">
              <a:xfrm>
                <a:off x="31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8" name="Freeform 124"/>
              <p:cNvSpPr/>
              <p:nvPr userDrawn="1"/>
            </p:nvSpPr>
            <p:spPr bwMode="auto">
              <a:xfrm>
                <a:off x="319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125"/>
              <p:cNvSpPr/>
              <p:nvPr userDrawn="1"/>
            </p:nvSpPr>
            <p:spPr bwMode="auto">
              <a:xfrm>
                <a:off x="320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126"/>
              <p:cNvSpPr/>
              <p:nvPr userDrawn="1"/>
            </p:nvSpPr>
            <p:spPr bwMode="auto">
              <a:xfrm>
                <a:off x="321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127"/>
              <p:cNvSpPr/>
              <p:nvPr userDrawn="1"/>
            </p:nvSpPr>
            <p:spPr bwMode="auto">
              <a:xfrm>
                <a:off x="323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Freeform 128"/>
              <p:cNvSpPr/>
              <p:nvPr userDrawn="1"/>
            </p:nvSpPr>
            <p:spPr bwMode="auto">
              <a:xfrm>
                <a:off x="32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3" name="Freeform 129"/>
              <p:cNvSpPr/>
              <p:nvPr userDrawn="1"/>
            </p:nvSpPr>
            <p:spPr bwMode="auto">
              <a:xfrm>
                <a:off x="32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4" name="Freeform 130"/>
              <p:cNvSpPr/>
              <p:nvPr userDrawn="1"/>
            </p:nvSpPr>
            <p:spPr bwMode="auto">
              <a:xfrm>
                <a:off x="32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5" name="Freeform 131"/>
              <p:cNvSpPr/>
              <p:nvPr userDrawn="1"/>
            </p:nvSpPr>
            <p:spPr bwMode="auto">
              <a:xfrm>
                <a:off x="32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6" name="Freeform 132"/>
              <p:cNvSpPr/>
              <p:nvPr userDrawn="1"/>
            </p:nvSpPr>
            <p:spPr bwMode="auto">
              <a:xfrm>
                <a:off x="32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7" name="Freeform 133"/>
              <p:cNvSpPr/>
              <p:nvPr userDrawn="1"/>
            </p:nvSpPr>
            <p:spPr bwMode="auto">
              <a:xfrm>
                <a:off x="33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8" name="Freeform 134"/>
              <p:cNvSpPr/>
              <p:nvPr userDrawn="1"/>
            </p:nvSpPr>
            <p:spPr bwMode="auto">
              <a:xfrm>
                <a:off x="332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9" name="Freeform 135"/>
              <p:cNvSpPr/>
              <p:nvPr userDrawn="1"/>
            </p:nvSpPr>
            <p:spPr bwMode="auto">
              <a:xfrm>
                <a:off x="333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0" name="Freeform 136"/>
              <p:cNvSpPr/>
              <p:nvPr userDrawn="1"/>
            </p:nvSpPr>
            <p:spPr bwMode="auto">
              <a:xfrm>
                <a:off x="335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1" name="Freeform 137"/>
              <p:cNvSpPr/>
              <p:nvPr userDrawn="1"/>
            </p:nvSpPr>
            <p:spPr bwMode="auto">
              <a:xfrm>
                <a:off x="336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2" name="Freeform 138"/>
              <p:cNvSpPr/>
              <p:nvPr userDrawn="1"/>
            </p:nvSpPr>
            <p:spPr bwMode="auto">
              <a:xfrm>
                <a:off x="337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3" name="Freeform 139"/>
              <p:cNvSpPr/>
              <p:nvPr userDrawn="1"/>
            </p:nvSpPr>
            <p:spPr bwMode="auto">
              <a:xfrm>
                <a:off x="33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4" name="Freeform 140"/>
              <p:cNvSpPr/>
              <p:nvPr userDrawn="1"/>
            </p:nvSpPr>
            <p:spPr bwMode="auto">
              <a:xfrm>
                <a:off x="34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5" name="Freeform 141"/>
              <p:cNvSpPr/>
              <p:nvPr userDrawn="1"/>
            </p:nvSpPr>
            <p:spPr bwMode="auto">
              <a:xfrm>
                <a:off x="34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6" name="Freeform 142"/>
              <p:cNvSpPr/>
              <p:nvPr userDrawn="1"/>
            </p:nvSpPr>
            <p:spPr bwMode="auto">
              <a:xfrm>
                <a:off x="34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7" name="Freeform 143"/>
              <p:cNvSpPr/>
              <p:nvPr userDrawn="1"/>
            </p:nvSpPr>
            <p:spPr bwMode="auto">
              <a:xfrm>
                <a:off x="34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8" name="Freeform 144"/>
              <p:cNvSpPr/>
              <p:nvPr userDrawn="1"/>
            </p:nvSpPr>
            <p:spPr bwMode="auto">
              <a:xfrm>
                <a:off x="34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79" name="Freeform 145"/>
              <p:cNvSpPr/>
              <p:nvPr userDrawn="1"/>
            </p:nvSpPr>
            <p:spPr bwMode="auto">
              <a:xfrm>
                <a:off x="34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0" name="Freeform 146"/>
              <p:cNvSpPr/>
              <p:nvPr userDrawn="1"/>
            </p:nvSpPr>
            <p:spPr bwMode="auto">
              <a:xfrm>
                <a:off x="34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1" name="Freeform 147"/>
              <p:cNvSpPr/>
              <p:nvPr userDrawn="1"/>
            </p:nvSpPr>
            <p:spPr bwMode="auto">
              <a:xfrm>
                <a:off x="34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2" name="Freeform 148"/>
              <p:cNvSpPr/>
              <p:nvPr userDrawn="1"/>
            </p:nvSpPr>
            <p:spPr bwMode="auto">
              <a:xfrm>
                <a:off x="35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3" name="Freeform 149"/>
              <p:cNvSpPr/>
              <p:nvPr userDrawn="1"/>
            </p:nvSpPr>
            <p:spPr bwMode="auto">
              <a:xfrm>
                <a:off x="35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4" name="Freeform 150"/>
              <p:cNvSpPr/>
              <p:nvPr userDrawn="1"/>
            </p:nvSpPr>
            <p:spPr bwMode="auto">
              <a:xfrm>
                <a:off x="35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5" name="Freeform 151"/>
              <p:cNvSpPr/>
              <p:nvPr userDrawn="1"/>
            </p:nvSpPr>
            <p:spPr bwMode="auto">
              <a:xfrm>
                <a:off x="35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6" name="Freeform 152"/>
              <p:cNvSpPr/>
              <p:nvPr userDrawn="1"/>
            </p:nvSpPr>
            <p:spPr bwMode="auto">
              <a:xfrm>
                <a:off x="35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7" name="Freeform 153"/>
              <p:cNvSpPr/>
              <p:nvPr userDrawn="1"/>
            </p:nvSpPr>
            <p:spPr bwMode="auto">
              <a:xfrm>
                <a:off x="35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8" name="Freeform 154"/>
              <p:cNvSpPr/>
              <p:nvPr userDrawn="1"/>
            </p:nvSpPr>
            <p:spPr bwMode="auto">
              <a:xfrm>
                <a:off x="359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9" name="Freeform 155"/>
              <p:cNvSpPr/>
              <p:nvPr userDrawn="1"/>
            </p:nvSpPr>
            <p:spPr bwMode="auto">
              <a:xfrm>
                <a:off x="360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0" name="Freeform 156"/>
              <p:cNvSpPr/>
              <p:nvPr userDrawn="1"/>
            </p:nvSpPr>
            <p:spPr bwMode="auto">
              <a:xfrm>
                <a:off x="361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1" name="Freeform 157"/>
              <p:cNvSpPr/>
              <p:nvPr userDrawn="1"/>
            </p:nvSpPr>
            <p:spPr bwMode="auto">
              <a:xfrm>
                <a:off x="36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2" name="Freeform 158"/>
              <p:cNvSpPr/>
              <p:nvPr userDrawn="1"/>
            </p:nvSpPr>
            <p:spPr bwMode="auto">
              <a:xfrm>
                <a:off x="36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3" name="Freeform 159"/>
              <p:cNvSpPr/>
              <p:nvPr userDrawn="1"/>
            </p:nvSpPr>
            <p:spPr bwMode="auto">
              <a:xfrm>
                <a:off x="365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4" name="Freeform 160"/>
              <p:cNvSpPr/>
              <p:nvPr userDrawn="1"/>
            </p:nvSpPr>
            <p:spPr bwMode="auto">
              <a:xfrm>
                <a:off x="367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5" name="Freeform 161"/>
              <p:cNvSpPr/>
              <p:nvPr userDrawn="1"/>
            </p:nvSpPr>
            <p:spPr bwMode="auto">
              <a:xfrm>
                <a:off x="368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6" name="Freeform 162"/>
              <p:cNvSpPr/>
              <p:nvPr userDrawn="1"/>
            </p:nvSpPr>
            <p:spPr bwMode="auto">
              <a:xfrm>
                <a:off x="369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7" name="Freeform 163"/>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8" name="Freeform 164"/>
              <p:cNvSpPr/>
              <p:nvPr userDrawn="1"/>
            </p:nvSpPr>
            <p:spPr bwMode="auto">
              <a:xfrm>
                <a:off x="370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9" name="Freeform 165"/>
              <p:cNvSpPr/>
              <p:nvPr userDrawn="1"/>
            </p:nvSpPr>
            <p:spPr bwMode="auto">
              <a:xfrm>
                <a:off x="393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0" name="Freeform 166"/>
              <p:cNvSpPr/>
              <p:nvPr userDrawn="1"/>
            </p:nvSpPr>
            <p:spPr bwMode="auto">
              <a:xfrm>
                <a:off x="394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1" name="Freeform 167"/>
              <p:cNvSpPr/>
              <p:nvPr userDrawn="1"/>
            </p:nvSpPr>
            <p:spPr bwMode="auto">
              <a:xfrm>
                <a:off x="39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2" name="Freeform 168"/>
              <p:cNvSpPr/>
              <p:nvPr userDrawn="1"/>
            </p:nvSpPr>
            <p:spPr bwMode="auto">
              <a:xfrm>
                <a:off x="39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3" name="Freeform 169"/>
              <p:cNvSpPr/>
              <p:nvPr userDrawn="1"/>
            </p:nvSpPr>
            <p:spPr bwMode="auto">
              <a:xfrm>
                <a:off x="39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4" name="Freeform 170"/>
              <p:cNvSpPr/>
              <p:nvPr userDrawn="1"/>
            </p:nvSpPr>
            <p:spPr bwMode="auto">
              <a:xfrm>
                <a:off x="40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5" name="Freeform 171"/>
              <p:cNvSpPr/>
              <p:nvPr userDrawn="1"/>
            </p:nvSpPr>
            <p:spPr bwMode="auto">
              <a:xfrm>
                <a:off x="40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6" name="Freeform 172"/>
              <p:cNvSpPr/>
              <p:nvPr userDrawn="1"/>
            </p:nvSpPr>
            <p:spPr bwMode="auto">
              <a:xfrm>
                <a:off x="40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7" name="Freeform 173"/>
              <p:cNvSpPr/>
              <p:nvPr userDrawn="1"/>
            </p:nvSpPr>
            <p:spPr bwMode="auto">
              <a:xfrm>
                <a:off x="404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8" name="Freeform 174"/>
              <p:cNvSpPr/>
              <p:nvPr userDrawn="1"/>
            </p:nvSpPr>
            <p:spPr bwMode="auto">
              <a:xfrm>
                <a:off x="405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9" name="Freeform 175"/>
              <p:cNvSpPr/>
              <p:nvPr userDrawn="1"/>
            </p:nvSpPr>
            <p:spPr bwMode="auto">
              <a:xfrm>
                <a:off x="406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0" name="Freeform 176"/>
              <p:cNvSpPr/>
              <p:nvPr userDrawn="1"/>
            </p:nvSpPr>
            <p:spPr bwMode="auto">
              <a:xfrm>
                <a:off x="407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1" name="Freeform 177"/>
              <p:cNvSpPr/>
              <p:nvPr userDrawn="1"/>
            </p:nvSpPr>
            <p:spPr bwMode="auto">
              <a:xfrm>
                <a:off x="40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2" name="Freeform 178"/>
              <p:cNvSpPr/>
              <p:nvPr userDrawn="1"/>
            </p:nvSpPr>
            <p:spPr bwMode="auto">
              <a:xfrm>
                <a:off x="41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3" name="Freeform 179"/>
              <p:cNvSpPr/>
              <p:nvPr userDrawn="1"/>
            </p:nvSpPr>
            <p:spPr bwMode="auto">
              <a:xfrm>
                <a:off x="41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4" name="Freeform 180"/>
              <p:cNvSpPr/>
              <p:nvPr userDrawn="1"/>
            </p:nvSpPr>
            <p:spPr bwMode="auto">
              <a:xfrm>
                <a:off x="41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5" name="Freeform 181"/>
              <p:cNvSpPr/>
              <p:nvPr userDrawn="1"/>
            </p:nvSpPr>
            <p:spPr bwMode="auto">
              <a:xfrm>
                <a:off x="41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6" name="Freeform 182"/>
              <p:cNvSpPr/>
              <p:nvPr userDrawn="1"/>
            </p:nvSpPr>
            <p:spPr bwMode="auto">
              <a:xfrm>
                <a:off x="41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7" name="Freeform 183"/>
              <p:cNvSpPr/>
              <p:nvPr userDrawn="1"/>
            </p:nvSpPr>
            <p:spPr bwMode="auto">
              <a:xfrm>
                <a:off x="417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8" name="Freeform 184"/>
              <p:cNvSpPr/>
              <p:nvPr userDrawn="1"/>
            </p:nvSpPr>
            <p:spPr bwMode="auto">
              <a:xfrm>
                <a:off x="418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9" name="Freeform 185"/>
              <p:cNvSpPr/>
              <p:nvPr userDrawn="1"/>
            </p:nvSpPr>
            <p:spPr bwMode="auto">
              <a:xfrm>
                <a:off x="420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0" name="Freeform 186"/>
              <p:cNvSpPr/>
              <p:nvPr userDrawn="1"/>
            </p:nvSpPr>
            <p:spPr bwMode="auto">
              <a:xfrm>
                <a:off x="421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1" name="Freeform 187"/>
              <p:cNvSpPr/>
              <p:nvPr userDrawn="1"/>
            </p:nvSpPr>
            <p:spPr bwMode="auto">
              <a:xfrm>
                <a:off x="422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2" name="Freeform 188"/>
              <p:cNvSpPr/>
              <p:nvPr userDrawn="1"/>
            </p:nvSpPr>
            <p:spPr bwMode="auto">
              <a:xfrm>
                <a:off x="42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3" name="Freeform 189"/>
              <p:cNvSpPr/>
              <p:nvPr userDrawn="1"/>
            </p:nvSpPr>
            <p:spPr bwMode="auto">
              <a:xfrm>
                <a:off x="42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4" name="Freeform 190"/>
              <p:cNvSpPr/>
              <p:nvPr userDrawn="1"/>
            </p:nvSpPr>
            <p:spPr bwMode="auto">
              <a:xfrm>
                <a:off x="4267"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5" name="Freeform 191"/>
              <p:cNvSpPr/>
              <p:nvPr userDrawn="1"/>
            </p:nvSpPr>
            <p:spPr bwMode="auto">
              <a:xfrm>
                <a:off x="4280"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6" name="Freeform 192"/>
              <p:cNvSpPr/>
              <p:nvPr userDrawn="1"/>
            </p:nvSpPr>
            <p:spPr bwMode="auto">
              <a:xfrm>
                <a:off x="4293"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7" name="Freeform 193"/>
              <p:cNvSpPr/>
              <p:nvPr userDrawn="1"/>
            </p:nvSpPr>
            <p:spPr bwMode="auto">
              <a:xfrm>
                <a:off x="430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8" name="Freeform 194"/>
              <p:cNvSpPr/>
              <p:nvPr userDrawn="1"/>
            </p:nvSpPr>
            <p:spPr bwMode="auto">
              <a:xfrm>
                <a:off x="431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9" name="Freeform 195"/>
              <p:cNvSpPr/>
              <p:nvPr userDrawn="1"/>
            </p:nvSpPr>
            <p:spPr bwMode="auto">
              <a:xfrm>
                <a:off x="433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0" name="Freeform 196"/>
              <p:cNvSpPr/>
              <p:nvPr userDrawn="1"/>
            </p:nvSpPr>
            <p:spPr bwMode="auto">
              <a:xfrm>
                <a:off x="434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1" name="Freeform 197"/>
              <p:cNvSpPr/>
              <p:nvPr userDrawn="1"/>
            </p:nvSpPr>
            <p:spPr bwMode="auto">
              <a:xfrm>
                <a:off x="436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2" name="Freeform 198"/>
              <p:cNvSpPr/>
              <p:nvPr userDrawn="1"/>
            </p:nvSpPr>
            <p:spPr bwMode="auto">
              <a:xfrm>
                <a:off x="4376"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3" name="Freeform 199"/>
              <p:cNvSpPr/>
              <p:nvPr userDrawn="1"/>
            </p:nvSpPr>
            <p:spPr bwMode="auto">
              <a:xfrm>
                <a:off x="4389"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4" name="Freeform 200"/>
              <p:cNvSpPr/>
              <p:nvPr userDrawn="1"/>
            </p:nvSpPr>
            <p:spPr bwMode="auto">
              <a:xfrm>
                <a:off x="4402"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5" name="Freeform 201"/>
              <p:cNvSpPr/>
              <p:nvPr userDrawn="1"/>
            </p:nvSpPr>
            <p:spPr bwMode="auto">
              <a:xfrm>
                <a:off x="4415"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6" name="Freeform 202"/>
              <p:cNvSpPr/>
              <p:nvPr userDrawn="1"/>
            </p:nvSpPr>
            <p:spPr bwMode="auto">
              <a:xfrm>
                <a:off x="4428"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7" name="Freeform 203"/>
              <p:cNvSpPr/>
              <p:nvPr userDrawn="1"/>
            </p:nvSpPr>
            <p:spPr bwMode="auto">
              <a:xfrm>
                <a:off x="4441"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8" name="Freeform 204"/>
              <p:cNvSpPr/>
              <p:nvPr userDrawn="1"/>
            </p:nvSpPr>
            <p:spPr bwMode="auto">
              <a:xfrm>
                <a:off x="4454" y="2772"/>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7" name="Freeform 206"/>
            <p:cNvSpPr/>
            <p:nvPr userDrawn="1"/>
          </p:nvSpPr>
          <p:spPr bwMode="auto">
            <a:xfrm>
              <a:off x="70913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8" name="Freeform 207"/>
            <p:cNvSpPr/>
            <p:nvPr userDrawn="1"/>
          </p:nvSpPr>
          <p:spPr bwMode="auto">
            <a:xfrm>
              <a:off x="71120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9" name="Freeform 208"/>
            <p:cNvSpPr/>
            <p:nvPr userDrawn="1"/>
          </p:nvSpPr>
          <p:spPr bwMode="auto">
            <a:xfrm>
              <a:off x="71326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0" name="Freeform 209"/>
            <p:cNvSpPr/>
            <p:nvPr userDrawn="1"/>
          </p:nvSpPr>
          <p:spPr bwMode="auto">
            <a:xfrm>
              <a:off x="71532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1" name="Freeform 210"/>
            <p:cNvSpPr/>
            <p:nvPr userDrawn="1"/>
          </p:nvSpPr>
          <p:spPr bwMode="auto">
            <a:xfrm>
              <a:off x="71739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2" name="Freeform 211"/>
            <p:cNvSpPr/>
            <p:nvPr userDrawn="1"/>
          </p:nvSpPr>
          <p:spPr bwMode="auto">
            <a:xfrm>
              <a:off x="719455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3" name="Freeform 212"/>
            <p:cNvSpPr/>
            <p:nvPr userDrawn="1"/>
          </p:nvSpPr>
          <p:spPr bwMode="auto">
            <a:xfrm>
              <a:off x="722312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4" name="Freeform 213"/>
            <p:cNvSpPr/>
            <p:nvPr userDrawn="1"/>
          </p:nvSpPr>
          <p:spPr bwMode="auto">
            <a:xfrm>
              <a:off x="724376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5" name="Freeform 214"/>
            <p:cNvSpPr/>
            <p:nvPr userDrawn="1"/>
          </p:nvSpPr>
          <p:spPr bwMode="auto">
            <a:xfrm>
              <a:off x="7264400"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6" name="Freeform 215"/>
            <p:cNvSpPr/>
            <p:nvPr userDrawn="1"/>
          </p:nvSpPr>
          <p:spPr bwMode="auto">
            <a:xfrm>
              <a:off x="7285038"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7" name="Freeform 216"/>
            <p:cNvSpPr/>
            <p:nvPr userDrawn="1"/>
          </p:nvSpPr>
          <p:spPr bwMode="auto">
            <a:xfrm>
              <a:off x="7305675"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8" name="Freeform 217"/>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39" name="Freeform 218"/>
            <p:cNvSpPr/>
            <p:nvPr userDrawn="1"/>
          </p:nvSpPr>
          <p:spPr bwMode="auto">
            <a:xfrm>
              <a:off x="7326313" y="4400550"/>
              <a:ext cx="0" cy="0"/>
            </a:xfrm>
            <a:custGeom>
              <a:avLst/>
              <a:gdLst/>
              <a:ahLst/>
              <a:cxnLst>
                <a:cxn ang="0">
                  <a:pos x="0" y="0"/>
                </a:cxn>
                <a:cxn ang="0">
                  <a:pos x="0" y="0"/>
                </a:cxn>
                <a:cxn ang="0">
                  <a:pos x="0" y="0"/>
                </a:cxn>
              </a:cxnLst>
              <a:rect l="0" t="0" r="r" b="b"/>
              <a:pathLst>
                <a:path>
                  <a:moveTo>
                    <a:pt x="0" y="0"/>
                  </a:move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Freeform 219"/>
            <p:cNvSpPr>
              <a:spLocks noEditPoints="1"/>
            </p:cNvSpPr>
            <p:nvPr userDrawn="1"/>
          </p:nvSpPr>
          <p:spPr bwMode="auto">
            <a:xfrm>
              <a:off x="10160000" y="4513263"/>
              <a:ext cx="636588" cy="342900"/>
            </a:xfrm>
            <a:custGeom>
              <a:avLst/>
              <a:gdLst>
                <a:gd name="T0" fmla="*/ 344 w 401"/>
                <a:gd name="T1" fmla="*/ 57 h 216"/>
                <a:gd name="T2" fmla="*/ 318 w 401"/>
                <a:gd name="T3" fmla="*/ 0 h 216"/>
                <a:gd name="T4" fmla="*/ 287 w 401"/>
                <a:gd name="T5" fmla="*/ 57 h 216"/>
                <a:gd name="T6" fmla="*/ 287 w 401"/>
                <a:gd name="T7" fmla="*/ 79 h 216"/>
                <a:gd name="T8" fmla="*/ 235 w 401"/>
                <a:gd name="T9" fmla="*/ 79 h 216"/>
                <a:gd name="T10" fmla="*/ 235 w 401"/>
                <a:gd name="T11" fmla="*/ 57 h 216"/>
                <a:gd name="T12" fmla="*/ 205 w 401"/>
                <a:gd name="T13" fmla="*/ 0 h 216"/>
                <a:gd name="T14" fmla="*/ 174 w 401"/>
                <a:gd name="T15" fmla="*/ 57 h 216"/>
                <a:gd name="T16" fmla="*/ 174 w 401"/>
                <a:gd name="T17" fmla="*/ 79 h 216"/>
                <a:gd name="T18" fmla="*/ 118 w 401"/>
                <a:gd name="T19" fmla="*/ 79 h 216"/>
                <a:gd name="T20" fmla="*/ 118 w 401"/>
                <a:gd name="T21" fmla="*/ 57 h 216"/>
                <a:gd name="T22" fmla="*/ 87 w 401"/>
                <a:gd name="T23" fmla="*/ 0 h 216"/>
                <a:gd name="T24" fmla="*/ 57 w 401"/>
                <a:gd name="T25" fmla="*/ 57 h 216"/>
                <a:gd name="T26" fmla="*/ 57 w 401"/>
                <a:gd name="T27" fmla="*/ 79 h 216"/>
                <a:gd name="T28" fmla="*/ 74 w 401"/>
                <a:gd name="T29" fmla="*/ 136 h 216"/>
                <a:gd name="T30" fmla="*/ 104 w 401"/>
                <a:gd name="T31" fmla="*/ 216 h 216"/>
                <a:gd name="T32" fmla="*/ 118 w 401"/>
                <a:gd name="T33" fmla="*/ 136 h 216"/>
                <a:gd name="T34" fmla="*/ 192 w 401"/>
                <a:gd name="T35" fmla="*/ 136 h 216"/>
                <a:gd name="T36" fmla="*/ 218 w 401"/>
                <a:gd name="T37" fmla="*/ 216 h 216"/>
                <a:gd name="T38" fmla="*/ 226 w 401"/>
                <a:gd name="T39" fmla="*/ 136 h 216"/>
                <a:gd name="T40" fmla="*/ 300 w 401"/>
                <a:gd name="T41" fmla="*/ 136 h 216"/>
                <a:gd name="T42" fmla="*/ 331 w 401"/>
                <a:gd name="T43" fmla="*/ 216 h 216"/>
                <a:gd name="T44" fmla="*/ 401 w 401"/>
                <a:gd name="T45" fmla="*/ 136 h 216"/>
                <a:gd name="T46" fmla="*/ 370 w 401"/>
                <a:gd name="T47" fmla="*/ 79 h 216"/>
                <a:gd name="T48" fmla="*/ 96 w 401"/>
                <a:gd name="T49" fmla="*/ 207 h 216"/>
                <a:gd name="T50" fmla="*/ 83 w 401"/>
                <a:gd name="T51" fmla="*/ 132 h 216"/>
                <a:gd name="T52" fmla="*/ 78 w 401"/>
                <a:gd name="T53" fmla="*/ 70 h 216"/>
                <a:gd name="T54" fmla="*/ 78 w 401"/>
                <a:gd name="T55" fmla="*/ 48 h 216"/>
                <a:gd name="T56" fmla="*/ 87 w 401"/>
                <a:gd name="T57" fmla="*/ 13 h 216"/>
                <a:gd name="T58" fmla="*/ 100 w 401"/>
                <a:gd name="T59" fmla="*/ 48 h 216"/>
                <a:gd name="T60" fmla="*/ 100 w 401"/>
                <a:gd name="T61" fmla="*/ 70 h 216"/>
                <a:gd name="T62" fmla="*/ 126 w 401"/>
                <a:gd name="T63" fmla="*/ 132 h 216"/>
                <a:gd name="T64" fmla="*/ 135 w 401"/>
                <a:gd name="T65" fmla="*/ 132 h 216"/>
                <a:gd name="T66" fmla="*/ 157 w 401"/>
                <a:gd name="T67" fmla="*/ 132 h 216"/>
                <a:gd name="T68" fmla="*/ 213 w 401"/>
                <a:gd name="T69" fmla="*/ 132 h 216"/>
                <a:gd name="T70" fmla="*/ 196 w 401"/>
                <a:gd name="T71" fmla="*/ 207 h 216"/>
                <a:gd name="T72" fmla="*/ 165 w 401"/>
                <a:gd name="T73" fmla="*/ 132 h 216"/>
                <a:gd name="T74" fmla="*/ 196 w 401"/>
                <a:gd name="T75" fmla="*/ 70 h 216"/>
                <a:gd name="T76" fmla="*/ 192 w 401"/>
                <a:gd name="T77" fmla="*/ 48 h 216"/>
                <a:gd name="T78" fmla="*/ 205 w 401"/>
                <a:gd name="T79" fmla="*/ 13 h 216"/>
                <a:gd name="T80" fmla="*/ 218 w 401"/>
                <a:gd name="T81" fmla="*/ 48 h 216"/>
                <a:gd name="T82" fmla="*/ 218 w 401"/>
                <a:gd name="T83" fmla="*/ 70 h 216"/>
                <a:gd name="T84" fmla="*/ 235 w 401"/>
                <a:gd name="T85" fmla="*/ 132 h 216"/>
                <a:gd name="T86" fmla="*/ 248 w 401"/>
                <a:gd name="T87" fmla="*/ 132 h 216"/>
                <a:gd name="T88" fmla="*/ 274 w 401"/>
                <a:gd name="T89" fmla="*/ 132 h 216"/>
                <a:gd name="T90" fmla="*/ 383 w 401"/>
                <a:gd name="T91" fmla="*/ 132 h 216"/>
                <a:gd name="T92" fmla="*/ 322 w 401"/>
                <a:gd name="T93" fmla="*/ 207 h 216"/>
                <a:gd name="T94" fmla="*/ 309 w 401"/>
                <a:gd name="T95" fmla="*/ 132 h 216"/>
                <a:gd name="T96" fmla="*/ 266 w 401"/>
                <a:gd name="T97" fmla="*/ 110 h 216"/>
                <a:gd name="T98" fmla="*/ 283 w 401"/>
                <a:gd name="T99" fmla="*/ 70 h 216"/>
                <a:gd name="T100" fmla="*/ 283 w 401"/>
                <a:gd name="T101" fmla="*/ 48 h 216"/>
                <a:gd name="T102" fmla="*/ 348 w 401"/>
                <a:gd name="T103" fmla="*/ 48 h 216"/>
                <a:gd name="T104" fmla="*/ 348 w 401"/>
                <a:gd name="T105" fmla="*/ 70 h 216"/>
                <a:gd name="T106" fmla="*/ 383 w 401"/>
                <a:gd name="T107" fmla="*/ 132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01" h="216">
                  <a:moveTo>
                    <a:pt x="370" y="79"/>
                  </a:moveTo>
                  <a:lnTo>
                    <a:pt x="344" y="57"/>
                  </a:lnTo>
                  <a:lnTo>
                    <a:pt x="370" y="57"/>
                  </a:lnTo>
                  <a:lnTo>
                    <a:pt x="318" y="0"/>
                  </a:lnTo>
                  <a:lnTo>
                    <a:pt x="261" y="57"/>
                  </a:lnTo>
                  <a:lnTo>
                    <a:pt x="287" y="57"/>
                  </a:lnTo>
                  <a:lnTo>
                    <a:pt x="261" y="79"/>
                  </a:lnTo>
                  <a:lnTo>
                    <a:pt x="287" y="79"/>
                  </a:lnTo>
                  <a:lnTo>
                    <a:pt x="261" y="105"/>
                  </a:lnTo>
                  <a:lnTo>
                    <a:pt x="235" y="79"/>
                  </a:lnTo>
                  <a:lnTo>
                    <a:pt x="257" y="79"/>
                  </a:lnTo>
                  <a:lnTo>
                    <a:pt x="235" y="57"/>
                  </a:lnTo>
                  <a:lnTo>
                    <a:pt x="257" y="57"/>
                  </a:lnTo>
                  <a:lnTo>
                    <a:pt x="205" y="0"/>
                  </a:lnTo>
                  <a:lnTo>
                    <a:pt x="152" y="57"/>
                  </a:lnTo>
                  <a:lnTo>
                    <a:pt x="174" y="57"/>
                  </a:lnTo>
                  <a:lnTo>
                    <a:pt x="152" y="79"/>
                  </a:lnTo>
                  <a:lnTo>
                    <a:pt x="174" y="79"/>
                  </a:lnTo>
                  <a:lnTo>
                    <a:pt x="148" y="110"/>
                  </a:lnTo>
                  <a:lnTo>
                    <a:pt x="118" y="79"/>
                  </a:lnTo>
                  <a:lnTo>
                    <a:pt x="139" y="79"/>
                  </a:lnTo>
                  <a:lnTo>
                    <a:pt x="118" y="57"/>
                  </a:lnTo>
                  <a:lnTo>
                    <a:pt x="139" y="57"/>
                  </a:lnTo>
                  <a:lnTo>
                    <a:pt x="87" y="0"/>
                  </a:lnTo>
                  <a:lnTo>
                    <a:pt x="35" y="57"/>
                  </a:lnTo>
                  <a:lnTo>
                    <a:pt x="57" y="57"/>
                  </a:lnTo>
                  <a:lnTo>
                    <a:pt x="35" y="79"/>
                  </a:lnTo>
                  <a:lnTo>
                    <a:pt x="57" y="79"/>
                  </a:lnTo>
                  <a:lnTo>
                    <a:pt x="0" y="136"/>
                  </a:lnTo>
                  <a:lnTo>
                    <a:pt x="74" y="136"/>
                  </a:lnTo>
                  <a:lnTo>
                    <a:pt x="74" y="216"/>
                  </a:lnTo>
                  <a:lnTo>
                    <a:pt x="104" y="216"/>
                  </a:lnTo>
                  <a:lnTo>
                    <a:pt x="104" y="136"/>
                  </a:lnTo>
                  <a:lnTo>
                    <a:pt x="118" y="136"/>
                  </a:lnTo>
                  <a:lnTo>
                    <a:pt x="174" y="136"/>
                  </a:lnTo>
                  <a:lnTo>
                    <a:pt x="192" y="136"/>
                  </a:lnTo>
                  <a:lnTo>
                    <a:pt x="192" y="216"/>
                  </a:lnTo>
                  <a:lnTo>
                    <a:pt x="218" y="216"/>
                  </a:lnTo>
                  <a:lnTo>
                    <a:pt x="218" y="136"/>
                  </a:lnTo>
                  <a:lnTo>
                    <a:pt x="226" y="136"/>
                  </a:lnTo>
                  <a:lnTo>
                    <a:pt x="292" y="136"/>
                  </a:lnTo>
                  <a:lnTo>
                    <a:pt x="300" y="136"/>
                  </a:lnTo>
                  <a:lnTo>
                    <a:pt x="300" y="216"/>
                  </a:lnTo>
                  <a:lnTo>
                    <a:pt x="331" y="216"/>
                  </a:lnTo>
                  <a:lnTo>
                    <a:pt x="331" y="136"/>
                  </a:lnTo>
                  <a:lnTo>
                    <a:pt x="401" y="136"/>
                  </a:lnTo>
                  <a:lnTo>
                    <a:pt x="344" y="79"/>
                  </a:lnTo>
                  <a:lnTo>
                    <a:pt x="370" y="79"/>
                  </a:lnTo>
                  <a:close/>
                  <a:moveTo>
                    <a:pt x="96" y="132"/>
                  </a:moveTo>
                  <a:lnTo>
                    <a:pt x="96" y="207"/>
                  </a:lnTo>
                  <a:lnTo>
                    <a:pt x="83" y="207"/>
                  </a:lnTo>
                  <a:lnTo>
                    <a:pt x="83" y="132"/>
                  </a:lnTo>
                  <a:lnTo>
                    <a:pt x="17" y="132"/>
                  </a:lnTo>
                  <a:lnTo>
                    <a:pt x="78" y="70"/>
                  </a:lnTo>
                  <a:lnTo>
                    <a:pt x="52" y="70"/>
                  </a:lnTo>
                  <a:lnTo>
                    <a:pt x="78" y="48"/>
                  </a:lnTo>
                  <a:lnTo>
                    <a:pt x="52" y="48"/>
                  </a:lnTo>
                  <a:lnTo>
                    <a:pt x="87" y="13"/>
                  </a:lnTo>
                  <a:lnTo>
                    <a:pt x="122" y="48"/>
                  </a:lnTo>
                  <a:lnTo>
                    <a:pt x="100" y="48"/>
                  </a:lnTo>
                  <a:lnTo>
                    <a:pt x="122" y="70"/>
                  </a:lnTo>
                  <a:lnTo>
                    <a:pt x="100" y="70"/>
                  </a:lnTo>
                  <a:lnTo>
                    <a:pt x="139" y="114"/>
                  </a:lnTo>
                  <a:lnTo>
                    <a:pt x="126" y="132"/>
                  </a:lnTo>
                  <a:lnTo>
                    <a:pt x="96" y="132"/>
                  </a:lnTo>
                  <a:close/>
                  <a:moveTo>
                    <a:pt x="135" y="132"/>
                  </a:moveTo>
                  <a:lnTo>
                    <a:pt x="148" y="119"/>
                  </a:lnTo>
                  <a:lnTo>
                    <a:pt x="157" y="132"/>
                  </a:lnTo>
                  <a:lnTo>
                    <a:pt x="135" y="132"/>
                  </a:lnTo>
                  <a:close/>
                  <a:moveTo>
                    <a:pt x="213" y="132"/>
                  </a:moveTo>
                  <a:lnTo>
                    <a:pt x="213" y="207"/>
                  </a:lnTo>
                  <a:lnTo>
                    <a:pt x="196" y="207"/>
                  </a:lnTo>
                  <a:lnTo>
                    <a:pt x="196" y="132"/>
                  </a:lnTo>
                  <a:lnTo>
                    <a:pt x="165" y="132"/>
                  </a:lnTo>
                  <a:lnTo>
                    <a:pt x="152" y="114"/>
                  </a:lnTo>
                  <a:lnTo>
                    <a:pt x="196" y="70"/>
                  </a:lnTo>
                  <a:lnTo>
                    <a:pt x="170" y="70"/>
                  </a:lnTo>
                  <a:lnTo>
                    <a:pt x="192" y="48"/>
                  </a:lnTo>
                  <a:lnTo>
                    <a:pt x="170" y="48"/>
                  </a:lnTo>
                  <a:lnTo>
                    <a:pt x="205" y="13"/>
                  </a:lnTo>
                  <a:lnTo>
                    <a:pt x="239" y="48"/>
                  </a:lnTo>
                  <a:lnTo>
                    <a:pt x="218" y="48"/>
                  </a:lnTo>
                  <a:lnTo>
                    <a:pt x="239" y="70"/>
                  </a:lnTo>
                  <a:lnTo>
                    <a:pt x="218" y="70"/>
                  </a:lnTo>
                  <a:lnTo>
                    <a:pt x="253" y="110"/>
                  </a:lnTo>
                  <a:lnTo>
                    <a:pt x="235" y="132"/>
                  </a:lnTo>
                  <a:lnTo>
                    <a:pt x="213" y="132"/>
                  </a:lnTo>
                  <a:close/>
                  <a:moveTo>
                    <a:pt x="248" y="132"/>
                  </a:moveTo>
                  <a:lnTo>
                    <a:pt x="261" y="119"/>
                  </a:lnTo>
                  <a:lnTo>
                    <a:pt x="274" y="132"/>
                  </a:lnTo>
                  <a:lnTo>
                    <a:pt x="248" y="132"/>
                  </a:lnTo>
                  <a:close/>
                  <a:moveTo>
                    <a:pt x="383" y="132"/>
                  </a:moveTo>
                  <a:lnTo>
                    <a:pt x="322" y="132"/>
                  </a:lnTo>
                  <a:lnTo>
                    <a:pt x="322" y="207"/>
                  </a:lnTo>
                  <a:lnTo>
                    <a:pt x="309" y="207"/>
                  </a:lnTo>
                  <a:lnTo>
                    <a:pt x="309" y="132"/>
                  </a:lnTo>
                  <a:lnTo>
                    <a:pt x="283" y="132"/>
                  </a:lnTo>
                  <a:lnTo>
                    <a:pt x="266" y="110"/>
                  </a:lnTo>
                  <a:lnTo>
                    <a:pt x="305" y="70"/>
                  </a:lnTo>
                  <a:lnTo>
                    <a:pt x="283" y="70"/>
                  </a:lnTo>
                  <a:lnTo>
                    <a:pt x="305" y="48"/>
                  </a:lnTo>
                  <a:lnTo>
                    <a:pt x="283" y="48"/>
                  </a:lnTo>
                  <a:lnTo>
                    <a:pt x="318" y="13"/>
                  </a:lnTo>
                  <a:lnTo>
                    <a:pt x="348" y="48"/>
                  </a:lnTo>
                  <a:lnTo>
                    <a:pt x="327" y="48"/>
                  </a:lnTo>
                  <a:lnTo>
                    <a:pt x="348" y="70"/>
                  </a:lnTo>
                  <a:lnTo>
                    <a:pt x="327" y="70"/>
                  </a:lnTo>
                  <a:lnTo>
                    <a:pt x="383" y="13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 name="Freeform 220"/>
            <p:cNvSpPr>
              <a:spLocks noEditPoints="1"/>
            </p:cNvSpPr>
            <p:nvPr userDrawn="1"/>
          </p:nvSpPr>
          <p:spPr bwMode="auto">
            <a:xfrm>
              <a:off x="7843838" y="4400550"/>
              <a:ext cx="2268538" cy="447675"/>
            </a:xfrm>
            <a:custGeom>
              <a:avLst/>
              <a:gdLst>
                <a:gd name="T0" fmla="*/ 91 w 328"/>
                <a:gd name="T1" fmla="*/ 0 h 64"/>
                <a:gd name="T2" fmla="*/ 124 w 328"/>
                <a:gd name="T3" fmla="*/ 59 h 64"/>
                <a:gd name="T4" fmla="*/ 328 w 328"/>
                <a:gd name="T5" fmla="*/ 63 h 64"/>
                <a:gd name="T6" fmla="*/ 327 w 328"/>
                <a:gd name="T7" fmla="*/ 2 h 64"/>
                <a:gd name="T8" fmla="*/ 193 w 328"/>
                <a:gd name="T9" fmla="*/ 21 h 64"/>
                <a:gd name="T10" fmla="*/ 123 w 328"/>
                <a:gd name="T11" fmla="*/ 57 h 64"/>
                <a:gd name="T12" fmla="*/ 113 w 328"/>
                <a:gd name="T13" fmla="*/ 5 h 64"/>
                <a:gd name="T14" fmla="*/ 150 w 328"/>
                <a:gd name="T15" fmla="*/ 19 h 64"/>
                <a:gd name="T16" fmla="*/ 140 w 328"/>
                <a:gd name="T17" fmla="*/ 20 h 64"/>
                <a:gd name="T18" fmla="*/ 132 w 328"/>
                <a:gd name="T19" fmla="*/ 10 h 64"/>
                <a:gd name="T20" fmla="*/ 188 w 328"/>
                <a:gd name="T21" fmla="*/ 15 h 64"/>
                <a:gd name="T22" fmla="*/ 191 w 328"/>
                <a:gd name="T23" fmla="*/ 49 h 64"/>
                <a:gd name="T24" fmla="*/ 134 w 328"/>
                <a:gd name="T25" fmla="*/ 38 h 64"/>
                <a:gd name="T26" fmla="*/ 139 w 328"/>
                <a:gd name="T27" fmla="*/ 40 h 64"/>
                <a:gd name="T28" fmla="*/ 155 w 328"/>
                <a:gd name="T29" fmla="*/ 38 h 64"/>
                <a:gd name="T30" fmla="*/ 156 w 328"/>
                <a:gd name="T31" fmla="*/ 38 h 64"/>
                <a:gd name="T32" fmla="*/ 172 w 328"/>
                <a:gd name="T33" fmla="*/ 40 h 64"/>
                <a:gd name="T34" fmla="*/ 179 w 328"/>
                <a:gd name="T35" fmla="*/ 38 h 64"/>
                <a:gd name="T36" fmla="*/ 185 w 328"/>
                <a:gd name="T37" fmla="*/ 40 h 64"/>
                <a:gd name="T38" fmla="*/ 180 w 328"/>
                <a:gd name="T39" fmla="*/ 36 h 64"/>
                <a:gd name="T40" fmla="*/ 178 w 328"/>
                <a:gd name="T41" fmla="*/ 36 h 64"/>
                <a:gd name="T42" fmla="*/ 162 w 328"/>
                <a:gd name="T43" fmla="*/ 33 h 64"/>
                <a:gd name="T44" fmla="*/ 155 w 328"/>
                <a:gd name="T45" fmla="*/ 36 h 64"/>
                <a:gd name="T46" fmla="*/ 149 w 328"/>
                <a:gd name="T47" fmla="*/ 33 h 64"/>
                <a:gd name="T48" fmla="*/ 134 w 328"/>
                <a:gd name="T49" fmla="*/ 36 h 64"/>
                <a:gd name="T50" fmla="*/ 138 w 328"/>
                <a:gd name="T51" fmla="*/ 42 h 64"/>
                <a:gd name="T52" fmla="*/ 149 w 328"/>
                <a:gd name="T53" fmla="*/ 42 h 64"/>
                <a:gd name="T54" fmla="*/ 157 w 328"/>
                <a:gd name="T55" fmla="*/ 45 h 64"/>
                <a:gd name="T56" fmla="*/ 162 w 328"/>
                <a:gd name="T57" fmla="*/ 45 h 64"/>
                <a:gd name="T58" fmla="*/ 177 w 328"/>
                <a:gd name="T59" fmla="*/ 42 h 64"/>
                <a:gd name="T60" fmla="*/ 179 w 328"/>
                <a:gd name="T61" fmla="*/ 42 h 64"/>
                <a:gd name="T62" fmla="*/ 180 w 328"/>
                <a:gd name="T63" fmla="*/ 29 h 64"/>
                <a:gd name="T64" fmla="*/ 172 w 328"/>
                <a:gd name="T65" fmla="*/ 31 h 64"/>
                <a:gd name="T66" fmla="*/ 166 w 328"/>
                <a:gd name="T67" fmla="*/ 29 h 64"/>
                <a:gd name="T68" fmla="*/ 154 w 328"/>
                <a:gd name="T69" fmla="*/ 31 h 64"/>
                <a:gd name="T70" fmla="*/ 148 w 328"/>
                <a:gd name="T71" fmla="*/ 29 h 64"/>
                <a:gd name="T72" fmla="*/ 133 w 328"/>
                <a:gd name="T73" fmla="*/ 31 h 64"/>
                <a:gd name="T74" fmla="*/ 123 w 328"/>
                <a:gd name="T75" fmla="*/ 7 h 64"/>
                <a:gd name="T76" fmla="*/ 135 w 328"/>
                <a:gd name="T77" fmla="*/ 50 h 64"/>
                <a:gd name="T78" fmla="*/ 198 w 328"/>
                <a:gd name="T79" fmla="*/ 56 h 64"/>
                <a:gd name="T80" fmla="*/ 203 w 328"/>
                <a:gd name="T81" fmla="*/ 62 h 64"/>
                <a:gd name="T82" fmla="*/ 215 w 328"/>
                <a:gd name="T83" fmla="*/ 6 h 64"/>
                <a:gd name="T84" fmla="*/ 217 w 328"/>
                <a:gd name="T85" fmla="*/ 5 h 64"/>
                <a:gd name="T86" fmla="*/ 230 w 328"/>
                <a:gd name="T87" fmla="*/ 62 h 64"/>
                <a:gd name="T88" fmla="*/ 236 w 328"/>
                <a:gd name="T89" fmla="*/ 2 h 64"/>
                <a:gd name="T90" fmla="*/ 241 w 328"/>
                <a:gd name="T91" fmla="*/ 62 h 64"/>
                <a:gd name="T92" fmla="*/ 254 w 328"/>
                <a:gd name="T93" fmla="*/ 2 h 64"/>
                <a:gd name="T94" fmla="*/ 256 w 328"/>
                <a:gd name="T95" fmla="*/ 2 h 64"/>
                <a:gd name="T96" fmla="*/ 268 w 328"/>
                <a:gd name="T97" fmla="*/ 62 h 64"/>
                <a:gd name="T98" fmla="*/ 275 w 328"/>
                <a:gd name="T99" fmla="*/ 2 h 64"/>
                <a:gd name="T100" fmla="*/ 280 w 328"/>
                <a:gd name="T101" fmla="*/ 62 h 64"/>
                <a:gd name="T102" fmla="*/ 292 w 328"/>
                <a:gd name="T103" fmla="*/ 2 h 64"/>
                <a:gd name="T104" fmla="*/ 294 w 328"/>
                <a:gd name="T105" fmla="*/ 2 h 64"/>
                <a:gd name="T106" fmla="*/ 307 w 328"/>
                <a:gd name="T107" fmla="*/ 62 h 64"/>
                <a:gd name="T108" fmla="*/ 313 w 328"/>
                <a:gd name="T109" fmla="*/ 2 h 64"/>
                <a:gd name="T110" fmla="*/ 318 w 328"/>
                <a:gd name="T111" fmla="*/ 62 h 64"/>
                <a:gd name="T112" fmla="*/ 132 w 328"/>
                <a:gd name="T113" fmla="*/ 27 h 64"/>
                <a:gd name="T114" fmla="*/ 113 w 328"/>
                <a:gd name="T115" fmla="*/ 62 h 64"/>
                <a:gd name="T116" fmla="*/ 2 w 328"/>
                <a:gd name="T117" fmla="*/ 2 h 64"/>
                <a:gd name="T118" fmla="*/ 129 w 328"/>
                <a:gd name="T119" fmla="*/ 55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28" h="64">
                  <a:moveTo>
                    <a:pt x="328" y="0"/>
                  </a:moveTo>
                  <a:cubicBezTo>
                    <a:pt x="240" y="0"/>
                    <a:pt x="240" y="0"/>
                    <a:pt x="240" y="0"/>
                  </a:cubicBezTo>
                  <a:cubicBezTo>
                    <a:pt x="239" y="0"/>
                    <a:pt x="201" y="3"/>
                    <a:pt x="177" y="19"/>
                  </a:cubicBezTo>
                  <a:cubicBezTo>
                    <a:pt x="177" y="19"/>
                    <a:pt x="177" y="19"/>
                    <a:pt x="177" y="19"/>
                  </a:cubicBezTo>
                  <a:cubicBezTo>
                    <a:pt x="169" y="19"/>
                    <a:pt x="162" y="19"/>
                    <a:pt x="155" y="19"/>
                  </a:cubicBezTo>
                  <a:cubicBezTo>
                    <a:pt x="150" y="15"/>
                    <a:pt x="145" y="13"/>
                    <a:pt x="139" y="10"/>
                  </a:cubicBezTo>
                  <a:cubicBezTo>
                    <a:pt x="139" y="10"/>
                    <a:pt x="139" y="10"/>
                    <a:pt x="139" y="10"/>
                  </a:cubicBezTo>
                  <a:cubicBezTo>
                    <a:pt x="116" y="2"/>
                    <a:pt x="91" y="0"/>
                    <a:pt x="91" y="0"/>
                  </a:cubicBezTo>
                  <a:cubicBezTo>
                    <a:pt x="1" y="0"/>
                    <a:pt x="1" y="0"/>
                    <a:pt x="1" y="0"/>
                  </a:cubicBezTo>
                  <a:cubicBezTo>
                    <a:pt x="0" y="0"/>
                    <a:pt x="0" y="0"/>
                    <a:pt x="0" y="1"/>
                  </a:cubicBezTo>
                  <a:cubicBezTo>
                    <a:pt x="0" y="63"/>
                    <a:pt x="0" y="63"/>
                    <a:pt x="0" y="63"/>
                  </a:cubicBezTo>
                  <a:cubicBezTo>
                    <a:pt x="0" y="63"/>
                    <a:pt x="0" y="64"/>
                    <a:pt x="1" y="64"/>
                  </a:cubicBezTo>
                  <a:cubicBezTo>
                    <a:pt x="118" y="64"/>
                    <a:pt x="118" y="64"/>
                    <a:pt x="118" y="64"/>
                  </a:cubicBezTo>
                  <a:cubicBezTo>
                    <a:pt x="118" y="64"/>
                    <a:pt x="118" y="64"/>
                    <a:pt x="119" y="64"/>
                  </a:cubicBezTo>
                  <a:cubicBezTo>
                    <a:pt x="124" y="59"/>
                    <a:pt x="124" y="59"/>
                    <a:pt x="124" y="59"/>
                  </a:cubicBezTo>
                  <a:cubicBezTo>
                    <a:pt x="124" y="59"/>
                    <a:pt x="124" y="59"/>
                    <a:pt x="124" y="59"/>
                  </a:cubicBezTo>
                  <a:cubicBezTo>
                    <a:pt x="197" y="59"/>
                    <a:pt x="197" y="59"/>
                    <a:pt x="197" y="59"/>
                  </a:cubicBezTo>
                  <a:cubicBezTo>
                    <a:pt x="198" y="59"/>
                    <a:pt x="198" y="59"/>
                    <a:pt x="198" y="59"/>
                  </a:cubicBezTo>
                  <a:cubicBezTo>
                    <a:pt x="201" y="63"/>
                    <a:pt x="201" y="63"/>
                    <a:pt x="201" y="63"/>
                  </a:cubicBezTo>
                  <a:cubicBezTo>
                    <a:pt x="202" y="63"/>
                    <a:pt x="202" y="64"/>
                    <a:pt x="202" y="64"/>
                  </a:cubicBezTo>
                  <a:cubicBezTo>
                    <a:pt x="328" y="64"/>
                    <a:pt x="328" y="64"/>
                    <a:pt x="328" y="64"/>
                  </a:cubicBezTo>
                  <a:cubicBezTo>
                    <a:pt x="328" y="64"/>
                    <a:pt x="328" y="64"/>
                    <a:pt x="328" y="64"/>
                  </a:cubicBezTo>
                  <a:cubicBezTo>
                    <a:pt x="328" y="64"/>
                    <a:pt x="328" y="64"/>
                    <a:pt x="328" y="63"/>
                  </a:cubicBezTo>
                  <a:cubicBezTo>
                    <a:pt x="328" y="63"/>
                    <a:pt x="328" y="63"/>
                    <a:pt x="328" y="63"/>
                  </a:cubicBezTo>
                  <a:cubicBezTo>
                    <a:pt x="328" y="63"/>
                    <a:pt x="328" y="63"/>
                    <a:pt x="328" y="63"/>
                  </a:cubicBezTo>
                  <a:cubicBezTo>
                    <a:pt x="328" y="63"/>
                    <a:pt x="328" y="63"/>
                    <a:pt x="328" y="63"/>
                  </a:cubicBezTo>
                  <a:cubicBezTo>
                    <a:pt x="328" y="1"/>
                    <a:pt x="328" y="1"/>
                    <a:pt x="328" y="1"/>
                  </a:cubicBezTo>
                  <a:cubicBezTo>
                    <a:pt x="328" y="0"/>
                    <a:pt x="328" y="0"/>
                    <a:pt x="328" y="0"/>
                  </a:cubicBezTo>
                  <a:close/>
                  <a:moveTo>
                    <a:pt x="327" y="62"/>
                  </a:moveTo>
                  <a:cubicBezTo>
                    <a:pt x="323" y="62"/>
                    <a:pt x="323" y="62"/>
                    <a:pt x="323" y="62"/>
                  </a:cubicBezTo>
                  <a:cubicBezTo>
                    <a:pt x="323" y="2"/>
                    <a:pt x="323" y="2"/>
                    <a:pt x="323" y="2"/>
                  </a:cubicBezTo>
                  <a:cubicBezTo>
                    <a:pt x="327" y="2"/>
                    <a:pt x="327" y="2"/>
                    <a:pt x="327" y="2"/>
                  </a:cubicBezTo>
                  <a:lnTo>
                    <a:pt x="327" y="62"/>
                  </a:lnTo>
                  <a:close/>
                  <a:moveTo>
                    <a:pt x="193" y="51"/>
                  </a:moveTo>
                  <a:cubicBezTo>
                    <a:pt x="193" y="51"/>
                    <a:pt x="193" y="51"/>
                    <a:pt x="193" y="51"/>
                  </a:cubicBezTo>
                  <a:cubicBezTo>
                    <a:pt x="193" y="25"/>
                    <a:pt x="193" y="25"/>
                    <a:pt x="193" y="25"/>
                  </a:cubicBezTo>
                  <a:cubicBezTo>
                    <a:pt x="193" y="25"/>
                    <a:pt x="193" y="25"/>
                    <a:pt x="193" y="25"/>
                  </a:cubicBezTo>
                  <a:cubicBezTo>
                    <a:pt x="194" y="22"/>
                    <a:pt x="194" y="22"/>
                    <a:pt x="194" y="22"/>
                  </a:cubicBezTo>
                  <a:cubicBezTo>
                    <a:pt x="194" y="22"/>
                    <a:pt x="194" y="21"/>
                    <a:pt x="193" y="21"/>
                  </a:cubicBezTo>
                  <a:cubicBezTo>
                    <a:pt x="193" y="21"/>
                    <a:pt x="193" y="21"/>
                    <a:pt x="193" y="21"/>
                  </a:cubicBezTo>
                  <a:cubicBezTo>
                    <a:pt x="193" y="12"/>
                    <a:pt x="193" y="12"/>
                    <a:pt x="193" y="12"/>
                  </a:cubicBezTo>
                  <a:cubicBezTo>
                    <a:pt x="194" y="12"/>
                    <a:pt x="195" y="12"/>
                    <a:pt x="196" y="11"/>
                  </a:cubicBezTo>
                  <a:cubicBezTo>
                    <a:pt x="196" y="54"/>
                    <a:pt x="196" y="54"/>
                    <a:pt x="196" y="54"/>
                  </a:cubicBezTo>
                  <a:lnTo>
                    <a:pt x="193" y="51"/>
                  </a:lnTo>
                  <a:close/>
                  <a:moveTo>
                    <a:pt x="107" y="4"/>
                  </a:moveTo>
                  <a:cubicBezTo>
                    <a:pt x="108" y="4"/>
                    <a:pt x="110" y="4"/>
                    <a:pt x="111" y="4"/>
                  </a:cubicBezTo>
                  <a:cubicBezTo>
                    <a:pt x="126" y="55"/>
                    <a:pt x="126" y="55"/>
                    <a:pt x="126" y="55"/>
                  </a:cubicBezTo>
                  <a:cubicBezTo>
                    <a:pt x="123" y="57"/>
                    <a:pt x="123" y="57"/>
                    <a:pt x="123" y="57"/>
                  </a:cubicBezTo>
                  <a:lnTo>
                    <a:pt x="107" y="4"/>
                  </a:lnTo>
                  <a:close/>
                  <a:moveTo>
                    <a:pt x="122" y="59"/>
                  </a:moveTo>
                  <a:cubicBezTo>
                    <a:pt x="119" y="61"/>
                    <a:pt x="119" y="61"/>
                    <a:pt x="119" y="61"/>
                  </a:cubicBezTo>
                  <a:cubicBezTo>
                    <a:pt x="102" y="3"/>
                    <a:pt x="102" y="3"/>
                    <a:pt x="102" y="3"/>
                  </a:cubicBezTo>
                  <a:cubicBezTo>
                    <a:pt x="103" y="3"/>
                    <a:pt x="104" y="3"/>
                    <a:pt x="105" y="3"/>
                  </a:cubicBezTo>
                  <a:lnTo>
                    <a:pt x="122" y="59"/>
                  </a:lnTo>
                  <a:close/>
                  <a:moveTo>
                    <a:pt x="127" y="54"/>
                  </a:moveTo>
                  <a:cubicBezTo>
                    <a:pt x="113" y="5"/>
                    <a:pt x="113" y="5"/>
                    <a:pt x="113" y="5"/>
                  </a:cubicBezTo>
                  <a:cubicBezTo>
                    <a:pt x="114" y="5"/>
                    <a:pt x="115" y="5"/>
                    <a:pt x="116" y="5"/>
                  </a:cubicBezTo>
                  <a:cubicBezTo>
                    <a:pt x="130" y="52"/>
                    <a:pt x="130" y="52"/>
                    <a:pt x="130" y="52"/>
                  </a:cubicBezTo>
                  <a:lnTo>
                    <a:pt x="127" y="54"/>
                  </a:lnTo>
                  <a:close/>
                  <a:moveTo>
                    <a:pt x="147" y="19"/>
                  </a:moveTo>
                  <a:cubicBezTo>
                    <a:pt x="145" y="15"/>
                    <a:pt x="145" y="15"/>
                    <a:pt x="145" y="15"/>
                  </a:cubicBezTo>
                  <a:cubicBezTo>
                    <a:pt x="147" y="16"/>
                    <a:pt x="148" y="16"/>
                    <a:pt x="149" y="17"/>
                  </a:cubicBezTo>
                  <a:cubicBezTo>
                    <a:pt x="149" y="17"/>
                    <a:pt x="149" y="17"/>
                    <a:pt x="149" y="17"/>
                  </a:cubicBezTo>
                  <a:cubicBezTo>
                    <a:pt x="150" y="19"/>
                    <a:pt x="150" y="19"/>
                    <a:pt x="150" y="19"/>
                  </a:cubicBezTo>
                  <a:cubicBezTo>
                    <a:pt x="149" y="19"/>
                    <a:pt x="148" y="19"/>
                    <a:pt x="147" y="19"/>
                  </a:cubicBezTo>
                  <a:close/>
                  <a:moveTo>
                    <a:pt x="145" y="19"/>
                  </a:moveTo>
                  <a:cubicBezTo>
                    <a:pt x="144" y="19"/>
                    <a:pt x="143" y="20"/>
                    <a:pt x="142" y="20"/>
                  </a:cubicBezTo>
                  <a:cubicBezTo>
                    <a:pt x="140" y="13"/>
                    <a:pt x="140" y="13"/>
                    <a:pt x="140" y="13"/>
                  </a:cubicBezTo>
                  <a:cubicBezTo>
                    <a:pt x="141" y="13"/>
                    <a:pt x="142" y="14"/>
                    <a:pt x="143" y="14"/>
                  </a:cubicBezTo>
                  <a:cubicBezTo>
                    <a:pt x="143" y="14"/>
                    <a:pt x="143" y="15"/>
                    <a:pt x="143" y="15"/>
                  </a:cubicBezTo>
                  <a:lnTo>
                    <a:pt x="145" y="19"/>
                  </a:lnTo>
                  <a:close/>
                  <a:moveTo>
                    <a:pt x="140" y="20"/>
                  </a:moveTo>
                  <a:cubicBezTo>
                    <a:pt x="139" y="20"/>
                    <a:pt x="138" y="20"/>
                    <a:pt x="137" y="20"/>
                  </a:cubicBezTo>
                  <a:cubicBezTo>
                    <a:pt x="134" y="11"/>
                    <a:pt x="134" y="11"/>
                    <a:pt x="134" y="11"/>
                  </a:cubicBezTo>
                  <a:cubicBezTo>
                    <a:pt x="135" y="11"/>
                    <a:pt x="136" y="11"/>
                    <a:pt x="138" y="12"/>
                  </a:cubicBezTo>
                  <a:lnTo>
                    <a:pt x="140" y="20"/>
                  </a:lnTo>
                  <a:close/>
                  <a:moveTo>
                    <a:pt x="135" y="20"/>
                  </a:moveTo>
                  <a:cubicBezTo>
                    <a:pt x="134" y="20"/>
                    <a:pt x="133" y="20"/>
                    <a:pt x="132" y="21"/>
                  </a:cubicBezTo>
                  <a:cubicBezTo>
                    <a:pt x="129" y="9"/>
                    <a:pt x="129" y="9"/>
                    <a:pt x="129" y="9"/>
                  </a:cubicBezTo>
                  <a:cubicBezTo>
                    <a:pt x="130" y="9"/>
                    <a:pt x="131" y="10"/>
                    <a:pt x="132" y="10"/>
                  </a:cubicBezTo>
                  <a:lnTo>
                    <a:pt x="135" y="20"/>
                  </a:lnTo>
                  <a:close/>
                  <a:moveTo>
                    <a:pt x="183" y="20"/>
                  </a:moveTo>
                  <a:cubicBezTo>
                    <a:pt x="183" y="17"/>
                    <a:pt x="183" y="17"/>
                    <a:pt x="183" y="17"/>
                  </a:cubicBezTo>
                  <a:cubicBezTo>
                    <a:pt x="183" y="17"/>
                    <a:pt x="183" y="17"/>
                    <a:pt x="183" y="17"/>
                  </a:cubicBezTo>
                  <a:cubicBezTo>
                    <a:pt x="184" y="16"/>
                    <a:pt x="185" y="16"/>
                    <a:pt x="186" y="15"/>
                  </a:cubicBezTo>
                  <a:cubicBezTo>
                    <a:pt x="186" y="20"/>
                    <a:pt x="186" y="20"/>
                    <a:pt x="186" y="20"/>
                  </a:cubicBezTo>
                  <a:cubicBezTo>
                    <a:pt x="185" y="20"/>
                    <a:pt x="184" y="20"/>
                    <a:pt x="183" y="20"/>
                  </a:cubicBezTo>
                  <a:close/>
                  <a:moveTo>
                    <a:pt x="188" y="15"/>
                  </a:moveTo>
                  <a:cubicBezTo>
                    <a:pt x="189" y="14"/>
                    <a:pt x="190" y="14"/>
                    <a:pt x="191" y="13"/>
                  </a:cubicBezTo>
                  <a:cubicBezTo>
                    <a:pt x="191" y="21"/>
                    <a:pt x="191" y="21"/>
                    <a:pt x="191" y="21"/>
                  </a:cubicBezTo>
                  <a:cubicBezTo>
                    <a:pt x="190" y="20"/>
                    <a:pt x="189" y="20"/>
                    <a:pt x="188" y="20"/>
                  </a:cubicBezTo>
                  <a:lnTo>
                    <a:pt x="188" y="15"/>
                  </a:lnTo>
                  <a:close/>
                  <a:moveTo>
                    <a:pt x="189" y="46"/>
                  </a:moveTo>
                  <a:cubicBezTo>
                    <a:pt x="189" y="46"/>
                    <a:pt x="189" y="46"/>
                    <a:pt x="189" y="46"/>
                  </a:cubicBezTo>
                  <a:cubicBezTo>
                    <a:pt x="191" y="34"/>
                    <a:pt x="191" y="34"/>
                    <a:pt x="191" y="34"/>
                  </a:cubicBezTo>
                  <a:cubicBezTo>
                    <a:pt x="191" y="49"/>
                    <a:pt x="191" y="49"/>
                    <a:pt x="191" y="49"/>
                  </a:cubicBezTo>
                  <a:lnTo>
                    <a:pt x="189" y="46"/>
                  </a:lnTo>
                  <a:close/>
                  <a:moveTo>
                    <a:pt x="184" y="45"/>
                  </a:moveTo>
                  <a:cubicBezTo>
                    <a:pt x="185" y="42"/>
                    <a:pt x="185" y="42"/>
                    <a:pt x="185" y="42"/>
                  </a:cubicBezTo>
                  <a:cubicBezTo>
                    <a:pt x="188" y="42"/>
                    <a:pt x="188" y="42"/>
                    <a:pt x="188" y="42"/>
                  </a:cubicBezTo>
                  <a:cubicBezTo>
                    <a:pt x="187" y="45"/>
                    <a:pt x="187" y="45"/>
                    <a:pt x="187" y="45"/>
                  </a:cubicBezTo>
                  <a:cubicBezTo>
                    <a:pt x="187" y="45"/>
                    <a:pt x="187" y="45"/>
                    <a:pt x="187" y="45"/>
                  </a:cubicBezTo>
                  <a:lnTo>
                    <a:pt x="184" y="45"/>
                  </a:lnTo>
                  <a:close/>
                  <a:moveTo>
                    <a:pt x="134" y="38"/>
                  </a:moveTo>
                  <a:cubicBezTo>
                    <a:pt x="137" y="38"/>
                    <a:pt x="137" y="38"/>
                    <a:pt x="137" y="38"/>
                  </a:cubicBezTo>
                  <a:cubicBezTo>
                    <a:pt x="138" y="40"/>
                    <a:pt x="138" y="40"/>
                    <a:pt x="138" y="40"/>
                  </a:cubicBezTo>
                  <a:cubicBezTo>
                    <a:pt x="135" y="40"/>
                    <a:pt x="135" y="40"/>
                    <a:pt x="135" y="40"/>
                  </a:cubicBezTo>
                  <a:lnTo>
                    <a:pt x="134" y="38"/>
                  </a:lnTo>
                  <a:close/>
                  <a:moveTo>
                    <a:pt x="139" y="38"/>
                  </a:moveTo>
                  <a:cubicBezTo>
                    <a:pt x="143" y="38"/>
                    <a:pt x="143" y="38"/>
                    <a:pt x="143" y="38"/>
                  </a:cubicBezTo>
                  <a:cubicBezTo>
                    <a:pt x="143" y="40"/>
                    <a:pt x="143" y="40"/>
                    <a:pt x="143" y="40"/>
                  </a:cubicBezTo>
                  <a:cubicBezTo>
                    <a:pt x="139" y="40"/>
                    <a:pt x="139" y="40"/>
                    <a:pt x="139" y="40"/>
                  </a:cubicBezTo>
                  <a:lnTo>
                    <a:pt x="139" y="38"/>
                  </a:lnTo>
                  <a:close/>
                  <a:moveTo>
                    <a:pt x="145" y="38"/>
                  </a:moveTo>
                  <a:cubicBezTo>
                    <a:pt x="149" y="38"/>
                    <a:pt x="149" y="38"/>
                    <a:pt x="149" y="38"/>
                  </a:cubicBezTo>
                  <a:cubicBezTo>
                    <a:pt x="149" y="40"/>
                    <a:pt x="149" y="40"/>
                    <a:pt x="149" y="40"/>
                  </a:cubicBezTo>
                  <a:cubicBezTo>
                    <a:pt x="145" y="40"/>
                    <a:pt x="145" y="40"/>
                    <a:pt x="145" y="40"/>
                  </a:cubicBezTo>
                  <a:lnTo>
                    <a:pt x="145" y="38"/>
                  </a:lnTo>
                  <a:close/>
                  <a:moveTo>
                    <a:pt x="151" y="38"/>
                  </a:moveTo>
                  <a:cubicBezTo>
                    <a:pt x="155" y="38"/>
                    <a:pt x="155" y="38"/>
                    <a:pt x="155" y="38"/>
                  </a:cubicBezTo>
                  <a:cubicBezTo>
                    <a:pt x="155" y="40"/>
                    <a:pt x="155" y="40"/>
                    <a:pt x="155" y="40"/>
                  </a:cubicBezTo>
                  <a:cubicBezTo>
                    <a:pt x="151" y="40"/>
                    <a:pt x="151" y="40"/>
                    <a:pt x="151" y="40"/>
                  </a:cubicBezTo>
                  <a:lnTo>
                    <a:pt x="151" y="38"/>
                  </a:lnTo>
                  <a:close/>
                  <a:moveTo>
                    <a:pt x="156" y="38"/>
                  </a:moveTo>
                  <a:cubicBezTo>
                    <a:pt x="160" y="38"/>
                    <a:pt x="160" y="38"/>
                    <a:pt x="160" y="38"/>
                  </a:cubicBezTo>
                  <a:cubicBezTo>
                    <a:pt x="160" y="40"/>
                    <a:pt x="160" y="40"/>
                    <a:pt x="160" y="40"/>
                  </a:cubicBezTo>
                  <a:cubicBezTo>
                    <a:pt x="156" y="40"/>
                    <a:pt x="156" y="40"/>
                    <a:pt x="156" y="40"/>
                  </a:cubicBezTo>
                  <a:lnTo>
                    <a:pt x="156" y="38"/>
                  </a:lnTo>
                  <a:close/>
                  <a:moveTo>
                    <a:pt x="162" y="38"/>
                  </a:moveTo>
                  <a:cubicBezTo>
                    <a:pt x="166" y="38"/>
                    <a:pt x="166" y="38"/>
                    <a:pt x="166" y="38"/>
                  </a:cubicBezTo>
                  <a:cubicBezTo>
                    <a:pt x="166" y="40"/>
                    <a:pt x="166" y="40"/>
                    <a:pt x="166" y="40"/>
                  </a:cubicBezTo>
                  <a:cubicBezTo>
                    <a:pt x="162" y="40"/>
                    <a:pt x="162" y="40"/>
                    <a:pt x="162" y="40"/>
                  </a:cubicBezTo>
                  <a:lnTo>
                    <a:pt x="162" y="38"/>
                  </a:lnTo>
                  <a:close/>
                  <a:moveTo>
                    <a:pt x="168" y="38"/>
                  </a:moveTo>
                  <a:cubicBezTo>
                    <a:pt x="172" y="38"/>
                    <a:pt x="172" y="38"/>
                    <a:pt x="172" y="38"/>
                  </a:cubicBezTo>
                  <a:cubicBezTo>
                    <a:pt x="172" y="40"/>
                    <a:pt x="172" y="40"/>
                    <a:pt x="172" y="40"/>
                  </a:cubicBezTo>
                  <a:cubicBezTo>
                    <a:pt x="168" y="40"/>
                    <a:pt x="168" y="40"/>
                    <a:pt x="168" y="40"/>
                  </a:cubicBezTo>
                  <a:lnTo>
                    <a:pt x="168" y="38"/>
                  </a:lnTo>
                  <a:close/>
                  <a:moveTo>
                    <a:pt x="174" y="38"/>
                  </a:moveTo>
                  <a:cubicBezTo>
                    <a:pt x="178" y="38"/>
                    <a:pt x="178" y="38"/>
                    <a:pt x="178" y="38"/>
                  </a:cubicBezTo>
                  <a:cubicBezTo>
                    <a:pt x="177" y="40"/>
                    <a:pt x="177" y="40"/>
                    <a:pt x="177" y="40"/>
                  </a:cubicBezTo>
                  <a:cubicBezTo>
                    <a:pt x="174" y="40"/>
                    <a:pt x="174" y="40"/>
                    <a:pt x="174" y="40"/>
                  </a:cubicBezTo>
                  <a:lnTo>
                    <a:pt x="174" y="38"/>
                  </a:lnTo>
                  <a:close/>
                  <a:moveTo>
                    <a:pt x="179" y="38"/>
                  </a:moveTo>
                  <a:cubicBezTo>
                    <a:pt x="183" y="38"/>
                    <a:pt x="183" y="38"/>
                    <a:pt x="183" y="38"/>
                  </a:cubicBezTo>
                  <a:cubicBezTo>
                    <a:pt x="183" y="40"/>
                    <a:pt x="183" y="40"/>
                    <a:pt x="183" y="40"/>
                  </a:cubicBezTo>
                  <a:cubicBezTo>
                    <a:pt x="179" y="40"/>
                    <a:pt x="179" y="40"/>
                    <a:pt x="179" y="40"/>
                  </a:cubicBezTo>
                  <a:lnTo>
                    <a:pt x="179" y="38"/>
                  </a:lnTo>
                  <a:close/>
                  <a:moveTo>
                    <a:pt x="185" y="38"/>
                  </a:moveTo>
                  <a:cubicBezTo>
                    <a:pt x="189" y="38"/>
                    <a:pt x="189" y="38"/>
                    <a:pt x="189" y="38"/>
                  </a:cubicBezTo>
                  <a:cubicBezTo>
                    <a:pt x="188" y="40"/>
                    <a:pt x="188" y="40"/>
                    <a:pt x="188" y="40"/>
                  </a:cubicBezTo>
                  <a:cubicBezTo>
                    <a:pt x="185" y="40"/>
                    <a:pt x="185" y="40"/>
                    <a:pt x="185" y="40"/>
                  </a:cubicBezTo>
                  <a:lnTo>
                    <a:pt x="185" y="38"/>
                  </a:lnTo>
                  <a:close/>
                  <a:moveTo>
                    <a:pt x="189" y="36"/>
                  </a:moveTo>
                  <a:cubicBezTo>
                    <a:pt x="185" y="36"/>
                    <a:pt x="185" y="36"/>
                    <a:pt x="185" y="36"/>
                  </a:cubicBezTo>
                  <a:cubicBezTo>
                    <a:pt x="186" y="33"/>
                    <a:pt x="186" y="33"/>
                    <a:pt x="186" y="33"/>
                  </a:cubicBezTo>
                  <a:cubicBezTo>
                    <a:pt x="189" y="33"/>
                    <a:pt x="189" y="33"/>
                    <a:pt x="189" y="33"/>
                  </a:cubicBezTo>
                  <a:lnTo>
                    <a:pt x="189" y="36"/>
                  </a:lnTo>
                  <a:close/>
                  <a:moveTo>
                    <a:pt x="184" y="36"/>
                  </a:moveTo>
                  <a:cubicBezTo>
                    <a:pt x="180" y="36"/>
                    <a:pt x="180" y="36"/>
                    <a:pt x="180" y="36"/>
                  </a:cubicBezTo>
                  <a:cubicBezTo>
                    <a:pt x="180" y="33"/>
                    <a:pt x="180" y="33"/>
                    <a:pt x="180" y="33"/>
                  </a:cubicBezTo>
                  <a:cubicBezTo>
                    <a:pt x="184" y="33"/>
                    <a:pt x="184" y="33"/>
                    <a:pt x="184" y="33"/>
                  </a:cubicBezTo>
                  <a:lnTo>
                    <a:pt x="184" y="36"/>
                  </a:lnTo>
                  <a:close/>
                  <a:moveTo>
                    <a:pt x="178" y="36"/>
                  </a:moveTo>
                  <a:cubicBezTo>
                    <a:pt x="174" y="36"/>
                    <a:pt x="174" y="36"/>
                    <a:pt x="174" y="36"/>
                  </a:cubicBezTo>
                  <a:cubicBezTo>
                    <a:pt x="174" y="33"/>
                    <a:pt x="174" y="33"/>
                    <a:pt x="174" y="33"/>
                  </a:cubicBezTo>
                  <a:cubicBezTo>
                    <a:pt x="178" y="33"/>
                    <a:pt x="178" y="33"/>
                    <a:pt x="178" y="33"/>
                  </a:cubicBezTo>
                  <a:lnTo>
                    <a:pt x="178" y="36"/>
                  </a:lnTo>
                  <a:close/>
                  <a:moveTo>
                    <a:pt x="172" y="36"/>
                  </a:moveTo>
                  <a:cubicBezTo>
                    <a:pt x="168" y="36"/>
                    <a:pt x="168" y="36"/>
                    <a:pt x="168" y="36"/>
                  </a:cubicBezTo>
                  <a:cubicBezTo>
                    <a:pt x="168" y="33"/>
                    <a:pt x="168" y="33"/>
                    <a:pt x="168" y="33"/>
                  </a:cubicBezTo>
                  <a:cubicBezTo>
                    <a:pt x="172" y="33"/>
                    <a:pt x="172" y="33"/>
                    <a:pt x="172" y="33"/>
                  </a:cubicBezTo>
                  <a:lnTo>
                    <a:pt x="172" y="36"/>
                  </a:lnTo>
                  <a:close/>
                  <a:moveTo>
                    <a:pt x="166" y="36"/>
                  </a:moveTo>
                  <a:cubicBezTo>
                    <a:pt x="162" y="36"/>
                    <a:pt x="162" y="36"/>
                    <a:pt x="162" y="36"/>
                  </a:cubicBezTo>
                  <a:cubicBezTo>
                    <a:pt x="162" y="33"/>
                    <a:pt x="162" y="33"/>
                    <a:pt x="162" y="33"/>
                  </a:cubicBezTo>
                  <a:cubicBezTo>
                    <a:pt x="166" y="33"/>
                    <a:pt x="166" y="33"/>
                    <a:pt x="166" y="33"/>
                  </a:cubicBezTo>
                  <a:lnTo>
                    <a:pt x="166" y="36"/>
                  </a:lnTo>
                  <a:close/>
                  <a:moveTo>
                    <a:pt x="160" y="36"/>
                  </a:moveTo>
                  <a:cubicBezTo>
                    <a:pt x="156" y="36"/>
                    <a:pt x="156" y="36"/>
                    <a:pt x="156" y="36"/>
                  </a:cubicBezTo>
                  <a:cubicBezTo>
                    <a:pt x="156" y="33"/>
                    <a:pt x="156" y="33"/>
                    <a:pt x="156" y="33"/>
                  </a:cubicBezTo>
                  <a:cubicBezTo>
                    <a:pt x="160" y="33"/>
                    <a:pt x="160" y="33"/>
                    <a:pt x="160" y="33"/>
                  </a:cubicBezTo>
                  <a:lnTo>
                    <a:pt x="160" y="36"/>
                  </a:lnTo>
                  <a:close/>
                  <a:moveTo>
                    <a:pt x="155" y="36"/>
                  </a:moveTo>
                  <a:cubicBezTo>
                    <a:pt x="151" y="36"/>
                    <a:pt x="151" y="36"/>
                    <a:pt x="151" y="36"/>
                  </a:cubicBezTo>
                  <a:cubicBezTo>
                    <a:pt x="150" y="33"/>
                    <a:pt x="150" y="33"/>
                    <a:pt x="150" y="33"/>
                  </a:cubicBezTo>
                  <a:cubicBezTo>
                    <a:pt x="154" y="33"/>
                    <a:pt x="154" y="33"/>
                    <a:pt x="154" y="33"/>
                  </a:cubicBezTo>
                  <a:lnTo>
                    <a:pt x="155" y="36"/>
                  </a:lnTo>
                  <a:close/>
                  <a:moveTo>
                    <a:pt x="149" y="36"/>
                  </a:moveTo>
                  <a:cubicBezTo>
                    <a:pt x="145" y="36"/>
                    <a:pt x="145" y="36"/>
                    <a:pt x="145" y="36"/>
                  </a:cubicBezTo>
                  <a:cubicBezTo>
                    <a:pt x="145" y="33"/>
                    <a:pt x="145" y="33"/>
                    <a:pt x="145" y="33"/>
                  </a:cubicBezTo>
                  <a:cubicBezTo>
                    <a:pt x="149" y="33"/>
                    <a:pt x="149" y="33"/>
                    <a:pt x="149" y="33"/>
                  </a:cubicBezTo>
                  <a:lnTo>
                    <a:pt x="149" y="36"/>
                  </a:lnTo>
                  <a:close/>
                  <a:moveTo>
                    <a:pt x="143" y="36"/>
                  </a:moveTo>
                  <a:cubicBezTo>
                    <a:pt x="139" y="36"/>
                    <a:pt x="139" y="36"/>
                    <a:pt x="139" y="36"/>
                  </a:cubicBezTo>
                  <a:cubicBezTo>
                    <a:pt x="139" y="33"/>
                    <a:pt x="139" y="33"/>
                    <a:pt x="139" y="33"/>
                  </a:cubicBezTo>
                  <a:cubicBezTo>
                    <a:pt x="143" y="33"/>
                    <a:pt x="143" y="33"/>
                    <a:pt x="143" y="33"/>
                  </a:cubicBezTo>
                  <a:lnTo>
                    <a:pt x="143" y="36"/>
                  </a:lnTo>
                  <a:close/>
                  <a:moveTo>
                    <a:pt x="137" y="36"/>
                  </a:moveTo>
                  <a:cubicBezTo>
                    <a:pt x="134" y="36"/>
                    <a:pt x="134" y="36"/>
                    <a:pt x="134" y="36"/>
                  </a:cubicBezTo>
                  <a:cubicBezTo>
                    <a:pt x="133" y="33"/>
                    <a:pt x="133" y="33"/>
                    <a:pt x="133" y="33"/>
                  </a:cubicBezTo>
                  <a:cubicBezTo>
                    <a:pt x="137" y="33"/>
                    <a:pt x="137" y="33"/>
                    <a:pt x="137" y="33"/>
                  </a:cubicBezTo>
                  <a:lnTo>
                    <a:pt x="137" y="36"/>
                  </a:lnTo>
                  <a:close/>
                  <a:moveTo>
                    <a:pt x="138" y="42"/>
                  </a:moveTo>
                  <a:cubicBezTo>
                    <a:pt x="138" y="45"/>
                    <a:pt x="138" y="45"/>
                    <a:pt x="138" y="45"/>
                  </a:cubicBezTo>
                  <a:cubicBezTo>
                    <a:pt x="136" y="45"/>
                    <a:pt x="136" y="45"/>
                    <a:pt x="136" y="45"/>
                  </a:cubicBezTo>
                  <a:cubicBezTo>
                    <a:pt x="135" y="42"/>
                    <a:pt x="135" y="42"/>
                    <a:pt x="135" y="42"/>
                  </a:cubicBezTo>
                  <a:lnTo>
                    <a:pt x="138" y="42"/>
                  </a:lnTo>
                  <a:close/>
                  <a:moveTo>
                    <a:pt x="140" y="45"/>
                  </a:moveTo>
                  <a:cubicBezTo>
                    <a:pt x="140" y="42"/>
                    <a:pt x="140" y="42"/>
                    <a:pt x="140" y="42"/>
                  </a:cubicBezTo>
                  <a:cubicBezTo>
                    <a:pt x="143" y="42"/>
                    <a:pt x="143" y="42"/>
                    <a:pt x="143" y="42"/>
                  </a:cubicBezTo>
                  <a:cubicBezTo>
                    <a:pt x="144" y="45"/>
                    <a:pt x="144" y="45"/>
                    <a:pt x="144" y="45"/>
                  </a:cubicBezTo>
                  <a:lnTo>
                    <a:pt x="140" y="45"/>
                  </a:lnTo>
                  <a:close/>
                  <a:moveTo>
                    <a:pt x="146" y="45"/>
                  </a:moveTo>
                  <a:cubicBezTo>
                    <a:pt x="145" y="42"/>
                    <a:pt x="145" y="42"/>
                    <a:pt x="145" y="42"/>
                  </a:cubicBezTo>
                  <a:cubicBezTo>
                    <a:pt x="149" y="42"/>
                    <a:pt x="149" y="42"/>
                    <a:pt x="149" y="42"/>
                  </a:cubicBezTo>
                  <a:cubicBezTo>
                    <a:pt x="149" y="45"/>
                    <a:pt x="149" y="45"/>
                    <a:pt x="149" y="45"/>
                  </a:cubicBezTo>
                  <a:lnTo>
                    <a:pt x="146" y="45"/>
                  </a:lnTo>
                  <a:close/>
                  <a:moveTo>
                    <a:pt x="151" y="45"/>
                  </a:moveTo>
                  <a:cubicBezTo>
                    <a:pt x="151" y="42"/>
                    <a:pt x="151" y="42"/>
                    <a:pt x="151" y="42"/>
                  </a:cubicBezTo>
                  <a:cubicBezTo>
                    <a:pt x="155" y="42"/>
                    <a:pt x="155" y="42"/>
                    <a:pt x="155" y="42"/>
                  </a:cubicBezTo>
                  <a:cubicBezTo>
                    <a:pt x="155" y="45"/>
                    <a:pt x="155" y="45"/>
                    <a:pt x="155" y="45"/>
                  </a:cubicBezTo>
                  <a:lnTo>
                    <a:pt x="151" y="45"/>
                  </a:lnTo>
                  <a:close/>
                  <a:moveTo>
                    <a:pt x="157" y="45"/>
                  </a:moveTo>
                  <a:cubicBezTo>
                    <a:pt x="157" y="42"/>
                    <a:pt x="157" y="42"/>
                    <a:pt x="157" y="42"/>
                  </a:cubicBezTo>
                  <a:cubicBezTo>
                    <a:pt x="160" y="42"/>
                    <a:pt x="160" y="42"/>
                    <a:pt x="160" y="42"/>
                  </a:cubicBezTo>
                  <a:cubicBezTo>
                    <a:pt x="160" y="45"/>
                    <a:pt x="160" y="45"/>
                    <a:pt x="160" y="45"/>
                  </a:cubicBezTo>
                  <a:lnTo>
                    <a:pt x="157" y="45"/>
                  </a:lnTo>
                  <a:close/>
                  <a:moveTo>
                    <a:pt x="162" y="42"/>
                  </a:moveTo>
                  <a:cubicBezTo>
                    <a:pt x="166" y="42"/>
                    <a:pt x="166" y="42"/>
                    <a:pt x="166" y="42"/>
                  </a:cubicBezTo>
                  <a:cubicBezTo>
                    <a:pt x="166" y="45"/>
                    <a:pt x="166" y="45"/>
                    <a:pt x="166" y="45"/>
                  </a:cubicBezTo>
                  <a:cubicBezTo>
                    <a:pt x="162" y="45"/>
                    <a:pt x="162" y="45"/>
                    <a:pt x="162" y="45"/>
                  </a:cubicBezTo>
                  <a:lnTo>
                    <a:pt x="162" y="42"/>
                  </a:lnTo>
                  <a:close/>
                  <a:moveTo>
                    <a:pt x="168" y="42"/>
                  </a:moveTo>
                  <a:cubicBezTo>
                    <a:pt x="172" y="42"/>
                    <a:pt x="172" y="42"/>
                    <a:pt x="172" y="42"/>
                  </a:cubicBezTo>
                  <a:cubicBezTo>
                    <a:pt x="171" y="45"/>
                    <a:pt x="171" y="45"/>
                    <a:pt x="171" y="45"/>
                  </a:cubicBezTo>
                  <a:cubicBezTo>
                    <a:pt x="168" y="45"/>
                    <a:pt x="168" y="45"/>
                    <a:pt x="168" y="45"/>
                  </a:cubicBezTo>
                  <a:lnTo>
                    <a:pt x="168" y="42"/>
                  </a:lnTo>
                  <a:close/>
                  <a:moveTo>
                    <a:pt x="173" y="42"/>
                  </a:moveTo>
                  <a:cubicBezTo>
                    <a:pt x="177" y="42"/>
                    <a:pt x="177" y="42"/>
                    <a:pt x="177" y="42"/>
                  </a:cubicBezTo>
                  <a:cubicBezTo>
                    <a:pt x="177" y="45"/>
                    <a:pt x="177" y="45"/>
                    <a:pt x="177" y="45"/>
                  </a:cubicBezTo>
                  <a:cubicBezTo>
                    <a:pt x="173" y="45"/>
                    <a:pt x="173" y="45"/>
                    <a:pt x="173" y="45"/>
                  </a:cubicBezTo>
                  <a:lnTo>
                    <a:pt x="173" y="42"/>
                  </a:lnTo>
                  <a:close/>
                  <a:moveTo>
                    <a:pt x="179" y="42"/>
                  </a:moveTo>
                  <a:cubicBezTo>
                    <a:pt x="183" y="42"/>
                    <a:pt x="183" y="42"/>
                    <a:pt x="183" y="42"/>
                  </a:cubicBezTo>
                  <a:cubicBezTo>
                    <a:pt x="183" y="45"/>
                    <a:pt x="183" y="45"/>
                    <a:pt x="183" y="45"/>
                  </a:cubicBezTo>
                  <a:cubicBezTo>
                    <a:pt x="179" y="45"/>
                    <a:pt x="179" y="45"/>
                    <a:pt x="179" y="45"/>
                  </a:cubicBezTo>
                  <a:lnTo>
                    <a:pt x="179" y="42"/>
                  </a:lnTo>
                  <a:close/>
                  <a:moveTo>
                    <a:pt x="190" y="31"/>
                  </a:moveTo>
                  <a:cubicBezTo>
                    <a:pt x="186" y="31"/>
                    <a:pt x="186" y="31"/>
                    <a:pt x="186" y="31"/>
                  </a:cubicBezTo>
                  <a:cubicBezTo>
                    <a:pt x="186" y="29"/>
                    <a:pt x="186" y="29"/>
                    <a:pt x="186" y="29"/>
                  </a:cubicBezTo>
                  <a:cubicBezTo>
                    <a:pt x="190" y="29"/>
                    <a:pt x="190" y="29"/>
                    <a:pt x="190" y="29"/>
                  </a:cubicBezTo>
                  <a:lnTo>
                    <a:pt x="190" y="31"/>
                  </a:lnTo>
                  <a:close/>
                  <a:moveTo>
                    <a:pt x="184" y="31"/>
                  </a:moveTo>
                  <a:cubicBezTo>
                    <a:pt x="180" y="31"/>
                    <a:pt x="180" y="31"/>
                    <a:pt x="180" y="31"/>
                  </a:cubicBezTo>
                  <a:cubicBezTo>
                    <a:pt x="180" y="29"/>
                    <a:pt x="180" y="29"/>
                    <a:pt x="180" y="29"/>
                  </a:cubicBezTo>
                  <a:cubicBezTo>
                    <a:pt x="184" y="29"/>
                    <a:pt x="184" y="29"/>
                    <a:pt x="184" y="29"/>
                  </a:cubicBezTo>
                  <a:lnTo>
                    <a:pt x="184" y="31"/>
                  </a:lnTo>
                  <a:close/>
                  <a:moveTo>
                    <a:pt x="178" y="31"/>
                  </a:moveTo>
                  <a:cubicBezTo>
                    <a:pt x="174" y="31"/>
                    <a:pt x="174" y="31"/>
                    <a:pt x="174" y="31"/>
                  </a:cubicBezTo>
                  <a:cubicBezTo>
                    <a:pt x="174" y="29"/>
                    <a:pt x="174" y="29"/>
                    <a:pt x="174" y="29"/>
                  </a:cubicBezTo>
                  <a:cubicBezTo>
                    <a:pt x="178" y="29"/>
                    <a:pt x="178" y="29"/>
                    <a:pt x="178" y="29"/>
                  </a:cubicBezTo>
                  <a:lnTo>
                    <a:pt x="178" y="31"/>
                  </a:lnTo>
                  <a:close/>
                  <a:moveTo>
                    <a:pt x="172" y="31"/>
                  </a:moveTo>
                  <a:cubicBezTo>
                    <a:pt x="168" y="31"/>
                    <a:pt x="168" y="31"/>
                    <a:pt x="168" y="31"/>
                  </a:cubicBezTo>
                  <a:cubicBezTo>
                    <a:pt x="168" y="29"/>
                    <a:pt x="168" y="29"/>
                    <a:pt x="168" y="29"/>
                  </a:cubicBezTo>
                  <a:cubicBezTo>
                    <a:pt x="172" y="29"/>
                    <a:pt x="172" y="29"/>
                    <a:pt x="172" y="29"/>
                  </a:cubicBezTo>
                  <a:lnTo>
                    <a:pt x="172" y="31"/>
                  </a:lnTo>
                  <a:close/>
                  <a:moveTo>
                    <a:pt x="166" y="31"/>
                  </a:moveTo>
                  <a:cubicBezTo>
                    <a:pt x="162" y="31"/>
                    <a:pt x="162" y="31"/>
                    <a:pt x="162" y="31"/>
                  </a:cubicBezTo>
                  <a:cubicBezTo>
                    <a:pt x="162" y="29"/>
                    <a:pt x="162" y="29"/>
                    <a:pt x="162" y="29"/>
                  </a:cubicBezTo>
                  <a:cubicBezTo>
                    <a:pt x="166" y="29"/>
                    <a:pt x="166" y="29"/>
                    <a:pt x="166" y="29"/>
                  </a:cubicBezTo>
                  <a:lnTo>
                    <a:pt x="166" y="31"/>
                  </a:lnTo>
                  <a:close/>
                  <a:moveTo>
                    <a:pt x="160" y="31"/>
                  </a:moveTo>
                  <a:cubicBezTo>
                    <a:pt x="156" y="31"/>
                    <a:pt x="156" y="31"/>
                    <a:pt x="156" y="31"/>
                  </a:cubicBezTo>
                  <a:cubicBezTo>
                    <a:pt x="156" y="29"/>
                    <a:pt x="156" y="29"/>
                    <a:pt x="156" y="29"/>
                  </a:cubicBezTo>
                  <a:cubicBezTo>
                    <a:pt x="160" y="29"/>
                    <a:pt x="160" y="29"/>
                    <a:pt x="160" y="29"/>
                  </a:cubicBezTo>
                  <a:lnTo>
                    <a:pt x="160" y="31"/>
                  </a:lnTo>
                  <a:close/>
                  <a:moveTo>
                    <a:pt x="154" y="29"/>
                  </a:moveTo>
                  <a:cubicBezTo>
                    <a:pt x="154" y="31"/>
                    <a:pt x="154" y="31"/>
                    <a:pt x="154" y="31"/>
                  </a:cubicBezTo>
                  <a:cubicBezTo>
                    <a:pt x="150" y="31"/>
                    <a:pt x="150" y="31"/>
                    <a:pt x="150" y="31"/>
                  </a:cubicBezTo>
                  <a:cubicBezTo>
                    <a:pt x="150" y="29"/>
                    <a:pt x="150" y="29"/>
                    <a:pt x="150" y="29"/>
                  </a:cubicBezTo>
                  <a:lnTo>
                    <a:pt x="154" y="29"/>
                  </a:lnTo>
                  <a:close/>
                  <a:moveTo>
                    <a:pt x="148" y="29"/>
                  </a:moveTo>
                  <a:cubicBezTo>
                    <a:pt x="148" y="31"/>
                    <a:pt x="148" y="31"/>
                    <a:pt x="148" y="31"/>
                  </a:cubicBezTo>
                  <a:cubicBezTo>
                    <a:pt x="144" y="31"/>
                    <a:pt x="144" y="31"/>
                    <a:pt x="144" y="31"/>
                  </a:cubicBezTo>
                  <a:cubicBezTo>
                    <a:pt x="144" y="29"/>
                    <a:pt x="144" y="29"/>
                    <a:pt x="144" y="29"/>
                  </a:cubicBezTo>
                  <a:lnTo>
                    <a:pt x="148" y="29"/>
                  </a:lnTo>
                  <a:close/>
                  <a:moveTo>
                    <a:pt x="142" y="29"/>
                  </a:moveTo>
                  <a:cubicBezTo>
                    <a:pt x="143" y="31"/>
                    <a:pt x="143" y="31"/>
                    <a:pt x="143" y="31"/>
                  </a:cubicBezTo>
                  <a:cubicBezTo>
                    <a:pt x="138" y="31"/>
                    <a:pt x="138" y="31"/>
                    <a:pt x="138" y="31"/>
                  </a:cubicBezTo>
                  <a:cubicBezTo>
                    <a:pt x="138" y="29"/>
                    <a:pt x="138" y="29"/>
                    <a:pt x="138" y="29"/>
                  </a:cubicBezTo>
                  <a:lnTo>
                    <a:pt x="142" y="29"/>
                  </a:lnTo>
                  <a:close/>
                  <a:moveTo>
                    <a:pt x="136" y="29"/>
                  </a:moveTo>
                  <a:cubicBezTo>
                    <a:pt x="137" y="31"/>
                    <a:pt x="137" y="31"/>
                    <a:pt x="137" y="31"/>
                  </a:cubicBezTo>
                  <a:cubicBezTo>
                    <a:pt x="133" y="31"/>
                    <a:pt x="133" y="31"/>
                    <a:pt x="133" y="31"/>
                  </a:cubicBezTo>
                  <a:cubicBezTo>
                    <a:pt x="132" y="29"/>
                    <a:pt x="132" y="29"/>
                    <a:pt x="132" y="29"/>
                  </a:cubicBezTo>
                  <a:lnTo>
                    <a:pt x="136" y="29"/>
                  </a:lnTo>
                  <a:close/>
                  <a:moveTo>
                    <a:pt x="130" y="21"/>
                  </a:moveTo>
                  <a:cubicBezTo>
                    <a:pt x="130" y="21"/>
                    <a:pt x="130" y="21"/>
                    <a:pt x="130" y="21"/>
                  </a:cubicBezTo>
                  <a:cubicBezTo>
                    <a:pt x="130" y="21"/>
                    <a:pt x="129" y="21"/>
                    <a:pt x="129" y="21"/>
                  </a:cubicBezTo>
                  <a:cubicBezTo>
                    <a:pt x="129" y="21"/>
                    <a:pt x="129" y="22"/>
                    <a:pt x="129" y="22"/>
                  </a:cubicBezTo>
                  <a:cubicBezTo>
                    <a:pt x="132" y="38"/>
                    <a:pt x="132" y="38"/>
                    <a:pt x="132" y="38"/>
                  </a:cubicBezTo>
                  <a:cubicBezTo>
                    <a:pt x="123" y="7"/>
                    <a:pt x="123" y="7"/>
                    <a:pt x="123" y="7"/>
                  </a:cubicBezTo>
                  <a:cubicBezTo>
                    <a:pt x="124" y="8"/>
                    <a:pt x="125" y="8"/>
                    <a:pt x="127" y="8"/>
                  </a:cubicBezTo>
                  <a:lnTo>
                    <a:pt x="130" y="21"/>
                  </a:lnTo>
                  <a:close/>
                  <a:moveTo>
                    <a:pt x="134" y="49"/>
                  </a:moveTo>
                  <a:cubicBezTo>
                    <a:pt x="131" y="51"/>
                    <a:pt x="131" y="51"/>
                    <a:pt x="131" y="51"/>
                  </a:cubicBezTo>
                  <a:cubicBezTo>
                    <a:pt x="118" y="6"/>
                    <a:pt x="118" y="6"/>
                    <a:pt x="118" y="6"/>
                  </a:cubicBezTo>
                  <a:cubicBezTo>
                    <a:pt x="119" y="6"/>
                    <a:pt x="120" y="6"/>
                    <a:pt x="121" y="7"/>
                  </a:cubicBezTo>
                  <a:lnTo>
                    <a:pt x="134" y="49"/>
                  </a:lnTo>
                  <a:close/>
                  <a:moveTo>
                    <a:pt x="135" y="50"/>
                  </a:moveTo>
                  <a:cubicBezTo>
                    <a:pt x="135" y="50"/>
                    <a:pt x="135" y="50"/>
                    <a:pt x="135" y="50"/>
                  </a:cubicBezTo>
                  <a:cubicBezTo>
                    <a:pt x="136" y="50"/>
                    <a:pt x="136" y="50"/>
                    <a:pt x="136" y="49"/>
                  </a:cubicBezTo>
                  <a:cubicBezTo>
                    <a:pt x="135" y="47"/>
                    <a:pt x="135" y="47"/>
                    <a:pt x="135" y="47"/>
                  </a:cubicBezTo>
                  <a:cubicBezTo>
                    <a:pt x="187" y="47"/>
                    <a:pt x="187" y="47"/>
                    <a:pt x="187" y="47"/>
                  </a:cubicBezTo>
                  <a:cubicBezTo>
                    <a:pt x="192" y="53"/>
                    <a:pt x="192" y="53"/>
                    <a:pt x="192" y="53"/>
                  </a:cubicBezTo>
                  <a:cubicBezTo>
                    <a:pt x="131" y="53"/>
                    <a:pt x="131" y="53"/>
                    <a:pt x="131" y="53"/>
                  </a:cubicBezTo>
                  <a:lnTo>
                    <a:pt x="135" y="50"/>
                  </a:lnTo>
                  <a:close/>
                  <a:moveTo>
                    <a:pt x="198" y="56"/>
                  </a:moveTo>
                  <a:cubicBezTo>
                    <a:pt x="198" y="11"/>
                    <a:pt x="198" y="11"/>
                    <a:pt x="198" y="11"/>
                  </a:cubicBezTo>
                  <a:cubicBezTo>
                    <a:pt x="199" y="10"/>
                    <a:pt x="200" y="10"/>
                    <a:pt x="201" y="10"/>
                  </a:cubicBezTo>
                  <a:cubicBezTo>
                    <a:pt x="201" y="60"/>
                    <a:pt x="201" y="60"/>
                    <a:pt x="201" y="60"/>
                  </a:cubicBezTo>
                  <a:lnTo>
                    <a:pt x="198" y="56"/>
                  </a:lnTo>
                  <a:close/>
                  <a:moveTo>
                    <a:pt x="203" y="9"/>
                  </a:moveTo>
                  <a:cubicBezTo>
                    <a:pt x="204" y="9"/>
                    <a:pt x="205" y="8"/>
                    <a:pt x="206" y="8"/>
                  </a:cubicBezTo>
                  <a:cubicBezTo>
                    <a:pt x="206" y="62"/>
                    <a:pt x="206" y="62"/>
                    <a:pt x="206" y="62"/>
                  </a:cubicBezTo>
                  <a:cubicBezTo>
                    <a:pt x="203" y="62"/>
                    <a:pt x="203" y="62"/>
                    <a:pt x="203" y="62"/>
                  </a:cubicBezTo>
                  <a:lnTo>
                    <a:pt x="203" y="9"/>
                  </a:lnTo>
                  <a:close/>
                  <a:moveTo>
                    <a:pt x="207" y="7"/>
                  </a:moveTo>
                  <a:cubicBezTo>
                    <a:pt x="208" y="7"/>
                    <a:pt x="209" y="7"/>
                    <a:pt x="210" y="7"/>
                  </a:cubicBezTo>
                  <a:cubicBezTo>
                    <a:pt x="210" y="62"/>
                    <a:pt x="210" y="62"/>
                    <a:pt x="210" y="62"/>
                  </a:cubicBezTo>
                  <a:cubicBezTo>
                    <a:pt x="207" y="62"/>
                    <a:pt x="207" y="62"/>
                    <a:pt x="207" y="62"/>
                  </a:cubicBezTo>
                  <a:lnTo>
                    <a:pt x="207" y="7"/>
                  </a:lnTo>
                  <a:close/>
                  <a:moveTo>
                    <a:pt x="212" y="6"/>
                  </a:moveTo>
                  <a:cubicBezTo>
                    <a:pt x="213" y="6"/>
                    <a:pt x="214" y="6"/>
                    <a:pt x="215" y="6"/>
                  </a:cubicBezTo>
                  <a:cubicBezTo>
                    <a:pt x="215" y="62"/>
                    <a:pt x="215" y="62"/>
                    <a:pt x="215" y="62"/>
                  </a:cubicBezTo>
                  <a:cubicBezTo>
                    <a:pt x="212" y="62"/>
                    <a:pt x="212" y="62"/>
                    <a:pt x="212" y="62"/>
                  </a:cubicBezTo>
                  <a:lnTo>
                    <a:pt x="212" y="6"/>
                  </a:lnTo>
                  <a:close/>
                  <a:moveTo>
                    <a:pt x="217" y="5"/>
                  </a:moveTo>
                  <a:cubicBezTo>
                    <a:pt x="218" y="5"/>
                    <a:pt x="219" y="5"/>
                    <a:pt x="220" y="4"/>
                  </a:cubicBezTo>
                  <a:cubicBezTo>
                    <a:pt x="220" y="62"/>
                    <a:pt x="220" y="62"/>
                    <a:pt x="220" y="62"/>
                  </a:cubicBezTo>
                  <a:cubicBezTo>
                    <a:pt x="217" y="62"/>
                    <a:pt x="217" y="62"/>
                    <a:pt x="217" y="62"/>
                  </a:cubicBezTo>
                  <a:lnTo>
                    <a:pt x="217" y="5"/>
                  </a:lnTo>
                  <a:close/>
                  <a:moveTo>
                    <a:pt x="222" y="4"/>
                  </a:moveTo>
                  <a:cubicBezTo>
                    <a:pt x="223" y="4"/>
                    <a:pt x="224" y="4"/>
                    <a:pt x="225" y="4"/>
                  </a:cubicBezTo>
                  <a:cubicBezTo>
                    <a:pt x="225" y="62"/>
                    <a:pt x="225" y="62"/>
                    <a:pt x="225" y="62"/>
                  </a:cubicBezTo>
                  <a:cubicBezTo>
                    <a:pt x="222" y="62"/>
                    <a:pt x="222" y="62"/>
                    <a:pt x="222" y="62"/>
                  </a:cubicBezTo>
                  <a:lnTo>
                    <a:pt x="222" y="4"/>
                  </a:lnTo>
                  <a:close/>
                  <a:moveTo>
                    <a:pt x="227" y="3"/>
                  </a:moveTo>
                  <a:cubicBezTo>
                    <a:pt x="228" y="3"/>
                    <a:pt x="229" y="3"/>
                    <a:pt x="230" y="3"/>
                  </a:cubicBezTo>
                  <a:cubicBezTo>
                    <a:pt x="230" y="62"/>
                    <a:pt x="230" y="62"/>
                    <a:pt x="230" y="62"/>
                  </a:cubicBezTo>
                  <a:cubicBezTo>
                    <a:pt x="227" y="62"/>
                    <a:pt x="227" y="62"/>
                    <a:pt x="227" y="62"/>
                  </a:cubicBezTo>
                  <a:lnTo>
                    <a:pt x="227" y="3"/>
                  </a:lnTo>
                  <a:close/>
                  <a:moveTo>
                    <a:pt x="232" y="3"/>
                  </a:moveTo>
                  <a:cubicBezTo>
                    <a:pt x="233" y="2"/>
                    <a:pt x="234" y="2"/>
                    <a:pt x="235" y="2"/>
                  </a:cubicBezTo>
                  <a:cubicBezTo>
                    <a:pt x="235" y="62"/>
                    <a:pt x="235" y="62"/>
                    <a:pt x="235" y="62"/>
                  </a:cubicBezTo>
                  <a:cubicBezTo>
                    <a:pt x="232" y="62"/>
                    <a:pt x="232" y="62"/>
                    <a:pt x="232" y="62"/>
                  </a:cubicBezTo>
                  <a:lnTo>
                    <a:pt x="232" y="3"/>
                  </a:lnTo>
                  <a:close/>
                  <a:moveTo>
                    <a:pt x="236" y="2"/>
                  </a:moveTo>
                  <a:cubicBezTo>
                    <a:pt x="238" y="2"/>
                    <a:pt x="239" y="2"/>
                    <a:pt x="239" y="2"/>
                  </a:cubicBezTo>
                  <a:cubicBezTo>
                    <a:pt x="239" y="62"/>
                    <a:pt x="239" y="62"/>
                    <a:pt x="239" y="62"/>
                  </a:cubicBezTo>
                  <a:cubicBezTo>
                    <a:pt x="236" y="62"/>
                    <a:pt x="236" y="62"/>
                    <a:pt x="236" y="62"/>
                  </a:cubicBezTo>
                  <a:lnTo>
                    <a:pt x="236" y="2"/>
                  </a:lnTo>
                  <a:close/>
                  <a:moveTo>
                    <a:pt x="241" y="2"/>
                  </a:moveTo>
                  <a:cubicBezTo>
                    <a:pt x="244" y="2"/>
                    <a:pt x="244" y="2"/>
                    <a:pt x="244" y="2"/>
                  </a:cubicBezTo>
                  <a:cubicBezTo>
                    <a:pt x="244" y="62"/>
                    <a:pt x="244" y="62"/>
                    <a:pt x="244" y="62"/>
                  </a:cubicBezTo>
                  <a:cubicBezTo>
                    <a:pt x="241" y="62"/>
                    <a:pt x="241" y="62"/>
                    <a:pt x="241" y="62"/>
                  </a:cubicBezTo>
                  <a:lnTo>
                    <a:pt x="241" y="2"/>
                  </a:lnTo>
                  <a:close/>
                  <a:moveTo>
                    <a:pt x="246" y="2"/>
                  </a:moveTo>
                  <a:cubicBezTo>
                    <a:pt x="249" y="2"/>
                    <a:pt x="249" y="2"/>
                    <a:pt x="249" y="2"/>
                  </a:cubicBezTo>
                  <a:cubicBezTo>
                    <a:pt x="249" y="62"/>
                    <a:pt x="249" y="62"/>
                    <a:pt x="249" y="62"/>
                  </a:cubicBezTo>
                  <a:cubicBezTo>
                    <a:pt x="246" y="62"/>
                    <a:pt x="246" y="62"/>
                    <a:pt x="246" y="62"/>
                  </a:cubicBezTo>
                  <a:lnTo>
                    <a:pt x="246" y="2"/>
                  </a:lnTo>
                  <a:close/>
                  <a:moveTo>
                    <a:pt x="251" y="2"/>
                  </a:moveTo>
                  <a:cubicBezTo>
                    <a:pt x="254" y="2"/>
                    <a:pt x="254" y="2"/>
                    <a:pt x="254" y="2"/>
                  </a:cubicBezTo>
                  <a:cubicBezTo>
                    <a:pt x="254" y="62"/>
                    <a:pt x="254" y="62"/>
                    <a:pt x="254" y="62"/>
                  </a:cubicBezTo>
                  <a:cubicBezTo>
                    <a:pt x="251" y="62"/>
                    <a:pt x="251" y="62"/>
                    <a:pt x="251" y="62"/>
                  </a:cubicBezTo>
                  <a:lnTo>
                    <a:pt x="251" y="2"/>
                  </a:lnTo>
                  <a:close/>
                  <a:moveTo>
                    <a:pt x="256" y="2"/>
                  </a:moveTo>
                  <a:cubicBezTo>
                    <a:pt x="259" y="2"/>
                    <a:pt x="259" y="2"/>
                    <a:pt x="259" y="2"/>
                  </a:cubicBezTo>
                  <a:cubicBezTo>
                    <a:pt x="259" y="62"/>
                    <a:pt x="259" y="62"/>
                    <a:pt x="259" y="62"/>
                  </a:cubicBezTo>
                  <a:cubicBezTo>
                    <a:pt x="256" y="62"/>
                    <a:pt x="256" y="62"/>
                    <a:pt x="256" y="62"/>
                  </a:cubicBezTo>
                  <a:lnTo>
                    <a:pt x="256" y="2"/>
                  </a:lnTo>
                  <a:close/>
                  <a:moveTo>
                    <a:pt x="260" y="2"/>
                  </a:moveTo>
                  <a:cubicBezTo>
                    <a:pt x="263" y="2"/>
                    <a:pt x="263" y="2"/>
                    <a:pt x="263" y="2"/>
                  </a:cubicBezTo>
                  <a:cubicBezTo>
                    <a:pt x="263" y="62"/>
                    <a:pt x="263" y="62"/>
                    <a:pt x="263" y="62"/>
                  </a:cubicBezTo>
                  <a:cubicBezTo>
                    <a:pt x="260" y="62"/>
                    <a:pt x="260" y="62"/>
                    <a:pt x="260" y="62"/>
                  </a:cubicBezTo>
                  <a:lnTo>
                    <a:pt x="260" y="2"/>
                  </a:lnTo>
                  <a:close/>
                  <a:moveTo>
                    <a:pt x="265" y="2"/>
                  </a:moveTo>
                  <a:cubicBezTo>
                    <a:pt x="268" y="2"/>
                    <a:pt x="268" y="2"/>
                    <a:pt x="268" y="2"/>
                  </a:cubicBezTo>
                  <a:cubicBezTo>
                    <a:pt x="268" y="62"/>
                    <a:pt x="268" y="62"/>
                    <a:pt x="268" y="62"/>
                  </a:cubicBezTo>
                  <a:cubicBezTo>
                    <a:pt x="265" y="62"/>
                    <a:pt x="265" y="62"/>
                    <a:pt x="265" y="62"/>
                  </a:cubicBezTo>
                  <a:lnTo>
                    <a:pt x="265" y="2"/>
                  </a:lnTo>
                  <a:close/>
                  <a:moveTo>
                    <a:pt x="270" y="2"/>
                  </a:moveTo>
                  <a:cubicBezTo>
                    <a:pt x="273" y="2"/>
                    <a:pt x="273" y="2"/>
                    <a:pt x="273" y="2"/>
                  </a:cubicBezTo>
                  <a:cubicBezTo>
                    <a:pt x="273" y="62"/>
                    <a:pt x="273" y="62"/>
                    <a:pt x="273" y="62"/>
                  </a:cubicBezTo>
                  <a:cubicBezTo>
                    <a:pt x="270" y="62"/>
                    <a:pt x="270" y="62"/>
                    <a:pt x="270" y="62"/>
                  </a:cubicBezTo>
                  <a:lnTo>
                    <a:pt x="270" y="2"/>
                  </a:lnTo>
                  <a:close/>
                  <a:moveTo>
                    <a:pt x="275" y="2"/>
                  </a:moveTo>
                  <a:cubicBezTo>
                    <a:pt x="278" y="2"/>
                    <a:pt x="278" y="2"/>
                    <a:pt x="278" y="2"/>
                  </a:cubicBezTo>
                  <a:cubicBezTo>
                    <a:pt x="278" y="62"/>
                    <a:pt x="278" y="62"/>
                    <a:pt x="278" y="62"/>
                  </a:cubicBezTo>
                  <a:cubicBezTo>
                    <a:pt x="275" y="62"/>
                    <a:pt x="275" y="62"/>
                    <a:pt x="275" y="62"/>
                  </a:cubicBezTo>
                  <a:lnTo>
                    <a:pt x="275" y="2"/>
                  </a:lnTo>
                  <a:close/>
                  <a:moveTo>
                    <a:pt x="280" y="2"/>
                  </a:moveTo>
                  <a:cubicBezTo>
                    <a:pt x="283" y="2"/>
                    <a:pt x="283" y="2"/>
                    <a:pt x="283" y="2"/>
                  </a:cubicBezTo>
                  <a:cubicBezTo>
                    <a:pt x="283" y="62"/>
                    <a:pt x="283" y="62"/>
                    <a:pt x="283" y="62"/>
                  </a:cubicBezTo>
                  <a:cubicBezTo>
                    <a:pt x="280" y="62"/>
                    <a:pt x="280" y="62"/>
                    <a:pt x="280" y="62"/>
                  </a:cubicBezTo>
                  <a:lnTo>
                    <a:pt x="280" y="2"/>
                  </a:lnTo>
                  <a:close/>
                  <a:moveTo>
                    <a:pt x="285" y="2"/>
                  </a:moveTo>
                  <a:cubicBezTo>
                    <a:pt x="288" y="2"/>
                    <a:pt x="288" y="2"/>
                    <a:pt x="288" y="2"/>
                  </a:cubicBezTo>
                  <a:cubicBezTo>
                    <a:pt x="288" y="62"/>
                    <a:pt x="288" y="62"/>
                    <a:pt x="288" y="62"/>
                  </a:cubicBezTo>
                  <a:cubicBezTo>
                    <a:pt x="285" y="62"/>
                    <a:pt x="285" y="62"/>
                    <a:pt x="285" y="62"/>
                  </a:cubicBezTo>
                  <a:lnTo>
                    <a:pt x="285" y="2"/>
                  </a:lnTo>
                  <a:close/>
                  <a:moveTo>
                    <a:pt x="289" y="2"/>
                  </a:moveTo>
                  <a:cubicBezTo>
                    <a:pt x="292" y="2"/>
                    <a:pt x="292" y="2"/>
                    <a:pt x="292" y="2"/>
                  </a:cubicBezTo>
                  <a:cubicBezTo>
                    <a:pt x="292" y="62"/>
                    <a:pt x="292" y="62"/>
                    <a:pt x="292" y="62"/>
                  </a:cubicBezTo>
                  <a:cubicBezTo>
                    <a:pt x="289" y="62"/>
                    <a:pt x="289" y="62"/>
                    <a:pt x="289" y="62"/>
                  </a:cubicBezTo>
                  <a:lnTo>
                    <a:pt x="289" y="2"/>
                  </a:lnTo>
                  <a:close/>
                  <a:moveTo>
                    <a:pt x="294" y="2"/>
                  </a:moveTo>
                  <a:cubicBezTo>
                    <a:pt x="297" y="2"/>
                    <a:pt x="297" y="2"/>
                    <a:pt x="297" y="2"/>
                  </a:cubicBezTo>
                  <a:cubicBezTo>
                    <a:pt x="297" y="62"/>
                    <a:pt x="297" y="62"/>
                    <a:pt x="297" y="62"/>
                  </a:cubicBezTo>
                  <a:cubicBezTo>
                    <a:pt x="294" y="62"/>
                    <a:pt x="294" y="62"/>
                    <a:pt x="294" y="62"/>
                  </a:cubicBezTo>
                  <a:lnTo>
                    <a:pt x="294" y="2"/>
                  </a:lnTo>
                  <a:close/>
                  <a:moveTo>
                    <a:pt x="299" y="2"/>
                  </a:moveTo>
                  <a:cubicBezTo>
                    <a:pt x="302" y="2"/>
                    <a:pt x="302" y="2"/>
                    <a:pt x="302" y="2"/>
                  </a:cubicBezTo>
                  <a:cubicBezTo>
                    <a:pt x="302" y="62"/>
                    <a:pt x="302" y="62"/>
                    <a:pt x="302" y="62"/>
                  </a:cubicBezTo>
                  <a:cubicBezTo>
                    <a:pt x="299" y="62"/>
                    <a:pt x="299" y="62"/>
                    <a:pt x="299" y="62"/>
                  </a:cubicBezTo>
                  <a:lnTo>
                    <a:pt x="299" y="2"/>
                  </a:lnTo>
                  <a:close/>
                  <a:moveTo>
                    <a:pt x="304" y="2"/>
                  </a:moveTo>
                  <a:cubicBezTo>
                    <a:pt x="307" y="2"/>
                    <a:pt x="307" y="2"/>
                    <a:pt x="307" y="2"/>
                  </a:cubicBezTo>
                  <a:cubicBezTo>
                    <a:pt x="307" y="62"/>
                    <a:pt x="307" y="62"/>
                    <a:pt x="307" y="62"/>
                  </a:cubicBezTo>
                  <a:cubicBezTo>
                    <a:pt x="304" y="62"/>
                    <a:pt x="304" y="62"/>
                    <a:pt x="304" y="62"/>
                  </a:cubicBezTo>
                  <a:lnTo>
                    <a:pt x="304" y="2"/>
                  </a:lnTo>
                  <a:close/>
                  <a:moveTo>
                    <a:pt x="309" y="2"/>
                  </a:moveTo>
                  <a:cubicBezTo>
                    <a:pt x="312" y="2"/>
                    <a:pt x="312" y="2"/>
                    <a:pt x="312" y="2"/>
                  </a:cubicBezTo>
                  <a:cubicBezTo>
                    <a:pt x="312" y="62"/>
                    <a:pt x="312" y="62"/>
                    <a:pt x="312" y="62"/>
                  </a:cubicBezTo>
                  <a:cubicBezTo>
                    <a:pt x="309" y="62"/>
                    <a:pt x="309" y="62"/>
                    <a:pt x="309" y="62"/>
                  </a:cubicBezTo>
                  <a:lnTo>
                    <a:pt x="309" y="2"/>
                  </a:lnTo>
                  <a:close/>
                  <a:moveTo>
                    <a:pt x="313" y="2"/>
                  </a:moveTo>
                  <a:cubicBezTo>
                    <a:pt x="316" y="2"/>
                    <a:pt x="316" y="2"/>
                    <a:pt x="316" y="2"/>
                  </a:cubicBezTo>
                  <a:cubicBezTo>
                    <a:pt x="316" y="62"/>
                    <a:pt x="316" y="62"/>
                    <a:pt x="316" y="62"/>
                  </a:cubicBezTo>
                  <a:cubicBezTo>
                    <a:pt x="313" y="62"/>
                    <a:pt x="313" y="62"/>
                    <a:pt x="313" y="62"/>
                  </a:cubicBezTo>
                  <a:lnTo>
                    <a:pt x="313" y="2"/>
                  </a:lnTo>
                  <a:close/>
                  <a:moveTo>
                    <a:pt x="318" y="2"/>
                  </a:moveTo>
                  <a:cubicBezTo>
                    <a:pt x="321" y="2"/>
                    <a:pt x="321" y="2"/>
                    <a:pt x="321" y="2"/>
                  </a:cubicBezTo>
                  <a:cubicBezTo>
                    <a:pt x="321" y="62"/>
                    <a:pt x="321" y="62"/>
                    <a:pt x="321" y="62"/>
                  </a:cubicBezTo>
                  <a:cubicBezTo>
                    <a:pt x="318" y="62"/>
                    <a:pt x="318" y="62"/>
                    <a:pt x="318" y="62"/>
                  </a:cubicBezTo>
                  <a:lnTo>
                    <a:pt x="318" y="2"/>
                  </a:lnTo>
                  <a:close/>
                  <a:moveTo>
                    <a:pt x="182" y="18"/>
                  </a:moveTo>
                  <a:cubicBezTo>
                    <a:pt x="182" y="19"/>
                    <a:pt x="182" y="19"/>
                    <a:pt x="182" y="19"/>
                  </a:cubicBezTo>
                  <a:cubicBezTo>
                    <a:pt x="181" y="19"/>
                    <a:pt x="180" y="19"/>
                    <a:pt x="179" y="19"/>
                  </a:cubicBezTo>
                  <a:cubicBezTo>
                    <a:pt x="180" y="19"/>
                    <a:pt x="181" y="18"/>
                    <a:pt x="182" y="18"/>
                  </a:cubicBezTo>
                  <a:close/>
                  <a:moveTo>
                    <a:pt x="192" y="22"/>
                  </a:moveTo>
                  <a:cubicBezTo>
                    <a:pt x="191" y="27"/>
                    <a:pt x="191" y="27"/>
                    <a:pt x="191" y="27"/>
                  </a:cubicBezTo>
                  <a:cubicBezTo>
                    <a:pt x="132" y="27"/>
                    <a:pt x="132" y="27"/>
                    <a:pt x="132" y="27"/>
                  </a:cubicBezTo>
                  <a:cubicBezTo>
                    <a:pt x="131" y="23"/>
                    <a:pt x="131" y="23"/>
                    <a:pt x="131" y="23"/>
                  </a:cubicBezTo>
                  <a:cubicBezTo>
                    <a:pt x="137" y="22"/>
                    <a:pt x="166" y="18"/>
                    <a:pt x="192" y="22"/>
                  </a:cubicBezTo>
                  <a:close/>
                  <a:moveTo>
                    <a:pt x="151" y="19"/>
                  </a:moveTo>
                  <a:cubicBezTo>
                    <a:pt x="151" y="18"/>
                    <a:pt x="151" y="18"/>
                    <a:pt x="151" y="18"/>
                  </a:cubicBezTo>
                  <a:cubicBezTo>
                    <a:pt x="152" y="19"/>
                    <a:pt x="152" y="19"/>
                    <a:pt x="152" y="19"/>
                  </a:cubicBezTo>
                  <a:cubicBezTo>
                    <a:pt x="152" y="19"/>
                    <a:pt x="152" y="19"/>
                    <a:pt x="151" y="19"/>
                  </a:cubicBezTo>
                  <a:close/>
                  <a:moveTo>
                    <a:pt x="95" y="2"/>
                  </a:moveTo>
                  <a:cubicBezTo>
                    <a:pt x="113" y="62"/>
                    <a:pt x="113" y="62"/>
                    <a:pt x="113" y="62"/>
                  </a:cubicBezTo>
                  <a:cubicBezTo>
                    <a:pt x="110" y="62"/>
                    <a:pt x="110" y="62"/>
                    <a:pt x="110" y="62"/>
                  </a:cubicBezTo>
                  <a:cubicBezTo>
                    <a:pt x="92" y="2"/>
                    <a:pt x="92" y="2"/>
                    <a:pt x="92" y="2"/>
                  </a:cubicBezTo>
                  <a:cubicBezTo>
                    <a:pt x="93" y="2"/>
                    <a:pt x="94" y="2"/>
                    <a:pt x="95" y="2"/>
                  </a:cubicBezTo>
                  <a:close/>
                  <a:moveTo>
                    <a:pt x="2" y="2"/>
                  </a:moveTo>
                  <a:cubicBezTo>
                    <a:pt x="90" y="2"/>
                    <a:pt x="90" y="2"/>
                    <a:pt x="90" y="2"/>
                  </a:cubicBezTo>
                  <a:cubicBezTo>
                    <a:pt x="108" y="62"/>
                    <a:pt x="108" y="62"/>
                    <a:pt x="108" y="62"/>
                  </a:cubicBezTo>
                  <a:cubicBezTo>
                    <a:pt x="2" y="62"/>
                    <a:pt x="2" y="62"/>
                    <a:pt x="2" y="62"/>
                  </a:cubicBezTo>
                  <a:lnTo>
                    <a:pt x="2" y="2"/>
                  </a:lnTo>
                  <a:close/>
                  <a:moveTo>
                    <a:pt x="115" y="62"/>
                  </a:moveTo>
                  <a:cubicBezTo>
                    <a:pt x="97" y="2"/>
                    <a:pt x="97" y="2"/>
                    <a:pt x="97" y="2"/>
                  </a:cubicBezTo>
                  <a:cubicBezTo>
                    <a:pt x="98" y="2"/>
                    <a:pt x="99" y="3"/>
                    <a:pt x="100" y="3"/>
                  </a:cubicBezTo>
                  <a:cubicBezTo>
                    <a:pt x="100" y="3"/>
                    <a:pt x="100" y="3"/>
                    <a:pt x="100" y="3"/>
                  </a:cubicBezTo>
                  <a:cubicBezTo>
                    <a:pt x="118" y="62"/>
                    <a:pt x="118" y="62"/>
                    <a:pt x="118" y="62"/>
                  </a:cubicBezTo>
                  <a:cubicBezTo>
                    <a:pt x="118" y="62"/>
                    <a:pt x="118" y="62"/>
                    <a:pt x="118" y="62"/>
                  </a:cubicBezTo>
                  <a:lnTo>
                    <a:pt x="115" y="62"/>
                  </a:lnTo>
                  <a:close/>
                  <a:moveTo>
                    <a:pt x="129" y="55"/>
                  </a:moveTo>
                  <a:cubicBezTo>
                    <a:pt x="129" y="55"/>
                    <a:pt x="129" y="55"/>
                    <a:pt x="129" y="55"/>
                  </a:cubicBezTo>
                  <a:cubicBezTo>
                    <a:pt x="193" y="55"/>
                    <a:pt x="193" y="55"/>
                    <a:pt x="193" y="55"/>
                  </a:cubicBezTo>
                  <a:cubicBezTo>
                    <a:pt x="194" y="55"/>
                    <a:pt x="194" y="55"/>
                    <a:pt x="194" y="55"/>
                  </a:cubicBezTo>
                  <a:cubicBezTo>
                    <a:pt x="196" y="57"/>
                    <a:pt x="196" y="57"/>
                    <a:pt x="196" y="57"/>
                  </a:cubicBezTo>
                  <a:cubicBezTo>
                    <a:pt x="196" y="57"/>
                    <a:pt x="196" y="58"/>
                    <a:pt x="196" y="58"/>
                  </a:cubicBezTo>
                  <a:cubicBezTo>
                    <a:pt x="126" y="58"/>
                    <a:pt x="126" y="58"/>
                    <a:pt x="126" y="58"/>
                  </a:cubicBezTo>
                  <a:lnTo>
                    <a:pt x="129" y="5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2" name="Freeform 221"/>
            <p:cNvSpPr>
              <a:spLocks noEditPoints="1"/>
            </p:cNvSpPr>
            <p:nvPr userDrawn="1"/>
          </p:nvSpPr>
          <p:spPr bwMode="auto">
            <a:xfrm>
              <a:off x="-6350" y="4583113"/>
              <a:ext cx="2128838" cy="265113"/>
            </a:xfrm>
            <a:custGeom>
              <a:avLst/>
              <a:gdLst>
                <a:gd name="T0" fmla="*/ 1332 w 1341"/>
                <a:gd name="T1" fmla="*/ 163 h 167"/>
                <a:gd name="T2" fmla="*/ 1332 w 1341"/>
                <a:gd name="T3" fmla="*/ 163 h 167"/>
                <a:gd name="T4" fmla="*/ 1336 w 1341"/>
                <a:gd name="T5" fmla="*/ 163 h 167"/>
                <a:gd name="T6" fmla="*/ 1328 w 1341"/>
                <a:gd name="T7" fmla="*/ 61 h 167"/>
                <a:gd name="T8" fmla="*/ 1101 w 1341"/>
                <a:gd name="T9" fmla="*/ 0 h 167"/>
                <a:gd name="T10" fmla="*/ 940 w 1341"/>
                <a:gd name="T11" fmla="*/ 61 h 167"/>
                <a:gd name="T12" fmla="*/ 853 w 1341"/>
                <a:gd name="T13" fmla="*/ 0 h 167"/>
                <a:gd name="T14" fmla="*/ 692 w 1341"/>
                <a:gd name="T15" fmla="*/ 61 h 167"/>
                <a:gd name="T16" fmla="*/ 600 w 1341"/>
                <a:gd name="T17" fmla="*/ 4 h 167"/>
                <a:gd name="T18" fmla="*/ 439 w 1341"/>
                <a:gd name="T19" fmla="*/ 61 h 167"/>
                <a:gd name="T20" fmla="*/ 352 w 1341"/>
                <a:gd name="T21" fmla="*/ 4 h 167"/>
                <a:gd name="T22" fmla="*/ 191 w 1341"/>
                <a:gd name="T23" fmla="*/ 61 h 167"/>
                <a:gd name="T24" fmla="*/ 0 w 1341"/>
                <a:gd name="T25" fmla="*/ 167 h 167"/>
                <a:gd name="T26" fmla="*/ 605 w 1341"/>
                <a:gd name="T27" fmla="*/ 150 h 167"/>
                <a:gd name="T28" fmla="*/ 1319 w 1341"/>
                <a:gd name="T29" fmla="*/ 70 h 167"/>
                <a:gd name="T30" fmla="*/ 1101 w 1341"/>
                <a:gd name="T31" fmla="*/ 158 h 167"/>
                <a:gd name="T32" fmla="*/ 1319 w 1341"/>
                <a:gd name="T33" fmla="*/ 70 h 167"/>
                <a:gd name="T34" fmla="*/ 1092 w 1341"/>
                <a:gd name="T35" fmla="*/ 8 h 167"/>
                <a:gd name="T36" fmla="*/ 949 w 1341"/>
                <a:gd name="T37" fmla="*/ 154 h 167"/>
                <a:gd name="T38" fmla="*/ 940 w 1341"/>
                <a:gd name="T39" fmla="*/ 70 h 167"/>
                <a:gd name="T40" fmla="*/ 853 w 1341"/>
                <a:gd name="T41" fmla="*/ 158 h 167"/>
                <a:gd name="T42" fmla="*/ 940 w 1341"/>
                <a:gd name="T43" fmla="*/ 70 h 167"/>
                <a:gd name="T44" fmla="*/ 844 w 1341"/>
                <a:gd name="T45" fmla="*/ 8 h 167"/>
                <a:gd name="T46" fmla="*/ 696 w 1341"/>
                <a:gd name="T47" fmla="*/ 154 h 167"/>
                <a:gd name="T48" fmla="*/ 692 w 1341"/>
                <a:gd name="T49" fmla="*/ 70 h 167"/>
                <a:gd name="T50" fmla="*/ 600 w 1341"/>
                <a:gd name="T51" fmla="*/ 158 h 167"/>
                <a:gd name="T52" fmla="*/ 692 w 1341"/>
                <a:gd name="T53" fmla="*/ 70 h 167"/>
                <a:gd name="T54" fmla="*/ 592 w 1341"/>
                <a:gd name="T55" fmla="*/ 13 h 167"/>
                <a:gd name="T56" fmla="*/ 587 w 1341"/>
                <a:gd name="T57" fmla="*/ 158 h 167"/>
                <a:gd name="T58" fmla="*/ 448 w 1341"/>
                <a:gd name="T59" fmla="*/ 13 h 167"/>
                <a:gd name="T60" fmla="*/ 439 w 1341"/>
                <a:gd name="T61" fmla="*/ 158 h 167"/>
                <a:gd name="T62" fmla="*/ 352 w 1341"/>
                <a:gd name="T63" fmla="*/ 70 h 167"/>
                <a:gd name="T64" fmla="*/ 196 w 1341"/>
                <a:gd name="T65" fmla="*/ 13 h 167"/>
                <a:gd name="T66" fmla="*/ 344 w 1341"/>
                <a:gd name="T67" fmla="*/ 158 h 167"/>
                <a:gd name="T68" fmla="*/ 196 w 1341"/>
                <a:gd name="T69" fmla="*/ 13 h 167"/>
                <a:gd name="T70" fmla="*/ 191 w 1341"/>
                <a:gd name="T71" fmla="*/ 70 h 167"/>
                <a:gd name="T72" fmla="*/ 8 w 1341"/>
                <a:gd name="T73" fmla="*/ 158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41" h="167">
                  <a:moveTo>
                    <a:pt x="600" y="167"/>
                  </a:moveTo>
                  <a:lnTo>
                    <a:pt x="1332" y="163"/>
                  </a:lnTo>
                  <a:lnTo>
                    <a:pt x="1332" y="163"/>
                  </a:lnTo>
                  <a:lnTo>
                    <a:pt x="1332" y="163"/>
                  </a:lnTo>
                  <a:lnTo>
                    <a:pt x="1336" y="163"/>
                  </a:lnTo>
                  <a:lnTo>
                    <a:pt x="1336" y="163"/>
                  </a:lnTo>
                  <a:lnTo>
                    <a:pt x="1341" y="163"/>
                  </a:lnTo>
                  <a:lnTo>
                    <a:pt x="1328" y="61"/>
                  </a:lnTo>
                  <a:lnTo>
                    <a:pt x="1101" y="61"/>
                  </a:lnTo>
                  <a:lnTo>
                    <a:pt x="1101" y="0"/>
                  </a:lnTo>
                  <a:lnTo>
                    <a:pt x="940" y="0"/>
                  </a:lnTo>
                  <a:lnTo>
                    <a:pt x="940" y="61"/>
                  </a:lnTo>
                  <a:lnTo>
                    <a:pt x="853" y="61"/>
                  </a:lnTo>
                  <a:lnTo>
                    <a:pt x="853" y="0"/>
                  </a:lnTo>
                  <a:lnTo>
                    <a:pt x="692" y="0"/>
                  </a:lnTo>
                  <a:lnTo>
                    <a:pt x="692" y="61"/>
                  </a:lnTo>
                  <a:lnTo>
                    <a:pt x="600" y="61"/>
                  </a:lnTo>
                  <a:lnTo>
                    <a:pt x="600" y="4"/>
                  </a:lnTo>
                  <a:lnTo>
                    <a:pt x="439" y="4"/>
                  </a:lnTo>
                  <a:lnTo>
                    <a:pt x="439" y="61"/>
                  </a:lnTo>
                  <a:lnTo>
                    <a:pt x="352" y="61"/>
                  </a:lnTo>
                  <a:lnTo>
                    <a:pt x="352" y="4"/>
                  </a:lnTo>
                  <a:lnTo>
                    <a:pt x="191" y="4"/>
                  </a:lnTo>
                  <a:lnTo>
                    <a:pt x="191" y="61"/>
                  </a:lnTo>
                  <a:lnTo>
                    <a:pt x="26" y="61"/>
                  </a:lnTo>
                  <a:lnTo>
                    <a:pt x="0" y="167"/>
                  </a:lnTo>
                  <a:lnTo>
                    <a:pt x="587" y="167"/>
                  </a:lnTo>
                  <a:lnTo>
                    <a:pt x="605" y="150"/>
                  </a:lnTo>
                  <a:lnTo>
                    <a:pt x="600" y="167"/>
                  </a:lnTo>
                  <a:close/>
                  <a:moveTo>
                    <a:pt x="1319" y="70"/>
                  </a:moveTo>
                  <a:lnTo>
                    <a:pt x="1332" y="154"/>
                  </a:lnTo>
                  <a:lnTo>
                    <a:pt x="1101" y="158"/>
                  </a:lnTo>
                  <a:lnTo>
                    <a:pt x="1101" y="70"/>
                  </a:lnTo>
                  <a:lnTo>
                    <a:pt x="1319" y="70"/>
                  </a:lnTo>
                  <a:close/>
                  <a:moveTo>
                    <a:pt x="949" y="8"/>
                  </a:moveTo>
                  <a:lnTo>
                    <a:pt x="1092" y="8"/>
                  </a:lnTo>
                  <a:lnTo>
                    <a:pt x="1092" y="154"/>
                  </a:lnTo>
                  <a:lnTo>
                    <a:pt x="949" y="154"/>
                  </a:lnTo>
                  <a:lnTo>
                    <a:pt x="949" y="8"/>
                  </a:lnTo>
                  <a:close/>
                  <a:moveTo>
                    <a:pt x="940" y="70"/>
                  </a:moveTo>
                  <a:lnTo>
                    <a:pt x="940" y="158"/>
                  </a:lnTo>
                  <a:lnTo>
                    <a:pt x="853" y="158"/>
                  </a:lnTo>
                  <a:lnTo>
                    <a:pt x="853" y="70"/>
                  </a:lnTo>
                  <a:lnTo>
                    <a:pt x="940" y="70"/>
                  </a:lnTo>
                  <a:close/>
                  <a:moveTo>
                    <a:pt x="696" y="8"/>
                  </a:moveTo>
                  <a:lnTo>
                    <a:pt x="844" y="8"/>
                  </a:lnTo>
                  <a:lnTo>
                    <a:pt x="844" y="154"/>
                  </a:lnTo>
                  <a:lnTo>
                    <a:pt x="696" y="154"/>
                  </a:lnTo>
                  <a:lnTo>
                    <a:pt x="696" y="8"/>
                  </a:lnTo>
                  <a:close/>
                  <a:moveTo>
                    <a:pt x="692" y="70"/>
                  </a:moveTo>
                  <a:lnTo>
                    <a:pt x="692" y="158"/>
                  </a:lnTo>
                  <a:lnTo>
                    <a:pt x="600" y="158"/>
                  </a:lnTo>
                  <a:lnTo>
                    <a:pt x="600" y="70"/>
                  </a:lnTo>
                  <a:lnTo>
                    <a:pt x="692" y="70"/>
                  </a:lnTo>
                  <a:close/>
                  <a:moveTo>
                    <a:pt x="448" y="13"/>
                  </a:moveTo>
                  <a:lnTo>
                    <a:pt x="592" y="13"/>
                  </a:lnTo>
                  <a:lnTo>
                    <a:pt x="592" y="158"/>
                  </a:lnTo>
                  <a:lnTo>
                    <a:pt x="587" y="158"/>
                  </a:lnTo>
                  <a:lnTo>
                    <a:pt x="448" y="158"/>
                  </a:lnTo>
                  <a:lnTo>
                    <a:pt x="448" y="13"/>
                  </a:lnTo>
                  <a:close/>
                  <a:moveTo>
                    <a:pt x="439" y="70"/>
                  </a:moveTo>
                  <a:lnTo>
                    <a:pt x="439" y="158"/>
                  </a:lnTo>
                  <a:lnTo>
                    <a:pt x="352" y="158"/>
                  </a:lnTo>
                  <a:lnTo>
                    <a:pt x="352" y="70"/>
                  </a:lnTo>
                  <a:lnTo>
                    <a:pt x="439" y="70"/>
                  </a:lnTo>
                  <a:close/>
                  <a:moveTo>
                    <a:pt x="196" y="13"/>
                  </a:moveTo>
                  <a:lnTo>
                    <a:pt x="344" y="13"/>
                  </a:lnTo>
                  <a:lnTo>
                    <a:pt x="344" y="158"/>
                  </a:lnTo>
                  <a:lnTo>
                    <a:pt x="196" y="158"/>
                  </a:lnTo>
                  <a:lnTo>
                    <a:pt x="196" y="13"/>
                  </a:lnTo>
                  <a:close/>
                  <a:moveTo>
                    <a:pt x="30" y="70"/>
                  </a:moveTo>
                  <a:lnTo>
                    <a:pt x="191" y="70"/>
                  </a:lnTo>
                  <a:lnTo>
                    <a:pt x="191" y="158"/>
                  </a:lnTo>
                  <a:lnTo>
                    <a:pt x="8" y="158"/>
                  </a:lnTo>
                  <a:lnTo>
                    <a:pt x="30" y="7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5" name="Freeform 222"/>
            <p:cNvSpPr>
              <a:spLocks noEditPoints="1"/>
            </p:cNvSpPr>
            <p:nvPr userDrawn="1"/>
          </p:nvSpPr>
          <p:spPr bwMode="auto">
            <a:xfrm>
              <a:off x="366713" y="4630738"/>
              <a:ext cx="103188" cy="176213"/>
            </a:xfrm>
            <a:custGeom>
              <a:avLst/>
              <a:gdLst>
                <a:gd name="T0" fmla="*/ 13 w 15"/>
                <a:gd name="T1" fmla="*/ 8 h 25"/>
                <a:gd name="T2" fmla="*/ 11 w 15"/>
                <a:gd name="T3" fmla="*/ 9 h 25"/>
                <a:gd name="T4" fmla="*/ 10 w 15"/>
                <a:gd name="T5" fmla="*/ 10 h 25"/>
                <a:gd name="T6" fmla="*/ 7 w 15"/>
                <a:gd name="T7" fmla="*/ 13 h 25"/>
                <a:gd name="T8" fmla="*/ 6 w 15"/>
                <a:gd name="T9" fmla="*/ 13 h 25"/>
                <a:gd name="T10" fmla="*/ 8 w 15"/>
                <a:gd name="T11" fmla="*/ 11 h 25"/>
                <a:gd name="T12" fmla="*/ 11 w 15"/>
                <a:gd name="T13" fmla="*/ 7 h 25"/>
                <a:gd name="T14" fmla="*/ 12 w 15"/>
                <a:gd name="T15" fmla="*/ 5 h 25"/>
                <a:gd name="T16" fmla="*/ 11 w 15"/>
                <a:gd name="T17" fmla="*/ 4 h 25"/>
                <a:gd name="T18" fmla="*/ 10 w 15"/>
                <a:gd name="T19" fmla="*/ 2 h 25"/>
                <a:gd name="T20" fmla="*/ 9 w 15"/>
                <a:gd name="T21" fmla="*/ 1 h 25"/>
                <a:gd name="T22" fmla="*/ 7 w 15"/>
                <a:gd name="T23" fmla="*/ 1 h 25"/>
                <a:gd name="T24" fmla="*/ 7 w 15"/>
                <a:gd name="T25" fmla="*/ 2 h 25"/>
                <a:gd name="T26" fmla="*/ 7 w 15"/>
                <a:gd name="T27" fmla="*/ 5 h 25"/>
                <a:gd name="T28" fmla="*/ 7 w 15"/>
                <a:gd name="T29" fmla="*/ 6 h 25"/>
                <a:gd name="T30" fmla="*/ 7 w 15"/>
                <a:gd name="T31" fmla="*/ 9 h 25"/>
                <a:gd name="T32" fmla="*/ 4 w 15"/>
                <a:gd name="T33" fmla="*/ 11 h 25"/>
                <a:gd name="T34" fmla="*/ 3 w 15"/>
                <a:gd name="T35" fmla="*/ 12 h 25"/>
                <a:gd name="T36" fmla="*/ 4 w 15"/>
                <a:gd name="T37" fmla="*/ 13 h 25"/>
                <a:gd name="T38" fmla="*/ 5 w 15"/>
                <a:gd name="T39" fmla="*/ 13 h 25"/>
                <a:gd name="T40" fmla="*/ 4 w 15"/>
                <a:gd name="T41" fmla="*/ 15 h 25"/>
                <a:gd name="T42" fmla="*/ 3 w 15"/>
                <a:gd name="T43" fmla="*/ 17 h 25"/>
                <a:gd name="T44" fmla="*/ 1 w 15"/>
                <a:gd name="T45" fmla="*/ 20 h 25"/>
                <a:gd name="T46" fmla="*/ 0 w 15"/>
                <a:gd name="T47" fmla="*/ 20 h 25"/>
                <a:gd name="T48" fmla="*/ 1 w 15"/>
                <a:gd name="T49" fmla="*/ 22 h 25"/>
                <a:gd name="T50" fmla="*/ 2 w 15"/>
                <a:gd name="T51" fmla="*/ 25 h 25"/>
                <a:gd name="T52" fmla="*/ 4 w 15"/>
                <a:gd name="T53" fmla="*/ 23 h 25"/>
                <a:gd name="T54" fmla="*/ 4 w 15"/>
                <a:gd name="T55" fmla="*/ 22 h 25"/>
                <a:gd name="T56" fmla="*/ 3 w 15"/>
                <a:gd name="T57" fmla="*/ 20 h 25"/>
                <a:gd name="T58" fmla="*/ 5 w 15"/>
                <a:gd name="T59" fmla="*/ 18 h 25"/>
                <a:gd name="T60" fmla="*/ 6 w 15"/>
                <a:gd name="T61" fmla="*/ 20 h 25"/>
                <a:gd name="T62" fmla="*/ 7 w 15"/>
                <a:gd name="T63" fmla="*/ 21 h 25"/>
                <a:gd name="T64" fmla="*/ 6 w 15"/>
                <a:gd name="T65" fmla="*/ 22 h 25"/>
                <a:gd name="T66" fmla="*/ 7 w 15"/>
                <a:gd name="T67" fmla="*/ 23 h 25"/>
                <a:gd name="T68" fmla="*/ 8 w 15"/>
                <a:gd name="T69" fmla="*/ 24 h 25"/>
                <a:gd name="T70" fmla="*/ 9 w 15"/>
                <a:gd name="T71" fmla="*/ 23 h 25"/>
                <a:gd name="T72" fmla="*/ 11 w 15"/>
                <a:gd name="T73" fmla="*/ 21 h 25"/>
                <a:gd name="T74" fmla="*/ 13 w 15"/>
                <a:gd name="T75" fmla="*/ 22 h 25"/>
                <a:gd name="T76" fmla="*/ 14 w 15"/>
                <a:gd name="T77" fmla="*/ 18 h 25"/>
                <a:gd name="T78" fmla="*/ 14 w 15"/>
                <a:gd name="T79" fmla="*/ 17 h 25"/>
                <a:gd name="T80" fmla="*/ 14 w 15"/>
                <a:gd name="T81" fmla="*/ 13 h 25"/>
                <a:gd name="T82" fmla="*/ 15 w 15"/>
                <a:gd name="T83" fmla="*/ 10 h 25"/>
                <a:gd name="T84" fmla="*/ 14 w 15"/>
                <a:gd name="T85" fmla="*/ 8 h 25"/>
                <a:gd name="T86" fmla="*/ 8 w 15"/>
                <a:gd name="T87" fmla="*/ 15 h 25"/>
                <a:gd name="T88" fmla="*/ 8 w 15"/>
                <a:gd name="T89" fmla="*/ 17 h 25"/>
                <a:gd name="T90" fmla="*/ 7 w 15"/>
                <a:gd name="T91" fmla="*/ 18 h 25"/>
                <a:gd name="T92" fmla="*/ 7 w 15"/>
                <a:gd name="T93" fmla="*/ 16 h 25"/>
                <a:gd name="T94" fmla="*/ 7 w 15"/>
                <a:gd name="T95" fmla="*/ 14 h 25"/>
                <a:gd name="T96" fmla="*/ 8 w 15"/>
                <a:gd name="T97" fmla="*/ 14 h 25"/>
                <a:gd name="T98" fmla="*/ 9 w 15"/>
                <a:gd name="T99" fmla="*/ 14 h 25"/>
                <a:gd name="T100" fmla="*/ 11 w 15"/>
                <a:gd name="T101" fmla="*/ 14 h 25"/>
                <a:gd name="T102" fmla="*/ 11 w 15"/>
                <a:gd name="T103" fmla="*/ 16 h 25"/>
                <a:gd name="T104" fmla="*/ 11 w 15"/>
                <a:gd name="T105" fmla="*/ 20 h 25"/>
                <a:gd name="T106" fmla="*/ 10 w 15"/>
                <a:gd name="T107" fmla="*/ 19 h 25"/>
                <a:gd name="T108" fmla="*/ 9 w 15"/>
                <a:gd name="T109" fmla="*/ 18 h 25"/>
                <a:gd name="T110" fmla="*/ 9 w 15"/>
                <a:gd name="T111" fmla="*/ 16 h 25"/>
                <a:gd name="T112" fmla="*/ 10 w 15"/>
                <a:gd name="T113" fmla="*/ 13 h 25"/>
                <a:gd name="T114" fmla="*/ 10 w 15"/>
                <a:gd name="T115" fmla="*/ 11 h 25"/>
                <a:gd name="T116" fmla="*/ 12 w 15"/>
                <a:gd name="T117" fmla="*/ 10 h 25"/>
                <a:gd name="T118" fmla="*/ 11 w 15"/>
                <a:gd name="T119"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 h="25">
                  <a:moveTo>
                    <a:pt x="14" y="8"/>
                  </a:moveTo>
                  <a:cubicBezTo>
                    <a:pt x="14" y="8"/>
                    <a:pt x="13" y="8"/>
                    <a:pt x="13" y="8"/>
                  </a:cubicBezTo>
                  <a:cubicBezTo>
                    <a:pt x="13" y="8"/>
                    <a:pt x="12" y="8"/>
                    <a:pt x="12" y="8"/>
                  </a:cubicBezTo>
                  <a:cubicBezTo>
                    <a:pt x="12" y="8"/>
                    <a:pt x="11" y="8"/>
                    <a:pt x="11" y="9"/>
                  </a:cubicBezTo>
                  <a:cubicBezTo>
                    <a:pt x="11" y="9"/>
                    <a:pt x="11" y="9"/>
                    <a:pt x="11" y="10"/>
                  </a:cubicBezTo>
                  <a:cubicBezTo>
                    <a:pt x="10" y="10"/>
                    <a:pt x="10" y="10"/>
                    <a:pt x="10" y="10"/>
                  </a:cubicBezTo>
                  <a:cubicBezTo>
                    <a:pt x="10" y="10"/>
                    <a:pt x="10" y="10"/>
                    <a:pt x="10" y="11"/>
                  </a:cubicBezTo>
                  <a:cubicBezTo>
                    <a:pt x="9" y="11"/>
                    <a:pt x="8" y="12"/>
                    <a:pt x="7" y="13"/>
                  </a:cubicBezTo>
                  <a:cubicBezTo>
                    <a:pt x="7" y="13"/>
                    <a:pt x="7" y="13"/>
                    <a:pt x="7" y="14"/>
                  </a:cubicBezTo>
                  <a:cubicBezTo>
                    <a:pt x="7" y="14"/>
                    <a:pt x="7" y="13"/>
                    <a:pt x="6" y="13"/>
                  </a:cubicBezTo>
                  <a:cubicBezTo>
                    <a:pt x="7" y="13"/>
                    <a:pt x="7" y="12"/>
                    <a:pt x="7" y="12"/>
                  </a:cubicBezTo>
                  <a:cubicBezTo>
                    <a:pt x="7" y="11"/>
                    <a:pt x="7" y="11"/>
                    <a:pt x="8" y="11"/>
                  </a:cubicBezTo>
                  <a:cubicBezTo>
                    <a:pt x="8" y="10"/>
                    <a:pt x="8" y="10"/>
                    <a:pt x="8" y="10"/>
                  </a:cubicBezTo>
                  <a:cubicBezTo>
                    <a:pt x="9" y="9"/>
                    <a:pt x="10" y="8"/>
                    <a:pt x="11" y="7"/>
                  </a:cubicBezTo>
                  <a:cubicBezTo>
                    <a:pt x="11" y="7"/>
                    <a:pt x="12" y="7"/>
                    <a:pt x="12" y="6"/>
                  </a:cubicBezTo>
                  <a:cubicBezTo>
                    <a:pt x="12" y="6"/>
                    <a:pt x="12" y="6"/>
                    <a:pt x="12" y="5"/>
                  </a:cubicBezTo>
                  <a:cubicBezTo>
                    <a:pt x="11" y="5"/>
                    <a:pt x="11" y="6"/>
                    <a:pt x="10" y="5"/>
                  </a:cubicBezTo>
                  <a:cubicBezTo>
                    <a:pt x="10" y="5"/>
                    <a:pt x="11" y="4"/>
                    <a:pt x="11" y="4"/>
                  </a:cubicBezTo>
                  <a:cubicBezTo>
                    <a:pt x="11" y="3"/>
                    <a:pt x="11" y="3"/>
                    <a:pt x="11" y="3"/>
                  </a:cubicBezTo>
                  <a:cubicBezTo>
                    <a:pt x="10" y="3"/>
                    <a:pt x="10" y="3"/>
                    <a:pt x="10" y="2"/>
                  </a:cubicBezTo>
                  <a:cubicBezTo>
                    <a:pt x="9" y="2"/>
                    <a:pt x="9" y="2"/>
                    <a:pt x="9" y="2"/>
                  </a:cubicBezTo>
                  <a:cubicBezTo>
                    <a:pt x="9" y="2"/>
                    <a:pt x="9" y="1"/>
                    <a:pt x="9" y="1"/>
                  </a:cubicBezTo>
                  <a:cubicBezTo>
                    <a:pt x="9" y="0"/>
                    <a:pt x="8" y="0"/>
                    <a:pt x="7" y="1"/>
                  </a:cubicBezTo>
                  <a:cubicBezTo>
                    <a:pt x="7" y="1"/>
                    <a:pt x="7" y="1"/>
                    <a:pt x="7" y="1"/>
                  </a:cubicBezTo>
                  <a:cubicBezTo>
                    <a:pt x="7" y="1"/>
                    <a:pt x="7" y="2"/>
                    <a:pt x="7" y="2"/>
                  </a:cubicBezTo>
                  <a:cubicBezTo>
                    <a:pt x="7" y="2"/>
                    <a:pt x="7" y="2"/>
                    <a:pt x="7" y="2"/>
                  </a:cubicBezTo>
                  <a:cubicBezTo>
                    <a:pt x="7" y="3"/>
                    <a:pt x="7" y="4"/>
                    <a:pt x="7" y="4"/>
                  </a:cubicBezTo>
                  <a:cubicBezTo>
                    <a:pt x="7" y="4"/>
                    <a:pt x="7" y="4"/>
                    <a:pt x="7" y="5"/>
                  </a:cubicBezTo>
                  <a:cubicBezTo>
                    <a:pt x="7" y="5"/>
                    <a:pt x="7" y="5"/>
                    <a:pt x="7" y="5"/>
                  </a:cubicBezTo>
                  <a:cubicBezTo>
                    <a:pt x="7" y="6"/>
                    <a:pt x="7" y="6"/>
                    <a:pt x="7" y="6"/>
                  </a:cubicBezTo>
                  <a:cubicBezTo>
                    <a:pt x="7" y="6"/>
                    <a:pt x="7" y="6"/>
                    <a:pt x="7" y="7"/>
                  </a:cubicBezTo>
                  <a:cubicBezTo>
                    <a:pt x="7" y="8"/>
                    <a:pt x="7" y="8"/>
                    <a:pt x="7" y="9"/>
                  </a:cubicBezTo>
                  <a:cubicBezTo>
                    <a:pt x="7" y="9"/>
                    <a:pt x="6" y="9"/>
                    <a:pt x="6" y="9"/>
                  </a:cubicBezTo>
                  <a:cubicBezTo>
                    <a:pt x="5" y="10"/>
                    <a:pt x="4" y="11"/>
                    <a:pt x="4" y="11"/>
                  </a:cubicBezTo>
                  <a:cubicBezTo>
                    <a:pt x="4" y="11"/>
                    <a:pt x="3" y="12"/>
                    <a:pt x="3" y="12"/>
                  </a:cubicBezTo>
                  <a:cubicBezTo>
                    <a:pt x="3" y="12"/>
                    <a:pt x="3" y="12"/>
                    <a:pt x="3" y="12"/>
                  </a:cubicBezTo>
                  <a:cubicBezTo>
                    <a:pt x="3" y="12"/>
                    <a:pt x="3" y="13"/>
                    <a:pt x="3" y="13"/>
                  </a:cubicBezTo>
                  <a:cubicBezTo>
                    <a:pt x="3" y="13"/>
                    <a:pt x="4" y="13"/>
                    <a:pt x="4" y="13"/>
                  </a:cubicBezTo>
                  <a:cubicBezTo>
                    <a:pt x="4" y="13"/>
                    <a:pt x="4" y="13"/>
                    <a:pt x="5" y="13"/>
                  </a:cubicBezTo>
                  <a:cubicBezTo>
                    <a:pt x="5" y="13"/>
                    <a:pt x="5" y="13"/>
                    <a:pt x="5" y="13"/>
                  </a:cubicBezTo>
                  <a:cubicBezTo>
                    <a:pt x="6" y="13"/>
                    <a:pt x="6" y="14"/>
                    <a:pt x="6" y="14"/>
                  </a:cubicBezTo>
                  <a:cubicBezTo>
                    <a:pt x="6" y="15"/>
                    <a:pt x="5" y="15"/>
                    <a:pt x="4" y="15"/>
                  </a:cubicBezTo>
                  <a:cubicBezTo>
                    <a:pt x="4" y="16"/>
                    <a:pt x="5" y="16"/>
                    <a:pt x="5" y="16"/>
                  </a:cubicBezTo>
                  <a:cubicBezTo>
                    <a:pt x="4" y="16"/>
                    <a:pt x="4" y="17"/>
                    <a:pt x="3" y="17"/>
                  </a:cubicBezTo>
                  <a:cubicBezTo>
                    <a:pt x="3" y="17"/>
                    <a:pt x="3" y="18"/>
                    <a:pt x="3" y="18"/>
                  </a:cubicBezTo>
                  <a:cubicBezTo>
                    <a:pt x="2" y="19"/>
                    <a:pt x="2" y="19"/>
                    <a:pt x="1" y="20"/>
                  </a:cubicBezTo>
                  <a:cubicBezTo>
                    <a:pt x="1" y="19"/>
                    <a:pt x="1" y="19"/>
                    <a:pt x="1" y="18"/>
                  </a:cubicBezTo>
                  <a:cubicBezTo>
                    <a:pt x="0" y="19"/>
                    <a:pt x="0" y="19"/>
                    <a:pt x="0" y="20"/>
                  </a:cubicBezTo>
                  <a:cubicBezTo>
                    <a:pt x="0" y="20"/>
                    <a:pt x="0" y="21"/>
                    <a:pt x="0" y="21"/>
                  </a:cubicBezTo>
                  <a:cubicBezTo>
                    <a:pt x="1" y="21"/>
                    <a:pt x="1" y="22"/>
                    <a:pt x="1" y="22"/>
                  </a:cubicBezTo>
                  <a:cubicBezTo>
                    <a:pt x="1" y="23"/>
                    <a:pt x="1" y="23"/>
                    <a:pt x="1" y="24"/>
                  </a:cubicBezTo>
                  <a:cubicBezTo>
                    <a:pt x="2" y="24"/>
                    <a:pt x="2" y="24"/>
                    <a:pt x="2" y="25"/>
                  </a:cubicBezTo>
                  <a:cubicBezTo>
                    <a:pt x="3" y="25"/>
                    <a:pt x="3" y="25"/>
                    <a:pt x="3" y="25"/>
                  </a:cubicBezTo>
                  <a:cubicBezTo>
                    <a:pt x="4" y="24"/>
                    <a:pt x="4" y="23"/>
                    <a:pt x="4" y="23"/>
                  </a:cubicBezTo>
                  <a:cubicBezTo>
                    <a:pt x="4" y="23"/>
                    <a:pt x="4" y="23"/>
                    <a:pt x="4" y="23"/>
                  </a:cubicBezTo>
                  <a:cubicBezTo>
                    <a:pt x="4" y="23"/>
                    <a:pt x="4" y="22"/>
                    <a:pt x="4" y="22"/>
                  </a:cubicBezTo>
                  <a:cubicBezTo>
                    <a:pt x="3" y="22"/>
                    <a:pt x="2" y="22"/>
                    <a:pt x="2" y="21"/>
                  </a:cubicBezTo>
                  <a:cubicBezTo>
                    <a:pt x="2" y="21"/>
                    <a:pt x="3" y="20"/>
                    <a:pt x="3" y="20"/>
                  </a:cubicBezTo>
                  <a:cubicBezTo>
                    <a:pt x="3" y="19"/>
                    <a:pt x="3" y="19"/>
                    <a:pt x="4" y="19"/>
                  </a:cubicBezTo>
                  <a:cubicBezTo>
                    <a:pt x="5" y="19"/>
                    <a:pt x="5" y="18"/>
                    <a:pt x="5" y="18"/>
                  </a:cubicBezTo>
                  <a:cubicBezTo>
                    <a:pt x="5" y="18"/>
                    <a:pt x="6" y="18"/>
                    <a:pt x="6" y="19"/>
                  </a:cubicBezTo>
                  <a:cubicBezTo>
                    <a:pt x="6" y="19"/>
                    <a:pt x="5" y="19"/>
                    <a:pt x="6" y="20"/>
                  </a:cubicBezTo>
                  <a:cubicBezTo>
                    <a:pt x="6" y="20"/>
                    <a:pt x="6" y="19"/>
                    <a:pt x="6" y="19"/>
                  </a:cubicBezTo>
                  <a:cubicBezTo>
                    <a:pt x="7" y="19"/>
                    <a:pt x="7" y="21"/>
                    <a:pt x="7" y="21"/>
                  </a:cubicBezTo>
                  <a:cubicBezTo>
                    <a:pt x="6" y="21"/>
                    <a:pt x="6" y="21"/>
                    <a:pt x="6" y="22"/>
                  </a:cubicBezTo>
                  <a:cubicBezTo>
                    <a:pt x="6" y="22"/>
                    <a:pt x="6" y="22"/>
                    <a:pt x="6" y="22"/>
                  </a:cubicBezTo>
                  <a:cubicBezTo>
                    <a:pt x="6" y="22"/>
                    <a:pt x="7" y="22"/>
                    <a:pt x="7" y="22"/>
                  </a:cubicBezTo>
                  <a:cubicBezTo>
                    <a:pt x="7" y="22"/>
                    <a:pt x="7" y="23"/>
                    <a:pt x="7" y="23"/>
                  </a:cubicBezTo>
                  <a:cubicBezTo>
                    <a:pt x="7" y="23"/>
                    <a:pt x="8" y="24"/>
                    <a:pt x="8" y="24"/>
                  </a:cubicBezTo>
                  <a:cubicBezTo>
                    <a:pt x="8" y="24"/>
                    <a:pt x="8" y="24"/>
                    <a:pt x="8" y="24"/>
                  </a:cubicBezTo>
                  <a:cubicBezTo>
                    <a:pt x="8" y="24"/>
                    <a:pt x="8" y="24"/>
                    <a:pt x="9" y="23"/>
                  </a:cubicBezTo>
                  <a:cubicBezTo>
                    <a:pt x="9" y="23"/>
                    <a:pt x="9" y="23"/>
                    <a:pt x="9" y="23"/>
                  </a:cubicBezTo>
                  <a:cubicBezTo>
                    <a:pt x="10" y="22"/>
                    <a:pt x="9" y="21"/>
                    <a:pt x="9" y="20"/>
                  </a:cubicBezTo>
                  <a:cubicBezTo>
                    <a:pt x="10" y="20"/>
                    <a:pt x="10" y="21"/>
                    <a:pt x="11" y="21"/>
                  </a:cubicBezTo>
                  <a:cubicBezTo>
                    <a:pt x="12" y="22"/>
                    <a:pt x="12" y="22"/>
                    <a:pt x="12" y="22"/>
                  </a:cubicBezTo>
                  <a:cubicBezTo>
                    <a:pt x="12" y="22"/>
                    <a:pt x="12" y="22"/>
                    <a:pt x="13" y="22"/>
                  </a:cubicBezTo>
                  <a:cubicBezTo>
                    <a:pt x="13" y="21"/>
                    <a:pt x="14" y="21"/>
                    <a:pt x="14" y="20"/>
                  </a:cubicBezTo>
                  <a:cubicBezTo>
                    <a:pt x="14" y="20"/>
                    <a:pt x="14" y="19"/>
                    <a:pt x="14" y="18"/>
                  </a:cubicBezTo>
                  <a:cubicBezTo>
                    <a:pt x="14" y="18"/>
                    <a:pt x="14" y="18"/>
                    <a:pt x="14" y="17"/>
                  </a:cubicBezTo>
                  <a:cubicBezTo>
                    <a:pt x="14" y="17"/>
                    <a:pt x="14" y="17"/>
                    <a:pt x="14" y="17"/>
                  </a:cubicBezTo>
                  <a:cubicBezTo>
                    <a:pt x="14" y="16"/>
                    <a:pt x="14" y="15"/>
                    <a:pt x="14" y="15"/>
                  </a:cubicBezTo>
                  <a:cubicBezTo>
                    <a:pt x="14" y="14"/>
                    <a:pt x="14" y="13"/>
                    <a:pt x="14" y="13"/>
                  </a:cubicBezTo>
                  <a:cubicBezTo>
                    <a:pt x="14" y="12"/>
                    <a:pt x="15" y="12"/>
                    <a:pt x="15" y="11"/>
                  </a:cubicBezTo>
                  <a:cubicBezTo>
                    <a:pt x="15" y="11"/>
                    <a:pt x="15" y="10"/>
                    <a:pt x="15" y="10"/>
                  </a:cubicBezTo>
                  <a:cubicBezTo>
                    <a:pt x="15" y="10"/>
                    <a:pt x="15" y="9"/>
                    <a:pt x="14" y="9"/>
                  </a:cubicBezTo>
                  <a:cubicBezTo>
                    <a:pt x="14" y="9"/>
                    <a:pt x="14" y="9"/>
                    <a:pt x="14" y="8"/>
                  </a:cubicBezTo>
                  <a:close/>
                  <a:moveTo>
                    <a:pt x="8" y="15"/>
                  </a:moveTo>
                  <a:cubicBezTo>
                    <a:pt x="8" y="15"/>
                    <a:pt x="8" y="15"/>
                    <a:pt x="8" y="15"/>
                  </a:cubicBezTo>
                  <a:cubicBezTo>
                    <a:pt x="8" y="15"/>
                    <a:pt x="8" y="16"/>
                    <a:pt x="8" y="16"/>
                  </a:cubicBezTo>
                  <a:cubicBezTo>
                    <a:pt x="8" y="16"/>
                    <a:pt x="8" y="16"/>
                    <a:pt x="8" y="17"/>
                  </a:cubicBezTo>
                  <a:cubicBezTo>
                    <a:pt x="8" y="17"/>
                    <a:pt x="8" y="17"/>
                    <a:pt x="7" y="18"/>
                  </a:cubicBezTo>
                  <a:cubicBezTo>
                    <a:pt x="7" y="18"/>
                    <a:pt x="7" y="18"/>
                    <a:pt x="7" y="18"/>
                  </a:cubicBezTo>
                  <a:cubicBezTo>
                    <a:pt x="7" y="17"/>
                    <a:pt x="7" y="17"/>
                    <a:pt x="7" y="16"/>
                  </a:cubicBezTo>
                  <a:cubicBezTo>
                    <a:pt x="7" y="16"/>
                    <a:pt x="7" y="16"/>
                    <a:pt x="7" y="16"/>
                  </a:cubicBezTo>
                  <a:cubicBezTo>
                    <a:pt x="7" y="16"/>
                    <a:pt x="7" y="15"/>
                    <a:pt x="7" y="15"/>
                  </a:cubicBezTo>
                  <a:cubicBezTo>
                    <a:pt x="7" y="15"/>
                    <a:pt x="7" y="14"/>
                    <a:pt x="7" y="14"/>
                  </a:cubicBezTo>
                  <a:cubicBezTo>
                    <a:pt x="7" y="14"/>
                    <a:pt x="7" y="14"/>
                    <a:pt x="7" y="14"/>
                  </a:cubicBezTo>
                  <a:cubicBezTo>
                    <a:pt x="7" y="14"/>
                    <a:pt x="8" y="14"/>
                    <a:pt x="8" y="14"/>
                  </a:cubicBezTo>
                  <a:cubicBezTo>
                    <a:pt x="8" y="14"/>
                    <a:pt x="8" y="13"/>
                    <a:pt x="8" y="13"/>
                  </a:cubicBezTo>
                  <a:cubicBezTo>
                    <a:pt x="8" y="13"/>
                    <a:pt x="8" y="14"/>
                    <a:pt x="9" y="14"/>
                  </a:cubicBezTo>
                  <a:cubicBezTo>
                    <a:pt x="8" y="14"/>
                    <a:pt x="8" y="14"/>
                    <a:pt x="8" y="15"/>
                  </a:cubicBezTo>
                  <a:close/>
                  <a:moveTo>
                    <a:pt x="11" y="14"/>
                  </a:moveTo>
                  <a:cubicBezTo>
                    <a:pt x="11" y="14"/>
                    <a:pt x="11" y="14"/>
                    <a:pt x="11" y="15"/>
                  </a:cubicBezTo>
                  <a:cubicBezTo>
                    <a:pt x="11" y="15"/>
                    <a:pt x="11" y="15"/>
                    <a:pt x="11" y="16"/>
                  </a:cubicBezTo>
                  <a:cubicBezTo>
                    <a:pt x="11" y="16"/>
                    <a:pt x="11" y="16"/>
                    <a:pt x="11" y="17"/>
                  </a:cubicBezTo>
                  <a:cubicBezTo>
                    <a:pt x="11" y="18"/>
                    <a:pt x="11" y="19"/>
                    <a:pt x="11" y="20"/>
                  </a:cubicBezTo>
                  <a:cubicBezTo>
                    <a:pt x="11" y="20"/>
                    <a:pt x="10" y="20"/>
                    <a:pt x="9" y="20"/>
                  </a:cubicBezTo>
                  <a:cubicBezTo>
                    <a:pt x="9" y="20"/>
                    <a:pt x="10" y="19"/>
                    <a:pt x="10" y="19"/>
                  </a:cubicBezTo>
                  <a:cubicBezTo>
                    <a:pt x="10" y="18"/>
                    <a:pt x="9" y="19"/>
                    <a:pt x="9" y="18"/>
                  </a:cubicBezTo>
                  <a:cubicBezTo>
                    <a:pt x="9" y="18"/>
                    <a:pt x="9" y="18"/>
                    <a:pt x="9" y="18"/>
                  </a:cubicBezTo>
                  <a:cubicBezTo>
                    <a:pt x="9" y="17"/>
                    <a:pt x="9" y="17"/>
                    <a:pt x="9" y="17"/>
                  </a:cubicBezTo>
                  <a:cubicBezTo>
                    <a:pt x="9" y="16"/>
                    <a:pt x="9" y="16"/>
                    <a:pt x="9" y="16"/>
                  </a:cubicBezTo>
                  <a:cubicBezTo>
                    <a:pt x="9" y="15"/>
                    <a:pt x="9" y="15"/>
                    <a:pt x="9" y="15"/>
                  </a:cubicBezTo>
                  <a:cubicBezTo>
                    <a:pt x="10" y="14"/>
                    <a:pt x="11" y="13"/>
                    <a:pt x="10" y="13"/>
                  </a:cubicBezTo>
                  <a:cubicBezTo>
                    <a:pt x="10" y="13"/>
                    <a:pt x="10" y="12"/>
                    <a:pt x="9" y="12"/>
                  </a:cubicBezTo>
                  <a:cubicBezTo>
                    <a:pt x="9" y="12"/>
                    <a:pt x="10" y="11"/>
                    <a:pt x="10" y="11"/>
                  </a:cubicBezTo>
                  <a:cubicBezTo>
                    <a:pt x="11" y="11"/>
                    <a:pt x="11" y="10"/>
                    <a:pt x="11" y="10"/>
                  </a:cubicBezTo>
                  <a:cubicBezTo>
                    <a:pt x="11" y="10"/>
                    <a:pt x="12" y="10"/>
                    <a:pt x="12" y="10"/>
                  </a:cubicBezTo>
                  <a:cubicBezTo>
                    <a:pt x="12" y="11"/>
                    <a:pt x="11" y="12"/>
                    <a:pt x="11" y="13"/>
                  </a:cubicBezTo>
                  <a:cubicBezTo>
                    <a:pt x="11" y="13"/>
                    <a:pt x="11" y="14"/>
                    <a:pt x="11" y="1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6" name="Freeform 223"/>
            <p:cNvSpPr/>
            <p:nvPr userDrawn="1"/>
          </p:nvSpPr>
          <p:spPr bwMode="auto">
            <a:xfrm>
              <a:off x="1160463" y="4652963"/>
              <a:ext cx="90488" cy="125413"/>
            </a:xfrm>
            <a:custGeom>
              <a:avLst/>
              <a:gdLst>
                <a:gd name="T0" fmla="*/ 11 w 13"/>
                <a:gd name="T1" fmla="*/ 7 h 18"/>
                <a:gd name="T2" fmla="*/ 13 w 13"/>
                <a:gd name="T3" fmla="*/ 6 h 18"/>
                <a:gd name="T4" fmla="*/ 13 w 13"/>
                <a:gd name="T5" fmla="*/ 5 h 18"/>
                <a:gd name="T6" fmla="*/ 12 w 13"/>
                <a:gd name="T7" fmla="*/ 5 h 18"/>
                <a:gd name="T8" fmla="*/ 11 w 13"/>
                <a:gd name="T9" fmla="*/ 5 h 18"/>
                <a:gd name="T10" fmla="*/ 11 w 13"/>
                <a:gd name="T11" fmla="*/ 5 h 18"/>
                <a:gd name="T12" fmla="*/ 11 w 13"/>
                <a:gd name="T13" fmla="*/ 6 h 18"/>
                <a:gd name="T14" fmla="*/ 10 w 13"/>
                <a:gd name="T15" fmla="*/ 6 h 18"/>
                <a:gd name="T16" fmla="*/ 9 w 13"/>
                <a:gd name="T17" fmla="*/ 7 h 18"/>
                <a:gd name="T18" fmla="*/ 8 w 13"/>
                <a:gd name="T19" fmla="*/ 7 h 18"/>
                <a:gd name="T20" fmla="*/ 8 w 13"/>
                <a:gd name="T21" fmla="*/ 5 h 18"/>
                <a:gd name="T22" fmla="*/ 8 w 13"/>
                <a:gd name="T23" fmla="*/ 4 h 18"/>
                <a:gd name="T24" fmla="*/ 9 w 13"/>
                <a:gd name="T25" fmla="*/ 3 h 18"/>
                <a:gd name="T26" fmla="*/ 9 w 13"/>
                <a:gd name="T27" fmla="*/ 2 h 18"/>
                <a:gd name="T28" fmla="*/ 9 w 13"/>
                <a:gd name="T29" fmla="*/ 1 h 18"/>
                <a:gd name="T30" fmla="*/ 8 w 13"/>
                <a:gd name="T31" fmla="*/ 1 h 18"/>
                <a:gd name="T32" fmla="*/ 7 w 13"/>
                <a:gd name="T33" fmla="*/ 0 h 18"/>
                <a:gd name="T34" fmla="*/ 6 w 13"/>
                <a:gd name="T35" fmla="*/ 1 h 18"/>
                <a:gd name="T36" fmla="*/ 7 w 13"/>
                <a:gd name="T37" fmla="*/ 2 h 18"/>
                <a:gd name="T38" fmla="*/ 6 w 13"/>
                <a:gd name="T39" fmla="*/ 5 h 18"/>
                <a:gd name="T40" fmla="*/ 6 w 13"/>
                <a:gd name="T41" fmla="*/ 7 h 18"/>
                <a:gd name="T42" fmla="*/ 6 w 13"/>
                <a:gd name="T43" fmla="*/ 8 h 18"/>
                <a:gd name="T44" fmla="*/ 6 w 13"/>
                <a:gd name="T45" fmla="*/ 8 h 18"/>
                <a:gd name="T46" fmla="*/ 5 w 13"/>
                <a:gd name="T47" fmla="*/ 9 h 18"/>
                <a:gd name="T48" fmla="*/ 2 w 13"/>
                <a:gd name="T49" fmla="*/ 9 h 18"/>
                <a:gd name="T50" fmla="*/ 2 w 13"/>
                <a:gd name="T51" fmla="*/ 10 h 18"/>
                <a:gd name="T52" fmla="*/ 1 w 13"/>
                <a:gd name="T53" fmla="*/ 10 h 18"/>
                <a:gd name="T54" fmla="*/ 1 w 13"/>
                <a:gd name="T55" fmla="*/ 10 h 18"/>
                <a:gd name="T56" fmla="*/ 2 w 13"/>
                <a:gd name="T57" fmla="*/ 12 h 18"/>
                <a:gd name="T58" fmla="*/ 2 w 13"/>
                <a:gd name="T59" fmla="*/ 12 h 18"/>
                <a:gd name="T60" fmla="*/ 3 w 13"/>
                <a:gd name="T61" fmla="*/ 12 h 18"/>
                <a:gd name="T62" fmla="*/ 3 w 13"/>
                <a:gd name="T63" fmla="*/ 11 h 18"/>
                <a:gd name="T64" fmla="*/ 5 w 13"/>
                <a:gd name="T65" fmla="*/ 10 h 18"/>
                <a:gd name="T66" fmla="*/ 6 w 13"/>
                <a:gd name="T67" fmla="*/ 9 h 18"/>
                <a:gd name="T68" fmla="*/ 6 w 13"/>
                <a:gd name="T69" fmla="*/ 10 h 18"/>
                <a:gd name="T70" fmla="*/ 6 w 13"/>
                <a:gd name="T71" fmla="*/ 11 h 18"/>
                <a:gd name="T72" fmla="*/ 6 w 13"/>
                <a:gd name="T73" fmla="*/ 11 h 18"/>
                <a:gd name="T74" fmla="*/ 4 w 13"/>
                <a:gd name="T75" fmla="*/ 14 h 18"/>
                <a:gd name="T76" fmla="*/ 2 w 13"/>
                <a:gd name="T77" fmla="*/ 16 h 18"/>
                <a:gd name="T78" fmla="*/ 1 w 13"/>
                <a:gd name="T79" fmla="*/ 16 h 18"/>
                <a:gd name="T80" fmla="*/ 0 w 13"/>
                <a:gd name="T81" fmla="*/ 17 h 18"/>
                <a:gd name="T82" fmla="*/ 2 w 13"/>
                <a:gd name="T83" fmla="*/ 17 h 18"/>
                <a:gd name="T84" fmla="*/ 2 w 13"/>
                <a:gd name="T85" fmla="*/ 17 h 18"/>
                <a:gd name="T86" fmla="*/ 4 w 13"/>
                <a:gd name="T87" fmla="*/ 16 h 18"/>
                <a:gd name="T88" fmla="*/ 5 w 13"/>
                <a:gd name="T89" fmla="*/ 15 h 18"/>
                <a:gd name="T90" fmla="*/ 6 w 13"/>
                <a:gd name="T91" fmla="*/ 14 h 18"/>
                <a:gd name="T92" fmla="*/ 7 w 13"/>
                <a:gd name="T93" fmla="*/ 12 h 18"/>
                <a:gd name="T94" fmla="*/ 7 w 13"/>
                <a:gd name="T95" fmla="*/ 11 h 18"/>
                <a:gd name="T96" fmla="*/ 8 w 13"/>
                <a:gd name="T97" fmla="*/ 8 h 18"/>
                <a:gd name="T98" fmla="*/ 9 w 13"/>
                <a:gd name="T99" fmla="*/ 8 h 18"/>
                <a:gd name="T100" fmla="*/ 11 w 13"/>
                <a:gd name="T101" fmla="*/ 7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3" h="18">
                  <a:moveTo>
                    <a:pt x="11" y="7"/>
                  </a:moveTo>
                  <a:cubicBezTo>
                    <a:pt x="12" y="7"/>
                    <a:pt x="12" y="7"/>
                    <a:pt x="13" y="6"/>
                  </a:cubicBezTo>
                  <a:cubicBezTo>
                    <a:pt x="13" y="6"/>
                    <a:pt x="13" y="6"/>
                    <a:pt x="13" y="5"/>
                  </a:cubicBezTo>
                  <a:cubicBezTo>
                    <a:pt x="13" y="5"/>
                    <a:pt x="12" y="5"/>
                    <a:pt x="12" y="5"/>
                  </a:cubicBezTo>
                  <a:cubicBezTo>
                    <a:pt x="12" y="5"/>
                    <a:pt x="12" y="5"/>
                    <a:pt x="11" y="5"/>
                  </a:cubicBezTo>
                  <a:cubicBezTo>
                    <a:pt x="11" y="5"/>
                    <a:pt x="11" y="5"/>
                    <a:pt x="11" y="5"/>
                  </a:cubicBezTo>
                  <a:cubicBezTo>
                    <a:pt x="10" y="5"/>
                    <a:pt x="11" y="5"/>
                    <a:pt x="11" y="6"/>
                  </a:cubicBezTo>
                  <a:cubicBezTo>
                    <a:pt x="11" y="6"/>
                    <a:pt x="10" y="6"/>
                    <a:pt x="10" y="6"/>
                  </a:cubicBezTo>
                  <a:cubicBezTo>
                    <a:pt x="9" y="7"/>
                    <a:pt x="9" y="7"/>
                    <a:pt x="9" y="7"/>
                  </a:cubicBezTo>
                  <a:cubicBezTo>
                    <a:pt x="8" y="7"/>
                    <a:pt x="8" y="7"/>
                    <a:pt x="8" y="7"/>
                  </a:cubicBezTo>
                  <a:cubicBezTo>
                    <a:pt x="8" y="6"/>
                    <a:pt x="8" y="6"/>
                    <a:pt x="8" y="5"/>
                  </a:cubicBezTo>
                  <a:cubicBezTo>
                    <a:pt x="8" y="5"/>
                    <a:pt x="8" y="5"/>
                    <a:pt x="8" y="4"/>
                  </a:cubicBezTo>
                  <a:cubicBezTo>
                    <a:pt x="9" y="4"/>
                    <a:pt x="8" y="3"/>
                    <a:pt x="9" y="3"/>
                  </a:cubicBezTo>
                  <a:cubicBezTo>
                    <a:pt x="9" y="2"/>
                    <a:pt x="9" y="2"/>
                    <a:pt x="9" y="2"/>
                  </a:cubicBezTo>
                  <a:cubicBezTo>
                    <a:pt x="9" y="2"/>
                    <a:pt x="9" y="1"/>
                    <a:pt x="9" y="1"/>
                  </a:cubicBezTo>
                  <a:cubicBezTo>
                    <a:pt x="9" y="1"/>
                    <a:pt x="8" y="1"/>
                    <a:pt x="8" y="1"/>
                  </a:cubicBezTo>
                  <a:cubicBezTo>
                    <a:pt x="8" y="0"/>
                    <a:pt x="8" y="0"/>
                    <a:pt x="7" y="0"/>
                  </a:cubicBezTo>
                  <a:cubicBezTo>
                    <a:pt x="7" y="0"/>
                    <a:pt x="6" y="1"/>
                    <a:pt x="6" y="1"/>
                  </a:cubicBezTo>
                  <a:cubicBezTo>
                    <a:pt x="6" y="1"/>
                    <a:pt x="6" y="2"/>
                    <a:pt x="7" y="2"/>
                  </a:cubicBezTo>
                  <a:cubicBezTo>
                    <a:pt x="7" y="3"/>
                    <a:pt x="7" y="4"/>
                    <a:pt x="6" y="5"/>
                  </a:cubicBezTo>
                  <a:cubicBezTo>
                    <a:pt x="6" y="6"/>
                    <a:pt x="6" y="6"/>
                    <a:pt x="6" y="7"/>
                  </a:cubicBezTo>
                  <a:cubicBezTo>
                    <a:pt x="6" y="7"/>
                    <a:pt x="7" y="8"/>
                    <a:pt x="6" y="8"/>
                  </a:cubicBezTo>
                  <a:cubicBezTo>
                    <a:pt x="6" y="8"/>
                    <a:pt x="6" y="8"/>
                    <a:pt x="6" y="8"/>
                  </a:cubicBezTo>
                  <a:cubicBezTo>
                    <a:pt x="5" y="8"/>
                    <a:pt x="5" y="9"/>
                    <a:pt x="5" y="9"/>
                  </a:cubicBezTo>
                  <a:cubicBezTo>
                    <a:pt x="4" y="9"/>
                    <a:pt x="3" y="9"/>
                    <a:pt x="2" y="9"/>
                  </a:cubicBezTo>
                  <a:cubicBezTo>
                    <a:pt x="2" y="10"/>
                    <a:pt x="2" y="10"/>
                    <a:pt x="2" y="10"/>
                  </a:cubicBezTo>
                  <a:cubicBezTo>
                    <a:pt x="2" y="10"/>
                    <a:pt x="1" y="10"/>
                    <a:pt x="1" y="10"/>
                  </a:cubicBezTo>
                  <a:cubicBezTo>
                    <a:pt x="1" y="10"/>
                    <a:pt x="1" y="10"/>
                    <a:pt x="1" y="10"/>
                  </a:cubicBezTo>
                  <a:cubicBezTo>
                    <a:pt x="1" y="11"/>
                    <a:pt x="1" y="11"/>
                    <a:pt x="2" y="12"/>
                  </a:cubicBezTo>
                  <a:cubicBezTo>
                    <a:pt x="2" y="12"/>
                    <a:pt x="2" y="12"/>
                    <a:pt x="2" y="12"/>
                  </a:cubicBezTo>
                  <a:cubicBezTo>
                    <a:pt x="2" y="12"/>
                    <a:pt x="3" y="12"/>
                    <a:pt x="3" y="12"/>
                  </a:cubicBezTo>
                  <a:cubicBezTo>
                    <a:pt x="3" y="12"/>
                    <a:pt x="3" y="12"/>
                    <a:pt x="3" y="11"/>
                  </a:cubicBezTo>
                  <a:cubicBezTo>
                    <a:pt x="4" y="11"/>
                    <a:pt x="5" y="11"/>
                    <a:pt x="5" y="10"/>
                  </a:cubicBezTo>
                  <a:cubicBezTo>
                    <a:pt x="5" y="10"/>
                    <a:pt x="5" y="9"/>
                    <a:pt x="6" y="9"/>
                  </a:cubicBezTo>
                  <a:cubicBezTo>
                    <a:pt x="6" y="10"/>
                    <a:pt x="6" y="10"/>
                    <a:pt x="6" y="10"/>
                  </a:cubicBezTo>
                  <a:cubicBezTo>
                    <a:pt x="6" y="10"/>
                    <a:pt x="6" y="11"/>
                    <a:pt x="6" y="11"/>
                  </a:cubicBezTo>
                  <a:cubicBezTo>
                    <a:pt x="6" y="11"/>
                    <a:pt x="6" y="11"/>
                    <a:pt x="6" y="11"/>
                  </a:cubicBezTo>
                  <a:cubicBezTo>
                    <a:pt x="6" y="13"/>
                    <a:pt x="4" y="14"/>
                    <a:pt x="4" y="14"/>
                  </a:cubicBezTo>
                  <a:cubicBezTo>
                    <a:pt x="3" y="15"/>
                    <a:pt x="3" y="15"/>
                    <a:pt x="2" y="16"/>
                  </a:cubicBezTo>
                  <a:cubicBezTo>
                    <a:pt x="2" y="16"/>
                    <a:pt x="1" y="16"/>
                    <a:pt x="1" y="16"/>
                  </a:cubicBezTo>
                  <a:cubicBezTo>
                    <a:pt x="1" y="17"/>
                    <a:pt x="0" y="17"/>
                    <a:pt x="0" y="17"/>
                  </a:cubicBezTo>
                  <a:cubicBezTo>
                    <a:pt x="1" y="18"/>
                    <a:pt x="2" y="17"/>
                    <a:pt x="2" y="17"/>
                  </a:cubicBezTo>
                  <a:cubicBezTo>
                    <a:pt x="2" y="17"/>
                    <a:pt x="2" y="17"/>
                    <a:pt x="2" y="17"/>
                  </a:cubicBezTo>
                  <a:cubicBezTo>
                    <a:pt x="3" y="17"/>
                    <a:pt x="4" y="16"/>
                    <a:pt x="4" y="16"/>
                  </a:cubicBezTo>
                  <a:cubicBezTo>
                    <a:pt x="5" y="16"/>
                    <a:pt x="5" y="16"/>
                    <a:pt x="5" y="15"/>
                  </a:cubicBezTo>
                  <a:cubicBezTo>
                    <a:pt x="5" y="15"/>
                    <a:pt x="6" y="15"/>
                    <a:pt x="6" y="14"/>
                  </a:cubicBezTo>
                  <a:cubicBezTo>
                    <a:pt x="7" y="13"/>
                    <a:pt x="7" y="13"/>
                    <a:pt x="7" y="12"/>
                  </a:cubicBezTo>
                  <a:cubicBezTo>
                    <a:pt x="7" y="11"/>
                    <a:pt x="7" y="11"/>
                    <a:pt x="7" y="11"/>
                  </a:cubicBezTo>
                  <a:cubicBezTo>
                    <a:pt x="8" y="10"/>
                    <a:pt x="8" y="9"/>
                    <a:pt x="8" y="8"/>
                  </a:cubicBezTo>
                  <a:cubicBezTo>
                    <a:pt x="8" y="8"/>
                    <a:pt x="8" y="8"/>
                    <a:pt x="9" y="8"/>
                  </a:cubicBezTo>
                  <a:cubicBezTo>
                    <a:pt x="9" y="8"/>
                    <a:pt x="10" y="7"/>
                    <a:pt x="1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7" name="Freeform 224"/>
            <p:cNvSpPr/>
            <p:nvPr userDrawn="1"/>
          </p:nvSpPr>
          <p:spPr bwMode="auto">
            <a:xfrm>
              <a:off x="1216025" y="4714875"/>
              <a:ext cx="55563" cy="49213"/>
            </a:xfrm>
            <a:custGeom>
              <a:avLst/>
              <a:gdLst>
                <a:gd name="T0" fmla="*/ 5 w 8"/>
                <a:gd name="T1" fmla="*/ 5 h 7"/>
                <a:gd name="T2" fmla="*/ 4 w 8"/>
                <a:gd name="T3" fmla="*/ 3 h 7"/>
                <a:gd name="T4" fmla="*/ 3 w 8"/>
                <a:gd name="T5" fmla="*/ 3 h 7"/>
                <a:gd name="T6" fmla="*/ 2 w 8"/>
                <a:gd name="T7" fmla="*/ 2 h 7"/>
                <a:gd name="T8" fmla="*/ 2 w 8"/>
                <a:gd name="T9" fmla="*/ 2 h 7"/>
                <a:gd name="T10" fmla="*/ 1 w 8"/>
                <a:gd name="T11" fmla="*/ 1 h 7"/>
                <a:gd name="T12" fmla="*/ 0 w 8"/>
                <a:gd name="T13" fmla="*/ 0 h 7"/>
                <a:gd name="T14" fmla="*/ 1 w 8"/>
                <a:gd name="T15" fmla="*/ 1 h 7"/>
                <a:gd name="T16" fmla="*/ 1 w 8"/>
                <a:gd name="T17" fmla="*/ 3 h 7"/>
                <a:gd name="T18" fmla="*/ 2 w 8"/>
                <a:gd name="T19" fmla="*/ 4 h 7"/>
                <a:gd name="T20" fmla="*/ 3 w 8"/>
                <a:gd name="T21" fmla="*/ 5 h 7"/>
                <a:gd name="T22" fmla="*/ 3 w 8"/>
                <a:gd name="T23" fmla="*/ 6 h 7"/>
                <a:gd name="T24" fmla="*/ 5 w 8"/>
                <a:gd name="T25" fmla="*/ 7 h 7"/>
                <a:gd name="T26" fmla="*/ 6 w 8"/>
                <a:gd name="T27" fmla="*/ 7 h 7"/>
                <a:gd name="T28" fmla="*/ 6 w 8"/>
                <a:gd name="T29" fmla="*/ 7 h 7"/>
                <a:gd name="T30" fmla="*/ 7 w 8"/>
                <a:gd name="T31" fmla="*/ 6 h 7"/>
                <a:gd name="T32" fmla="*/ 8 w 8"/>
                <a:gd name="T33" fmla="*/ 6 h 7"/>
                <a:gd name="T34" fmla="*/ 6 w 8"/>
                <a:gd name="T35" fmla="*/ 5 h 7"/>
                <a:gd name="T36" fmla="*/ 5 w 8"/>
                <a:gd name="T37"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 h="7">
                  <a:moveTo>
                    <a:pt x="5" y="5"/>
                  </a:moveTo>
                  <a:cubicBezTo>
                    <a:pt x="5" y="4"/>
                    <a:pt x="4" y="4"/>
                    <a:pt x="4" y="3"/>
                  </a:cubicBezTo>
                  <a:cubicBezTo>
                    <a:pt x="3" y="3"/>
                    <a:pt x="3" y="3"/>
                    <a:pt x="3" y="3"/>
                  </a:cubicBezTo>
                  <a:cubicBezTo>
                    <a:pt x="3" y="3"/>
                    <a:pt x="3" y="2"/>
                    <a:pt x="2" y="2"/>
                  </a:cubicBezTo>
                  <a:cubicBezTo>
                    <a:pt x="2" y="2"/>
                    <a:pt x="2" y="2"/>
                    <a:pt x="2" y="2"/>
                  </a:cubicBezTo>
                  <a:cubicBezTo>
                    <a:pt x="2" y="1"/>
                    <a:pt x="1" y="1"/>
                    <a:pt x="1" y="1"/>
                  </a:cubicBezTo>
                  <a:cubicBezTo>
                    <a:pt x="1" y="0"/>
                    <a:pt x="1" y="0"/>
                    <a:pt x="0" y="0"/>
                  </a:cubicBezTo>
                  <a:cubicBezTo>
                    <a:pt x="0" y="0"/>
                    <a:pt x="1" y="1"/>
                    <a:pt x="1" y="1"/>
                  </a:cubicBezTo>
                  <a:cubicBezTo>
                    <a:pt x="1" y="2"/>
                    <a:pt x="1" y="2"/>
                    <a:pt x="1" y="3"/>
                  </a:cubicBezTo>
                  <a:cubicBezTo>
                    <a:pt x="1" y="3"/>
                    <a:pt x="2" y="4"/>
                    <a:pt x="2" y="4"/>
                  </a:cubicBezTo>
                  <a:cubicBezTo>
                    <a:pt x="2" y="4"/>
                    <a:pt x="2" y="5"/>
                    <a:pt x="3" y="5"/>
                  </a:cubicBezTo>
                  <a:cubicBezTo>
                    <a:pt x="3" y="5"/>
                    <a:pt x="3" y="6"/>
                    <a:pt x="3" y="6"/>
                  </a:cubicBezTo>
                  <a:cubicBezTo>
                    <a:pt x="4" y="6"/>
                    <a:pt x="4" y="7"/>
                    <a:pt x="5" y="7"/>
                  </a:cubicBezTo>
                  <a:cubicBezTo>
                    <a:pt x="5" y="7"/>
                    <a:pt x="5" y="7"/>
                    <a:pt x="6" y="7"/>
                  </a:cubicBezTo>
                  <a:cubicBezTo>
                    <a:pt x="6" y="7"/>
                    <a:pt x="6" y="7"/>
                    <a:pt x="6" y="7"/>
                  </a:cubicBezTo>
                  <a:cubicBezTo>
                    <a:pt x="6" y="7"/>
                    <a:pt x="7" y="7"/>
                    <a:pt x="7" y="6"/>
                  </a:cubicBezTo>
                  <a:cubicBezTo>
                    <a:pt x="8" y="6"/>
                    <a:pt x="8" y="6"/>
                    <a:pt x="8" y="6"/>
                  </a:cubicBezTo>
                  <a:cubicBezTo>
                    <a:pt x="8" y="5"/>
                    <a:pt x="7" y="5"/>
                    <a:pt x="6" y="5"/>
                  </a:cubicBezTo>
                  <a:cubicBezTo>
                    <a:pt x="6" y="5"/>
                    <a:pt x="6" y="5"/>
                    <a:pt x="5"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8" name="Freeform 225"/>
            <p:cNvSpPr>
              <a:spLocks noEditPoints="1"/>
            </p:cNvSpPr>
            <p:nvPr userDrawn="1"/>
          </p:nvSpPr>
          <p:spPr bwMode="auto">
            <a:xfrm>
              <a:off x="1562100" y="4638675"/>
              <a:ext cx="96838" cy="168275"/>
            </a:xfrm>
            <a:custGeom>
              <a:avLst/>
              <a:gdLst>
                <a:gd name="T0" fmla="*/ 12 w 14"/>
                <a:gd name="T1" fmla="*/ 5 h 24"/>
                <a:gd name="T2" fmla="*/ 14 w 14"/>
                <a:gd name="T3" fmla="*/ 2 h 24"/>
                <a:gd name="T4" fmla="*/ 13 w 14"/>
                <a:gd name="T5" fmla="*/ 1 h 24"/>
                <a:gd name="T6" fmla="*/ 11 w 14"/>
                <a:gd name="T7" fmla="*/ 4 h 24"/>
                <a:gd name="T8" fmla="*/ 10 w 14"/>
                <a:gd name="T9" fmla="*/ 5 h 24"/>
                <a:gd name="T10" fmla="*/ 9 w 14"/>
                <a:gd name="T11" fmla="*/ 7 h 24"/>
                <a:gd name="T12" fmla="*/ 10 w 14"/>
                <a:gd name="T13" fmla="*/ 9 h 24"/>
                <a:gd name="T14" fmla="*/ 8 w 14"/>
                <a:gd name="T15" fmla="*/ 6 h 24"/>
                <a:gd name="T16" fmla="*/ 9 w 14"/>
                <a:gd name="T17" fmla="*/ 3 h 24"/>
                <a:gd name="T18" fmla="*/ 9 w 14"/>
                <a:gd name="T19" fmla="*/ 0 h 24"/>
                <a:gd name="T20" fmla="*/ 7 w 14"/>
                <a:gd name="T21" fmla="*/ 2 h 24"/>
                <a:gd name="T22" fmla="*/ 5 w 14"/>
                <a:gd name="T23" fmla="*/ 5 h 24"/>
                <a:gd name="T24" fmla="*/ 3 w 14"/>
                <a:gd name="T25" fmla="*/ 6 h 24"/>
                <a:gd name="T26" fmla="*/ 4 w 14"/>
                <a:gd name="T27" fmla="*/ 8 h 24"/>
                <a:gd name="T28" fmla="*/ 2 w 14"/>
                <a:gd name="T29" fmla="*/ 8 h 24"/>
                <a:gd name="T30" fmla="*/ 2 w 14"/>
                <a:gd name="T31" fmla="*/ 11 h 24"/>
                <a:gd name="T32" fmla="*/ 4 w 14"/>
                <a:gd name="T33" fmla="*/ 11 h 24"/>
                <a:gd name="T34" fmla="*/ 5 w 14"/>
                <a:gd name="T35" fmla="*/ 9 h 24"/>
                <a:gd name="T36" fmla="*/ 5 w 14"/>
                <a:gd name="T37" fmla="*/ 11 h 24"/>
                <a:gd name="T38" fmla="*/ 9 w 14"/>
                <a:gd name="T39" fmla="*/ 9 h 24"/>
                <a:gd name="T40" fmla="*/ 7 w 14"/>
                <a:gd name="T41" fmla="*/ 12 h 24"/>
                <a:gd name="T42" fmla="*/ 4 w 14"/>
                <a:gd name="T43" fmla="*/ 13 h 24"/>
                <a:gd name="T44" fmla="*/ 5 w 14"/>
                <a:gd name="T45" fmla="*/ 14 h 24"/>
                <a:gd name="T46" fmla="*/ 9 w 14"/>
                <a:gd name="T47" fmla="*/ 11 h 24"/>
                <a:gd name="T48" fmla="*/ 8 w 14"/>
                <a:gd name="T49" fmla="*/ 15 h 24"/>
                <a:gd name="T50" fmla="*/ 6 w 14"/>
                <a:gd name="T51" fmla="*/ 18 h 24"/>
                <a:gd name="T52" fmla="*/ 4 w 14"/>
                <a:gd name="T53" fmla="*/ 20 h 24"/>
                <a:gd name="T54" fmla="*/ 0 w 14"/>
                <a:gd name="T55" fmla="*/ 22 h 24"/>
                <a:gd name="T56" fmla="*/ 4 w 14"/>
                <a:gd name="T57" fmla="*/ 21 h 24"/>
                <a:gd name="T58" fmla="*/ 8 w 14"/>
                <a:gd name="T59" fmla="*/ 18 h 24"/>
                <a:gd name="T60" fmla="*/ 8 w 14"/>
                <a:gd name="T61" fmla="*/ 22 h 24"/>
                <a:gd name="T62" fmla="*/ 6 w 14"/>
                <a:gd name="T63" fmla="*/ 23 h 24"/>
                <a:gd name="T64" fmla="*/ 9 w 14"/>
                <a:gd name="T65" fmla="*/ 23 h 24"/>
                <a:gd name="T66" fmla="*/ 11 w 14"/>
                <a:gd name="T67" fmla="*/ 21 h 24"/>
                <a:gd name="T68" fmla="*/ 9 w 14"/>
                <a:gd name="T69" fmla="*/ 18 h 24"/>
                <a:gd name="T70" fmla="*/ 11 w 14"/>
                <a:gd name="T71" fmla="*/ 17 h 24"/>
                <a:gd name="T72" fmla="*/ 9 w 14"/>
                <a:gd name="T73" fmla="*/ 14 h 24"/>
                <a:gd name="T74" fmla="*/ 14 w 14"/>
                <a:gd name="T75" fmla="*/ 9 h 24"/>
                <a:gd name="T76" fmla="*/ 11 w 14"/>
                <a:gd name="T77" fmla="*/ 9 h 24"/>
                <a:gd name="T78" fmla="*/ 12 w 14"/>
                <a:gd name="T79" fmla="*/ 6 h 24"/>
                <a:gd name="T80" fmla="*/ 5 w 14"/>
                <a:gd name="T81" fmla="*/ 6 h 24"/>
                <a:gd name="T82" fmla="*/ 7 w 14"/>
                <a:gd name="T83" fmla="*/ 8 h 24"/>
                <a:gd name="T84" fmla="*/ 7 w 14"/>
                <a:gd name="T85" fmla="*/ 8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 h="24">
                  <a:moveTo>
                    <a:pt x="12" y="6"/>
                  </a:moveTo>
                  <a:cubicBezTo>
                    <a:pt x="12" y="6"/>
                    <a:pt x="12" y="6"/>
                    <a:pt x="12" y="6"/>
                  </a:cubicBezTo>
                  <a:cubicBezTo>
                    <a:pt x="12" y="6"/>
                    <a:pt x="12" y="5"/>
                    <a:pt x="12" y="5"/>
                  </a:cubicBezTo>
                  <a:cubicBezTo>
                    <a:pt x="12" y="5"/>
                    <a:pt x="13" y="4"/>
                    <a:pt x="13" y="3"/>
                  </a:cubicBezTo>
                  <a:cubicBezTo>
                    <a:pt x="13" y="3"/>
                    <a:pt x="13" y="3"/>
                    <a:pt x="14" y="3"/>
                  </a:cubicBezTo>
                  <a:cubicBezTo>
                    <a:pt x="14" y="3"/>
                    <a:pt x="14" y="2"/>
                    <a:pt x="14" y="2"/>
                  </a:cubicBezTo>
                  <a:cubicBezTo>
                    <a:pt x="14" y="2"/>
                    <a:pt x="14" y="2"/>
                    <a:pt x="13" y="1"/>
                  </a:cubicBezTo>
                  <a:cubicBezTo>
                    <a:pt x="14" y="1"/>
                    <a:pt x="14" y="1"/>
                    <a:pt x="14" y="1"/>
                  </a:cubicBezTo>
                  <a:cubicBezTo>
                    <a:pt x="13" y="1"/>
                    <a:pt x="13" y="1"/>
                    <a:pt x="13" y="1"/>
                  </a:cubicBezTo>
                  <a:cubicBezTo>
                    <a:pt x="13" y="1"/>
                    <a:pt x="12" y="1"/>
                    <a:pt x="12" y="1"/>
                  </a:cubicBezTo>
                  <a:cubicBezTo>
                    <a:pt x="12" y="2"/>
                    <a:pt x="12" y="2"/>
                    <a:pt x="12" y="2"/>
                  </a:cubicBezTo>
                  <a:cubicBezTo>
                    <a:pt x="12" y="3"/>
                    <a:pt x="12" y="4"/>
                    <a:pt x="11" y="4"/>
                  </a:cubicBezTo>
                  <a:cubicBezTo>
                    <a:pt x="11" y="5"/>
                    <a:pt x="11" y="6"/>
                    <a:pt x="10" y="6"/>
                  </a:cubicBezTo>
                  <a:cubicBezTo>
                    <a:pt x="10" y="6"/>
                    <a:pt x="10" y="6"/>
                    <a:pt x="10" y="6"/>
                  </a:cubicBezTo>
                  <a:cubicBezTo>
                    <a:pt x="10" y="5"/>
                    <a:pt x="10" y="5"/>
                    <a:pt x="10" y="5"/>
                  </a:cubicBezTo>
                  <a:cubicBezTo>
                    <a:pt x="9" y="5"/>
                    <a:pt x="8" y="5"/>
                    <a:pt x="8" y="5"/>
                  </a:cubicBezTo>
                  <a:cubicBezTo>
                    <a:pt x="9" y="5"/>
                    <a:pt x="9" y="5"/>
                    <a:pt x="9" y="6"/>
                  </a:cubicBezTo>
                  <a:cubicBezTo>
                    <a:pt x="9" y="6"/>
                    <a:pt x="9" y="7"/>
                    <a:pt x="9" y="7"/>
                  </a:cubicBezTo>
                  <a:cubicBezTo>
                    <a:pt x="10" y="7"/>
                    <a:pt x="10" y="7"/>
                    <a:pt x="10" y="7"/>
                  </a:cubicBezTo>
                  <a:cubicBezTo>
                    <a:pt x="10" y="8"/>
                    <a:pt x="10" y="8"/>
                    <a:pt x="10" y="8"/>
                  </a:cubicBezTo>
                  <a:cubicBezTo>
                    <a:pt x="10" y="8"/>
                    <a:pt x="10" y="9"/>
                    <a:pt x="10" y="9"/>
                  </a:cubicBezTo>
                  <a:cubicBezTo>
                    <a:pt x="10" y="9"/>
                    <a:pt x="9" y="9"/>
                    <a:pt x="8" y="9"/>
                  </a:cubicBezTo>
                  <a:cubicBezTo>
                    <a:pt x="8" y="8"/>
                    <a:pt x="7" y="7"/>
                    <a:pt x="8" y="7"/>
                  </a:cubicBezTo>
                  <a:cubicBezTo>
                    <a:pt x="8" y="7"/>
                    <a:pt x="8" y="7"/>
                    <a:pt x="8" y="6"/>
                  </a:cubicBezTo>
                  <a:cubicBezTo>
                    <a:pt x="9" y="6"/>
                    <a:pt x="8" y="5"/>
                    <a:pt x="8" y="5"/>
                  </a:cubicBezTo>
                  <a:cubicBezTo>
                    <a:pt x="8" y="4"/>
                    <a:pt x="8" y="4"/>
                    <a:pt x="8" y="4"/>
                  </a:cubicBezTo>
                  <a:cubicBezTo>
                    <a:pt x="8" y="3"/>
                    <a:pt x="9" y="3"/>
                    <a:pt x="9" y="3"/>
                  </a:cubicBezTo>
                  <a:cubicBezTo>
                    <a:pt x="9" y="3"/>
                    <a:pt x="10" y="2"/>
                    <a:pt x="10" y="2"/>
                  </a:cubicBezTo>
                  <a:cubicBezTo>
                    <a:pt x="10" y="2"/>
                    <a:pt x="10" y="1"/>
                    <a:pt x="10" y="1"/>
                  </a:cubicBezTo>
                  <a:cubicBezTo>
                    <a:pt x="10" y="1"/>
                    <a:pt x="10" y="0"/>
                    <a:pt x="9" y="0"/>
                  </a:cubicBezTo>
                  <a:cubicBezTo>
                    <a:pt x="9" y="0"/>
                    <a:pt x="9" y="0"/>
                    <a:pt x="8" y="0"/>
                  </a:cubicBezTo>
                  <a:cubicBezTo>
                    <a:pt x="8" y="0"/>
                    <a:pt x="7" y="0"/>
                    <a:pt x="7" y="0"/>
                  </a:cubicBezTo>
                  <a:cubicBezTo>
                    <a:pt x="7" y="1"/>
                    <a:pt x="7" y="1"/>
                    <a:pt x="7" y="2"/>
                  </a:cubicBezTo>
                  <a:cubicBezTo>
                    <a:pt x="7" y="3"/>
                    <a:pt x="7" y="3"/>
                    <a:pt x="7" y="4"/>
                  </a:cubicBezTo>
                  <a:cubicBezTo>
                    <a:pt x="7" y="4"/>
                    <a:pt x="7" y="4"/>
                    <a:pt x="7" y="5"/>
                  </a:cubicBezTo>
                  <a:cubicBezTo>
                    <a:pt x="7" y="5"/>
                    <a:pt x="6" y="5"/>
                    <a:pt x="5" y="5"/>
                  </a:cubicBezTo>
                  <a:cubicBezTo>
                    <a:pt x="5" y="5"/>
                    <a:pt x="4" y="5"/>
                    <a:pt x="4" y="5"/>
                  </a:cubicBezTo>
                  <a:cubicBezTo>
                    <a:pt x="4" y="6"/>
                    <a:pt x="4" y="6"/>
                    <a:pt x="4" y="6"/>
                  </a:cubicBezTo>
                  <a:cubicBezTo>
                    <a:pt x="3" y="6"/>
                    <a:pt x="3" y="6"/>
                    <a:pt x="3" y="6"/>
                  </a:cubicBezTo>
                  <a:cubicBezTo>
                    <a:pt x="3" y="6"/>
                    <a:pt x="2" y="7"/>
                    <a:pt x="2" y="7"/>
                  </a:cubicBezTo>
                  <a:cubicBezTo>
                    <a:pt x="2" y="7"/>
                    <a:pt x="3" y="7"/>
                    <a:pt x="3" y="7"/>
                  </a:cubicBezTo>
                  <a:cubicBezTo>
                    <a:pt x="3" y="7"/>
                    <a:pt x="3" y="7"/>
                    <a:pt x="4" y="8"/>
                  </a:cubicBezTo>
                  <a:cubicBezTo>
                    <a:pt x="4" y="8"/>
                    <a:pt x="4" y="8"/>
                    <a:pt x="4" y="9"/>
                  </a:cubicBezTo>
                  <a:cubicBezTo>
                    <a:pt x="4" y="9"/>
                    <a:pt x="4" y="9"/>
                    <a:pt x="4" y="9"/>
                  </a:cubicBezTo>
                  <a:cubicBezTo>
                    <a:pt x="3" y="9"/>
                    <a:pt x="3" y="8"/>
                    <a:pt x="2" y="8"/>
                  </a:cubicBezTo>
                  <a:cubicBezTo>
                    <a:pt x="2" y="9"/>
                    <a:pt x="2" y="9"/>
                    <a:pt x="2" y="9"/>
                  </a:cubicBezTo>
                  <a:cubicBezTo>
                    <a:pt x="2" y="10"/>
                    <a:pt x="2" y="10"/>
                    <a:pt x="2" y="10"/>
                  </a:cubicBezTo>
                  <a:cubicBezTo>
                    <a:pt x="2" y="10"/>
                    <a:pt x="2" y="11"/>
                    <a:pt x="2" y="11"/>
                  </a:cubicBezTo>
                  <a:cubicBezTo>
                    <a:pt x="2" y="11"/>
                    <a:pt x="2" y="11"/>
                    <a:pt x="2" y="11"/>
                  </a:cubicBezTo>
                  <a:cubicBezTo>
                    <a:pt x="3" y="11"/>
                    <a:pt x="3" y="12"/>
                    <a:pt x="3" y="12"/>
                  </a:cubicBezTo>
                  <a:cubicBezTo>
                    <a:pt x="4" y="12"/>
                    <a:pt x="4" y="11"/>
                    <a:pt x="4" y="11"/>
                  </a:cubicBezTo>
                  <a:cubicBezTo>
                    <a:pt x="4" y="10"/>
                    <a:pt x="4" y="10"/>
                    <a:pt x="4" y="10"/>
                  </a:cubicBezTo>
                  <a:cubicBezTo>
                    <a:pt x="5" y="10"/>
                    <a:pt x="5" y="10"/>
                    <a:pt x="5" y="10"/>
                  </a:cubicBezTo>
                  <a:cubicBezTo>
                    <a:pt x="5" y="10"/>
                    <a:pt x="5" y="9"/>
                    <a:pt x="5" y="9"/>
                  </a:cubicBezTo>
                  <a:cubicBezTo>
                    <a:pt x="5" y="9"/>
                    <a:pt x="5" y="8"/>
                    <a:pt x="5" y="8"/>
                  </a:cubicBezTo>
                  <a:cubicBezTo>
                    <a:pt x="6" y="8"/>
                    <a:pt x="6" y="9"/>
                    <a:pt x="6" y="9"/>
                  </a:cubicBezTo>
                  <a:cubicBezTo>
                    <a:pt x="6" y="10"/>
                    <a:pt x="5" y="10"/>
                    <a:pt x="5" y="11"/>
                  </a:cubicBezTo>
                  <a:cubicBezTo>
                    <a:pt x="5" y="11"/>
                    <a:pt x="6" y="10"/>
                    <a:pt x="6" y="10"/>
                  </a:cubicBezTo>
                  <a:cubicBezTo>
                    <a:pt x="6" y="10"/>
                    <a:pt x="6" y="9"/>
                    <a:pt x="7" y="9"/>
                  </a:cubicBezTo>
                  <a:cubicBezTo>
                    <a:pt x="7" y="10"/>
                    <a:pt x="8" y="10"/>
                    <a:pt x="9" y="9"/>
                  </a:cubicBezTo>
                  <a:cubicBezTo>
                    <a:pt x="9" y="9"/>
                    <a:pt x="9" y="10"/>
                    <a:pt x="9" y="10"/>
                  </a:cubicBezTo>
                  <a:cubicBezTo>
                    <a:pt x="9" y="11"/>
                    <a:pt x="8" y="11"/>
                    <a:pt x="8" y="11"/>
                  </a:cubicBezTo>
                  <a:cubicBezTo>
                    <a:pt x="8" y="11"/>
                    <a:pt x="7" y="11"/>
                    <a:pt x="7" y="12"/>
                  </a:cubicBezTo>
                  <a:cubicBezTo>
                    <a:pt x="7" y="12"/>
                    <a:pt x="6" y="12"/>
                    <a:pt x="6" y="12"/>
                  </a:cubicBezTo>
                  <a:cubicBezTo>
                    <a:pt x="6" y="12"/>
                    <a:pt x="5" y="13"/>
                    <a:pt x="5" y="13"/>
                  </a:cubicBezTo>
                  <a:cubicBezTo>
                    <a:pt x="5" y="13"/>
                    <a:pt x="5" y="13"/>
                    <a:pt x="4" y="13"/>
                  </a:cubicBezTo>
                  <a:cubicBezTo>
                    <a:pt x="4" y="13"/>
                    <a:pt x="3" y="14"/>
                    <a:pt x="3" y="14"/>
                  </a:cubicBezTo>
                  <a:cubicBezTo>
                    <a:pt x="3" y="15"/>
                    <a:pt x="4" y="15"/>
                    <a:pt x="4" y="15"/>
                  </a:cubicBezTo>
                  <a:cubicBezTo>
                    <a:pt x="5" y="15"/>
                    <a:pt x="5" y="14"/>
                    <a:pt x="5" y="14"/>
                  </a:cubicBezTo>
                  <a:cubicBezTo>
                    <a:pt x="6" y="14"/>
                    <a:pt x="6" y="14"/>
                    <a:pt x="6" y="13"/>
                  </a:cubicBezTo>
                  <a:cubicBezTo>
                    <a:pt x="7" y="13"/>
                    <a:pt x="7" y="13"/>
                    <a:pt x="8" y="12"/>
                  </a:cubicBezTo>
                  <a:cubicBezTo>
                    <a:pt x="8" y="12"/>
                    <a:pt x="8" y="11"/>
                    <a:pt x="9" y="11"/>
                  </a:cubicBezTo>
                  <a:cubicBezTo>
                    <a:pt x="9" y="11"/>
                    <a:pt x="10" y="11"/>
                    <a:pt x="10" y="11"/>
                  </a:cubicBezTo>
                  <a:cubicBezTo>
                    <a:pt x="9" y="13"/>
                    <a:pt x="9" y="14"/>
                    <a:pt x="7" y="14"/>
                  </a:cubicBezTo>
                  <a:cubicBezTo>
                    <a:pt x="8" y="15"/>
                    <a:pt x="8" y="15"/>
                    <a:pt x="8" y="15"/>
                  </a:cubicBezTo>
                  <a:cubicBezTo>
                    <a:pt x="8" y="15"/>
                    <a:pt x="8" y="15"/>
                    <a:pt x="8" y="16"/>
                  </a:cubicBezTo>
                  <a:cubicBezTo>
                    <a:pt x="8" y="16"/>
                    <a:pt x="7" y="17"/>
                    <a:pt x="7" y="17"/>
                  </a:cubicBezTo>
                  <a:cubicBezTo>
                    <a:pt x="6" y="17"/>
                    <a:pt x="6" y="18"/>
                    <a:pt x="6" y="18"/>
                  </a:cubicBezTo>
                  <a:cubicBezTo>
                    <a:pt x="5" y="18"/>
                    <a:pt x="5" y="18"/>
                    <a:pt x="4" y="19"/>
                  </a:cubicBezTo>
                  <a:cubicBezTo>
                    <a:pt x="4" y="19"/>
                    <a:pt x="4" y="19"/>
                    <a:pt x="4" y="19"/>
                  </a:cubicBezTo>
                  <a:cubicBezTo>
                    <a:pt x="4" y="19"/>
                    <a:pt x="4" y="19"/>
                    <a:pt x="4" y="20"/>
                  </a:cubicBezTo>
                  <a:cubicBezTo>
                    <a:pt x="3" y="20"/>
                    <a:pt x="3" y="20"/>
                    <a:pt x="3" y="20"/>
                  </a:cubicBezTo>
                  <a:cubicBezTo>
                    <a:pt x="3" y="20"/>
                    <a:pt x="3" y="20"/>
                    <a:pt x="2" y="20"/>
                  </a:cubicBezTo>
                  <a:cubicBezTo>
                    <a:pt x="2" y="21"/>
                    <a:pt x="0" y="21"/>
                    <a:pt x="0" y="22"/>
                  </a:cubicBezTo>
                  <a:cubicBezTo>
                    <a:pt x="1" y="23"/>
                    <a:pt x="2" y="22"/>
                    <a:pt x="3" y="23"/>
                  </a:cubicBezTo>
                  <a:cubicBezTo>
                    <a:pt x="3" y="22"/>
                    <a:pt x="3" y="22"/>
                    <a:pt x="4" y="22"/>
                  </a:cubicBezTo>
                  <a:cubicBezTo>
                    <a:pt x="4" y="22"/>
                    <a:pt x="4" y="22"/>
                    <a:pt x="4" y="21"/>
                  </a:cubicBezTo>
                  <a:cubicBezTo>
                    <a:pt x="5" y="21"/>
                    <a:pt x="6" y="20"/>
                    <a:pt x="6" y="20"/>
                  </a:cubicBezTo>
                  <a:cubicBezTo>
                    <a:pt x="6" y="19"/>
                    <a:pt x="7" y="19"/>
                    <a:pt x="7" y="18"/>
                  </a:cubicBezTo>
                  <a:cubicBezTo>
                    <a:pt x="8" y="18"/>
                    <a:pt x="8" y="18"/>
                    <a:pt x="8" y="18"/>
                  </a:cubicBezTo>
                  <a:cubicBezTo>
                    <a:pt x="9" y="18"/>
                    <a:pt x="8" y="19"/>
                    <a:pt x="8" y="20"/>
                  </a:cubicBezTo>
                  <a:cubicBezTo>
                    <a:pt x="8" y="21"/>
                    <a:pt x="9" y="21"/>
                    <a:pt x="9" y="21"/>
                  </a:cubicBezTo>
                  <a:cubicBezTo>
                    <a:pt x="9" y="22"/>
                    <a:pt x="8" y="21"/>
                    <a:pt x="8" y="22"/>
                  </a:cubicBezTo>
                  <a:cubicBezTo>
                    <a:pt x="8" y="22"/>
                    <a:pt x="8" y="22"/>
                    <a:pt x="8" y="22"/>
                  </a:cubicBezTo>
                  <a:cubicBezTo>
                    <a:pt x="7" y="22"/>
                    <a:pt x="6" y="22"/>
                    <a:pt x="5" y="22"/>
                  </a:cubicBezTo>
                  <a:cubicBezTo>
                    <a:pt x="5" y="23"/>
                    <a:pt x="6" y="23"/>
                    <a:pt x="6" y="23"/>
                  </a:cubicBezTo>
                  <a:cubicBezTo>
                    <a:pt x="7" y="23"/>
                    <a:pt x="7" y="23"/>
                    <a:pt x="7" y="23"/>
                  </a:cubicBezTo>
                  <a:cubicBezTo>
                    <a:pt x="7" y="23"/>
                    <a:pt x="8" y="23"/>
                    <a:pt x="8" y="23"/>
                  </a:cubicBezTo>
                  <a:cubicBezTo>
                    <a:pt x="9" y="23"/>
                    <a:pt x="9" y="23"/>
                    <a:pt x="9" y="23"/>
                  </a:cubicBezTo>
                  <a:cubicBezTo>
                    <a:pt x="9" y="23"/>
                    <a:pt x="10" y="24"/>
                    <a:pt x="10" y="23"/>
                  </a:cubicBezTo>
                  <a:cubicBezTo>
                    <a:pt x="10" y="23"/>
                    <a:pt x="11" y="23"/>
                    <a:pt x="11" y="23"/>
                  </a:cubicBezTo>
                  <a:cubicBezTo>
                    <a:pt x="12" y="22"/>
                    <a:pt x="11" y="22"/>
                    <a:pt x="11" y="21"/>
                  </a:cubicBezTo>
                  <a:cubicBezTo>
                    <a:pt x="10" y="21"/>
                    <a:pt x="10" y="20"/>
                    <a:pt x="10" y="20"/>
                  </a:cubicBezTo>
                  <a:cubicBezTo>
                    <a:pt x="10" y="20"/>
                    <a:pt x="10" y="19"/>
                    <a:pt x="10" y="19"/>
                  </a:cubicBezTo>
                  <a:cubicBezTo>
                    <a:pt x="10" y="19"/>
                    <a:pt x="9" y="19"/>
                    <a:pt x="9" y="18"/>
                  </a:cubicBezTo>
                  <a:cubicBezTo>
                    <a:pt x="9" y="18"/>
                    <a:pt x="9" y="18"/>
                    <a:pt x="9" y="18"/>
                  </a:cubicBezTo>
                  <a:cubicBezTo>
                    <a:pt x="9" y="18"/>
                    <a:pt x="9" y="17"/>
                    <a:pt x="9" y="17"/>
                  </a:cubicBezTo>
                  <a:cubicBezTo>
                    <a:pt x="10" y="17"/>
                    <a:pt x="10" y="17"/>
                    <a:pt x="11" y="17"/>
                  </a:cubicBezTo>
                  <a:cubicBezTo>
                    <a:pt x="12" y="17"/>
                    <a:pt x="12" y="16"/>
                    <a:pt x="12" y="15"/>
                  </a:cubicBezTo>
                  <a:cubicBezTo>
                    <a:pt x="12" y="15"/>
                    <a:pt x="11" y="15"/>
                    <a:pt x="11" y="15"/>
                  </a:cubicBezTo>
                  <a:cubicBezTo>
                    <a:pt x="11" y="14"/>
                    <a:pt x="10" y="14"/>
                    <a:pt x="9" y="14"/>
                  </a:cubicBezTo>
                  <a:cubicBezTo>
                    <a:pt x="10" y="13"/>
                    <a:pt x="10" y="12"/>
                    <a:pt x="11" y="12"/>
                  </a:cubicBezTo>
                  <a:cubicBezTo>
                    <a:pt x="11" y="12"/>
                    <a:pt x="12" y="12"/>
                    <a:pt x="12" y="11"/>
                  </a:cubicBezTo>
                  <a:cubicBezTo>
                    <a:pt x="13" y="11"/>
                    <a:pt x="13" y="9"/>
                    <a:pt x="14" y="9"/>
                  </a:cubicBezTo>
                  <a:cubicBezTo>
                    <a:pt x="13" y="9"/>
                    <a:pt x="14" y="9"/>
                    <a:pt x="14" y="8"/>
                  </a:cubicBezTo>
                  <a:cubicBezTo>
                    <a:pt x="14" y="8"/>
                    <a:pt x="13" y="8"/>
                    <a:pt x="13" y="8"/>
                  </a:cubicBezTo>
                  <a:cubicBezTo>
                    <a:pt x="12" y="8"/>
                    <a:pt x="12" y="8"/>
                    <a:pt x="11" y="9"/>
                  </a:cubicBezTo>
                  <a:cubicBezTo>
                    <a:pt x="11" y="9"/>
                    <a:pt x="11" y="9"/>
                    <a:pt x="11" y="9"/>
                  </a:cubicBezTo>
                  <a:cubicBezTo>
                    <a:pt x="11" y="8"/>
                    <a:pt x="11" y="8"/>
                    <a:pt x="11" y="7"/>
                  </a:cubicBezTo>
                  <a:cubicBezTo>
                    <a:pt x="11" y="7"/>
                    <a:pt x="11" y="7"/>
                    <a:pt x="12" y="6"/>
                  </a:cubicBezTo>
                  <a:close/>
                  <a:moveTo>
                    <a:pt x="5" y="8"/>
                  </a:moveTo>
                  <a:cubicBezTo>
                    <a:pt x="4" y="7"/>
                    <a:pt x="4" y="7"/>
                    <a:pt x="4" y="6"/>
                  </a:cubicBezTo>
                  <a:cubicBezTo>
                    <a:pt x="4" y="6"/>
                    <a:pt x="5" y="6"/>
                    <a:pt x="5" y="6"/>
                  </a:cubicBezTo>
                  <a:cubicBezTo>
                    <a:pt x="5" y="6"/>
                    <a:pt x="5" y="6"/>
                    <a:pt x="6" y="6"/>
                  </a:cubicBezTo>
                  <a:cubicBezTo>
                    <a:pt x="6" y="7"/>
                    <a:pt x="5" y="7"/>
                    <a:pt x="5" y="8"/>
                  </a:cubicBezTo>
                  <a:close/>
                  <a:moveTo>
                    <a:pt x="7" y="8"/>
                  </a:moveTo>
                  <a:cubicBezTo>
                    <a:pt x="6" y="8"/>
                    <a:pt x="6" y="8"/>
                    <a:pt x="5" y="8"/>
                  </a:cubicBezTo>
                  <a:cubicBezTo>
                    <a:pt x="6" y="7"/>
                    <a:pt x="6" y="6"/>
                    <a:pt x="6" y="6"/>
                  </a:cubicBezTo>
                  <a:cubicBezTo>
                    <a:pt x="7" y="6"/>
                    <a:pt x="7" y="7"/>
                    <a:pt x="7" y="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9" name="Freeform 226"/>
            <p:cNvSpPr/>
            <p:nvPr userDrawn="1"/>
          </p:nvSpPr>
          <p:spPr bwMode="auto">
            <a:xfrm>
              <a:off x="1555750" y="4737100"/>
              <a:ext cx="20638" cy="34925"/>
            </a:xfrm>
            <a:custGeom>
              <a:avLst/>
              <a:gdLst>
                <a:gd name="T0" fmla="*/ 3 w 3"/>
                <a:gd name="T1" fmla="*/ 4 h 5"/>
                <a:gd name="T2" fmla="*/ 3 w 3"/>
                <a:gd name="T3" fmla="*/ 2 h 5"/>
                <a:gd name="T4" fmla="*/ 3 w 3"/>
                <a:gd name="T5" fmla="*/ 1 h 5"/>
                <a:gd name="T6" fmla="*/ 1 w 3"/>
                <a:gd name="T7" fmla="*/ 0 h 5"/>
                <a:gd name="T8" fmla="*/ 1 w 3"/>
                <a:gd name="T9" fmla="*/ 1 h 5"/>
                <a:gd name="T10" fmla="*/ 1 w 3"/>
                <a:gd name="T11" fmla="*/ 3 h 5"/>
                <a:gd name="T12" fmla="*/ 1 w 3"/>
                <a:gd name="T13" fmla="*/ 3 h 5"/>
                <a:gd name="T14" fmla="*/ 1 w 3"/>
                <a:gd name="T15" fmla="*/ 4 h 5"/>
                <a:gd name="T16" fmla="*/ 0 w 3"/>
                <a:gd name="T17" fmla="*/ 4 h 5"/>
                <a:gd name="T18" fmla="*/ 0 w 3"/>
                <a:gd name="T19" fmla="*/ 5 h 5"/>
                <a:gd name="T20" fmla="*/ 1 w 3"/>
                <a:gd name="T21" fmla="*/ 5 h 5"/>
                <a:gd name="T22" fmla="*/ 3 w 3"/>
                <a:gd name="T23" fmla="*/ 5 h 5"/>
                <a:gd name="T24" fmla="*/ 3 w 3"/>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5">
                  <a:moveTo>
                    <a:pt x="3" y="4"/>
                  </a:moveTo>
                  <a:cubicBezTo>
                    <a:pt x="3" y="3"/>
                    <a:pt x="3" y="2"/>
                    <a:pt x="3" y="2"/>
                  </a:cubicBezTo>
                  <a:cubicBezTo>
                    <a:pt x="3" y="2"/>
                    <a:pt x="3" y="2"/>
                    <a:pt x="3" y="1"/>
                  </a:cubicBezTo>
                  <a:cubicBezTo>
                    <a:pt x="2" y="1"/>
                    <a:pt x="2" y="0"/>
                    <a:pt x="1" y="0"/>
                  </a:cubicBezTo>
                  <a:cubicBezTo>
                    <a:pt x="1" y="0"/>
                    <a:pt x="1" y="1"/>
                    <a:pt x="1" y="1"/>
                  </a:cubicBezTo>
                  <a:cubicBezTo>
                    <a:pt x="1" y="2"/>
                    <a:pt x="1" y="2"/>
                    <a:pt x="1" y="3"/>
                  </a:cubicBezTo>
                  <a:cubicBezTo>
                    <a:pt x="1" y="3"/>
                    <a:pt x="1" y="3"/>
                    <a:pt x="1" y="3"/>
                  </a:cubicBezTo>
                  <a:cubicBezTo>
                    <a:pt x="1" y="3"/>
                    <a:pt x="1" y="3"/>
                    <a:pt x="1" y="4"/>
                  </a:cubicBezTo>
                  <a:cubicBezTo>
                    <a:pt x="1" y="4"/>
                    <a:pt x="0" y="4"/>
                    <a:pt x="0" y="4"/>
                  </a:cubicBezTo>
                  <a:cubicBezTo>
                    <a:pt x="0" y="4"/>
                    <a:pt x="0" y="5"/>
                    <a:pt x="0" y="5"/>
                  </a:cubicBezTo>
                  <a:cubicBezTo>
                    <a:pt x="0" y="5"/>
                    <a:pt x="1" y="5"/>
                    <a:pt x="1" y="5"/>
                  </a:cubicBezTo>
                  <a:cubicBezTo>
                    <a:pt x="2" y="5"/>
                    <a:pt x="2" y="5"/>
                    <a:pt x="3" y="5"/>
                  </a:cubicBezTo>
                  <a:cubicBezTo>
                    <a:pt x="3" y="5"/>
                    <a:pt x="3" y="4"/>
                    <a:pt x="3"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0" name="Freeform 227"/>
            <p:cNvSpPr/>
            <p:nvPr userDrawn="1"/>
          </p:nvSpPr>
          <p:spPr bwMode="auto">
            <a:xfrm>
              <a:off x="808038" y="4652963"/>
              <a:ext cx="20638" cy="20638"/>
            </a:xfrm>
            <a:custGeom>
              <a:avLst/>
              <a:gdLst>
                <a:gd name="T0" fmla="*/ 1 w 3"/>
                <a:gd name="T1" fmla="*/ 2 h 3"/>
                <a:gd name="T2" fmla="*/ 3 w 3"/>
                <a:gd name="T3" fmla="*/ 2 h 3"/>
                <a:gd name="T4" fmla="*/ 3 w 3"/>
                <a:gd name="T5" fmla="*/ 1 h 3"/>
                <a:gd name="T6" fmla="*/ 2 w 3"/>
                <a:gd name="T7" fmla="*/ 0 h 3"/>
                <a:gd name="T8" fmla="*/ 0 w 3"/>
                <a:gd name="T9" fmla="*/ 1 h 3"/>
                <a:gd name="T10" fmla="*/ 1 w 3"/>
                <a:gd name="T11" fmla="*/ 2 h 3"/>
                <a:gd name="T12" fmla="*/ 1 w 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3" h="3">
                  <a:moveTo>
                    <a:pt x="1" y="2"/>
                  </a:moveTo>
                  <a:cubicBezTo>
                    <a:pt x="2" y="2"/>
                    <a:pt x="3" y="3"/>
                    <a:pt x="3" y="2"/>
                  </a:cubicBezTo>
                  <a:cubicBezTo>
                    <a:pt x="3" y="2"/>
                    <a:pt x="3" y="1"/>
                    <a:pt x="3" y="1"/>
                  </a:cubicBezTo>
                  <a:cubicBezTo>
                    <a:pt x="3" y="0"/>
                    <a:pt x="2" y="0"/>
                    <a:pt x="2" y="0"/>
                  </a:cubicBezTo>
                  <a:cubicBezTo>
                    <a:pt x="1" y="0"/>
                    <a:pt x="0" y="0"/>
                    <a:pt x="0" y="1"/>
                  </a:cubicBezTo>
                  <a:cubicBezTo>
                    <a:pt x="0" y="1"/>
                    <a:pt x="0" y="1"/>
                    <a:pt x="1" y="2"/>
                  </a:cubicBezTo>
                  <a:cubicBezTo>
                    <a:pt x="1" y="2"/>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 name="Freeform 228"/>
            <p:cNvSpPr/>
            <p:nvPr userDrawn="1"/>
          </p:nvSpPr>
          <p:spPr bwMode="auto">
            <a:xfrm>
              <a:off x="781050" y="4667250"/>
              <a:ext cx="69850" cy="41275"/>
            </a:xfrm>
            <a:custGeom>
              <a:avLst/>
              <a:gdLst>
                <a:gd name="T0" fmla="*/ 1 w 10"/>
                <a:gd name="T1" fmla="*/ 6 h 6"/>
                <a:gd name="T2" fmla="*/ 3 w 10"/>
                <a:gd name="T3" fmla="*/ 6 h 6"/>
                <a:gd name="T4" fmla="*/ 3 w 10"/>
                <a:gd name="T5" fmla="*/ 5 h 6"/>
                <a:gd name="T6" fmla="*/ 4 w 10"/>
                <a:gd name="T7" fmla="*/ 5 h 6"/>
                <a:gd name="T8" fmla="*/ 5 w 10"/>
                <a:gd name="T9" fmla="*/ 4 h 6"/>
                <a:gd name="T10" fmla="*/ 6 w 10"/>
                <a:gd name="T11" fmla="*/ 3 h 6"/>
                <a:gd name="T12" fmla="*/ 7 w 10"/>
                <a:gd name="T13" fmla="*/ 2 h 6"/>
                <a:gd name="T14" fmla="*/ 10 w 10"/>
                <a:gd name="T15" fmla="*/ 0 h 6"/>
                <a:gd name="T16" fmla="*/ 9 w 10"/>
                <a:gd name="T17" fmla="*/ 0 h 6"/>
                <a:gd name="T18" fmla="*/ 9 w 10"/>
                <a:gd name="T19" fmla="*/ 0 h 6"/>
                <a:gd name="T20" fmla="*/ 7 w 10"/>
                <a:gd name="T21" fmla="*/ 1 h 6"/>
                <a:gd name="T22" fmla="*/ 6 w 10"/>
                <a:gd name="T23" fmla="*/ 2 h 6"/>
                <a:gd name="T24" fmla="*/ 5 w 10"/>
                <a:gd name="T25" fmla="*/ 2 h 6"/>
                <a:gd name="T26" fmla="*/ 5 w 10"/>
                <a:gd name="T27" fmla="*/ 2 h 6"/>
                <a:gd name="T28" fmla="*/ 3 w 10"/>
                <a:gd name="T29" fmla="*/ 3 h 6"/>
                <a:gd name="T30" fmla="*/ 2 w 10"/>
                <a:gd name="T31" fmla="*/ 4 h 6"/>
                <a:gd name="T32" fmla="*/ 0 w 10"/>
                <a:gd name="T33" fmla="*/ 5 h 6"/>
                <a:gd name="T34" fmla="*/ 0 w 10"/>
                <a:gd name="T35" fmla="*/ 6 h 6"/>
                <a:gd name="T36" fmla="*/ 1 w 10"/>
                <a:gd name="T3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 h="6">
                  <a:moveTo>
                    <a:pt x="1" y="6"/>
                  </a:moveTo>
                  <a:cubicBezTo>
                    <a:pt x="1" y="6"/>
                    <a:pt x="2" y="6"/>
                    <a:pt x="3" y="6"/>
                  </a:cubicBezTo>
                  <a:cubicBezTo>
                    <a:pt x="3" y="6"/>
                    <a:pt x="3" y="6"/>
                    <a:pt x="3" y="5"/>
                  </a:cubicBezTo>
                  <a:cubicBezTo>
                    <a:pt x="4" y="5"/>
                    <a:pt x="4" y="5"/>
                    <a:pt x="4" y="5"/>
                  </a:cubicBezTo>
                  <a:cubicBezTo>
                    <a:pt x="4" y="4"/>
                    <a:pt x="4" y="4"/>
                    <a:pt x="5" y="4"/>
                  </a:cubicBezTo>
                  <a:cubicBezTo>
                    <a:pt x="5" y="4"/>
                    <a:pt x="6" y="3"/>
                    <a:pt x="6" y="3"/>
                  </a:cubicBezTo>
                  <a:cubicBezTo>
                    <a:pt x="7" y="2"/>
                    <a:pt x="7" y="2"/>
                    <a:pt x="7" y="2"/>
                  </a:cubicBezTo>
                  <a:cubicBezTo>
                    <a:pt x="9" y="2"/>
                    <a:pt x="10" y="1"/>
                    <a:pt x="10" y="0"/>
                  </a:cubicBezTo>
                  <a:cubicBezTo>
                    <a:pt x="10" y="0"/>
                    <a:pt x="10" y="0"/>
                    <a:pt x="9" y="0"/>
                  </a:cubicBezTo>
                  <a:cubicBezTo>
                    <a:pt x="9" y="0"/>
                    <a:pt x="9" y="0"/>
                    <a:pt x="9" y="0"/>
                  </a:cubicBezTo>
                  <a:cubicBezTo>
                    <a:pt x="8" y="0"/>
                    <a:pt x="8" y="1"/>
                    <a:pt x="7" y="1"/>
                  </a:cubicBezTo>
                  <a:cubicBezTo>
                    <a:pt x="7" y="1"/>
                    <a:pt x="6" y="2"/>
                    <a:pt x="6" y="2"/>
                  </a:cubicBezTo>
                  <a:cubicBezTo>
                    <a:pt x="6" y="2"/>
                    <a:pt x="5" y="2"/>
                    <a:pt x="5" y="2"/>
                  </a:cubicBezTo>
                  <a:cubicBezTo>
                    <a:pt x="5" y="2"/>
                    <a:pt x="5" y="2"/>
                    <a:pt x="5" y="2"/>
                  </a:cubicBezTo>
                  <a:cubicBezTo>
                    <a:pt x="4" y="3"/>
                    <a:pt x="4" y="3"/>
                    <a:pt x="3" y="3"/>
                  </a:cubicBezTo>
                  <a:cubicBezTo>
                    <a:pt x="3" y="3"/>
                    <a:pt x="2" y="4"/>
                    <a:pt x="2" y="4"/>
                  </a:cubicBezTo>
                  <a:cubicBezTo>
                    <a:pt x="1" y="4"/>
                    <a:pt x="0" y="5"/>
                    <a:pt x="0" y="5"/>
                  </a:cubicBezTo>
                  <a:cubicBezTo>
                    <a:pt x="0" y="5"/>
                    <a:pt x="0" y="5"/>
                    <a:pt x="0" y="6"/>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 name="Freeform 229"/>
            <p:cNvSpPr/>
            <p:nvPr userDrawn="1"/>
          </p:nvSpPr>
          <p:spPr bwMode="auto">
            <a:xfrm>
              <a:off x="808038" y="4694238"/>
              <a:ext cx="42863" cy="42863"/>
            </a:xfrm>
            <a:custGeom>
              <a:avLst/>
              <a:gdLst>
                <a:gd name="T0" fmla="*/ 5 w 6"/>
                <a:gd name="T1" fmla="*/ 3 h 6"/>
                <a:gd name="T2" fmla="*/ 4 w 6"/>
                <a:gd name="T3" fmla="*/ 3 h 6"/>
                <a:gd name="T4" fmla="*/ 5 w 6"/>
                <a:gd name="T5" fmla="*/ 3 h 6"/>
                <a:gd name="T6" fmla="*/ 5 w 6"/>
                <a:gd name="T7" fmla="*/ 2 h 6"/>
                <a:gd name="T8" fmla="*/ 6 w 6"/>
                <a:gd name="T9" fmla="*/ 1 h 6"/>
                <a:gd name="T10" fmla="*/ 4 w 6"/>
                <a:gd name="T11" fmla="*/ 0 h 6"/>
                <a:gd name="T12" fmla="*/ 3 w 6"/>
                <a:gd name="T13" fmla="*/ 1 h 6"/>
                <a:gd name="T14" fmla="*/ 1 w 6"/>
                <a:gd name="T15" fmla="*/ 2 h 6"/>
                <a:gd name="T16" fmla="*/ 0 w 6"/>
                <a:gd name="T17" fmla="*/ 3 h 6"/>
                <a:gd name="T18" fmla="*/ 1 w 6"/>
                <a:gd name="T19" fmla="*/ 3 h 6"/>
                <a:gd name="T20" fmla="*/ 2 w 6"/>
                <a:gd name="T21" fmla="*/ 2 h 6"/>
                <a:gd name="T22" fmla="*/ 3 w 6"/>
                <a:gd name="T23" fmla="*/ 2 h 6"/>
                <a:gd name="T24" fmla="*/ 3 w 6"/>
                <a:gd name="T25" fmla="*/ 2 h 6"/>
                <a:gd name="T26" fmla="*/ 3 w 6"/>
                <a:gd name="T27" fmla="*/ 3 h 6"/>
                <a:gd name="T28" fmla="*/ 3 w 6"/>
                <a:gd name="T29" fmla="*/ 3 h 6"/>
                <a:gd name="T30" fmla="*/ 2 w 6"/>
                <a:gd name="T31" fmla="*/ 3 h 6"/>
                <a:gd name="T32" fmla="*/ 2 w 6"/>
                <a:gd name="T33" fmla="*/ 4 h 6"/>
                <a:gd name="T34" fmla="*/ 2 w 6"/>
                <a:gd name="T35" fmla="*/ 5 h 6"/>
                <a:gd name="T36" fmla="*/ 3 w 6"/>
                <a:gd name="T37" fmla="*/ 5 h 6"/>
                <a:gd name="T38" fmla="*/ 4 w 6"/>
                <a:gd name="T39" fmla="*/ 5 h 6"/>
                <a:gd name="T40" fmla="*/ 5 w 6"/>
                <a:gd name="T41"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 h="6">
                  <a:moveTo>
                    <a:pt x="5" y="3"/>
                  </a:moveTo>
                  <a:cubicBezTo>
                    <a:pt x="4" y="3"/>
                    <a:pt x="4" y="3"/>
                    <a:pt x="4" y="3"/>
                  </a:cubicBezTo>
                  <a:cubicBezTo>
                    <a:pt x="3" y="3"/>
                    <a:pt x="4" y="3"/>
                    <a:pt x="5" y="3"/>
                  </a:cubicBezTo>
                  <a:cubicBezTo>
                    <a:pt x="5" y="2"/>
                    <a:pt x="5" y="2"/>
                    <a:pt x="5" y="2"/>
                  </a:cubicBezTo>
                  <a:cubicBezTo>
                    <a:pt x="5" y="2"/>
                    <a:pt x="6" y="2"/>
                    <a:pt x="6" y="1"/>
                  </a:cubicBezTo>
                  <a:cubicBezTo>
                    <a:pt x="5" y="1"/>
                    <a:pt x="5" y="1"/>
                    <a:pt x="4" y="0"/>
                  </a:cubicBezTo>
                  <a:cubicBezTo>
                    <a:pt x="4" y="0"/>
                    <a:pt x="4" y="1"/>
                    <a:pt x="3" y="1"/>
                  </a:cubicBezTo>
                  <a:cubicBezTo>
                    <a:pt x="3" y="1"/>
                    <a:pt x="2" y="2"/>
                    <a:pt x="1" y="2"/>
                  </a:cubicBezTo>
                  <a:cubicBezTo>
                    <a:pt x="1" y="2"/>
                    <a:pt x="0" y="3"/>
                    <a:pt x="0" y="3"/>
                  </a:cubicBezTo>
                  <a:cubicBezTo>
                    <a:pt x="0" y="4"/>
                    <a:pt x="1" y="3"/>
                    <a:pt x="1" y="3"/>
                  </a:cubicBezTo>
                  <a:cubicBezTo>
                    <a:pt x="1" y="3"/>
                    <a:pt x="2" y="3"/>
                    <a:pt x="2" y="2"/>
                  </a:cubicBezTo>
                  <a:cubicBezTo>
                    <a:pt x="2" y="2"/>
                    <a:pt x="3" y="2"/>
                    <a:pt x="3" y="2"/>
                  </a:cubicBezTo>
                  <a:cubicBezTo>
                    <a:pt x="3" y="2"/>
                    <a:pt x="3" y="2"/>
                    <a:pt x="3" y="2"/>
                  </a:cubicBezTo>
                  <a:cubicBezTo>
                    <a:pt x="3" y="2"/>
                    <a:pt x="3" y="3"/>
                    <a:pt x="3" y="3"/>
                  </a:cubicBezTo>
                  <a:cubicBezTo>
                    <a:pt x="3" y="3"/>
                    <a:pt x="3" y="3"/>
                    <a:pt x="3" y="3"/>
                  </a:cubicBezTo>
                  <a:cubicBezTo>
                    <a:pt x="3" y="3"/>
                    <a:pt x="2" y="3"/>
                    <a:pt x="2" y="3"/>
                  </a:cubicBezTo>
                  <a:cubicBezTo>
                    <a:pt x="2" y="4"/>
                    <a:pt x="2" y="4"/>
                    <a:pt x="2" y="4"/>
                  </a:cubicBezTo>
                  <a:cubicBezTo>
                    <a:pt x="2" y="4"/>
                    <a:pt x="1" y="5"/>
                    <a:pt x="2" y="5"/>
                  </a:cubicBezTo>
                  <a:cubicBezTo>
                    <a:pt x="2" y="6"/>
                    <a:pt x="3" y="5"/>
                    <a:pt x="3" y="5"/>
                  </a:cubicBezTo>
                  <a:cubicBezTo>
                    <a:pt x="3" y="5"/>
                    <a:pt x="4" y="5"/>
                    <a:pt x="4" y="5"/>
                  </a:cubicBezTo>
                  <a:cubicBezTo>
                    <a:pt x="5" y="4"/>
                    <a:pt x="5" y="4"/>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 name="Freeform 230"/>
            <p:cNvSpPr/>
            <p:nvPr userDrawn="1"/>
          </p:nvSpPr>
          <p:spPr bwMode="auto">
            <a:xfrm>
              <a:off x="795338" y="4714875"/>
              <a:ext cx="20638" cy="22225"/>
            </a:xfrm>
            <a:custGeom>
              <a:avLst/>
              <a:gdLst>
                <a:gd name="T0" fmla="*/ 1 w 3"/>
                <a:gd name="T1" fmla="*/ 3 h 3"/>
                <a:gd name="T2" fmla="*/ 2 w 3"/>
                <a:gd name="T3" fmla="*/ 3 h 3"/>
                <a:gd name="T4" fmla="*/ 1 w 3"/>
                <a:gd name="T5" fmla="*/ 0 h 3"/>
                <a:gd name="T6" fmla="*/ 0 w 3"/>
                <a:gd name="T7" fmla="*/ 1 h 3"/>
                <a:gd name="T8" fmla="*/ 0 w 3"/>
                <a:gd name="T9" fmla="*/ 2 h 3"/>
                <a:gd name="T10" fmla="*/ 1 w 3"/>
                <a:gd name="T11" fmla="*/ 3 h 3"/>
              </a:gdLst>
              <a:ahLst/>
              <a:cxnLst>
                <a:cxn ang="0">
                  <a:pos x="T0" y="T1"/>
                </a:cxn>
                <a:cxn ang="0">
                  <a:pos x="T2" y="T3"/>
                </a:cxn>
                <a:cxn ang="0">
                  <a:pos x="T4" y="T5"/>
                </a:cxn>
                <a:cxn ang="0">
                  <a:pos x="T6" y="T7"/>
                </a:cxn>
                <a:cxn ang="0">
                  <a:pos x="T8" y="T9"/>
                </a:cxn>
                <a:cxn ang="0">
                  <a:pos x="T10" y="T11"/>
                </a:cxn>
              </a:cxnLst>
              <a:rect l="0" t="0" r="r" b="b"/>
              <a:pathLst>
                <a:path w="3" h="3">
                  <a:moveTo>
                    <a:pt x="1" y="3"/>
                  </a:moveTo>
                  <a:cubicBezTo>
                    <a:pt x="2" y="3"/>
                    <a:pt x="2" y="3"/>
                    <a:pt x="2" y="3"/>
                  </a:cubicBezTo>
                  <a:cubicBezTo>
                    <a:pt x="3" y="2"/>
                    <a:pt x="2" y="0"/>
                    <a:pt x="1" y="0"/>
                  </a:cubicBezTo>
                  <a:cubicBezTo>
                    <a:pt x="1" y="0"/>
                    <a:pt x="0" y="0"/>
                    <a:pt x="0" y="1"/>
                  </a:cubicBezTo>
                  <a:cubicBezTo>
                    <a:pt x="0" y="1"/>
                    <a:pt x="0" y="2"/>
                    <a:pt x="0" y="2"/>
                  </a:cubicBezTo>
                  <a:cubicBezTo>
                    <a:pt x="0" y="3"/>
                    <a:pt x="1"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 name="Freeform 231"/>
            <p:cNvSpPr>
              <a:spLocks noEditPoints="1"/>
            </p:cNvSpPr>
            <p:nvPr userDrawn="1"/>
          </p:nvSpPr>
          <p:spPr bwMode="auto">
            <a:xfrm>
              <a:off x="774700" y="4737100"/>
              <a:ext cx="53975" cy="55563"/>
            </a:xfrm>
            <a:custGeom>
              <a:avLst/>
              <a:gdLst>
                <a:gd name="T0" fmla="*/ 7 w 8"/>
                <a:gd name="T1" fmla="*/ 1 h 8"/>
                <a:gd name="T2" fmla="*/ 7 w 8"/>
                <a:gd name="T3" fmla="*/ 0 h 8"/>
                <a:gd name="T4" fmla="*/ 6 w 8"/>
                <a:gd name="T5" fmla="*/ 1 h 8"/>
                <a:gd name="T6" fmla="*/ 6 w 8"/>
                <a:gd name="T7" fmla="*/ 2 h 8"/>
                <a:gd name="T8" fmla="*/ 4 w 8"/>
                <a:gd name="T9" fmla="*/ 3 h 8"/>
                <a:gd name="T10" fmla="*/ 3 w 8"/>
                <a:gd name="T11" fmla="*/ 3 h 8"/>
                <a:gd name="T12" fmla="*/ 3 w 8"/>
                <a:gd name="T13" fmla="*/ 4 h 8"/>
                <a:gd name="T14" fmla="*/ 2 w 8"/>
                <a:gd name="T15" fmla="*/ 4 h 8"/>
                <a:gd name="T16" fmla="*/ 1 w 8"/>
                <a:gd name="T17" fmla="*/ 4 h 8"/>
                <a:gd name="T18" fmla="*/ 1 w 8"/>
                <a:gd name="T19" fmla="*/ 4 h 8"/>
                <a:gd name="T20" fmla="*/ 0 w 8"/>
                <a:gd name="T21" fmla="*/ 5 h 8"/>
                <a:gd name="T22" fmla="*/ 0 w 8"/>
                <a:gd name="T23" fmla="*/ 5 h 8"/>
                <a:gd name="T24" fmla="*/ 0 w 8"/>
                <a:gd name="T25" fmla="*/ 7 h 8"/>
                <a:gd name="T26" fmla="*/ 1 w 8"/>
                <a:gd name="T27" fmla="*/ 8 h 8"/>
                <a:gd name="T28" fmla="*/ 2 w 8"/>
                <a:gd name="T29" fmla="*/ 7 h 8"/>
                <a:gd name="T30" fmla="*/ 3 w 8"/>
                <a:gd name="T31" fmla="*/ 6 h 8"/>
                <a:gd name="T32" fmla="*/ 4 w 8"/>
                <a:gd name="T33" fmla="*/ 5 h 8"/>
                <a:gd name="T34" fmla="*/ 4 w 8"/>
                <a:gd name="T35" fmla="*/ 4 h 8"/>
                <a:gd name="T36" fmla="*/ 5 w 8"/>
                <a:gd name="T37" fmla="*/ 5 h 8"/>
                <a:gd name="T38" fmla="*/ 6 w 8"/>
                <a:gd name="T39" fmla="*/ 6 h 8"/>
                <a:gd name="T40" fmla="*/ 7 w 8"/>
                <a:gd name="T41" fmla="*/ 7 h 8"/>
                <a:gd name="T42" fmla="*/ 8 w 8"/>
                <a:gd name="T43" fmla="*/ 6 h 8"/>
                <a:gd name="T44" fmla="*/ 7 w 8"/>
                <a:gd name="T45" fmla="*/ 4 h 8"/>
                <a:gd name="T46" fmla="*/ 7 w 8"/>
                <a:gd name="T47" fmla="*/ 1 h 8"/>
                <a:gd name="T48" fmla="*/ 6 w 8"/>
                <a:gd name="T49" fmla="*/ 5 h 8"/>
                <a:gd name="T50" fmla="*/ 5 w 8"/>
                <a:gd name="T51" fmla="*/ 4 h 8"/>
                <a:gd name="T52" fmla="*/ 5 w 8"/>
                <a:gd name="T53" fmla="*/ 4 h 8"/>
                <a:gd name="T54" fmla="*/ 6 w 8"/>
                <a:gd name="T55" fmla="*/ 3 h 8"/>
                <a:gd name="T56" fmla="*/ 6 w 8"/>
                <a:gd name="T57" fmla="*/ 4 h 8"/>
                <a:gd name="T58" fmla="*/ 6 w 8"/>
                <a:gd name="T59" fmla="*/ 5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 h="8">
                  <a:moveTo>
                    <a:pt x="7" y="1"/>
                  </a:moveTo>
                  <a:cubicBezTo>
                    <a:pt x="7" y="0"/>
                    <a:pt x="7" y="0"/>
                    <a:pt x="7" y="0"/>
                  </a:cubicBezTo>
                  <a:cubicBezTo>
                    <a:pt x="6" y="0"/>
                    <a:pt x="6" y="0"/>
                    <a:pt x="6" y="1"/>
                  </a:cubicBezTo>
                  <a:cubicBezTo>
                    <a:pt x="6" y="1"/>
                    <a:pt x="6" y="2"/>
                    <a:pt x="6" y="2"/>
                  </a:cubicBezTo>
                  <a:cubicBezTo>
                    <a:pt x="5" y="2"/>
                    <a:pt x="4" y="3"/>
                    <a:pt x="4" y="3"/>
                  </a:cubicBezTo>
                  <a:cubicBezTo>
                    <a:pt x="4" y="3"/>
                    <a:pt x="3" y="3"/>
                    <a:pt x="3" y="3"/>
                  </a:cubicBezTo>
                  <a:cubicBezTo>
                    <a:pt x="3" y="3"/>
                    <a:pt x="3" y="4"/>
                    <a:pt x="3" y="4"/>
                  </a:cubicBezTo>
                  <a:cubicBezTo>
                    <a:pt x="2" y="4"/>
                    <a:pt x="2" y="4"/>
                    <a:pt x="2" y="4"/>
                  </a:cubicBezTo>
                  <a:cubicBezTo>
                    <a:pt x="2" y="4"/>
                    <a:pt x="2" y="4"/>
                    <a:pt x="1" y="4"/>
                  </a:cubicBezTo>
                  <a:cubicBezTo>
                    <a:pt x="1" y="4"/>
                    <a:pt x="1" y="4"/>
                    <a:pt x="1" y="4"/>
                  </a:cubicBezTo>
                  <a:cubicBezTo>
                    <a:pt x="0" y="4"/>
                    <a:pt x="0" y="5"/>
                    <a:pt x="0" y="5"/>
                  </a:cubicBezTo>
                  <a:cubicBezTo>
                    <a:pt x="0" y="5"/>
                    <a:pt x="0" y="5"/>
                    <a:pt x="0" y="5"/>
                  </a:cubicBezTo>
                  <a:cubicBezTo>
                    <a:pt x="0" y="6"/>
                    <a:pt x="0" y="7"/>
                    <a:pt x="0" y="7"/>
                  </a:cubicBezTo>
                  <a:cubicBezTo>
                    <a:pt x="0" y="7"/>
                    <a:pt x="1" y="8"/>
                    <a:pt x="1" y="8"/>
                  </a:cubicBezTo>
                  <a:cubicBezTo>
                    <a:pt x="2" y="8"/>
                    <a:pt x="2" y="7"/>
                    <a:pt x="2" y="7"/>
                  </a:cubicBezTo>
                  <a:cubicBezTo>
                    <a:pt x="2" y="7"/>
                    <a:pt x="3" y="6"/>
                    <a:pt x="3" y="6"/>
                  </a:cubicBezTo>
                  <a:cubicBezTo>
                    <a:pt x="3" y="6"/>
                    <a:pt x="3" y="5"/>
                    <a:pt x="4" y="5"/>
                  </a:cubicBezTo>
                  <a:cubicBezTo>
                    <a:pt x="4" y="5"/>
                    <a:pt x="4" y="4"/>
                    <a:pt x="4" y="4"/>
                  </a:cubicBezTo>
                  <a:cubicBezTo>
                    <a:pt x="5" y="4"/>
                    <a:pt x="5" y="5"/>
                    <a:pt x="5" y="5"/>
                  </a:cubicBezTo>
                  <a:cubicBezTo>
                    <a:pt x="6" y="6"/>
                    <a:pt x="6" y="6"/>
                    <a:pt x="6" y="6"/>
                  </a:cubicBezTo>
                  <a:cubicBezTo>
                    <a:pt x="6" y="6"/>
                    <a:pt x="6" y="7"/>
                    <a:pt x="7" y="7"/>
                  </a:cubicBezTo>
                  <a:cubicBezTo>
                    <a:pt x="7" y="7"/>
                    <a:pt x="7" y="6"/>
                    <a:pt x="8" y="6"/>
                  </a:cubicBezTo>
                  <a:cubicBezTo>
                    <a:pt x="8" y="5"/>
                    <a:pt x="8" y="4"/>
                    <a:pt x="7" y="4"/>
                  </a:cubicBezTo>
                  <a:cubicBezTo>
                    <a:pt x="7" y="3"/>
                    <a:pt x="8" y="1"/>
                    <a:pt x="7" y="1"/>
                  </a:cubicBezTo>
                  <a:close/>
                  <a:moveTo>
                    <a:pt x="6" y="5"/>
                  </a:moveTo>
                  <a:cubicBezTo>
                    <a:pt x="6" y="5"/>
                    <a:pt x="6" y="5"/>
                    <a:pt x="5" y="4"/>
                  </a:cubicBezTo>
                  <a:cubicBezTo>
                    <a:pt x="5" y="4"/>
                    <a:pt x="5" y="4"/>
                    <a:pt x="5" y="4"/>
                  </a:cubicBezTo>
                  <a:cubicBezTo>
                    <a:pt x="5" y="4"/>
                    <a:pt x="5" y="3"/>
                    <a:pt x="6" y="3"/>
                  </a:cubicBezTo>
                  <a:cubicBezTo>
                    <a:pt x="6" y="2"/>
                    <a:pt x="6" y="3"/>
                    <a:pt x="6" y="4"/>
                  </a:cubicBezTo>
                  <a:cubicBezTo>
                    <a:pt x="6" y="4"/>
                    <a:pt x="6" y="4"/>
                    <a:pt x="6"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5" name="Freeform 232"/>
            <p:cNvSpPr/>
            <p:nvPr userDrawn="1"/>
          </p:nvSpPr>
          <p:spPr bwMode="auto">
            <a:xfrm>
              <a:off x="836613" y="4743450"/>
              <a:ext cx="14288" cy="34925"/>
            </a:xfrm>
            <a:custGeom>
              <a:avLst/>
              <a:gdLst>
                <a:gd name="T0" fmla="*/ 0 w 2"/>
                <a:gd name="T1" fmla="*/ 0 h 5"/>
                <a:gd name="T2" fmla="*/ 0 w 2"/>
                <a:gd name="T3" fmla="*/ 1 h 5"/>
                <a:gd name="T4" fmla="*/ 0 w 2"/>
                <a:gd name="T5" fmla="*/ 4 h 5"/>
                <a:gd name="T6" fmla="*/ 1 w 2"/>
                <a:gd name="T7" fmla="*/ 5 h 5"/>
                <a:gd name="T8" fmla="*/ 2 w 2"/>
                <a:gd name="T9" fmla="*/ 4 h 5"/>
                <a:gd name="T10" fmla="*/ 2 w 2"/>
                <a:gd name="T11" fmla="*/ 1 h 5"/>
                <a:gd name="T12" fmla="*/ 0 w 2"/>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2" h="5">
                  <a:moveTo>
                    <a:pt x="0" y="0"/>
                  </a:moveTo>
                  <a:cubicBezTo>
                    <a:pt x="0" y="0"/>
                    <a:pt x="0" y="1"/>
                    <a:pt x="0" y="1"/>
                  </a:cubicBezTo>
                  <a:cubicBezTo>
                    <a:pt x="0" y="2"/>
                    <a:pt x="0" y="3"/>
                    <a:pt x="0" y="4"/>
                  </a:cubicBezTo>
                  <a:cubicBezTo>
                    <a:pt x="0" y="4"/>
                    <a:pt x="0" y="5"/>
                    <a:pt x="1" y="5"/>
                  </a:cubicBezTo>
                  <a:cubicBezTo>
                    <a:pt x="1" y="5"/>
                    <a:pt x="1" y="4"/>
                    <a:pt x="2" y="4"/>
                  </a:cubicBezTo>
                  <a:cubicBezTo>
                    <a:pt x="2" y="3"/>
                    <a:pt x="2" y="2"/>
                    <a:pt x="2"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6" name="Freeform 233"/>
            <p:cNvSpPr>
              <a:spLocks noEditPoints="1"/>
            </p:cNvSpPr>
            <p:nvPr userDrawn="1"/>
          </p:nvSpPr>
          <p:spPr bwMode="auto">
            <a:xfrm>
              <a:off x="4686300" y="3575050"/>
              <a:ext cx="2784475" cy="1266825"/>
            </a:xfrm>
            <a:custGeom>
              <a:avLst/>
              <a:gdLst>
                <a:gd name="T0" fmla="*/ 384 w 403"/>
                <a:gd name="T1" fmla="*/ 114 h 181"/>
                <a:gd name="T2" fmla="*/ 315 w 403"/>
                <a:gd name="T3" fmla="*/ 64 h 181"/>
                <a:gd name="T4" fmla="*/ 233 w 403"/>
                <a:gd name="T5" fmla="*/ 25 h 181"/>
                <a:gd name="T6" fmla="*/ 225 w 403"/>
                <a:gd name="T7" fmla="*/ 16 h 181"/>
                <a:gd name="T8" fmla="*/ 201 w 403"/>
                <a:gd name="T9" fmla="*/ 0 h 181"/>
                <a:gd name="T10" fmla="*/ 167 w 403"/>
                <a:gd name="T11" fmla="*/ 17 h 181"/>
                <a:gd name="T12" fmla="*/ 176 w 403"/>
                <a:gd name="T13" fmla="*/ 25 h 181"/>
                <a:gd name="T14" fmla="*/ 62 w 403"/>
                <a:gd name="T15" fmla="*/ 87 h 181"/>
                <a:gd name="T16" fmla="*/ 19 w 403"/>
                <a:gd name="T17" fmla="*/ 115 h 181"/>
                <a:gd name="T18" fmla="*/ 18 w 403"/>
                <a:gd name="T19" fmla="*/ 181 h 181"/>
                <a:gd name="T20" fmla="*/ 225 w 403"/>
                <a:gd name="T21" fmla="*/ 181 h 181"/>
                <a:gd name="T22" fmla="*/ 220 w 403"/>
                <a:gd name="T23" fmla="*/ 5 h 181"/>
                <a:gd name="T24" fmla="*/ 182 w 403"/>
                <a:gd name="T25" fmla="*/ 5 h 181"/>
                <a:gd name="T26" fmla="*/ 182 w 403"/>
                <a:gd name="T27" fmla="*/ 5 h 181"/>
                <a:gd name="T28" fmla="*/ 219 w 403"/>
                <a:gd name="T29" fmla="*/ 18 h 181"/>
                <a:gd name="T30" fmla="*/ 168 w 403"/>
                <a:gd name="T31" fmla="*/ 19 h 181"/>
                <a:gd name="T32" fmla="*/ 187 w 403"/>
                <a:gd name="T33" fmla="*/ 33 h 181"/>
                <a:gd name="T34" fmla="*/ 178 w 403"/>
                <a:gd name="T35" fmla="*/ 25 h 181"/>
                <a:gd name="T36" fmla="*/ 189 w 403"/>
                <a:gd name="T37" fmla="*/ 44 h 181"/>
                <a:gd name="T38" fmla="*/ 197 w 403"/>
                <a:gd name="T39" fmla="*/ 92 h 181"/>
                <a:gd name="T40" fmla="*/ 206 w 403"/>
                <a:gd name="T41" fmla="*/ 75 h 181"/>
                <a:gd name="T42" fmla="*/ 197 w 403"/>
                <a:gd name="T43" fmla="*/ 101 h 181"/>
                <a:gd name="T44" fmla="*/ 197 w 403"/>
                <a:gd name="T45" fmla="*/ 62 h 181"/>
                <a:gd name="T46" fmla="*/ 206 w 403"/>
                <a:gd name="T47" fmla="*/ 114 h 181"/>
                <a:gd name="T48" fmla="*/ 197 w 403"/>
                <a:gd name="T49" fmla="*/ 53 h 181"/>
                <a:gd name="T50" fmla="*/ 206 w 403"/>
                <a:gd name="T51" fmla="*/ 123 h 181"/>
                <a:gd name="T52" fmla="*/ 197 w 403"/>
                <a:gd name="T53" fmla="*/ 49 h 181"/>
                <a:gd name="T54" fmla="*/ 195 w 403"/>
                <a:gd name="T55" fmla="*/ 52 h 181"/>
                <a:gd name="T56" fmla="*/ 195 w 403"/>
                <a:gd name="T57" fmla="*/ 61 h 181"/>
                <a:gd name="T58" fmla="*/ 195 w 403"/>
                <a:gd name="T59" fmla="*/ 83 h 181"/>
                <a:gd name="T60" fmla="*/ 195 w 403"/>
                <a:gd name="T61" fmla="*/ 102 h 181"/>
                <a:gd name="T62" fmla="*/ 195 w 403"/>
                <a:gd name="T63" fmla="*/ 115 h 181"/>
                <a:gd name="T64" fmla="*/ 189 w 403"/>
                <a:gd name="T65" fmla="*/ 140 h 181"/>
                <a:gd name="T66" fmla="*/ 197 w 403"/>
                <a:gd name="T67" fmla="*/ 140 h 181"/>
                <a:gd name="T68" fmla="*/ 208 w 403"/>
                <a:gd name="T69" fmla="*/ 140 h 181"/>
                <a:gd name="T70" fmla="*/ 214 w 403"/>
                <a:gd name="T71" fmla="*/ 33 h 181"/>
                <a:gd name="T72" fmla="*/ 189 w 403"/>
                <a:gd name="T73" fmla="*/ 145 h 181"/>
                <a:gd name="T74" fmla="*/ 216 w 403"/>
                <a:gd name="T75" fmla="*/ 179 h 181"/>
                <a:gd name="T76" fmla="*/ 227 w 403"/>
                <a:gd name="T77" fmla="*/ 179 h 181"/>
                <a:gd name="T78" fmla="*/ 382 w 403"/>
                <a:gd name="T79" fmla="*/ 115 h 181"/>
                <a:gd name="T80" fmla="*/ 227 w 403"/>
                <a:gd name="T81" fmla="*/ 72 h 181"/>
                <a:gd name="T82" fmla="*/ 384 w 403"/>
                <a:gd name="T83" fmla="*/ 113 h 181"/>
                <a:gd name="T84" fmla="*/ 341 w 403"/>
                <a:gd name="T85" fmla="*/ 89 h 181"/>
                <a:gd name="T86" fmla="*/ 315 w 403"/>
                <a:gd name="T87" fmla="*/ 70 h 181"/>
                <a:gd name="T88" fmla="*/ 310 w 403"/>
                <a:gd name="T89" fmla="*/ 67 h 181"/>
                <a:gd name="T90" fmla="*/ 93 w 403"/>
                <a:gd name="T91" fmla="*/ 67 h 181"/>
                <a:gd name="T92" fmla="*/ 65 w 403"/>
                <a:gd name="T93" fmla="*/ 90 h 181"/>
                <a:gd name="T94" fmla="*/ 8 w 403"/>
                <a:gd name="T95" fmla="*/ 107 h 181"/>
                <a:gd name="T96" fmla="*/ 176 w 403"/>
                <a:gd name="T97" fmla="*/ 113 h 181"/>
                <a:gd name="T98" fmla="*/ 21 w 403"/>
                <a:gd name="T99" fmla="*/ 117 h 181"/>
                <a:gd name="T100" fmla="*/ 176 w 403"/>
                <a:gd name="T101" fmla="*/ 179 h 181"/>
                <a:gd name="T102" fmla="*/ 214 w 403"/>
                <a:gd name="T103" fmla="*/ 147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03" h="181">
                  <a:moveTo>
                    <a:pt x="384" y="179"/>
                  </a:moveTo>
                  <a:cubicBezTo>
                    <a:pt x="384" y="179"/>
                    <a:pt x="384" y="179"/>
                    <a:pt x="384" y="179"/>
                  </a:cubicBezTo>
                  <a:cubicBezTo>
                    <a:pt x="384" y="115"/>
                    <a:pt x="384" y="115"/>
                    <a:pt x="384" y="115"/>
                  </a:cubicBezTo>
                  <a:cubicBezTo>
                    <a:pt x="384" y="115"/>
                    <a:pt x="384" y="115"/>
                    <a:pt x="384" y="115"/>
                  </a:cubicBezTo>
                  <a:cubicBezTo>
                    <a:pt x="384" y="115"/>
                    <a:pt x="384" y="115"/>
                    <a:pt x="384" y="114"/>
                  </a:cubicBezTo>
                  <a:cubicBezTo>
                    <a:pt x="403" y="105"/>
                    <a:pt x="403" y="105"/>
                    <a:pt x="403" y="105"/>
                  </a:cubicBezTo>
                  <a:cubicBezTo>
                    <a:pt x="403" y="104"/>
                    <a:pt x="403" y="104"/>
                    <a:pt x="403" y="104"/>
                  </a:cubicBezTo>
                  <a:cubicBezTo>
                    <a:pt x="403" y="103"/>
                    <a:pt x="403" y="103"/>
                    <a:pt x="403" y="103"/>
                  </a:cubicBezTo>
                  <a:cubicBezTo>
                    <a:pt x="341" y="87"/>
                    <a:pt x="341" y="87"/>
                    <a:pt x="341" y="87"/>
                  </a:cubicBezTo>
                  <a:cubicBezTo>
                    <a:pt x="315" y="64"/>
                    <a:pt x="315" y="64"/>
                    <a:pt x="315" y="64"/>
                  </a:cubicBezTo>
                  <a:cubicBezTo>
                    <a:pt x="315" y="63"/>
                    <a:pt x="315" y="63"/>
                    <a:pt x="314" y="63"/>
                  </a:cubicBezTo>
                  <a:cubicBezTo>
                    <a:pt x="310" y="65"/>
                    <a:pt x="310" y="65"/>
                    <a:pt x="310" y="65"/>
                  </a:cubicBezTo>
                  <a:cubicBezTo>
                    <a:pt x="227" y="65"/>
                    <a:pt x="227" y="65"/>
                    <a:pt x="227" y="65"/>
                  </a:cubicBezTo>
                  <a:cubicBezTo>
                    <a:pt x="227" y="25"/>
                    <a:pt x="227" y="25"/>
                    <a:pt x="227" y="25"/>
                  </a:cubicBezTo>
                  <a:cubicBezTo>
                    <a:pt x="233" y="25"/>
                    <a:pt x="233" y="25"/>
                    <a:pt x="233" y="25"/>
                  </a:cubicBezTo>
                  <a:cubicBezTo>
                    <a:pt x="233" y="25"/>
                    <a:pt x="234" y="25"/>
                    <a:pt x="234" y="24"/>
                  </a:cubicBezTo>
                  <a:cubicBezTo>
                    <a:pt x="237" y="17"/>
                    <a:pt x="237" y="17"/>
                    <a:pt x="237" y="17"/>
                  </a:cubicBezTo>
                  <a:cubicBezTo>
                    <a:pt x="237" y="17"/>
                    <a:pt x="237" y="17"/>
                    <a:pt x="237" y="16"/>
                  </a:cubicBezTo>
                  <a:cubicBezTo>
                    <a:pt x="237" y="16"/>
                    <a:pt x="237" y="16"/>
                    <a:pt x="236" y="16"/>
                  </a:cubicBezTo>
                  <a:cubicBezTo>
                    <a:pt x="225" y="16"/>
                    <a:pt x="225" y="16"/>
                    <a:pt x="225" y="16"/>
                  </a:cubicBezTo>
                  <a:cubicBezTo>
                    <a:pt x="222" y="4"/>
                    <a:pt x="222" y="4"/>
                    <a:pt x="222" y="4"/>
                  </a:cubicBezTo>
                  <a:cubicBezTo>
                    <a:pt x="222" y="4"/>
                    <a:pt x="222" y="3"/>
                    <a:pt x="221" y="3"/>
                  </a:cubicBezTo>
                  <a:cubicBezTo>
                    <a:pt x="206" y="3"/>
                    <a:pt x="206" y="3"/>
                    <a:pt x="206" y="3"/>
                  </a:cubicBezTo>
                  <a:cubicBezTo>
                    <a:pt x="203" y="0"/>
                    <a:pt x="203" y="0"/>
                    <a:pt x="203" y="0"/>
                  </a:cubicBezTo>
                  <a:cubicBezTo>
                    <a:pt x="202" y="0"/>
                    <a:pt x="202" y="0"/>
                    <a:pt x="201" y="0"/>
                  </a:cubicBezTo>
                  <a:cubicBezTo>
                    <a:pt x="198" y="3"/>
                    <a:pt x="198" y="3"/>
                    <a:pt x="198" y="3"/>
                  </a:cubicBezTo>
                  <a:cubicBezTo>
                    <a:pt x="181" y="3"/>
                    <a:pt x="181" y="3"/>
                    <a:pt x="181" y="3"/>
                  </a:cubicBezTo>
                  <a:cubicBezTo>
                    <a:pt x="181" y="3"/>
                    <a:pt x="180" y="4"/>
                    <a:pt x="180" y="4"/>
                  </a:cubicBezTo>
                  <a:cubicBezTo>
                    <a:pt x="178" y="17"/>
                    <a:pt x="178" y="17"/>
                    <a:pt x="178" y="17"/>
                  </a:cubicBezTo>
                  <a:cubicBezTo>
                    <a:pt x="167" y="17"/>
                    <a:pt x="167" y="17"/>
                    <a:pt x="167" y="17"/>
                  </a:cubicBezTo>
                  <a:cubicBezTo>
                    <a:pt x="166" y="17"/>
                    <a:pt x="166" y="17"/>
                    <a:pt x="166" y="17"/>
                  </a:cubicBezTo>
                  <a:cubicBezTo>
                    <a:pt x="165" y="17"/>
                    <a:pt x="165" y="18"/>
                    <a:pt x="166" y="18"/>
                  </a:cubicBezTo>
                  <a:cubicBezTo>
                    <a:pt x="169" y="25"/>
                    <a:pt x="169" y="25"/>
                    <a:pt x="169" y="25"/>
                  </a:cubicBezTo>
                  <a:cubicBezTo>
                    <a:pt x="169" y="25"/>
                    <a:pt x="170" y="25"/>
                    <a:pt x="170" y="25"/>
                  </a:cubicBezTo>
                  <a:cubicBezTo>
                    <a:pt x="176" y="25"/>
                    <a:pt x="176" y="25"/>
                    <a:pt x="176" y="25"/>
                  </a:cubicBezTo>
                  <a:cubicBezTo>
                    <a:pt x="176" y="65"/>
                    <a:pt x="176" y="65"/>
                    <a:pt x="176" y="65"/>
                  </a:cubicBezTo>
                  <a:cubicBezTo>
                    <a:pt x="93" y="65"/>
                    <a:pt x="93" y="65"/>
                    <a:pt x="93" y="65"/>
                  </a:cubicBezTo>
                  <a:cubicBezTo>
                    <a:pt x="89" y="63"/>
                    <a:pt x="89" y="63"/>
                    <a:pt x="89" y="63"/>
                  </a:cubicBezTo>
                  <a:cubicBezTo>
                    <a:pt x="88" y="63"/>
                    <a:pt x="88" y="63"/>
                    <a:pt x="88" y="64"/>
                  </a:cubicBezTo>
                  <a:cubicBezTo>
                    <a:pt x="62" y="87"/>
                    <a:pt x="62" y="87"/>
                    <a:pt x="62" y="87"/>
                  </a:cubicBezTo>
                  <a:cubicBezTo>
                    <a:pt x="0" y="103"/>
                    <a:pt x="0" y="103"/>
                    <a:pt x="0" y="103"/>
                  </a:cubicBezTo>
                  <a:cubicBezTo>
                    <a:pt x="0" y="103"/>
                    <a:pt x="0" y="103"/>
                    <a:pt x="0" y="104"/>
                  </a:cubicBezTo>
                  <a:cubicBezTo>
                    <a:pt x="0" y="104"/>
                    <a:pt x="0" y="104"/>
                    <a:pt x="0" y="105"/>
                  </a:cubicBezTo>
                  <a:cubicBezTo>
                    <a:pt x="18" y="114"/>
                    <a:pt x="18" y="114"/>
                    <a:pt x="18" y="114"/>
                  </a:cubicBezTo>
                  <a:cubicBezTo>
                    <a:pt x="19" y="115"/>
                    <a:pt x="19" y="115"/>
                    <a:pt x="19" y="115"/>
                  </a:cubicBezTo>
                  <a:cubicBezTo>
                    <a:pt x="19" y="115"/>
                    <a:pt x="19" y="115"/>
                    <a:pt x="19" y="115"/>
                  </a:cubicBezTo>
                  <a:cubicBezTo>
                    <a:pt x="19" y="179"/>
                    <a:pt x="19" y="179"/>
                    <a:pt x="19" y="179"/>
                  </a:cubicBezTo>
                  <a:cubicBezTo>
                    <a:pt x="18" y="179"/>
                    <a:pt x="18" y="179"/>
                    <a:pt x="18" y="179"/>
                  </a:cubicBezTo>
                  <a:cubicBezTo>
                    <a:pt x="18" y="179"/>
                    <a:pt x="17" y="179"/>
                    <a:pt x="17" y="180"/>
                  </a:cubicBezTo>
                  <a:cubicBezTo>
                    <a:pt x="17" y="181"/>
                    <a:pt x="18" y="181"/>
                    <a:pt x="18" y="181"/>
                  </a:cubicBezTo>
                  <a:cubicBezTo>
                    <a:pt x="178" y="181"/>
                    <a:pt x="178" y="181"/>
                    <a:pt x="178" y="181"/>
                  </a:cubicBezTo>
                  <a:cubicBezTo>
                    <a:pt x="179" y="181"/>
                    <a:pt x="179" y="181"/>
                    <a:pt x="179" y="181"/>
                  </a:cubicBezTo>
                  <a:cubicBezTo>
                    <a:pt x="188" y="181"/>
                    <a:pt x="188" y="181"/>
                    <a:pt x="188" y="181"/>
                  </a:cubicBezTo>
                  <a:cubicBezTo>
                    <a:pt x="215" y="181"/>
                    <a:pt x="215" y="181"/>
                    <a:pt x="215" y="181"/>
                  </a:cubicBezTo>
                  <a:cubicBezTo>
                    <a:pt x="225" y="181"/>
                    <a:pt x="225" y="181"/>
                    <a:pt x="225" y="181"/>
                  </a:cubicBezTo>
                  <a:cubicBezTo>
                    <a:pt x="225" y="181"/>
                    <a:pt x="225" y="181"/>
                    <a:pt x="225" y="181"/>
                  </a:cubicBezTo>
                  <a:cubicBezTo>
                    <a:pt x="384" y="181"/>
                    <a:pt x="384" y="181"/>
                    <a:pt x="384" y="181"/>
                  </a:cubicBezTo>
                  <a:cubicBezTo>
                    <a:pt x="384" y="181"/>
                    <a:pt x="385" y="181"/>
                    <a:pt x="385" y="180"/>
                  </a:cubicBezTo>
                  <a:cubicBezTo>
                    <a:pt x="385" y="179"/>
                    <a:pt x="384" y="179"/>
                    <a:pt x="384" y="179"/>
                  </a:cubicBezTo>
                  <a:close/>
                  <a:moveTo>
                    <a:pt x="220" y="5"/>
                  </a:moveTo>
                  <a:cubicBezTo>
                    <a:pt x="223" y="16"/>
                    <a:pt x="223" y="16"/>
                    <a:pt x="223" y="16"/>
                  </a:cubicBezTo>
                  <a:cubicBezTo>
                    <a:pt x="220" y="16"/>
                    <a:pt x="220" y="16"/>
                    <a:pt x="220" y="16"/>
                  </a:cubicBezTo>
                  <a:cubicBezTo>
                    <a:pt x="208" y="5"/>
                    <a:pt x="208" y="5"/>
                    <a:pt x="208" y="5"/>
                  </a:cubicBezTo>
                  <a:lnTo>
                    <a:pt x="220" y="5"/>
                  </a:lnTo>
                  <a:close/>
                  <a:moveTo>
                    <a:pt x="182" y="5"/>
                  </a:moveTo>
                  <a:cubicBezTo>
                    <a:pt x="196" y="5"/>
                    <a:pt x="196" y="5"/>
                    <a:pt x="196" y="5"/>
                  </a:cubicBezTo>
                  <a:cubicBezTo>
                    <a:pt x="185" y="16"/>
                    <a:pt x="185" y="16"/>
                    <a:pt x="185" y="16"/>
                  </a:cubicBezTo>
                  <a:cubicBezTo>
                    <a:pt x="185" y="16"/>
                    <a:pt x="185" y="16"/>
                    <a:pt x="185" y="16"/>
                  </a:cubicBezTo>
                  <a:cubicBezTo>
                    <a:pt x="180" y="16"/>
                    <a:pt x="180" y="16"/>
                    <a:pt x="180" y="16"/>
                  </a:cubicBezTo>
                  <a:lnTo>
                    <a:pt x="182" y="5"/>
                  </a:lnTo>
                  <a:close/>
                  <a:moveTo>
                    <a:pt x="168" y="19"/>
                  </a:moveTo>
                  <a:cubicBezTo>
                    <a:pt x="185" y="19"/>
                    <a:pt x="185" y="19"/>
                    <a:pt x="185" y="19"/>
                  </a:cubicBezTo>
                  <a:cubicBezTo>
                    <a:pt x="185" y="19"/>
                    <a:pt x="185" y="19"/>
                    <a:pt x="185" y="18"/>
                  </a:cubicBezTo>
                  <a:cubicBezTo>
                    <a:pt x="202" y="2"/>
                    <a:pt x="202" y="2"/>
                    <a:pt x="202" y="2"/>
                  </a:cubicBezTo>
                  <a:cubicBezTo>
                    <a:pt x="219" y="18"/>
                    <a:pt x="219" y="18"/>
                    <a:pt x="219" y="18"/>
                  </a:cubicBezTo>
                  <a:cubicBezTo>
                    <a:pt x="219" y="18"/>
                    <a:pt x="219" y="18"/>
                    <a:pt x="219" y="18"/>
                  </a:cubicBezTo>
                  <a:cubicBezTo>
                    <a:pt x="235" y="18"/>
                    <a:pt x="235" y="18"/>
                    <a:pt x="235" y="18"/>
                  </a:cubicBezTo>
                  <a:cubicBezTo>
                    <a:pt x="232" y="23"/>
                    <a:pt x="232" y="23"/>
                    <a:pt x="232" y="23"/>
                  </a:cubicBezTo>
                  <a:cubicBezTo>
                    <a:pt x="170" y="23"/>
                    <a:pt x="170" y="23"/>
                    <a:pt x="170" y="23"/>
                  </a:cubicBezTo>
                  <a:lnTo>
                    <a:pt x="168" y="19"/>
                  </a:lnTo>
                  <a:close/>
                  <a:moveTo>
                    <a:pt x="179" y="179"/>
                  </a:moveTo>
                  <a:cubicBezTo>
                    <a:pt x="179" y="179"/>
                    <a:pt x="179" y="179"/>
                    <a:pt x="178" y="179"/>
                  </a:cubicBezTo>
                  <a:cubicBezTo>
                    <a:pt x="178" y="179"/>
                    <a:pt x="178" y="179"/>
                    <a:pt x="178" y="179"/>
                  </a:cubicBezTo>
                  <a:cubicBezTo>
                    <a:pt x="178" y="33"/>
                    <a:pt x="178" y="33"/>
                    <a:pt x="178" y="33"/>
                  </a:cubicBezTo>
                  <a:cubicBezTo>
                    <a:pt x="187" y="33"/>
                    <a:pt x="187" y="33"/>
                    <a:pt x="187" y="33"/>
                  </a:cubicBezTo>
                  <a:cubicBezTo>
                    <a:pt x="187" y="179"/>
                    <a:pt x="187" y="179"/>
                    <a:pt x="187" y="179"/>
                  </a:cubicBezTo>
                  <a:lnTo>
                    <a:pt x="179" y="179"/>
                  </a:lnTo>
                  <a:close/>
                  <a:moveTo>
                    <a:pt x="225" y="31"/>
                  </a:moveTo>
                  <a:cubicBezTo>
                    <a:pt x="178" y="31"/>
                    <a:pt x="178" y="31"/>
                    <a:pt x="178" y="31"/>
                  </a:cubicBezTo>
                  <a:cubicBezTo>
                    <a:pt x="178" y="25"/>
                    <a:pt x="178" y="25"/>
                    <a:pt x="178" y="25"/>
                  </a:cubicBezTo>
                  <a:cubicBezTo>
                    <a:pt x="225" y="25"/>
                    <a:pt x="225" y="25"/>
                    <a:pt x="225" y="25"/>
                  </a:cubicBezTo>
                  <a:lnTo>
                    <a:pt x="225" y="31"/>
                  </a:lnTo>
                  <a:close/>
                  <a:moveTo>
                    <a:pt x="214" y="47"/>
                  </a:moveTo>
                  <a:cubicBezTo>
                    <a:pt x="189" y="47"/>
                    <a:pt x="189" y="47"/>
                    <a:pt x="189" y="47"/>
                  </a:cubicBezTo>
                  <a:cubicBezTo>
                    <a:pt x="189" y="44"/>
                    <a:pt x="189" y="44"/>
                    <a:pt x="189" y="44"/>
                  </a:cubicBezTo>
                  <a:cubicBezTo>
                    <a:pt x="214" y="44"/>
                    <a:pt x="214" y="44"/>
                    <a:pt x="214" y="44"/>
                  </a:cubicBezTo>
                  <a:lnTo>
                    <a:pt x="214" y="47"/>
                  </a:lnTo>
                  <a:close/>
                  <a:moveTo>
                    <a:pt x="206" y="84"/>
                  </a:moveTo>
                  <a:cubicBezTo>
                    <a:pt x="206" y="92"/>
                    <a:pt x="206" y="92"/>
                    <a:pt x="206" y="92"/>
                  </a:cubicBezTo>
                  <a:cubicBezTo>
                    <a:pt x="197" y="92"/>
                    <a:pt x="197" y="92"/>
                    <a:pt x="197" y="92"/>
                  </a:cubicBezTo>
                  <a:cubicBezTo>
                    <a:pt x="197" y="84"/>
                    <a:pt x="197" y="84"/>
                    <a:pt x="197" y="84"/>
                  </a:cubicBezTo>
                  <a:lnTo>
                    <a:pt x="206" y="84"/>
                  </a:lnTo>
                  <a:close/>
                  <a:moveTo>
                    <a:pt x="197" y="82"/>
                  </a:moveTo>
                  <a:cubicBezTo>
                    <a:pt x="197" y="75"/>
                    <a:pt x="197" y="75"/>
                    <a:pt x="197" y="75"/>
                  </a:cubicBezTo>
                  <a:cubicBezTo>
                    <a:pt x="206" y="75"/>
                    <a:pt x="206" y="75"/>
                    <a:pt x="206" y="75"/>
                  </a:cubicBezTo>
                  <a:cubicBezTo>
                    <a:pt x="206" y="82"/>
                    <a:pt x="206" y="82"/>
                    <a:pt x="206" y="82"/>
                  </a:cubicBezTo>
                  <a:lnTo>
                    <a:pt x="197" y="82"/>
                  </a:lnTo>
                  <a:close/>
                  <a:moveTo>
                    <a:pt x="206" y="94"/>
                  </a:moveTo>
                  <a:cubicBezTo>
                    <a:pt x="206" y="101"/>
                    <a:pt x="206" y="101"/>
                    <a:pt x="206" y="101"/>
                  </a:cubicBezTo>
                  <a:cubicBezTo>
                    <a:pt x="197" y="101"/>
                    <a:pt x="197" y="101"/>
                    <a:pt x="197" y="101"/>
                  </a:cubicBezTo>
                  <a:cubicBezTo>
                    <a:pt x="197" y="94"/>
                    <a:pt x="197" y="94"/>
                    <a:pt x="197" y="94"/>
                  </a:cubicBezTo>
                  <a:lnTo>
                    <a:pt x="206" y="94"/>
                  </a:lnTo>
                  <a:close/>
                  <a:moveTo>
                    <a:pt x="206" y="73"/>
                  </a:moveTo>
                  <a:cubicBezTo>
                    <a:pt x="197" y="73"/>
                    <a:pt x="197" y="73"/>
                    <a:pt x="197" y="73"/>
                  </a:cubicBezTo>
                  <a:cubicBezTo>
                    <a:pt x="197" y="62"/>
                    <a:pt x="197" y="62"/>
                    <a:pt x="197" y="62"/>
                  </a:cubicBezTo>
                  <a:cubicBezTo>
                    <a:pt x="206" y="62"/>
                    <a:pt x="206" y="62"/>
                    <a:pt x="206" y="62"/>
                  </a:cubicBezTo>
                  <a:lnTo>
                    <a:pt x="206" y="73"/>
                  </a:lnTo>
                  <a:close/>
                  <a:moveTo>
                    <a:pt x="197" y="103"/>
                  </a:moveTo>
                  <a:cubicBezTo>
                    <a:pt x="206" y="103"/>
                    <a:pt x="206" y="103"/>
                    <a:pt x="206" y="103"/>
                  </a:cubicBezTo>
                  <a:cubicBezTo>
                    <a:pt x="206" y="114"/>
                    <a:pt x="206" y="114"/>
                    <a:pt x="206" y="114"/>
                  </a:cubicBezTo>
                  <a:cubicBezTo>
                    <a:pt x="197" y="114"/>
                    <a:pt x="197" y="114"/>
                    <a:pt x="197" y="114"/>
                  </a:cubicBezTo>
                  <a:lnTo>
                    <a:pt x="197" y="103"/>
                  </a:lnTo>
                  <a:close/>
                  <a:moveTo>
                    <a:pt x="206" y="60"/>
                  </a:moveTo>
                  <a:cubicBezTo>
                    <a:pt x="197" y="60"/>
                    <a:pt x="197" y="60"/>
                    <a:pt x="197" y="60"/>
                  </a:cubicBezTo>
                  <a:cubicBezTo>
                    <a:pt x="197" y="53"/>
                    <a:pt x="197" y="53"/>
                    <a:pt x="197" y="53"/>
                  </a:cubicBezTo>
                  <a:cubicBezTo>
                    <a:pt x="206" y="53"/>
                    <a:pt x="206" y="53"/>
                    <a:pt x="206" y="53"/>
                  </a:cubicBezTo>
                  <a:lnTo>
                    <a:pt x="206" y="60"/>
                  </a:lnTo>
                  <a:close/>
                  <a:moveTo>
                    <a:pt x="197" y="116"/>
                  </a:moveTo>
                  <a:cubicBezTo>
                    <a:pt x="206" y="116"/>
                    <a:pt x="206" y="116"/>
                    <a:pt x="206" y="116"/>
                  </a:cubicBezTo>
                  <a:cubicBezTo>
                    <a:pt x="206" y="123"/>
                    <a:pt x="206" y="123"/>
                    <a:pt x="206" y="123"/>
                  </a:cubicBezTo>
                  <a:cubicBezTo>
                    <a:pt x="197" y="123"/>
                    <a:pt x="197" y="123"/>
                    <a:pt x="197" y="123"/>
                  </a:cubicBezTo>
                  <a:lnTo>
                    <a:pt x="197" y="116"/>
                  </a:lnTo>
                  <a:close/>
                  <a:moveTo>
                    <a:pt x="206" y="51"/>
                  </a:moveTo>
                  <a:cubicBezTo>
                    <a:pt x="197" y="51"/>
                    <a:pt x="197" y="51"/>
                    <a:pt x="197" y="51"/>
                  </a:cubicBezTo>
                  <a:cubicBezTo>
                    <a:pt x="197" y="49"/>
                    <a:pt x="197" y="49"/>
                    <a:pt x="197" y="49"/>
                  </a:cubicBezTo>
                  <a:cubicBezTo>
                    <a:pt x="206" y="49"/>
                    <a:pt x="206" y="49"/>
                    <a:pt x="206" y="49"/>
                  </a:cubicBezTo>
                  <a:lnTo>
                    <a:pt x="206" y="51"/>
                  </a:lnTo>
                  <a:close/>
                  <a:moveTo>
                    <a:pt x="189" y="49"/>
                  </a:moveTo>
                  <a:cubicBezTo>
                    <a:pt x="195" y="49"/>
                    <a:pt x="195" y="49"/>
                    <a:pt x="195" y="49"/>
                  </a:cubicBezTo>
                  <a:cubicBezTo>
                    <a:pt x="195" y="52"/>
                    <a:pt x="195" y="52"/>
                    <a:pt x="195" y="52"/>
                  </a:cubicBezTo>
                  <a:cubicBezTo>
                    <a:pt x="195" y="52"/>
                    <a:pt x="195" y="52"/>
                    <a:pt x="195" y="52"/>
                  </a:cubicBezTo>
                  <a:cubicBezTo>
                    <a:pt x="195" y="52"/>
                    <a:pt x="195" y="52"/>
                    <a:pt x="195" y="52"/>
                  </a:cubicBezTo>
                  <a:cubicBezTo>
                    <a:pt x="195" y="61"/>
                    <a:pt x="195" y="61"/>
                    <a:pt x="195" y="61"/>
                  </a:cubicBezTo>
                  <a:cubicBezTo>
                    <a:pt x="195" y="61"/>
                    <a:pt x="195" y="61"/>
                    <a:pt x="195" y="61"/>
                  </a:cubicBezTo>
                  <a:cubicBezTo>
                    <a:pt x="195" y="61"/>
                    <a:pt x="195" y="61"/>
                    <a:pt x="195" y="61"/>
                  </a:cubicBezTo>
                  <a:cubicBezTo>
                    <a:pt x="195" y="74"/>
                    <a:pt x="195" y="74"/>
                    <a:pt x="195" y="74"/>
                  </a:cubicBezTo>
                  <a:cubicBezTo>
                    <a:pt x="195" y="74"/>
                    <a:pt x="195" y="74"/>
                    <a:pt x="195" y="74"/>
                  </a:cubicBezTo>
                  <a:cubicBezTo>
                    <a:pt x="195" y="74"/>
                    <a:pt x="195" y="74"/>
                    <a:pt x="195" y="74"/>
                  </a:cubicBezTo>
                  <a:cubicBezTo>
                    <a:pt x="195" y="83"/>
                    <a:pt x="195" y="83"/>
                    <a:pt x="195" y="83"/>
                  </a:cubicBezTo>
                  <a:cubicBezTo>
                    <a:pt x="195" y="83"/>
                    <a:pt x="195" y="83"/>
                    <a:pt x="195" y="83"/>
                  </a:cubicBezTo>
                  <a:cubicBezTo>
                    <a:pt x="195" y="83"/>
                    <a:pt x="195" y="83"/>
                    <a:pt x="195" y="83"/>
                  </a:cubicBezTo>
                  <a:cubicBezTo>
                    <a:pt x="195" y="93"/>
                    <a:pt x="195" y="93"/>
                    <a:pt x="195" y="93"/>
                  </a:cubicBezTo>
                  <a:cubicBezTo>
                    <a:pt x="195" y="93"/>
                    <a:pt x="195" y="93"/>
                    <a:pt x="195" y="93"/>
                  </a:cubicBezTo>
                  <a:cubicBezTo>
                    <a:pt x="195" y="94"/>
                    <a:pt x="195" y="94"/>
                    <a:pt x="195" y="94"/>
                  </a:cubicBezTo>
                  <a:cubicBezTo>
                    <a:pt x="195" y="102"/>
                    <a:pt x="195" y="102"/>
                    <a:pt x="195" y="102"/>
                  </a:cubicBezTo>
                  <a:cubicBezTo>
                    <a:pt x="195" y="102"/>
                    <a:pt x="195" y="102"/>
                    <a:pt x="195" y="102"/>
                  </a:cubicBezTo>
                  <a:cubicBezTo>
                    <a:pt x="195" y="103"/>
                    <a:pt x="195" y="103"/>
                    <a:pt x="195" y="103"/>
                  </a:cubicBezTo>
                  <a:cubicBezTo>
                    <a:pt x="195" y="115"/>
                    <a:pt x="195" y="115"/>
                    <a:pt x="195" y="115"/>
                  </a:cubicBezTo>
                  <a:cubicBezTo>
                    <a:pt x="195" y="115"/>
                    <a:pt x="195" y="115"/>
                    <a:pt x="195" y="115"/>
                  </a:cubicBezTo>
                  <a:cubicBezTo>
                    <a:pt x="195" y="115"/>
                    <a:pt x="195" y="115"/>
                    <a:pt x="195" y="115"/>
                  </a:cubicBezTo>
                  <a:cubicBezTo>
                    <a:pt x="195" y="124"/>
                    <a:pt x="195" y="124"/>
                    <a:pt x="195" y="124"/>
                  </a:cubicBezTo>
                  <a:cubicBezTo>
                    <a:pt x="195" y="124"/>
                    <a:pt x="195" y="124"/>
                    <a:pt x="195" y="124"/>
                  </a:cubicBezTo>
                  <a:cubicBezTo>
                    <a:pt x="195" y="124"/>
                    <a:pt x="195" y="124"/>
                    <a:pt x="195" y="124"/>
                  </a:cubicBezTo>
                  <a:cubicBezTo>
                    <a:pt x="195" y="140"/>
                    <a:pt x="195" y="140"/>
                    <a:pt x="195" y="140"/>
                  </a:cubicBezTo>
                  <a:cubicBezTo>
                    <a:pt x="189" y="140"/>
                    <a:pt x="189" y="140"/>
                    <a:pt x="189" y="140"/>
                  </a:cubicBezTo>
                  <a:lnTo>
                    <a:pt x="189" y="49"/>
                  </a:lnTo>
                  <a:close/>
                  <a:moveTo>
                    <a:pt x="197" y="125"/>
                  </a:moveTo>
                  <a:cubicBezTo>
                    <a:pt x="206" y="125"/>
                    <a:pt x="206" y="125"/>
                    <a:pt x="206" y="125"/>
                  </a:cubicBezTo>
                  <a:cubicBezTo>
                    <a:pt x="206" y="140"/>
                    <a:pt x="206" y="140"/>
                    <a:pt x="206" y="140"/>
                  </a:cubicBezTo>
                  <a:cubicBezTo>
                    <a:pt x="197" y="140"/>
                    <a:pt x="197" y="140"/>
                    <a:pt x="197" y="140"/>
                  </a:cubicBezTo>
                  <a:lnTo>
                    <a:pt x="197" y="125"/>
                  </a:lnTo>
                  <a:close/>
                  <a:moveTo>
                    <a:pt x="208" y="49"/>
                  </a:moveTo>
                  <a:cubicBezTo>
                    <a:pt x="214" y="49"/>
                    <a:pt x="214" y="49"/>
                    <a:pt x="214" y="49"/>
                  </a:cubicBezTo>
                  <a:cubicBezTo>
                    <a:pt x="214" y="140"/>
                    <a:pt x="214" y="140"/>
                    <a:pt x="214" y="140"/>
                  </a:cubicBezTo>
                  <a:cubicBezTo>
                    <a:pt x="208" y="140"/>
                    <a:pt x="208" y="140"/>
                    <a:pt x="208" y="140"/>
                  </a:cubicBezTo>
                  <a:lnTo>
                    <a:pt x="208" y="49"/>
                  </a:lnTo>
                  <a:close/>
                  <a:moveTo>
                    <a:pt x="214" y="42"/>
                  </a:moveTo>
                  <a:cubicBezTo>
                    <a:pt x="189" y="42"/>
                    <a:pt x="189" y="42"/>
                    <a:pt x="189" y="42"/>
                  </a:cubicBezTo>
                  <a:cubicBezTo>
                    <a:pt x="189" y="33"/>
                    <a:pt x="189" y="33"/>
                    <a:pt x="189" y="33"/>
                  </a:cubicBezTo>
                  <a:cubicBezTo>
                    <a:pt x="214" y="33"/>
                    <a:pt x="214" y="33"/>
                    <a:pt x="214" y="33"/>
                  </a:cubicBezTo>
                  <a:lnTo>
                    <a:pt x="214" y="42"/>
                  </a:lnTo>
                  <a:close/>
                  <a:moveTo>
                    <a:pt x="189" y="142"/>
                  </a:moveTo>
                  <a:cubicBezTo>
                    <a:pt x="214" y="142"/>
                    <a:pt x="214" y="142"/>
                    <a:pt x="214" y="142"/>
                  </a:cubicBezTo>
                  <a:cubicBezTo>
                    <a:pt x="214" y="145"/>
                    <a:pt x="214" y="145"/>
                    <a:pt x="214" y="145"/>
                  </a:cubicBezTo>
                  <a:cubicBezTo>
                    <a:pt x="189" y="145"/>
                    <a:pt x="189" y="145"/>
                    <a:pt x="189" y="145"/>
                  </a:cubicBezTo>
                  <a:lnTo>
                    <a:pt x="189" y="142"/>
                  </a:lnTo>
                  <a:close/>
                  <a:moveTo>
                    <a:pt x="216" y="33"/>
                  </a:moveTo>
                  <a:cubicBezTo>
                    <a:pt x="225" y="33"/>
                    <a:pt x="225" y="33"/>
                    <a:pt x="225" y="33"/>
                  </a:cubicBezTo>
                  <a:cubicBezTo>
                    <a:pt x="225" y="179"/>
                    <a:pt x="225" y="179"/>
                    <a:pt x="225" y="179"/>
                  </a:cubicBezTo>
                  <a:cubicBezTo>
                    <a:pt x="216" y="179"/>
                    <a:pt x="216" y="179"/>
                    <a:pt x="216" y="179"/>
                  </a:cubicBezTo>
                  <a:lnTo>
                    <a:pt x="216" y="33"/>
                  </a:lnTo>
                  <a:close/>
                  <a:moveTo>
                    <a:pt x="227" y="119"/>
                  </a:moveTo>
                  <a:cubicBezTo>
                    <a:pt x="382" y="119"/>
                    <a:pt x="382" y="119"/>
                    <a:pt x="382" y="119"/>
                  </a:cubicBezTo>
                  <a:cubicBezTo>
                    <a:pt x="382" y="179"/>
                    <a:pt x="382" y="179"/>
                    <a:pt x="382" y="179"/>
                  </a:cubicBezTo>
                  <a:cubicBezTo>
                    <a:pt x="227" y="179"/>
                    <a:pt x="227" y="179"/>
                    <a:pt x="227" y="179"/>
                  </a:cubicBezTo>
                  <a:lnTo>
                    <a:pt x="227" y="119"/>
                  </a:lnTo>
                  <a:close/>
                  <a:moveTo>
                    <a:pt x="382" y="117"/>
                  </a:moveTo>
                  <a:cubicBezTo>
                    <a:pt x="227" y="117"/>
                    <a:pt x="227" y="117"/>
                    <a:pt x="227" y="117"/>
                  </a:cubicBezTo>
                  <a:cubicBezTo>
                    <a:pt x="227" y="115"/>
                    <a:pt x="227" y="115"/>
                    <a:pt x="227" y="115"/>
                  </a:cubicBezTo>
                  <a:cubicBezTo>
                    <a:pt x="382" y="115"/>
                    <a:pt x="382" y="115"/>
                    <a:pt x="382" y="115"/>
                  </a:cubicBezTo>
                  <a:lnTo>
                    <a:pt x="382" y="117"/>
                  </a:lnTo>
                  <a:close/>
                  <a:moveTo>
                    <a:pt x="384" y="113"/>
                  </a:moveTo>
                  <a:cubicBezTo>
                    <a:pt x="227" y="113"/>
                    <a:pt x="227" y="113"/>
                    <a:pt x="227" y="113"/>
                  </a:cubicBezTo>
                  <a:cubicBezTo>
                    <a:pt x="227" y="72"/>
                    <a:pt x="227" y="72"/>
                    <a:pt x="227" y="72"/>
                  </a:cubicBezTo>
                  <a:cubicBezTo>
                    <a:pt x="227" y="72"/>
                    <a:pt x="227" y="72"/>
                    <a:pt x="227" y="72"/>
                  </a:cubicBezTo>
                  <a:cubicBezTo>
                    <a:pt x="314" y="72"/>
                    <a:pt x="314" y="72"/>
                    <a:pt x="314" y="72"/>
                  </a:cubicBezTo>
                  <a:cubicBezTo>
                    <a:pt x="336" y="92"/>
                    <a:pt x="336" y="92"/>
                    <a:pt x="336" y="92"/>
                  </a:cubicBezTo>
                  <a:cubicBezTo>
                    <a:pt x="337" y="92"/>
                    <a:pt x="337" y="92"/>
                    <a:pt x="337" y="92"/>
                  </a:cubicBezTo>
                  <a:cubicBezTo>
                    <a:pt x="394" y="107"/>
                    <a:pt x="394" y="107"/>
                    <a:pt x="394" y="107"/>
                  </a:cubicBezTo>
                  <a:lnTo>
                    <a:pt x="384" y="113"/>
                  </a:lnTo>
                  <a:close/>
                  <a:moveTo>
                    <a:pt x="310" y="67"/>
                  </a:moveTo>
                  <a:cubicBezTo>
                    <a:pt x="310" y="67"/>
                    <a:pt x="310" y="67"/>
                    <a:pt x="310" y="67"/>
                  </a:cubicBezTo>
                  <a:cubicBezTo>
                    <a:pt x="314" y="66"/>
                    <a:pt x="314" y="66"/>
                    <a:pt x="314" y="66"/>
                  </a:cubicBezTo>
                  <a:cubicBezTo>
                    <a:pt x="340" y="89"/>
                    <a:pt x="340" y="89"/>
                    <a:pt x="340" y="89"/>
                  </a:cubicBezTo>
                  <a:cubicBezTo>
                    <a:pt x="340" y="89"/>
                    <a:pt x="340" y="89"/>
                    <a:pt x="341" y="89"/>
                  </a:cubicBezTo>
                  <a:cubicBezTo>
                    <a:pt x="400" y="104"/>
                    <a:pt x="400" y="104"/>
                    <a:pt x="400" y="104"/>
                  </a:cubicBezTo>
                  <a:cubicBezTo>
                    <a:pt x="397" y="105"/>
                    <a:pt x="397" y="105"/>
                    <a:pt x="397" y="105"/>
                  </a:cubicBezTo>
                  <a:cubicBezTo>
                    <a:pt x="397" y="105"/>
                    <a:pt x="397" y="105"/>
                    <a:pt x="397" y="105"/>
                  </a:cubicBezTo>
                  <a:cubicBezTo>
                    <a:pt x="338" y="90"/>
                    <a:pt x="338" y="90"/>
                    <a:pt x="338" y="90"/>
                  </a:cubicBezTo>
                  <a:cubicBezTo>
                    <a:pt x="315" y="70"/>
                    <a:pt x="315" y="70"/>
                    <a:pt x="315" y="70"/>
                  </a:cubicBezTo>
                  <a:cubicBezTo>
                    <a:pt x="315" y="70"/>
                    <a:pt x="315" y="70"/>
                    <a:pt x="314" y="70"/>
                  </a:cubicBezTo>
                  <a:cubicBezTo>
                    <a:pt x="227" y="70"/>
                    <a:pt x="227" y="70"/>
                    <a:pt x="227" y="70"/>
                  </a:cubicBezTo>
                  <a:cubicBezTo>
                    <a:pt x="227" y="70"/>
                    <a:pt x="227" y="70"/>
                    <a:pt x="227" y="70"/>
                  </a:cubicBezTo>
                  <a:cubicBezTo>
                    <a:pt x="227" y="67"/>
                    <a:pt x="227" y="67"/>
                    <a:pt x="227" y="67"/>
                  </a:cubicBezTo>
                  <a:lnTo>
                    <a:pt x="310" y="67"/>
                  </a:lnTo>
                  <a:close/>
                  <a:moveTo>
                    <a:pt x="62" y="89"/>
                  </a:moveTo>
                  <a:cubicBezTo>
                    <a:pt x="63" y="89"/>
                    <a:pt x="63" y="89"/>
                    <a:pt x="63" y="89"/>
                  </a:cubicBezTo>
                  <a:cubicBezTo>
                    <a:pt x="89" y="66"/>
                    <a:pt x="89" y="66"/>
                    <a:pt x="89" y="66"/>
                  </a:cubicBezTo>
                  <a:cubicBezTo>
                    <a:pt x="93" y="67"/>
                    <a:pt x="93" y="67"/>
                    <a:pt x="93" y="67"/>
                  </a:cubicBezTo>
                  <a:cubicBezTo>
                    <a:pt x="93" y="67"/>
                    <a:pt x="93" y="67"/>
                    <a:pt x="93" y="67"/>
                  </a:cubicBezTo>
                  <a:cubicBezTo>
                    <a:pt x="176" y="67"/>
                    <a:pt x="176" y="67"/>
                    <a:pt x="176" y="67"/>
                  </a:cubicBezTo>
                  <a:cubicBezTo>
                    <a:pt x="176" y="70"/>
                    <a:pt x="176" y="70"/>
                    <a:pt x="176" y="70"/>
                  </a:cubicBezTo>
                  <a:cubicBezTo>
                    <a:pt x="88" y="70"/>
                    <a:pt x="88" y="70"/>
                    <a:pt x="88" y="70"/>
                  </a:cubicBezTo>
                  <a:cubicBezTo>
                    <a:pt x="88" y="70"/>
                    <a:pt x="88" y="70"/>
                    <a:pt x="88" y="70"/>
                  </a:cubicBezTo>
                  <a:cubicBezTo>
                    <a:pt x="65" y="90"/>
                    <a:pt x="65" y="90"/>
                    <a:pt x="65" y="90"/>
                  </a:cubicBezTo>
                  <a:cubicBezTo>
                    <a:pt x="6" y="105"/>
                    <a:pt x="6" y="105"/>
                    <a:pt x="6" y="105"/>
                  </a:cubicBezTo>
                  <a:cubicBezTo>
                    <a:pt x="6" y="105"/>
                    <a:pt x="6" y="105"/>
                    <a:pt x="6" y="105"/>
                  </a:cubicBezTo>
                  <a:cubicBezTo>
                    <a:pt x="3" y="104"/>
                    <a:pt x="3" y="104"/>
                    <a:pt x="3" y="104"/>
                  </a:cubicBezTo>
                  <a:lnTo>
                    <a:pt x="62" y="89"/>
                  </a:lnTo>
                  <a:close/>
                  <a:moveTo>
                    <a:pt x="8" y="107"/>
                  </a:moveTo>
                  <a:cubicBezTo>
                    <a:pt x="66" y="92"/>
                    <a:pt x="66" y="92"/>
                    <a:pt x="66" y="92"/>
                  </a:cubicBezTo>
                  <a:cubicBezTo>
                    <a:pt x="66" y="92"/>
                    <a:pt x="66" y="92"/>
                    <a:pt x="66" y="92"/>
                  </a:cubicBezTo>
                  <a:cubicBezTo>
                    <a:pt x="89" y="72"/>
                    <a:pt x="89" y="72"/>
                    <a:pt x="89" y="72"/>
                  </a:cubicBezTo>
                  <a:cubicBezTo>
                    <a:pt x="176" y="72"/>
                    <a:pt x="176" y="72"/>
                    <a:pt x="176" y="72"/>
                  </a:cubicBezTo>
                  <a:cubicBezTo>
                    <a:pt x="176" y="113"/>
                    <a:pt x="176" y="113"/>
                    <a:pt x="176" y="113"/>
                  </a:cubicBezTo>
                  <a:cubicBezTo>
                    <a:pt x="19" y="113"/>
                    <a:pt x="19" y="113"/>
                    <a:pt x="19" y="113"/>
                  </a:cubicBezTo>
                  <a:lnTo>
                    <a:pt x="8" y="107"/>
                  </a:lnTo>
                  <a:close/>
                  <a:moveTo>
                    <a:pt x="176" y="115"/>
                  </a:moveTo>
                  <a:cubicBezTo>
                    <a:pt x="176" y="117"/>
                    <a:pt x="176" y="117"/>
                    <a:pt x="176" y="117"/>
                  </a:cubicBezTo>
                  <a:cubicBezTo>
                    <a:pt x="21" y="117"/>
                    <a:pt x="21" y="117"/>
                    <a:pt x="21" y="117"/>
                  </a:cubicBezTo>
                  <a:cubicBezTo>
                    <a:pt x="21" y="115"/>
                    <a:pt x="21" y="115"/>
                    <a:pt x="21" y="115"/>
                  </a:cubicBezTo>
                  <a:lnTo>
                    <a:pt x="176" y="115"/>
                  </a:lnTo>
                  <a:close/>
                  <a:moveTo>
                    <a:pt x="21" y="119"/>
                  </a:moveTo>
                  <a:cubicBezTo>
                    <a:pt x="176" y="119"/>
                    <a:pt x="176" y="119"/>
                    <a:pt x="176" y="119"/>
                  </a:cubicBezTo>
                  <a:cubicBezTo>
                    <a:pt x="176" y="179"/>
                    <a:pt x="176" y="179"/>
                    <a:pt x="176" y="179"/>
                  </a:cubicBezTo>
                  <a:cubicBezTo>
                    <a:pt x="21" y="179"/>
                    <a:pt x="21" y="179"/>
                    <a:pt x="21" y="179"/>
                  </a:cubicBezTo>
                  <a:lnTo>
                    <a:pt x="21" y="119"/>
                  </a:lnTo>
                  <a:close/>
                  <a:moveTo>
                    <a:pt x="189" y="179"/>
                  </a:moveTo>
                  <a:cubicBezTo>
                    <a:pt x="189" y="147"/>
                    <a:pt x="189" y="147"/>
                    <a:pt x="189" y="147"/>
                  </a:cubicBezTo>
                  <a:cubicBezTo>
                    <a:pt x="214" y="147"/>
                    <a:pt x="214" y="147"/>
                    <a:pt x="214" y="147"/>
                  </a:cubicBezTo>
                  <a:cubicBezTo>
                    <a:pt x="214" y="179"/>
                    <a:pt x="214" y="179"/>
                    <a:pt x="214" y="179"/>
                  </a:cubicBezTo>
                  <a:lnTo>
                    <a:pt x="189" y="179"/>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7" name="Freeform 234"/>
            <p:cNvSpPr/>
            <p:nvPr userDrawn="1"/>
          </p:nvSpPr>
          <p:spPr bwMode="auto">
            <a:xfrm>
              <a:off x="6034088" y="3622675"/>
              <a:ext cx="96838" cy="92075"/>
            </a:xfrm>
            <a:custGeom>
              <a:avLst/>
              <a:gdLst>
                <a:gd name="T0" fmla="*/ 39 w 61"/>
                <a:gd name="T1" fmla="*/ 22 h 58"/>
                <a:gd name="T2" fmla="*/ 30 w 61"/>
                <a:gd name="T3" fmla="*/ 0 h 58"/>
                <a:gd name="T4" fmla="*/ 22 w 61"/>
                <a:gd name="T5" fmla="*/ 22 h 58"/>
                <a:gd name="T6" fmla="*/ 0 w 61"/>
                <a:gd name="T7" fmla="*/ 22 h 58"/>
                <a:gd name="T8" fmla="*/ 17 w 61"/>
                <a:gd name="T9" fmla="*/ 36 h 58"/>
                <a:gd name="T10" fmla="*/ 13 w 61"/>
                <a:gd name="T11" fmla="*/ 58 h 58"/>
                <a:gd name="T12" fmla="*/ 30 w 61"/>
                <a:gd name="T13" fmla="*/ 44 h 58"/>
                <a:gd name="T14" fmla="*/ 48 w 61"/>
                <a:gd name="T15" fmla="*/ 58 h 58"/>
                <a:gd name="T16" fmla="*/ 43 w 61"/>
                <a:gd name="T17" fmla="*/ 36 h 58"/>
                <a:gd name="T18" fmla="*/ 61 w 61"/>
                <a:gd name="T19" fmla="*/ 22 h 58"/>
                <a:gd name="T20" fmla="*/ 39 w 61"/>
                <a:gd name="T21" fmla="*/ 22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1" h="58">
                  <a:moveTo>
                    <a:pt x="39" y="22"/>
                  </a:moveTo>
                  <a:lnTo>
                    <a:pt x="30" y="0"/>
                  </a:lnTo>
                  <a:lnTo>
                    <a:pt x="22" y="22"/>
                  </a:lnTo>
                  <a:lnTo>
                    <a:pt x="0" y="22"/>
                  </a:lnTo>
                  <a:lnTo>
                    <a:pt x="17" y="36"/>
                  </a:lnTo>
                  <a:lnTo>
                    <a:pt x="13" y="58"/>
                  </a:lnTo>
                  <a:lnTo>
                    <a:pt x="30" y="44"/>
                  </a:lnTo>
                  <a:lnTo>
                    <a:pt x="48" y="58"/>
                  </a:lnTo>
                  <a:lnTo>
                    <a:pt x="43" y="36"/>
                  </a:lnTo>
                  <a:lnTo>
                    <a:pt x="61" y="22"/>
                  </a:lnTo>
                  <a:lnTo>
                    <a:pt x="39" y="2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8" name="Freeform 235"/>
            <p:cNvSpPr/>
            <p:nvPr userDrawn="1"/>
          </p:nvSpPr>
          <p:spPr bwMode="auto">
            <a:xfrm>
              <a:off x="6034088" y="4630738"/>
              <a:ext cx="14288"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9" name="Freeform 236"/>
            <p:cNvSpPr/>
            <p:nvPr userDrawn="1"/>
          </p:nvSpPr>
          <p:spPr bwMode="auto">
            <a:xfrm>
              <a:off x="6110288"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0" y="0"/>
                    <a:pt x="0" y="0"/>
                    <a:pt x="0" y="1"/>
                  </a:cubicBezTo>
                  <a:cubicBezTo>
                    <a:pt x="0" y="24"/>
                    <a:pt x="0" y="24"/>
                    <a:pt x="0" y="24"/>
                  </a:cubicBezTo>
                  <a:cubicBezTo>
                    <a:pt x="0" y="25"/>
                    <a:pt x="0"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0" name="Freeform 237"/>
            <p:cNvSpPr/>
            <p:nvPr userDrawn="1"/>
          </p:nvSpPr>
          <p:spPr bwMode="auto">
            <a:xfrm>
              <a:off x="6069013" y="4630738"/>
              <a:ext cx="12700" cy="176213"/>
            </a:xfrm>
            <a:custGeom>
              <a:avLst/>
              <a:gdLst>
                <a:gd name="T0" fmla="*/ 1 w 2"/>
                <a:gd name="T1" fmla="*/ 0 h 25"/>
                <a:gd name="T2" fmla="*/ 0 w 2"/>
                <a:gd name="T3" fmla="*/ 1 h 25"/>
                <a:gd name="T4" fmla="*/ 0 w 2"/>
                <a:gd name="T5" fmla="*/ 24 h 25"/>
                <a:gd name="T6" fmla="*/ 1 w 2"/>
                <a:gd name="T7" fmla="*/ 25 h 25"/>
                <a:gd name="T8" fmla="*/ 2 w 2"/>
                <a:gd name="T9" fmla="*/ 24 h 25"/>
                <a:gd name="T10" fmla="*/ 2 w 2"/>
                <a:gd name="T11" fmla="*/ 1 h 25"/>
                <a:gd name="T12" fmla="*/ 1 w 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 h="25">
                  <a:moveTo>
                    <a:pt x="1" y="0"/>
                  </a:moveTo>
                  <a:cubicBezTo>
                    <a:pt x="1" y="0"/>
                    <a:pt x="0" y="0"/>
                    <a:pt x="0" y="1"/>
                  </a:cubicBezTo>
                  <a:cubicBezTo>
                    <a:pt x="0" y="24"/>
                    <a:pt x="0" y="24"/>
                    <a:pt x="0" y="24"/>
                  </a:cubicBezTo>
                  <a:cubicBezTo>
                    <a:pt x="0" y="25"/>
                    <a:pt x="1" y="25"/>
                    <a:pt x="1" y="25"/>
                  </a:cubicBezTo>
                  <a:cubicBezTo>
                    <a:pt x="2" y="25"/>
                    <a:pt x="2" y="25"/>
                    <a:pt x="2" y="24"/>
                  </a:cubicBezTo>
                  <a:cubicBezTo>
                    <a:pt x="2" y="1"/>
                    <a:pt x="2" y="1"/>
                    <a:pt x="2" y="1"/>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1" name="Freeform 238"/>
            <p:cNvSpPr/>
            <p:nvPr userDrawn="1"/>
          </p:nvSpPr>
          <p:spPr bwMode="auto">
            <a:xfrm>
              <a:off x="6040438"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2" y="6"/>
                    <a:pt x="2" y="6"/>
                    <a:pt x="2" y="5"/>
                  </a:cubicBezTo>
                  <a:cubicBezTo>
                    <a:pt x="2" y="1"/>
                    <a:pt x="2" y="1"/>
                    <a:pt x="2" y="1"/>
                  </a:cubicBezTo>
                  <a:cubicBezTo>
                    <a:pt x="2" y="0"/>
                    <a:pt x="2" y="0"/>
                    <a:pt x="1" y="0"/>
                  </a:cubicBezTo>
                  <a:cubicBezTo>
                    <a:pt x="1" y="0"/>
                    <a:pt x="0" y="0"/>
                    <a:pt x="0" y="1"/>
                  </a:cubicBezTo>
                  <a:cubicBezTo>
                    <a:pt x="0" y="5"/>
                    <a:pt x="0" y="5"/>
                    <a:pt x="0" y="5"/>
                  </a:cubicBezTo>
                  <a:cubicBezTo>
                    <a:pt x="0" y="6"/>
                    <a:pt x="1"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Freeform 239"/>
            <p:cNvSpPr/>
            <p:nvPr userDrawn="1"/>
          </p:nvSpPr>
          <p:spPr bwMode="auto">
            <a:xfrm>
              <a:off x="6102350" y="3811588"/>
              <a:ext cx="14288" cy="42863"/>
            </a:xfrm>
            <a:custGeom>
              <a:avLst/>
              <a:gdLst>
                <a:gd name="T0" fmla="*/ 1 w 2"/>
                <a:gd name="T1" fmla="*/ 6 h 6"/>
                <a:gd name="T2" fmla="*/ 2 w 2"/>
                <a:gd name="T3" fmla="*/ 5 h 6"/>
                <a:gd name="T4" fmla="*/ 2 w 2"/>
                <a:gd name="T5" fmla="*/ 1 h 6"/>
                <a:gd name="T6" fmla="*/ 1 w 2"/>
                <a:gd name="T7" fmla="*/ 0 h 6"/>
                <a:gd name="T8" fmla="*/ 0 w 2"/>
                <a:gd name="T9" fmla="*/ 1 h 6"/>
                <a:gd name="T10" fmla="*/ 0 w 2"/>
                <a:gd name="T11" fmla="*/ 5 h 6"/>
                <a:gd name="T12" fmla="*/ 1 w 2"/>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2" h="6">
                  <a:moveTo>
                    <a:pt x="1" y="6"/>
                  </a:moveTo>
                  <a:cubicBezTo>
                    <a:pt x="1" y="6"/>
                    <a:pt x="2" y="6"/>
                    <a:pt x="2" y="5"/>
                  </a:cubicBezTo>
                  <a:cubicBezTo>
                    <a:pt x="2" y="1"/>
                    <a:pt x="2" y="1"/>
                    <a:pt x="2" y="1"/>
                  </a:cubicBezTo>
                  <a:cubicBezTo>
                    <a:pt x="2" y="0"/>
                    <a:pt x="1" y="0"/>
                    <a:pt x="1" y="0"/>
                  </a:cubicBezTo>
                  <a:cubicBezTo>
                    <a:pt x="0" y="0"/>
                    <a:pt x="0" y="0"/>
                    <a:pt x="0" y="1"/>
                  </a:cubicBezTo>
                  <a:cubicBezTo>
                    <a:pt x="0" y="5"/>
                    <a:pt x="0" y="5"/>
                    <a:pt x="0" y="5"/>
                  </a:cubicBezTo>
                  <a:cubicBezTo>
                    <a:pt x="0" y="6"/>
                    <a:pt x="0" y="6"/>
                    <a:pt x="1" y="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3" name="Freeform 240"/>
            <p:cNvSpPr/>
            <p:nvPr userDrawn="1"/>
          </p:nvSpPr>
          <p:spPr bwMode="auto">
            <a:xfrm>
              <a:off x="580548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4" name="Freeform 241"/>
            <p:cNvSpPr/>
            <p:nvPr userDrawn="1"/>
          </p:nvSpPr>
          <p:spPr bwMode="auto">
            <a:xfrm>
              <a:off x="5702300"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Freeform 242"/>
            <p:cNvSpPr/>
            <p:nvPr userDrawn="1"/>
          </p:nvSpPr>
          <p:spPr bwMode="auto">
            <a:xfrm>
              <a:off x="559911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6" name="Freeform 243"/>
            <p:cNvSpPr/>
            <p:nvPr userDrawn="1"/>
          </p:nvSpPr>
          <p:spPr bwMode="auto">
            <a:xfrm>
              <a:off x="5494338"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7" name="Freeform 244"/>
            <p:cNvSpPr/>
            <p:nvPr userDrawn="1"/>
          </p:nvSpPr>
          <p:spPr bwMode="auto">
            <a:xfrm>
              <a:off x="5391150"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Freeform 245"/>
            <p:cNvSpPr/>
            <p:nvPr userDrawn="1"/>
          </p:nvSpPr>
          <p:spPr bwMode="auto">
            <a:xfrm>
              <a:off x="528796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9" name="Freeform 246"/>
            <p:cNvSpPr/>
            <p:nvPr userDrawn="1"/>
          </p:nvSpPr>
          <p:spPr bwMode="auto">
            <a:xfrm>
              <a:off x="5183188"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0" name="Freeform 247"/>
            <p:cNvSpPr/>
            <p:nvPr userDrawn="1"/>
          </p:nvSpPr>
          <p:spPr bwMode="auto">
            <a:xfrm>
              <a:off x="50800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1" name="Freeform 248"/>
            <p:cNvSpPr/>
            <p:nvPr userDrawn="1"/>
          </p:nvSpPr>
          <p:spPr bwMode="auto">
            <a:xfrm>
              <a:off x="4976813"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2" name="Freeform 249"/>
            <p:cNvSpPr/>
            <p:nvPr userDrawn="1"/>
          </p:nvSpPr>
          <p:spPr bwMode="auto">
            <a:xfrm>
              <a:off x="4879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3" name="Freeform 250"/>
            <p:cNvSpPr/>
            <p:nvPr userDrawn="1"/>
          </p:nvSpPr>
          <p:spPr bwMode="auto">
            <a:xfrm>
              <a:off x="580548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4" name="Freeform 251"/>
            <p:cNvSpPr/>
            <p:nvPr userDrawn="1"/>
          </p:nvSpPr>
          <p:spPr bwMode="auto">
            <a:xfrm>
              <a:off x="5702300"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5" name="Freeform 252"/>
            <p:cNvSpPr/>
            <p:nvPr userDrawn="1"/>
          </p:nvSpPr>
          <p:spPr bwMode="auto">
            <a:xfrm>
              <a:off x="559911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6" name="Freeform 253"/>
            <p:cNvSpPr/>
            <p:nvPr userDrawn="1"/>
          </p:nvSpPr>
          <p:spPr bwMode="auto">
            <a:xfrm>
              <a:off x="5494338"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7" name="Freeform 254"/>
            <p:cNvSpPr/>
            <p:nvPr userDrawn="1"/>
          </p:nvSpPr>
          <p:spPr bwMode="auto">
            <a:xfrm>
              <a:off x="5391150"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8" name="Freeform 255"/>
            <p:cNvSpPr/>
            <p:nvPr userDrawn="1"/>
          </p:nvSpPr>
          <p:spPr bwMode="auto">
            <a:xfrm>
              <a:off x="528796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89" name="Freeform 256"/>
            <p:cNvSpPr/>
            <p:nvPr userDrawn="1"/>
          </p:nvSpPr>
          <p:spPr bwMode="auto">
            <a:xfrm>
              <a:off x="5183188"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0" name="Freeform 257"/>
            <p:cNvSpPr/>
            <p:nvPr userDrawn="1"/>
          </p:nvSpPr>
          <p:spPr bwMode="auto">
            <a:xfrm>
              <a:off x="50800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1" name="Freeform 258"/>
            <p:cNvSpPr/>
            <p:nvPr userDrawn="1"/>
          </p:nvSpPr>
          <p:spPr bwMode="auto">
            <a:xfrm>
              <a:off x="4976813"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2" name="Freeform 259"/>
            <p:cNvSpPr/>
            <p:nvPr userDrawn="1"/>
          </p:nvSpPr>
          <p:spPr bwMode="auto">
            <a:xfrm>
              <a:off x="4879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3" name="Freeform 260"/>
            <p:cNvSpPr/>
            <p:nvPr userDrawn="1"/>
          </p:nvSpPr>
          <p:spPr bwMode="auto">
            <a:xfrm>
              <a:off x="72231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4" name="Freeform 261"/>
            <p:cNvSpPr/>
            <p:nvPr userDrawn="1"/>
          </p:nvSpPr>
          <p:spPr bwMode="auto">
            <a:xfrm>
              <a:off x="7118350" y="4435475"/>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5" name="Freeform 262"/>
            <p:cNvSpPr/>
            <p:nvPr userDrawn="1"/>
          </p:nvSpPr>
          <p:spPr bwMode="auto">
            <a:xfrm>
              <a:off x="7015163"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6" name="Freeform 263"/>
            <p:cNvSpPr/>
            <p:nvPr userDrawn="1"/>
          </p:nvSpPr>
          <p:spPr bwMode="auto">
            <a:xfrm>
              <a:off x="691197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7" name="Freeform 264"/>
            <p:cNvSpPr/>
            <p:nvPr userDrawn="1"/>
          </p:nvSpPr>
          <p:spPr bwMode="auto">
            <a:xfrm>
              <a:off x="6807200"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8" name="Freeform 265"/>
            <p:cNvSpPr/>
            <p:nvPr userDrawn="1"/>
          </p:nvSpPr>
          <p:spPr bwMode="auto">
            <a:xfrm>
              <a:off x="670401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9" name="Freeform 266"/>
            <p:cNvSpPr/>
            <p:nvPr userDrawn="1"/>
          </p:nvSpPr>
          <p:spPr bwMode="auto">
            <a:xfrm>
              <a:off x="6600825"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0" name="Freeform 267"/>
            <p:cNvSpPr/>
            <p:nvPr userDrawn="1"/>
          </p:nvSpPr>
          <p:spPr bwMode="auto">
            <a:xfrm>
              <a:off x="6497638" y="4435475"/>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1" name="Freeform 268"/>
            <p:cNvSpPr/>
            <p:nvPr userDrawn="1"/>
          </p:nvSpPr>
          <p:spPr bwMode="auto">
            <a:xfrm>
              <a:off x="6392863" y="4435475"/>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2" name="Freeform 269"/>
            <p:cNvSpPr/>
            <p:nvPr userDrawn="1"/>
          </p:nvSpPr>
          <p:spPr bwMode="auto">
            <a:xfrm>
              <a:off x="6296025" y="4435475"/>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3" name="Freeform 270"/>
            <p:cNvSpPr/>
            <p:nvPr userDrawn="1"/>
          </p:nvSpPr>
          <p:spPr bwMode="auto">
            <a:xfrm>
              <a:off x="72231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4" name="Freeform 271"/>
            <p:cNvSpPr/>
            <p:nvPr userDrawn="1"/>
          </p:nvSpPr>
          <p:spPr bwMode="auto">
            <a:xfrm>
              <a:off x="7118350" y="4603750"/>
              <a:ext cx="63500"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5" name="Freeform 272"/>
            <p:cNvSpPr/>
            <p:nvPr userDrawn="1"/>
          </p:nvSpPr>
          <p:spPr bwMode="auto">
            <a:xfrm>
              <a:off x="7015163"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6" name="Freeform 273"/>
            <p:cNvSpPr/>
            <p:nvPr userDrawn="1"/>
          </p:nvSpPr>
          <p:spPr bwMode="auto">
            <a:xfrm>
              <a:off x="691197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7" name="Freeform 274"/>
            <p:cNvSpPr/>
            <p:nvPr userDrawn="1"/>
          </p:nvSpPr>
          <p:spPr bwMode="auto">
            <a:xfrm>
              <a:off x="6807200"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0" y="0"/>
                    <a:pt x="0" y="0"/>
                    <a:pt x="0" y="1"/>
                  </a:cubicBezTo>
                  <a:cubicBezTo>
                    <a:pt x="0" y="18"/>
                    <a:pt x="0" y="18"/>
                    <a:pt x="0" y="18"/>
                  </a:cubicBezTo>
                  <a:cubicBezTo>
                    <a:pt x="0" y="18"/>
                    <a:pt x="0"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8" name="Freeform 275"/>
            <p:cNvSpPr/>
            <p:nvPr userDrawn="1"/>
          </p:nvSpPr>
          <p:spPr bwMode="auto">
            <a:xfrm>
              <a:off x="670401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9" name="Freeform 276"/>
            <p:cNvSpPr/>
            <p:nvPr userDrawn="1"/>
          </p:nvSpPr>
          <p:spPr bwMode="auto">
            <a:xfrm>
              <a:off x="6600825"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 name="Freeform 277"/>
            <p:cNvSpPr/>
            <p:nvPr userDrawn="1"/>
          </p:nvSpPr>
          <p:spPr bwMode="auto">
            <a:xfrm>
              <a:off x="6497638" y="4603750"/>
              <a:ext cx="68263"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9" y="19"/>
                    <a:pt x="10" y="18"/>
                    <a:pt x="10" y="18"/>
                  </a:cubicBezTo>
                  <a:cubicBezTo>
                    <a:pt x="10" y="1"/>
                    <a:pt x="10" y="1"/>
                    <a:pt x="10" y="1"/>
                  </a:cubicBezTo>
                  <a:cubicBezTo>
                    <a:pt x="10" y="0"/>
                    <a:pt x="9"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1" name="Freeform 278"/>
            <p:cNvSpPr/>
            <p:nvPr userDrawn="1"/>
          </p:nvSpPr>
          <p:spPr bwMode="auto">
            <a:xfrm>
              <a:off x="6392863" y="4603750"/>
              <a:ext cx="69850" cy="133350"/>
            </a:xfrm>
            <a:custGeom>
              <a:avLst/>
              <a:gdLst>
                <a:gd name="T0" fmla="*/ 9 w 10"/>
                <a:gd name="T1" fmla="*/ 0 h 19"/>
                <a:gd name="T2" fmla="*/ 1 w 10"/>
                <a:gd name="T3" fmla="*/ 0 h 19"/>
                <a:gd name="T4" fmla="*/ 0 w 10"/>
                <a:gd name="T5" fmla="*/ 1 h 19"/>
                <a:gd name="T6" fmla="*/ 0 w 10"/>
                <a:gd name="T7" fmla="*/ 18 h 19"/>
                <a:gd name="T8" fmla="*/ 1 w 10"/>
                <a:gd name="T9" fmla="*/ 19 h 19"/>
                <a:gd name="T10" fmla="*/ 2 w 10"/>
                <a:gd name="T11" fmla="*/ 18 h 19"/>
                <a:gd name="T12" fmla="*/ 2 w 10"/>
                <a:gd name="T13" fmla="*/ 2 h 19"/>
                <a:gd name="T14" fmla="*/ 8 w 10"/>
                <a:gd name="T15" fmla="*/ 2 h 19"/>
                <a:gd name="T16" fmla="*/ 8 w 10"/>
                <a:gd name="T17" fmla="*/ 18 h 19"/>
                <a:gd name="T18" fmla="*/ 9 w 10"/>
                <a:gd name="T19" fmla="*/ 19 h 19"/>
                <a:gd name="T20" fmla="*/ 10 w 10"/>
                <a:gd name="T21" fmla="*/ 18 h 19"/>
                <a:gd name="T22" fmla="*/ 10 w 10"/>
                <a:gd name="T23" fmla="*/ 1 h 19"/>
                <a:gd name="T24" fmla="*/ 9 w 10"/>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 h="19">
                  <a:moveTo>
                    <a:pt x="9" y="0"/>
                  </a:moveTo>
                  <a:cubicBezTo>
                    <a:pt x="1" y="0"/>
                    <a:pt x="1" y="0"/>
                    <a:pt x="1" y="0"/>
                  </a:cubicBezTo>
                  <a:cubicBezTo>
                    <a:pt x="1" y="0"/>
                    <a:pt x="0" y="0"/>
                    <a:pt x="0" y="1"/>
                  </a:cubicBezTo>
                  <a:cubicBezTo>
                    <a:pt x="0" y="18"/>
                    <a:pt x="0" y="18"/>
                    <a:pt x="0" y="18"/>
                  </a:cubicBezTo>
                  <a:cubicBezTo>
                    <a:pt x="0" y="18"/>
                    <a:pt x="1" y="19"/>
                    <a:pt x="1" y="19"/>
                  </a:cubicBezTo>
                  <a:cubicBezTo>
                    <a:pt x="2" y="19"/>
                    <a:pt x="2" y="18"/>
                    <a:pt x="2" y="18"/>
                  </a:cubicBezTo>
                  <a:cubicBezTo>
                    <a:pt x="2" y="2"/>
                    <a:pt x="2" y="2"/>
                    <a:pt x="2" y="2"/>
                  </a:cubicBezTo>
                  <a:cubicBezTo>
                    <a:pt x="8" y="2"/>
                    <a:pt x="8" y="2"/>
                    <a:pt x="8" y="2"/>
                  </a:cubicBezTo>
                  <a:cubicBezTo>
                    <a:pt x="8" y="18"/>
                    <a:pt x="8" y="18"/>
                    <a:pt x="8" y="18"/>
                  </a:cubicBezTo>
                  <a:cubicBezTo>
                    <a:pt x="8" y="18"/>
                    <a:pt x="8" y="19"/>
                    <a:pt x="9" y="19"/>
                  </a:cubicBezTo>
                  <a:cubicBezTo>
                    <a:pt x="10" y="19"/>
                    <a:pt x="10" y="18"/>
                    <a:pt x="10" y="18"/>
                  </a:cubicBezTo>
                  <a:cubicBezTo>
                    <a:pt x="10" y="1"/>
                    <a:pt x="10" y="1"/>
                    <a:pt x="10" y="1"/>
                  </a:cubicBezTo>
                  <a:cubicBezTo>
                    <a:pt x="10" y="0"/>
                    <a:pt x="10" y="0"/>
                    <a:pt x="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2" name="Freeform 279"/>
            <p:cNvSpPr/>
            <p:nvPr userDrawn="1"/>
          </p:nvSpPr>
          <p:spPr bwMode="auto">
            <a:xfrm>
              <a:off x="6296025" y="4603750"/>
              <a:ext cx="61913" cy="133350"/>
            </a:xfrm>
            <a:custGeom>
              <a:avLst/>
              <a:gdLst>
                <a:gd name="T0" fmla="*/ 8 w 9"/>
                <a:gd name="T1" fmla="*/ 0 h 19"/>
                <a:gd name="T2" fmla="*/ 1 w 9"/>
                <a:gd name="T3" fmla="*/ 0 h 19"/>
                <a:gd name="T4" fmla="*/ 0 w 9"/>
                <a:gd name="T5" fmla="*/ 1 h 19"/>
                <a:gd name="T6" fmla="*/ 0 w 9"/>
                <a:gd name="T7" fmla="*/ 18 h 19"/>
                <a:gd name="T8" fmla="*/ 1 w 9"/>
                <a:gd name="T9" fmla="*/ 19 h 19"/>
                <a:gd name="T10" fmla="*/ 2 w 9"/>
                <a:gd name="T11" fmla="*/ 18 h 19"/>
                <a:gd name="T12" fmla="*/ 2 w 9"/>
                <a:gd name="T13" fmla="*/ 2 h 19"/>
                <a:gd name="T14" fmla="*/ 7 w 9"/>
                <a:gd name="T15" fmla="*/ 2 h 19"/>
                <a:gd name="T16" fmla="*/ 7 w 9"/>
                <a:gd name="T17" fmla="*/ 18 h 19"/>
                <a:gd name="T18" fmla="*/ 8 w 9"/>
                <a:gd name="T19" fmla="*/ 19 h 19"/>
                <a:gd name="T20" fmla="*/ 9 w 9"/>
                <a:gd name="T21" fmla="*/ 18 h 19"/>
                <a:gd name="T22" fmla="*/ 9 w 9"/>
                <a:gd name="T23" fmla="*/ 1 h 19"/>
                <a:gd name="T24" fmla="*/ 8 w 9"/>
                <a:gd name="T25"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 h="19">
                  <a:moveTo>
                    <a:pt x="8" y="0"/>
                  </a:moveTo>
                  <a:cubicBezTo>
                    <a:pt x="1" y="0"/>
                    <a:pt x="1" y="0"/>
                    <a:pt x="1" y="0"/>
                  </a:cubicBezTo>
                  <a:cubicBezTo>
                    <a:pt x="0" y="0"/>
                    <a:pt x="0" y="0"/>
                    <a:pt x="0" y="1"/>
                  </a:cubicBezTo>
                  <a:cubicBezTo>
                    <a:pt x="0" y="18"/>
                    <a:pt x="0" y="18"/>
                    <a:pt x="0" y="18"/>
                  </a:cubicBezTo>
                  <a:cubicBezTo>
                    <a:pt x="0" y="18"/>
                    <a:pt x="0" y="19"/>
                    <a:pt x="1" y="19"/>
                  </a:cubicBezTo>
                  <a:cubicBezTo>
                    <a:pt x="1" y="19"/>
                    <a:pt x="2" y="18"/>
                    <a:pt x="2" y="18"/>
                  </a:cubicBezTo>
                  <a:cubicBezTo>
                    <a:pt x="2" y="2"/>
                    <a:pt x="2" y="2"/>
                    <a:pt x="2" y="2"/>
                  </a:cubicBezTo>
                  <a:cubicBezTo>
                    <a:pt x="7" y="2"/>
                    <a:pt x="7" y="2"/>
                    <a:pt x="7" y="2"/>
                  </a:cubicBezTo>
                  <a:cubicBezTo>
                    <a:pt x="7" y="18"/>
                    <a:pt x="7" y="18"/>
                    <a:pt x="7" y="18"/>
                  </a:cubicBezTo>
                  <a:cubicBezTo>
                    <a:pt x="7" y="18"/>
                    <a:pt x="8" y="19"/>
                    <a:pt x="8" y="19"/>
                  </a:cubicBezTo>
                  <a:cubicBezTo>
                    <a:pt x="9" y="19"/>
                    <a:pt x="9" y="18"/>
                    <a:pt x="9" y="18"/>
                  </a:cubicBezTo>
                  <a:cubicBezTo>
                    <a:pt x="9" y="1"/>
                    <a:pt x="9" y="1"/>
                    <a:pt x="9" y="1"/>
                  </a:cubicBezTo>
                  <a:cubicBezTo>
                    <a:pt x="9" y="0"/>
                    <a:pt x="9" y="0"/>
                    <a:pt x="8"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3" name="Freeform 280"/>
            <p:cNvSpPr>
              <a:spLocks noEditPoints="1"/>
            </p:cNvSpPr>
            <p:nvPr userDrawn="1"/>
          </p:nvSpPr>
          <p:spPr bwMode="auto">
            <a:xfrm>
              <a:off x="2101850" y="4162425"/>
              <a:ext cx="2170113" cy="679450"/>
            </a:xfrm>
            <a:custGeom>
              <a:avLst/>
              <a:gdLst>
                <a:gd name="T0" fmla="*/ 164 w 314"/>
                <a:gd name="T1" fmla="*/ 68 h 97"/>
                <a:gd name="T2" fmla="*/ 111 w 314"/>
                <a:gd name="T3" fmla="*/ 20 h 97"/>
                <a:gd name="T4" fmla="*/ 83 w 314"/>
                <a:gd name="T5" fmla="*/ 60 h 97"/>
                <a:gd name="T6" fmla="*/ 64 w 314"/>
                <a:gd name="T7" fmla="*/ 72 h 97"/>
                <a:gd name="T8" fmla="*/ 44 w 314"/>
                <a:gd name="T9" fmla="*/ 60 h 97"/>
                <a:gd name="T10" fmla="*/ 36 w 314"/>
                <a:gd name="T11" fmla="*/ 60 h 97"/>
                <a:gd name="T12" fmla="*/ 21 w 314"/>
                <a:gd name="T13" fmla="*/ 79 h 97"/>
                <a:gd name="T14" fmla="*/ 113 w 314"/>
                <a:gd name="T15" fmla="*/ 87 h 97"/>
                <a:gd name="T16" fmla="*/ 163 w 314"/>
                <a:gd name="T17" fmla="*/ 86 h 97"/>
                <a:gd name="T18" fmla="*/ 261 w 314"/>
                <a:gd name="T19" fmla="*/ 40 h 97"/>
                <a:gd name="T20" fmla="*/ 261 w 314"/>
                <a:gd name="T21" fmla="*/ 59 h 97"/>
                <a:gd name="T22" fmla="*/ 261 w 314"/>
                <a:gd name="T23" fmla="*/ 87 h 97"/>
                <a:gd name="T24" fmla="*/ 313 w 314"/>
                <a:gd name="T25" fmla="*/ 97 h 97"/>
                <a:gd name="T26" fmla="*/ 73 w 314"/>
                <a:gd name="T27" fmla="*/ 95 h 97"/>
                <a:gd name="T28" fmla="*/ 67 w 314"/>
                <a:gd name="T29" fmla="*/ 77 h 97"/>
                <a:gd name="T30" fmla="*/ 84 w 314"/>
                <a:gd name="T31" fmla="*/ 58 h 97"/>
                <a:gd name="T32" fmla="*/ 75 w 314"/>
                <a:gd name="T33" fmla="*/ 94 h 97"/>
                <a:gd name="T34" fmla="*/ 48 w 314"/>
                <a:gd name="T35" fmla="*/ 58 h 97"/>
                <a:gd name="T36" fmla="*/ 62 w 314"/>
                <a:gd name="T37" fmla="*/ 73 h 97"/>
                <a:gd name="T38" fmla="*/ 39 w 314"/>
                <a:gd name="T39" fmla="*/ 74 h 97"/>
                <a:gd name="T40" fmla="*/ 22 w 314"/>
                <a:gd name="T41" fmla="*/ 64 h 97"/>
                <a:gd name="T42" fmla="*/ 32 w 314"/>
                <a:gd name="T43" fmla="*/ 64 h 97"/>
                <a:gd name="T44" fmla="*/ 23 w 314"/>
                <a:gd name="T45" fmla="*/ 77 h 97"/>
                <a:gd name="T46" fmla="*/ 28 w 314"/>
                <a:gd name="T47" fmla="*/ 95 h 97"/>
                <a:gd name="T48" fmla="*/ 132 w 314"/>
                <a:gd name="T49" fmla="*/ 53 h 97"/>
                <a:gd name="T50" fmla="*/ 144 w 314"/>
                <a:gd name="T51" fmla="*/ 63 h 97"/>
                <a:gd name="T52" fmla="*/ 113 w 314"/>
                <a:gd name="T53" fmla="*/ 43 h 97"/>
                <a:gd name="T54" fmla="*/ 145 w 314"/>
                <a:gd name="T55" fmla="*/ 32 h 97"/>
                <a:gd name="T56" fmla="*/ 163 w 314"/>
                <a:gd name="T57" fmla="*/ 37 h 97"/>
                <a:gd name="T58" fmla="*/ 163 w 314"/>
                <a:gd name="T59" fmla="*/ 45 h 97"/>
                <a:gd name="T60" fmla="*/ 113 w 314"/>
                <a:gd name="T61" fmla="*/ 30 h 97"/>
                <a:gd name="T62" fmla="*/ 154 w 314"/>
                <a:gd name="T63" fmla="*/ 68 h 97"/>
                <a:gd name="T64" fmla="*/ 163 w 314"/>
                <a:gd name="T65" fmla="*/ 20 h 97"/>
                <a:gd name="T66" fmla="*/ 113 w 314"/>
                <a:gd name="T67" fmla="*/ 79 h 97"/>
                <a:gd name="T68" fmla="*/ 113 w 314"/>
                <a:gd name="T69" fmla="*/ 79 h 97"/>
                <a:gd name="T70" fmla="*/ 287 w 314"/>
                <a:gd name="T71" fmla="*/ 48 h 97"/>
                <a:gd name="T72" fmla="*/ 288 w 314"/>
                <a:gd name="T73" fmla="*/ 41 h 97"/>
                <a:gd name="T74" fmla="*/ 312 w 314"/>
                <a:gd name="T75" fmla="*/ 41 h 97"/>
                <a:gd name="T76" fmla="*/ 288 w 314"/>
                <a:gd name="T77" fmla="*/ 60 h 97"/>
                <a:gd name="T78" fmla="*/ 297 w 314"/>
                <a:gd name="T79" fmla="*/ 60 h 97"/>
                <a:gd name="T80" fmla="*/ 272 w 314"/>
                <a:gd name="T81" fmla="*/ 67 h 97"/>
                <a:gd name="T82" fmla="*/ 272 w 314"/>
                <a:gd name="T83" fmla="*/ 69 h 97"/>
                <a:gd name="T84" fmla="*/ 288 w 314"/>
                <a:gd name="T85" fmla="*/ 69 h 97"/>
                <a:gd name="T86" fmla="*/ 304 w 314"/>
                <a:gd name="T87" fmla="*/ 77 h 97"/>
                <a:gd name="T88" fmla="*/ 305 w 314"/>
                <a:gd name="T89" fmla="*/ 69 h 97"/>
                <a:gd name="T90" fmla="*/ 305 w 314"/>
                <a:gd name="T91" fmla="*/ 50 h 97"/>
                <a:gd name="T92" fmla="*/ 304 w 314"/>
                <a:gd name="T93" fmla="*/ 50 h 97"/>
                <a:gd name="T94" fmla="*/ 287 w 314"/>
                <a:gd name="T95" fmla="*/ 58 h 97"/>
                <a:gd name="T96" fmla="*/ 272 w 314"/>
                <a:gd name="T97" fmla="*/ 50 h 97"/>
                <a:gd name="T98" fmla="*/ 270 w 314"/>
                <a:gd name="T99" fmla="*/ 58 h 97"/>
                <a:gd name="T100" fmla="*/ 270 w 314"/>
                <a:gd name="T101" fmla="*/ 77 h 97"/>
                <a:gd name="T102" fmla="*/ 263 w 314"/>
                <a:gd name="T103" fmla="*/ 79 h 97"/>
                <a:gd name="T104" fmla="*/ 280 w 314"/>
                <a:gd name="T105" fmla="*/ 79 h 97"/>
                <a:gd name="T106" fmla="*/ 295 w 314"/>
                <a:gd name="T107" fmla="*/ 86 h 97"/>
                <a:gd name="T108" fmla="*/ 297 w 314"/>
                <a:gd name="T109" fmla="*/ 79 h 97"/>
                <a:gd name="T110" fmla="*/ 263 w 314"/>
                <a:gd name="T111" fmla="*/ 48 h 97"/>
                <a:gd name="T112" fmla="*/ 263 w 314"/>
                <a:gd name="T113" fmla="*/ 95 h 97"/>
                <a:gd name="T114" fmla="*/ 280 w 314"/>
                <a:gd name="T115" fmla="*/ 88 h 97"/>
                <a:gd name="T116" fmla="*/ 295 w 314"/>
                <a:gd name="T117" fmla="*/ 95 h 97"/>
                <a:gd name="T118" fmla="*/ 297 w 314"/>
                <a:gd name="T119" fmla="*/ 88 h 97"/>
                <a:gd name="T120" fmla="*/ 312 w 314"/>
                <a:gd name="T121" fmla="*/ 39 h 97"/>
                <a:gd name="T122" fmla="*/ 288 w 314"/>
                <a:gd name="T123" fmla="*/ 39 h 97"/>
                <a:gd name="T124" fmla="*/ 271 w 314"/>
                <a:gd name="T125" fmla="*/ 3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14" h="97">
                  <a:moveTo>
                    <a:pt x="263" y="1"/>
                  </a:moveTo>
                  <a:cubicBezTo>
                    <a:pt x="263" y="0"/>
                    <a:pt x="262" y="0"/>
                    <a:pt x="262" y="1"/>
                  </a:cubicBezTo>
                  <a:cubicBezTo>
                    <a:pt x="173" y="63"/>
                    <a:pt x="173" y="63"/>
                    <a:pt x="173" y="63"/>
                  </a:cubicBezTo>
                  <a:cubicBezTo>
                    <a:pt x="172" y="63"/>
                    <a:pt x="172" y="63"/>
                    <a:pt x="172" y="64"/>
                  </a:cubicBezTo>
                  <a:cubicBezTo>
                    <a:pt x="172" y="84"/>
                    <a:pt x="172" y="84"/>
                    <a:pt x="172" y="84"/>
                  </a:cubicBezTo>
                  <a:cubicBezTo>
                    <a:pt x="164" y="84"/>
                    <a:pt x="164" y="84"/>
                    <a:pt x="164" y="84"/>
                  </a:cubicBezTo>
                  <a:cubicBezTo>
                    <a:pt x="164" y="68"/>
                    <a:pt x="164" y="68"/>
                    <a:pt x="164" y="68"/>
                  </a:cubicBezTo>
                  <a:cubicBezTo>
                    <a:pt x="164" y="68"/>
                    <a:pt x="164" y="68"/>
                    <a:pt x="164" y="68"/>
                  </a:cubicBezTo>
                  <a:cubicBezTo>
                    <a:pt x="164" y="19"/>
                    <a:pt x="164" y="19"/>
                    <a:pt x="164" y="19"/>
                  </a:cubicBezTo>
                  <a:cubicBezTo>
                    <a:pt x="164" y="19"/>
                    <a:pt x="164" y="18"/>
                    <a:pt x="164" y="18"/>
                  </a:cubicBezTo>
                  <a:cubicBezTo>
                    <a:pt x="146" y="7"/>
                    <a:pt x="146" y="7"/>
                    <a:pt x="146" y="7"/>
                  </a:cubicBezTo>
                  <a:cubicBezTo>
                    <a:pt x="145" y="7"/>
                    <a:pt x="145" y="7"/>
                    <a:pt x="145" y="7"/>
                  </a:cubicBezTo>
                  <a:cubicBezTo>
                    <a:pt x="112" y="19"/>
                    <a:pt x="112" y="19"/>
                    <a:pt x="112" y="19"/>
                  </a:cubicBezTo>
                  <a:cubicBezTo>
                    <a:pt x="111" y="19"/>
                    <a:pt x="111" y="20"/>
                    <a:pt x="111" y="20"/>
                  </a:cubicBezTo>
                  <a:cubicBezTo>
                    <a:pt x="111" y="95"/>
                    <a:pt x="111" y="95"/>
                    <a:pt x="111" y="95"/>
                  </a:cubicBezTo>
                  <a:cubicBezTo>
                    <a:pt x="80" y="95"/>
                    <a:pt x="80" y="95"/>
                    <a:pt x="80" y="95"/>
                  </a:cubicBezTo>
                  <a:cubicBezTo>
                    <a:pt x="80" y="79"/>
                    <a:pt x="80" y="79"/>
                    <a:pt x="80" y="79"/>
                  </a:cubicBezTo>
                  <a:cubicBezTo>
                    <a:pt x="96" y="79"/>
                    <a:pt x="96" y="79"/>
                    <a:pt x="96" y="79"/>
                  </a:cubicBezTo>
                  <a:cubicBezTo>
                    <a:pt x="83" y="66"/>
                    <a:pt x="83" y="66"/>
                    <a:pt x="83" y="66"/>
                  </a:cubicBezTo>
                  <a:cubicBezTo>
                    <a:pt x="89" y="66"/>
                    <a:pt x="89" y="66"/>
                    <a:pt x="89" y="66"/>
                  </a:cubicBezTo>
                  <a:cubicBezTo>
                    <a:pt x="83" y="60"/>
                    <a:pt x="83" y="60"/>
                    <a:pt x="83" y="60"/>
                  </a:cubicBezTo>
                  <a:cubicBezTo>
                    <a:pt x="89" y="60"/>
                    <a:pt x="89" y="60"/>
                    <a:pt x="89" y="60"/>
                  </a:cubicBezTo>
                  <a:cubicBezTo>
                    <a:pt x="76" y="48"/>
                    <a:pt x="76" y="48"/>
                    <a:pt x="76" y="48"/>
                  </a:cubicBezTo>
                  <a:cubicBezTo>
                    <a:pt x="64" y="60"/>
                    <a:pt x="64" y="60"/>
                    <a:pt x="64" y="60"/>
                  </a:cubicBezTo>
                  <a:cubicBezTo>
                    <a:pt x="70" y="60"/>
                    <a:pt x="70" y="60"/>
                    <a:pt x="70" y="60"/>
                  </a:cubicBezTo>
                  <a:cubicBezTo>
                    <a:pt x="64" y="66"/>
                    <a:pt x="64" y="66"/>
                    <a:pt x="64" y="66"/>
                  </a:cubicBezTo>
                  <a:cubicBezTo>
                    <a:pt x="70" y="66"/>
                    <a:pt x="70" y="66"/>
                    <a:pt x="70" y="66"/>
                  </a:cubicBezTo>
                  <a:cubicBezTo>
                    <a:pt x="64" y="72"/>
                    <a:pt x="64" y="72"/>
                    <a:pt x="64" y="72"/>
                  </a:cubicBezTo>
                  <a:cubicBezTo>
                    <a:pt x="58" y="66"/>
                    <a:pt x="58" y="66"/>
                    <a:pt x="58" y="66"/>
                  </a:cubicBezTo>
                  <a:cubicBezTo>
                    <a:pt x="63" y="66"/>
                    <a:pt x="63" y="66"/>
                    <a:pt x="63" y="66"/>
                  </a:cubicBezTo>
                  <a:cubicBezTo>
                    <a:pt x="58" y="60"/>
                    <a:pt x="58" y="60"/>
                    <a:pt x="58" y="60"/>
                  </a:cubicBezTo>
                  <a:cubicBezTo>
                    <a:pt x="63" y="60"/>
                    <a:pt x="63" y="60"/>
                    <a:pt x="63" y="60"/>
                  </a:cubicBezTo>
                  <a:cubicBezTo>
                    <a:pt x="51" y="48"/>
                    <a:pt x="51" y="48"/>
                    <a:pt x="51" y="48"/>
                  </a:cubicBezTo>
                  <a:cubicBezTo>
                    <a:pt x="39" y="60"/>
                    <a:pt x="39" y="60"/>
                    <a:pt x="39" y="60"/>
                  </a:cubicBezTo>
                  <a:cubicBezTo>
                    <a:pt x="44" y="60"/>
                    <a:pt x="44" y="60"/>
                    <a:pt x="44" y="60"/>
                  </a:cubicBezTo>
                  <a:cubicBezTo>
                    <a:pt x="39" y="66"/>
                    <a:pt x="39" y="66"/>
                    <a:pt x="39" y="66"/>
                  </a:cubicBezTo>
                  <a:cubicBezTo>
                    <a:pt x="44" y="66"/>
                    <a:pt x="44" y="66"/>
                    <a:pt x="44" y="66"/>
                  </a:cubicBezTo>
                  <a:cubicBezTo>
                    <a:pt x="38" y="72"/>
                    <a:pt x="38" y="72"/>
                    <a:pt x="38" y="72"/>
                  </a:cubicBezTo>
                  <a:cubicBezTo>
                    <a:pt x="31" y="66"/>
                    <a:pt x="31" y="66"/>
                    <a:pt x="31" y="66"/>
                  </a:cubicBezTo>
                  <a:cubicBezTo>
                    <a:pt x="36" y="66"/>
                    <a:pt x="36" y="66"/>
                    <a:pt x="36" y="66"/>
                  </a:cubicBezTo>
                  <a:cubicBezTo>
                    <a:pt x="31" y="60"/>
                    <a:pt x="31" y="60"/>
                    <a:pt x="31" y="60"/>
                  </a:cubicBezTo>
                  <a:cubicBezTo>
                    <a:pt x="36" y="60"/>
                    <a:pt x="36" y="60"/>
                    <a:pt x="36" y="60"/>
                  </a:cubicBezTo>
                  <a:cubicBezTo>
                    <a:pt x="24" y="48"/>
                    <a:pt x="24" y="48"/>
                    <a:pt x="24" y="48"/>
                  </a:cubicBezTo>
                  <a:cubicBezTo>
                    <a:pt x="12" y="60"/>
                    <a:pt x="12" y="60"/>
                    <a:pt x="12" y="60"/>
                  </a:cubicBezTo>
                  <a:cubicBezTo>
                    <a:pt x="17" y="60"/>
                    <a:pt x="17" y="60"/>
                    <a:pt x="17" y="60"/>
                  </a:cubicBezTo>
                  <a:cubicBezTo>
                    <a:pt x="12" y="66"/>
                    <a:pt x="12" y="66"/>
                    <a:pt x="12" y="66"/>
                  </a:cubicBezTo>
                  <a:cubicBezTo>
                    <a:pt x="17" y="66"/>
                    <a:pt x="17" y="66"/>
                    <a:pt x="17" y="66"/>
                  </a:cubicBezTo>
                  <a:cubicBezTo>
                    <a:pt x="4" y="79"/>
                    <a:pt x="4" y="79"/>
                    <a:pt x="4" y="79"/>
                  </a:cubicBezTo>
                  <a:cubicBezTo>
                    <a:pt x="21" y="79"/>
                    <a:pt x="21" y="79"/>
                    <a:pt x="21" y="79"/>
                  </a:cubicBezTo>
                  <a:cubicBezTo>
                    <a:pt x="21" y="95"/>
                    <a:pt x="21" y="95"/>
                    <a:pt x="21" y="95"/>
                  </a:cubicBezTo>
                  <a:cubicBezTo>
                    <a:pt x="1" y="95"/>
                    <a:pt x="1" y="95"/>
                    <a:pt x="1" y="95"/>
                  </a:cubicBezTo>
                  <a:cubicBezTo>
                    <a:pt x="1" y="95"/>
                    <a:pt x="0" y="96"/>
                    <a:pt x="0" y="96"/>
                  </a:cubicBezTo>
                  <a:cubicBezTo>
                    <a:pt x="0" y="97"/>
                    <a:pt x="1" y="97"/>
                    <a:pt x="1" y="97"/>
                  </a:cubicBezTo>
                  <a:cubicBezTo>
                    <a:pt x="112" y="97"/>
                    <a:pt x="112" y="97"/>
                    <a:pt x="112" y="97"/>
                  </a:cubicBezTo>
                  <a:cubicBezTo>
                    <a:pt x="113" y="97"/>
                    <a:pt x="113" y="97"/>
                    <a:pt x="113" y="96"/>
                  </a:cubicBezTo>
                  <a:cubicBezTo>
                    <a:pt x="113" y="87"/>
                    <a:pt x="113" y="87"/>
                    <a:pt x="113" y="87"/>
                  </a:cubicBezTo>
                  <a:cubicBezTo>
                    <a:pt x="143" y="79"/>
                    <a:pt x="143" y="79"/>
                    <a:pt x="143" y="79"/>
                  </a:cubicBezTo>
                  <a:cubicBezTo>
                    <a:pt x="143" y="96"/>
                    <a:pt x="143" y="96"/>
                    <a:pt x="143" y="96"/>
                  </a:cubicBezTo>
                  <a:cubicBezTo>
                    <a:pt x="143" y="97"/>
                    <a:pt x="144" y="97"/>
                    <a:pt x="144" y="97"/>
                  </a:cubicBezTo>
                  <a:cubicBezTo>
                    <a:pt x="145" y="97"/>
                    <a:pt x="145" y="97"/>
                    <a:pt x="145" y="96"/>
                  </a:cubicBezTo>
                  <a:cubicBezTo>
                    <a:pt x="145" y="79"/>
                    <a:pt x="145" y="79"/>
                    <a:pt x="145" y="79"/>
                  </a:cubicBezTo>
                  <a:cubicBezTo>
                    <a:pt x="163" y="86"/>
                    <a:pt x="163" y="86"/>
                    <a:pt x="163" y="86"/>
                  </a:cubicBezTo>
                  <a:cubicBezTo>
                    <a:pt x="163" y="86"/>
                    <a:pt x="163" y="86"/>
                    <a:pt x="163" y="86"/>
                  </a:cubicBezTo>
                  <a:cubicBezTo>
                    <a:pt x="163" y="86"/>
                    <a:pt x="163" y="86"/>
                    <a:pt x="163" y="86"/>
                  </a:cubicBezTo>
                  <a:cubicBezTo>
                    <a:pt x="173" y="86"/>
                    <a:pt x="173" y="86"/>
                    <a:pt x="173" y="86"/>
                  </a:cubicBezTo>
                  <a:cubicBezTo>
                    <a:pt x="174" y="86"/>
                    <a:pt x="174" y="85"/>
                    <a:pt x="174" y="85"/>
                  </a:cubicBezTo>
                  <a:cubicBezTo>
                    <a:pt x="174" y="64"/>
                    <a:pt x="174" y="64"/>
                    <a:pt x="174" y="64"/>
                  </a:cubicBezTo>
                  <a:cubicBezTo>
                    <a:pt x="261" y="4"/>
                    <a:pt x="261" y="4"/>
                    <a:pt x="261" y="4"/>
                  </a:cubicBezTo>
                  <a:cubicBezTo>
                    <a:pt x="261" y="40"/>
                    <a:pt x="261" y="40"/>
                    <a:pt x="261" y="40"/>
                  </a:cubicBezTo>
                  <a:cubicBezTo>
                    <a:pt x="261" y="40"/>
                    <a:pt x="261" y="40"/>
                    <a:pt x="261" y="40"/>
                  </a:cubicBezTo>
                  <a:cubicBezTo>
                    <a:pt x="261" y="40"/>
                    <a:pt x="261" y="40"/>
                    <a:pt x="261" y="40"/>
                  </a:cubicBezTo>
                  <a:cubicBezTo>
                    <a:pt x="261" y="49"/>
                    <a:pt x="261" y="49"/>
                    <a:pt x="261" y="49"/>
                  </a:cubicBezTo>
                  <a:cubicBezTo>
                    <a:pt x="261" y="49"/>
                    <a:pt x="261" y="49"/>
                    <a:pt x="261" y="49"/>
                  </a:cubicBezTo>
                  <a:cubicBezTo>
                    <a:pt x="261" y="49"/>
                    <a:pt x="261" y="49"/>
                    <a:pt x="261" y="50"/>
                  </a:cubicBezTo>
                  <a:cubicBezTo>
                    <a:pt x="261" y="59"/>
                    <a:pt x="261" y="59"/>
                    <a:pt x="261" y="59"/>
                  </a:cubicBezTo>
                  <a:cubicBezTo>
                    <a:pt x="261" y="59"/>
                    <a:pt x="261" y="59"/>
                    <a:pt x="261" y="59"/>
                  </a:cubicBezTo>
                  <a:cubicBezTo>
                    <a:pt x="261" y="59"/>
                    <a:pt x="261" y="59"/>
                    <a:pt x="261" y="59"/>
                  </a:cubicBezTo>
                  <a:cubicBezTo>
                    <a:pt x="261" y="68"/>
                    <a:pt x="261" y="68"/>
                    <a:pt x="261" y="68"/>
                  </a:cubicBezTo>
                  <a:cubicBezTo>
                    <a:pt x="261" y="68"/>
                    <a:pt x="261" y="68"/>
                    <a:pt x="261" y="68"/>
                  </a:cubicBezTo>
                  <a:cubicBezTo>
                    <a:pt x="261" y="68"/>
                    <a:pt x="261" y="68"/>
                    <a:pt x="261" y="68"/>
                  </a:cubicBezTo>
                  <a:cubicBezTo>
                    <a:pt x="261" y="77"/>
                    <a:pt x="261" y="77"/>
                    <a:pt x="261" y="77"/>
                  </a:cubicBezTo>
                  <a:cubicBezTo>
                    <a:pt x="261" y="77"/>
                    <a:pt x="261" y="77"/>
                    <a:pt x="261" y="78"/>
                  </a:cubicBezTo>
                  <a:cubicBezTo>
                    <a:pt x="261" y="78"/>
                    <a:pt x="261" y="78"/>
                    <a:pt x="261" y="78"/>
                  </a:cubicBezTo>
                  <a:cubicBezTo>
                    <a:pt x="261" y="87"/>
                    <a:pt x="261" y="87"/>
                    <a:pt x="261" y="87"/>
                  </a:cubicBezTo>
                  <a:cubicBezTo>
                    <a:pt x="261" y="87"/>
                    <a:pt x="261" y="87"/>
                    <a:pt x="261" y="87"/>
                  </a:cubicBezTo>
                  <a:cubicBezTo>
                    <a:pt x="261" y="87"/>
                    <a:pt x="261" y="87"/>
                    <a:pt x="261" y="87"/>
                  </a:cubicBezTo>
                  <a:cubicBezTo>
                    <a:pt x="261" y="96"/>
                    <a:pt x="261" y="96"/>
                    <a:pt x="261" y="96"/>
                  </a:cubicBezTo>
                  <a:cubicBezTo>
                    <a:pt x="261" y="96"/>
                    <a:pt x="261" y="96"/>
                    <a:pt x="261" y="96"/>
                  </a:cubicBezTo>
                  <a:cubicBezTo>
                    <a:pt x="261" y="97"/>
                    <a:pt x="261" y="97"/>
                    <a:pt x="262" y="97"/>
                  </a:cubicBezTo>
                  <a:cubicBezTo>
                    <a:pt x="312" y="97"/>
                    <a:pt x="312" y="97"/>
                    <a:pt x="312" y="97"/>
                  </a:cubicBezTo>
                  <a:cubicBezTo>
                    <a:pt x="313" y="97"/>
                    <a:pt x="313" y="97"/>
                    <a:pt x="313" y="97"/>
                  </a:cubicBezTo>
                  <a:cubicBezTo>
                    <a:pt x="314" y="96"/>
                    <a:pt x="314" y="96"/>
                    <a:pt x="314" y="96"/>
                  </a:cubicBezTo>
                  <a:cubicBezTo>
                    <a:pt x="314" y="35"/>
                    <a:pt x="314" y="35"/>
                    <a:pt x="314" y="35"/>
                  </a:cubicBezTo>
                  <a:cubicBezTo>
                    <a:pt x="314" y="35"/>
                    <a:pt x="314" y="34"/>
                    <a:pt x="313" y="34"/>
                  </a:cubicBezTo>
                  <a:lnTo>
                    <a:pt x="263" y="1"/>
                  </a:lnTo>
                  <a:close/>
                  <a:moveTo>
                    <a:pt x="71" y="79"/>
                  </a:moveTo>
                  <a:cubicBezTo>
                    <a:pt x="73" y="79"/>
                    <a:pt x="73" y="79"/>
                    <a:pt x="73" y="79"/>
                  </a:cubicBezTo>
                  <a:cubicBezTo>
                    <a:pt x="73" y="95"/>
                    <a:pt x="73" y="95"/>
                    <a:pt x="73" y="95"/>
                  </a:cubicBezTo>
                  <a:cubicBezTo>
                    <a:pt x="54" y="95"/>
                    <a:pt x="54" y="95"/>
                    <a:pt x="54" y="95"/>
                  </a:cubicBezTo>
                  <a:cubicBezTo>
                    <a:pt x="54" y="79"/>
                    <a:pt x="54" y="79"/>
                    <a:pt x="54" y="79"/>
                  </a:cubicBezTo>
                  <a:cubicBezTo>
                    <a:pt x="56" y="79"/>
                    <a:pt x="56" y="79"/>
                    <a:pt x="56" y="79"/>
                  </a:cubicBezTo>
                  <a:lnTo>
                    <a:pt x="71" y="79"/>
                  </a:lnTo>
                  <a:close/>
                  <a:moveTo>
                    <a:pt x="61" y="77"/>
                  </a:moveTo>
                  <a:cubicBezTo>
                    <a:pt x="64" y="74"/>
                    <a:pt x="64" y="74"/>
                    <a:pt x="64" y="74"/>
                  </a:cubicBezTo>
                  <a:cubicBezTo>
                    <a:pt x="67" y="77"/>
                    <a:pt x="67" y="77"/>
                    <a:pt x="67" y="77"/>
                  </a:cubicBezTo>
                  <a:lnTo>
                    <a:pt x="61" y="77"/>
                  </a:lnTo>
                  <a:close/>
                  <a:moveTo>
                    <a:pt x="74" y="64"/>
                  </a:moveTo>
                  <a:cubicBezTo>
                    <a:pt x="69" y="64"/>
                    <a:pt x="69" y="64"/>
                    <a:pt x="69" y="64"/>
                  </a:cubicBezTo>
                  <a:cubicBezTo>
                    <a:pt x="74" y="58"/>
                    <a:pt x="74" y="58"/>
                    <a:pt x="74" y="58"/>
                  </a:cubicBezTo>
                  <a:cubicBezTo>
                    <a:pt x="69" y="58"/>
                    <a:pt x="69" y="58"/>
                    <a:pt x="69" y="58"/>
                  </a:cubicBezTo>
                  <a:cubicBezTo>
                    <a:pt x="76" y="50"/>
                    <a:pt x="76" y="50"/>
                    <a:pt x="76" y="50"/>
                  </a:cubicBezTo>
                  <a:cubicBezTo>
                    <a:pt x="84" y="58"/>
                    <a:pt x="84" y="58"/>
                    <a:pt x="84" y="58"/>
                  </a:cubicBezTo>
                  <a:cubicBezTo>
                    <a:pt x="79" y="58"/>
                    <a:pt x="79" y="58"/>
                    <a:pt x="79" y="58"/>
                  </a:cubicBezTo>
                  <a:cubicBezTo>
                    <a:pt x="84" y="64"/>
                    <a:pt x="84" y="64"/>
                    <a:pt x="84" y="64"/>
                  </a:cubicBezTo>
                  <a:cubicBezTo>
                    <a:pt x="79" y="64"/>
                    <a:pt x="79" y="64"/>
                    <a:pt x="79" y="64"/>
                  </a:cubicBezTo>
                  <a:cubicBezTo>
                    <a:pt x="92" y="77"/>
                    <a:pt x="92" y="77"/>
                    <a:pt x="92" y="77"/>
                  </a:cubicBezTo>
                  <a:cubicBezTo>
                    <a:pt x="78" y="77"/>
                    <a:pt x="78" y="77"/>
                    <a:pt x="78" y="77"/>
                  </a:cubicBezTo>
                  <a:cubicBezTo>
                    <a:pt x="78" y="94"/>
                    <a:pt x="78" y="94"/>
                    <a:pt x="78" y="94"/>
                  </a:cubicBezTo>
                  <a:cubicBezTo>
                    <a:pt x="75" y="94"/>
                    <a:pt x="75" y="94"/>
                    <a:pt x="75" y="94"/>
                  </a:cubicBezTo>
                  <a:cubicBezTo>
                    <a:pt x="75" y="77"/>
                    <a:pt x="75" y="77"/>
                    <a:pt x="75" y="77"/>
                  </a:cubicBezTo>
                  <a:cubicBezTo>
                    <a:pt x="69" y="77"/>
                    <a:pt x="69" y="77"/>
                    <a:pt x="69" y="77"/>
                  </a:cubicBezTo>
                  <a:cubicBezTo>
                    <a:pt x="65" y="73"/>
                    <a:pt x="65" y="73"/>
                    <a:pt x="65" y="73"/>
                  </a:cubicBezTo>
                  <a:lnTo>
                    <a:pt x="74" y="64"/>
                  </a:lnTo>
                  <a:close/>
                  <a:moveTo>
                    <a:pt x="49" y="64"/>
                  </a:moveTo>
                  <a:cubicBezTo>
                    <a:pt x="43" y="64"/>
                    <a:pt x="43" y="64"/>
                    <a:pt x="43" y="64"/>
                  </a:cubicBezTo>
                  <a:cubicBezTo>
                    <a:pt x="48" y="58"/>
                    <a:pt x="48" y="58"/>
                    <a:pt x="48" y="58"/>
                  </a:cubicBezTo>
                  <a:cubicBezTo>
                    <a:pt x="43" y="58"/>
                    <a:pt x="43" y="58"/>
                    <a:pt x="43" y="58"/>
                  </a:cubicBezTo>
                  <a:cubicBezTo>
                    <a:pt x="51" y="50"/>
                    <a:pt x="51" y="50"/>
                    <a:pt x="51" y="50"/>
                  </a:cubicBezTo>
                  <a:cubicBezTo>
                    <a:pt x="59" y="58"/>
                    <a:pt x="59" y="58"/>
                    <a:pt x="59" y="58"/>
                  </a:cubicBezTo>
                  <a:cubicBezTo>
                    <a:pt x="53" y="58"/>
                    <a:pt x="53" y="58"/>
                    <a:pt x="53" y="58"/>
                  </a:cubicBezTo>
                  <a:cubicBezTo>
                    <a:pt x="59" y="64"/>
                    <a:pt x="59" y="64"/>
                    <a:pt x="59" y="64"/>
                  </a:cubicBezTo>
                  <a:cubicBezTo>
                    <a:pt x="54" y="64"/>
                    <a:pt x="54" y="64"/>
                    <a:pt x="54" y="64"/>
                  </a:cubicBezTo>
                  <a:cubicBezTo>
                    <a:pt x="62" y="73"/>
                    <a:pt x="62" y="73"/>
                    <a:pt x="62" y="73"/>
                  </a:cubicBezTo>
                  <a:cubicBezTo>
                    <a:pt x="58" y="77"/>
                    <a:pt x="58" y="77"/>
                    <a:pt x="58" y="77"/>
                  </a:cubicBezTo>
                  <a:cubicBezTo>
                    <a:pt x="52" y="77"/>
                    <a:pt x="52" y="77"/>
                    <a:pt x="52" y="77"/>
                  </a:cubicBezTo>
                  <a:cubicBezTo>
                    <a:pt x="52" y="94"/>
                    <a:pt x="52" y="94"/>
                    <a:pt x="52" y="94"/>
                  </a:cubicBezTo>
                  <a:cubicBezTo>
                    <a:pt x="49" y="94"/>
                    <a:pt x="49" y="94"/>
                    <a:pt x="49" y="94"/>
                  </a:cubicBezTo>
                  <a:cubicBezTo>
                    <a:pt x="49" y="77"/>
                    <a:pt x="49" y="77"/>
                    <a:pt x="49" y="77"/>
                  </a:cubicBezTo>
                  <a:cubicBezTo>
                    <a:pt x="42" y="77"/>
                    <a:pt x="42" y="77"/>
                    <a:pt x="42" y="77"/>
                  </a:cubicBezTo>
                  <a:cubicBezTo>
                    <a:pt x="39" y="74"/>
                    <a:pt x="39" y="74"/>
                    <a:pt x="39" y="74"/>
                  </a:cubicBezTo>
                  <a:lnTo>
                    <a:pt x="49" y="64"/>
                  </a:lnTo>
                  <a:close/>
                  <a:moveTo>
                    <a:pt x="40" y="77"/>
                  </a:moveTo>
                  <a:cubicBezTo>
                    <a:pt x="35" y="77"/>
                    <a:pt x="35" y="77"/>
                    <a:pt x="35" y="77"/>
                  </a:cubicBezTo>
                  <a:cubicBezTo>
                    <a:pt x="38" y="75"/>
                    <a:pt x="38" y="75"/>
                    <a:pt x="38" y="75"/>
                  </a:cubicBezTo>
                  <a:lnTo>
                    <a:pt x="40" y="77"/>
                  </a:lnTo>
                  <a:close/>
                  <a:moveTo>
                    <a:pt x="8" y="77"/>
                  </a:moveTo>
                  <a:cubicBezTo>
                    <a:pt x="22" y="64"/>
                    <a:pt x="22" y="64"/>
                    <a:pt x="22" y="64"/>
                  </a:cubicBezTo>
                  <a:cubicBezTo>
                    <a:pt x="16" y="64"/>
                    <a:pt x="16" y="64"/>
                    <a:pt x="16" y="64"/>
                  </a:cubicBezTo>
                  <a:cubicBezTo>
                    <a:pt x="22" y="58"/>
                    <a:pt x="22" y="58"/>
                    <a:pt x="22" y="58"/>
                  </a:cubicBezTo>
                  <a:cubicBezTo>
                    <a:pt x="16" y="58"/>
                    <a:pt x="16" y="58"/>
                    <a:pt x="16" y="58"/>
                  </a:cubicBezTo>
                  <a:cubicBezTo>
                    <a:pt x="24" y="50"/>
                    <a:pt x="24" y="50"/>
                    <a:pt x="24" y="50"/>
                  </a:cubicBezTo>
                  <a:cubicBezTo>
                    <a:pt x="32" y="58"/>
                    <a:pt x="32" y="58"/>
                    <a:pt x="32" y="58"/>
                  </a:cubicBezTo>
                  <a:cubicBezTo>
                    <a:pt x="27" y="58"/>
                    <a:pt x="27" y="58"/>
                    <a:pt x="27" y="58"/>
                  </a:cubicBezTo>
                  <a:cubicBezTo>
                    <a:pt x="32" y="64"/>
                    <a:pt x="32" y="64"/>
                    <a:pt x="32" y="64"/>
                  </a:cubicBezTo>
                  <a:cubicBezTo>
                    <a:pt x="27" y="64"/>
                    <a:pt x="27" y="64"/>
                    <a:pt x="27" y="64"/>
                  </a:cubicBezTo>
                  <a:cubicBezTo>
                    <a:pt x="36" y="74"/>
                    <a:pt x="36" y="74"/>
                    <a:pt x="36" y="74"/>
                  </a:cubicBezTo>
                  <a:cubicBezTo>
                    <a:pt x="33" y="77"/>
                    <a:pt x="33" y="77"/>
                    <a:pt x="33" y="77"/>
                  </a:cubicBezTo>
                  <a:cubicBezTo>
                    <a:pt x="26" y="77"/>
                    <a:pt x="26" y="77"/>
                    <a:pt x="26" y="77"/>
                  </a:cubicBezTo>
                  <a:cubicBezTo>
                    <a:pt x="26" y="94"/>
                    <a:pt x="26" y="94"/>
                    <a:pt x="26" y="94"/>
                  </a:cubicBezTo>
                  <a:cubicBezTo>
                    <a:pt x="23" y="94"/>
                    <a:pt x="23" y="94"/>
                    <a:pt x="23" y="94"/>
                  </a:cubicBezTo>
                  <a:cubicBezTo>
                    <a:pt x="23" y="77"/>
                    <a:pt x="23" y="77"/>
                    <a:pt x="23" y="77"/>
                  </a:cubicBezTo>
                  <a:lnTo>
                    <a:pt x="8" y="77"/>
                  </a:lnTo>
                  <a:close/>
                  <a:moveTo>
                    <a:pt x="28" y="79"/>
                  </a:moveTo>
                  <a:cubicBezTo>
                    <a:pt x="31" y="79"/>
                    <a:pt x="31" y="79"/>
                    <a:pt x="31" y="79"/>
                  </a:cubicBezTo>
                  <a:cubicBezTo>
                    <a:pt x="44" y="79"/>
                    <a:pt x="44" y="79"/>
                    <a:pt x="44" y="79"/>
                  </a:cubicBezTo>
                  <a:cubicBezTo>
                    <a:pt x="48" y="79"/>
                    <a:pt x="48" y="79"/>
                    <a:pt x="48" y="79"/>
                  </a:cubicBezTo>
                  <a:cubicBezTo>
                    <a:pt x="48" y="95"/>
                    <a:pt x="48" y="95"/>
                    <a:pt x="48" y="95"/>
                  </a:cubicBezTo>
                  <a:cubicBezTo>
                    <a:pt x="28" y="95"/>
                    <a:pt x="28" y="95"/>
                    <a:pt x="28" y="95"/>
                  </a:cubicBezTo>
                  <a:lnTo>
                    <a:pt x="28" y="79"/>
                  </a:lnTo>
                  <a:close/>
                  <a:moveTo>
                    <a:pt x="113" y="45"/>
                  </a:moveTo>
                  <a:cubicBezTo>
                    <a:pt x="129" y="51"/>
                    <a:pt x="129" y="51"/>
                    <a:pt x="129" y="51"/>
                  </a:cubicBezTo>
                  <a:cubicBezTo>
                    <a:pt x="113" y="56"/>
                    <a:pt x="113" y="56"/>
                    <a:pt x="113" y="56"/>
                  </a:cubicBezTo>
                  <a:lnTo>
                    <a:pt x="113" y="45"/>
                  </a:lnTo>
                  <a:close/>
                  <a:moveTo>
                    <a:pt x="113" y="58"/>
                  </a:moveTo>
                  <a:cubicBezTo>
                    <a:pt x="132" y="53"/>
                    <a:pt x="132" y="53"/>
                    <a:pt x="132" y="53"/>
                  </a:cubicBezTo>
                  <a:cubicBezTo>
                    <a:pt x="140" y="56"/>
                    <a:pt x="140" y="56"/>
                    <a:pt x="140" y="56"/>
                  </a:cubicBezTo>
                  <a:cubicBezTo>
                    <a:pt x="113" y="63"/>
                    <a:pt x="113" y="63"/>
                    <a:pt x="113" y="63"/>
                  </a:cubicBezTo>
                  <a:lnTo>
                    <a:pt x="113" y="58"/>
                  </a:lnTo>
                  <a:close/>
                  <a:moveTo>
                    <a:pt x="113" y="65"/>
                  </a:moveTo>
                  <a:cubicBezTo>
                    <a:pt x="142" y="57"/>
                    <a:pt x="142" y="57"/>
                    <a:pt x="142" y="57"/>
                  </a:cubicBezTo>
                  <a:cubicBezTo>
                    <a:pt x="151" y="65"/>
                    <a:pt x="151" y="65"/>
                    <a:pt x="151" y="65"/>
                  </a:cubicBezTo>
                  <a:cubicBezTo>
                    <a:pt x="144" y="63"/>
                    <a:pt x="144" y="63"/>
                    <a:pt x="144" y="63"/>
                  </a:cubicBezTo>
                  <a:cubicBezTo>
                    <a:pt x="144" y="63"/>
                    <a:pt x="144" y="63"/>
                    <a:pt x="144" y="63"/>
                  </a:cubicBezTo>
                  <a:cubicBezTo>
                    <a:pt x="113" y="71"/>
                    <a:pt x="113" y="71"/>
                    <a:pt x="113" y="71"/>
                  </a:cubicBezTo>
                  <a:lnTo>
                    <a:pt x="113" y="65"/>
                  </a:lnTo>
                  <a:close/>
                  <a:moveTo>
                    <a:pt x="143" y="55"/>
                  </a:moveTo>
                  <a:cubicBezTo>
                    <a:pt x="143" y="55"/>
                    <a:pt x="143" y="55"/>
                    <a:pt x="143" y="55"/>
                  </a:cubicBezTo>
                  <a:cubicBezTo>
                    <a:pt x="143" y="55"/>
                    <a:pt x="143" y="55"/>
                    <a:pt x="143" y="55"/>
                  </a:cubicBezTo>
                  <a:cubicBezTo>
                    <a:pt x="113" y="43"/>
                    <a:pt x="113" y="43"/>
                    <a:pt x="113" y="43"/>
                  </a:cubicBezTo>
                  <a:cubicBezTo>
                    <a:pt x="113" y="37"/>
                    <a:pt x="113" y="37"/>
                    <a:pt x="113" y="37"/>
                  </a:cubicBezTo>
                  <a:cubicBezTo>
                    <a:pt x="142" y="50"/>
                    <a:pt x="142" y="50"/>
                    <a:pt x="142" y="50"/>
                  </a:cubicBezTo>
                  <a:cubicBezTo>
                    <a:pt x="163" y="69"/>
                    <a:pt x="163" y="69"/>
                    <a:pt x="163" y="69"/>
                  </a:cubicBezTo>
                  <a:cubicBezTo>
                    <a:pt x="163" y="73"/>
                    <a:pt x="163" y="73"/>
                    <a:pt x="163" y="73"/>
                  </a:cubicBezTo>
                  <a:lnTo>
                    <a:pt x="143" y="55"/>
                  </a:lnTo>
                  <a:close/>
                  <a:moveTo>
                    <a:pt x="163" y="43"/>
                  </a:moveTo>
                  <a:cubicBezTo>
                    <a:pt x="145" y="32"/>
                    <a:pt x="145" y="32"/>
                    <a:pt x="145" y="32"/>
                  </a:cubicBezTo>
                  <a:cubicBezTo>
                    <a:pt x="144" y="32"/>
                    <a:pt x="144" y="32"/>
                    <a:pt x="144" y="32"/>
                  </a:cubicBezTo>
                  <a:cubicBezTo>
                    <a:pt x="122" y="39"/>
                    <a:pt x="122" y="39"/>
                    <a:pt x="122" y="39"/>
                  </a:cubicBezTo>
                  <a:cubicBezTo>
                    <a:pt x="122" y="39"/>
                    <a:pt x="122" y="39"/>
                    <a:pt x="122" y="39"/>
                  </a:cubicBezTo>
                  <a:cubicBezTo>
                    <a:pt x="115" y="36"/>
                    <a:pt x="115" y="36"/>
                    <a:pt x="115" y="36"/>
                  </a:cubicBezTo>
                  <a:cubicBezTo>
                    <a:pt x="144" y="25"/>
                    <a:pt x="144" y="25"/>
                    <a:pt x="144" y="25"/>
                  </a:cubicBezTo>
                  <a:cubicBezTo>
                    <a:pt x="162" y="37"/>
                    <a:pt x="162" y="37"/>
                    <a:pt x="162" y="37"/>
                  </a:cubicBezTo>
                  <a:cubicBezTo>
                    <a:pt x="162" y="37"/>
                    <a:pt x="163" y="37"/>
                    <a:pt x="163" y="37"/>
                  </a:cubicBezTo>
                  <a:lnTo>
                    <a:pt x="163" y="43"/>
                  </a:lnTo>
                  <a:close/>
                  <a:moveTo>
                    <a:pt x="144" y="48"/>
                  </a:moveTo>
                  <a:cubicBezTo>
                    <a:pt x="143" y="48"/>
                    <a:pt x="143" y="48"/>
                    <a:pt x="143" y="48"/>
                  </a:cubicBezTo>
                  <a:cubicBezTo>
                    <a:pt x="125" y="40"/>
                    <a:pt x="125" y="40"/>
                    <a:pt x="125" y="40"/>
                  </a:cubicBezTo>
                  <a:cubicBezTo>
                    <a:pt x="144" y="34"/>
                    <a:pt x="144" y="34"/>
                    <a:pt x="144" y="34"/>
                  </a:cubicBezTo>
                  <a:cubicBezTo>
                    <a:pt x="162" y="45"/>
                    <a:pt x="162" y="45"/>
                    <a:pt x="162" y="45"/>
                  </a:cubicBezTo>
                  <a:cubicBezTo>
                    <a:pt x="162" y="45"/>
                    <a:pt x="163" y="45"/>
                    <a:pt x="163" y="45"/>
                  </a:cubicBezTo>
                  <a:cubicBezTo>
                    <a:pt x="163" y="66"/>
                    <a:pt x="163" y="66"/>
                    <a:pt x="163" y="66"/>
                  </a:cubicBezTo>
                  <a:lnTo>
                    <a:pt x="144" y="48"/>
                  </a:lnTo>
                  <a:close/>
                  <a:moveTo>
                    <a:pt x="163" y="35"/>
                  </a:moveTo>
                  <a:cubicBezTo>
                    <a:pt x="145" y="23"/>
                    <a:pt x="145" y="23"/>
                    <a:pt x="145" y="23"/>
                  </a:cubicBezTo>
                  <a:cubicBezTo>
                    <a:pt x="144" y="23"/>
                    <a:pt x="144" y="23"/>
                    <a:pt x="144" y="23"/>
                  </a:cubicBezTo>
                  <a:cubicBezTo>
                    <a:pt x="113" y="35"/>
                    <a:pt x="113" y="35"/>
                    <a:pt x="113" y="35"/>
                  </a:cubicBezTo>
                  <a:cubicBezTo>
                    <a:pt x="113" y="30"/>
                    <a:pt x="113" y="30"/>
                    <a:pt x="113" y="30"/>
                  </a:cubicBezTo>
                  <a:cubicBezTo>
                    <a:pt x="144" y="18"/>
                    <a:pt x="144" y="18"/>
                    <a:pt x="144" y="18"/>
                  </a:cubicBezTo>
                  <a:cubicBezTo>
                    <a:pt x="162" y="30"/>
                    <a:pt x="162" y="30"/>
                    <a:pt x="162" y="30"/>
                  </a:cubicBezTo>
                  <a:cubicBezTo>
                    <a:pt x="162" y="30"/>
                    <a:pt x="163" y="30"/>
                    <a:pt x="163" y="30"/>
                  </a:cubicBezTo>
                  <a:lnTo>
                    <a:pt x="163" y="35"/>
                  </a:lnTo>
                  <a:close/>
                  <a:moveTo>
                    <a:pt x="113" y="73"/>
                  </a:moveTo>
                  <a:cubicBezTo>
                    <a:pt x="144" y="64"/>
                    <a:pt x="144" y="64"/>
                    <a:pt x="144" y="64"/>
                  </a:cubicBezTo>
                  <a:cubicBezTo>
                    <a:pt x="154" y="68"/>
                    <a:pt x="154" y="68"/>
                    <a:pt x="154" y="68"/>
                  </a:cubicBezTo>
                  <a:cubicBezTo>
                    <a:pt x="162" y="76"/>
                    <a:pt x="162" y="76"/>
                    <a:pt x="162" y="76"/>
                  </a:cubicBezTo>
                  <a:cubicBezTo>
                    <a:pt x="144" y="69"/>
                    <a:pt x="144" y="69"/>
                    <a:pt x="144" y="69"/>
                  </a:cubicBezTo>
                  <a:cubicBezTo>
                    <a:pt x="144" y="69"/>
                    <a:pt x="144" y="69"/>
                    <a:pt x="144" y="69"/>
                  </a:cubicBezTo>
                  <a:cubicBezTo>
                    <a:pt x="113" y="77"/>
                    <a:pt x="113" y="77"/>
                    <a:pt x="113" y="77"/>
                  </a:cubicBezTo>
                  <a:lnTo>
                    <a:pt x="113" y="73"/>
                  </a:lnTo>
                  <a:close/>
                  <a:moveTo>
                    <a:pt x="145" y="9"/>
                  </a:moveTo>
                  <a:cubicBezTo>
                    <a:pt x="163" y="20"/>
                    <a:pt x="163" y="20"/>
                    <a:pt x="163" y="20"/>
                  </a:cubicBezTo>
                  <a:cubicBezTo>
                    <a:pt x="163" y="28"/>
                    <a:pt x="163" y="28"/>
                    <a:pt x="163" y="28"/>
                  </a:cubicBezTo>
                  <a:cubicBezTo>
                    <a:pt x="145" y="17"/>
                    <a:pt x="145" y="17"/>
                    <a:pt x="145" y="17"/>
                  </a:cubicBezTo>
                  <a:cubicBezTo>
                    <a:pt x="144" y="16"/>
                    <a:pt x="144" y="16"/>
                    <a:pt x="144" y="16"/>
                  </a:cubicBezTo>
                  <a:cubicBezTo>
                    <a:pt x="113" y="28"/>
                    <a:pt x="113" y="28"/>
                    <a:pt x="113" y="28"/>
                  </a:cubicBezTo>
                  <a:cubicBezTo>
                    <a:pt x="113" y="21"/>
                    <a:pt x="113" y="21"/>
                    <a:pt x="113" y="21"/>
                  </a:cubicBezTo>
                  <a:lnTo>
                    <a:pt x="145" y="9"/>
                  </a:lnTo>
                  <a:close/>
                  <a:moveTo>
                    <a:pt x="113" y="79"/>
                  </a:moveTo>
                  <a:cubicBezTo>
                    <a:pt x="144" y="71"/>
                    <a:pt x="144" y="71"/>
                    <a:pt x="144" y="71"/>
                  </a:cubicBezTo>
                  <a:cubicBezTo>
                    <a:pt x="163" y="78"/>
                    <a:pt x="163" y="78"/>
                    <a:pt x="163" y="78"/>
                  </a:cubicBezTo>
                  <a:cubicBezTo>
                    <a:pt x="163" y="84"/>
                    <a:pt x="163" y="84"/>
                    <a:pt x="163" y="84"/>
                  </a:cubicBezTo>
                  <a:cubicBezTo>
                    <a:pt x="144" y="77"/>
                    <a:pt x="144" y="77"/>
                    <a:pt x="144" y="77"/>
                  </a:cubicBezTo>
                  <a:cubicBezTo>
                    <a:pt x="144" y="77"/>
                    <a:pt x="144" y="77"/>
                    <a:pt x="144" y="77"/>
                  </a:cubicBezTo>
                  <a:cubicBezTo>
                    <a:pt x="113" y="85"/>
                    <a:pt x="113" y="85"/>
                    <a:pt x="113" y="85"/>
                  </a:cubicBezTo>
                  <a:lnTo>
                    <a:pt x="113" y="79"/>
                  </a:lnTo>
                  <a:close/>
                  <a:moveTo>
                    <a:pt x="278" y="41"/>
                  </a:moveTo>
                  <a:cubicBezTo>
                    <a:pt x="278" y="48"/>
                    <a:pt x="278" y="48"/>
                    <a:pt x="278" y="48"/>
                  </a:cubicBezTo>
                  <a:cubicBezTo>
                    <a:pt x="272" y="48"/>
                    <a:pt x="272" y="48"/>
                    <a:pt x="272" y="48"/>
                  </a:cubicBezTo>
                  <a:cubicBezTo>
                    <a:pt x="272" y="41"/>
                    <a:pt x="272" y="41"/>
                    <a:pt x="272" y="41"/>
                  </a:cubicBezTo>
                  <a:lnTo>
                    <a:pt x="278" y="41"/>
                  </a:lnTo>
                  <a:close/>
                  <a:moveTo>
                    <a:pt x="287" y="41"/>
                  </a:moveTo>
                  <a:cubicBezTo>
                    <a:pt x="287" y="48"/>
                    <a:pt x="287" y="48"/>
                    <a:pt x="287" y="48"/>
                  </a:cubicBezTo>
                  <a:cubicBezTo>
                    <a:pt x="280" y="48"/>
                    <a:pt x="280" y="48"/>
                    <a:pt x="280" y="48"/>
                  </a:cubicBezTo>
                  <a:cubicBezTo>
                    <a:pt x="280" y="41"/>
                    <a:pt x="280" y="41"/>
                    <a:pt x="280" y="41"/>
                  </a:cubicBezTo>
                  <a:lnTo>
                    <a:pt x="287" y="41"/>
                  </a:lnTo>
                  <a:close/>
                  <a:moveTo>
                    <a:pt x="295" y="41"/>
                  </a:moveTo>
                  <a:cubicBezTo>
                    <a:pt x="295" y="48"/>
                    <a:pt x="295" y="48"/>
                    <a:pt x="295" y="48"/>
                  </a:cubicBezTo>
                  <a:cubicBezTo>
                    <a:pt x="288" y="48"/>
                    <a:pt x="288" y="48"/>
                    <a:pt x="288" y="48"/>
                  </a:cubicBezTo>
                  <a:cubicBezTo>
                    <a:pt x="288" y="41"/>
                    <a:pt x="288" y="41"/>
                    <a:pt x="288" y="41"/>
                  </a:cubicBezTo>
                  <a:lnTo>
                    <a:pt x="295" y="41"/>
                  </a:lnTo>
                  <a:close/>
                  <a:moveTo>
                    <a:pt x="304" y="41"/>
                  </a:moveTo>
                  <a:cubicBezTo>
                    <a:pt x="304" y="48"/>
                    <a:pt x="304" y="48"/>
                    <a:pt x="304" y="48"/>
                  </a:cubicBezTo>
                  <a:cubicBezTo>
                    <a:pt x="297" y="48"/>
                    <a:pt x="297" y="48"/>
                    <a:pt x="297" y="48"/>
                  </a:cubicBezTo>
                  <a:cubicBezTo>
                    <a:pt x="297" y="41"/>
                    <a:pt x="297" y="41"/>
                    <a:pt x="297" y="41"/>
                  </a:cubicBezTo>
                  <a:lnTo>
                    <a:pt x="304" y="41"/>
                  </a:lnTo>
                  <a:close/>
                  <a:moveTo>
                    <a:pt x="312" y="41"/>
                  </a:moveTo>
                  <a:cubicBezTo>
                    <a:pt x="312" y="48"/>
                    <a:pt x="312" y="48"/>
                    <a:pt x="312" y="48"/>
                  </a:cubicBezTo>
                  <a:cubicBezTo>
                    <a:pt x="305" y="48"/>
                    <a:pt x="305" y="48"/>
                    <a:pt x="305" y="48"/>
                  </a:cubicBezTo>
                  <a:cubicBezTo>
                    <a:pt x="305" y="41"/>
                    <a:pt x="305" y="41"/>
                    <a:pt x="305" y="41"/>
                  </a:cubicBezTo>
                  <a:lnTo>
                    <a:pt x="312" y="41"/>
                  </a:lnTo>
                  <a:close/>
                  <a:moveTo>
                    <a:pt x="295" y="67"/>
                  </a:moveTo>
                  <a:cubicBezTo>
                    <a:pt x="288" y="67"/>
                    <a:pt x="288" y="67"/>
                    <a:pt x="288" y="67"/>
                  </a:cubicBezTo>
                  <a:cubicBezTo>
                    <a:pt x="288" y="60"/>
                    <a:pt x="288" y="60"/>
                    <a:pt x="288" y="60"/>
                  </a:cubicBezTo>
                  <a:cubicBezTo>
                    <a:pt x="295" y="60"/>
                    <a:pt x="295" y="60"/>
                    <a:pt x="295" y="60"/>
                  </a:cubicBezTo>
                  <a:lnTo>
                    <a:pt x="295" y="67"/>
                  </a:lnTo>
                  <a:close/>
                  <a:moveTo>
                    <a:pt x="297" y="60"/>
                  </a:moveTo>
                  <a:cubicBezTo>
                    <a:pt x="304" y="60"/>
                    <a:pt x="304" y="60"/>
                    <a:pt x="304" y="60"/>
                  </a:cubicBezTo>
                  <a:cubicBezTo>
                    <a:pt x="304" y="67"/>
                    <a:pt x="304" y="67"/>
                    <a:pt x="304" y="67"/>
                  </a:cubicBezTo>
                  <a:cubicBezTo>
                    <a:pt x="297" y="67"/>
                    <a:pt x="297" y="67"/>
                    <a:pt x="297" y="67"/>
                  </a:cubicBezTo>
                  <a:lnTo>
                    <a:pt x="297" y="60"/>
                  </a:lnTo>
                  <a:close/>
                  <a:moveTo>
                    <a:pt x="287" y="67"/>
                  </a:moveTo>
                  <a:cubicBezTo>
                    <a:pt x="280" y="67"/>
                    <a:pt x="280" y="67"/>
                    <a:pt x="280" y="67"/>
                  </a:cubicBezTo>
                  <a:cubicBezTo>
                    <a:pt x="280" y="60"/>
                    <a:pt x="280" y="60"/>
                    <a:pt x="280" y="60"/>
                  </a:cubicBezTo>
                  <a:cubicBezTo>
                    <a:pt x="287" y="60"/>
                    <a:pt x="287" y="60"/>
                    <a:pt x="287" y="60"/>
                  </a:cubicBezTo>
                  <a:lnTo>
                    <a:pt x="287" y="67"/>
                  </a:lnTo>
                  <a:close/>
                  <a:moveTo>
                    <a:pt x="278" y="67"/>
                  </a:moveTo>
                  <a:cubicBezTo>
                    <a:pt x="272" y="67"/>
                    <a:pt x="272" y="67"/>
                    <a:pt x="272" y="67"/>
                  </a:cubicBezTo>
                  <a:cubicBezTo>
                    <a:pt x="272" y="60"/>
                    <a:pt x="272" y="60"/>
                    <a:pt x="272" y="60"/>
                  </a:cubicBezTo>
                  <a:cubicBezTo>
                    <a:pt x="278" y="60"/>
                    <a:pt x="278" y="60"/>
                    <a:pt x="278" y="60"/>
                  </a:cubicBezTo>
                  <a:lnTo>
                    <a:pt x="278" y="67"/>
                  </a:lnTo>
                  <a:close/>
                  <a:moveTo>
                    <a:pt x="278" y="69"/>
                  </a:moveTo>
                  <a:cubicBezTo>
                    <a:pt x="278" y="77"/>
                    <a:pt x="278" y="77"/>
                    <a:pt x="278" y="77"/>
                  </a:cubicBezTo>
                  <a:cubicBezTo>
                    <a:pt x="272" y="77"/>
                    <a:pt x="272" y="77"/>
                    <a:pt x="272" y="77"/>
                  </a:cubicBezTo>
                  <a:cubicBezTo>
                    <a:pt x="272" y="69"/>
                    <a:pt x="272" y="69"/>
                    <a:pt x="272" y="69"/>
                  </a:cubicBezTo>
                  <a:lnTo>
                    <a:pt x="278" y="69"/>
                  </a:lnTo>
                  <a:close/>
                  <a:moveTo>
                    <a:pt x="280" y="69"/>
                  </a:moveTo>
                  <a:cubicBezTo>
                    <a:pt x="287" y="69"/>
                    <a:pt x="287" y="69"/>
                    <a:pt x="287" y="69"/>
                  </a:cubicBezTo>
                  <a:cubicBezTo>
                    <a:pt x="287" y="77"/>
                    <a:pt x="287" y="77"/>
                    <a:pt x="287" y="77"/>
                  </a:cubicBezTo>
                  <a:cubicBezTo>
                    <a:pt x="280" y="77"/>
                    <a:pt x="280" y="77"/>
                    <a:pt x="280" y="77"/>
                  </a:cubicBezTo>
                  <a:lnTo>
                    <a:pt x="280" y="69"/>
                  </a:lnTo>
                  <a:close/>
                  <a:moveTo>
                    <a:pt x="288" y="69"/>
                  </a:moveTo>
                  <a:cubicBezTo>
                    <a:pt x="295" y="69"/>
                    <a:pt x="295" y="69"/>
                    <a:pt x="295" y="69"/>
                  </a:cubicBezTo>
                  <a:cubicBezTo>
                    <a:pt x="295" y="77"/>
                    <a:pt x="295" y="77"/>
                    <a:pt x="295" y="77"/>
                  </a:cubicBezTo>
                  <a:cubicBezTo>
                    <a:pt x="288" y="77"/>
                    <a:pt x="288" y="77"/>
                    <a:pt x="288" y="77"/>
                  </a:cubicBezTo>
                  <a:lnTo>
                    <a:pt x="288" y="69"/>
                  </a:lnTo>
                  <a:close/>
                  <a:moveTo>
                    <a:pt x="297" y="69"/>
                  </a:moveTo>
                  <a:cubicBezTo>
                    <a:pt x="304" y="69"/>
                    <a:pt x="304" y="69"/>
                    <a:pt x="304" y="69"/>
                  </a:cubicBezTo>
                  <a:cubicBezTo>
                    <a:pt x="304" y="77"/>
                    <a:pt x="304" y="77"/>
                    <a:pt x="304" y="77"/>
                  </a:cubicBezTo>
                  <a:cubicBezTo>
                    <a:pt x="297" y="77"/>
                    <a:pt x="297" y="77"/>
                    <a:pt x="297" y="77"/>
                  </a:cubicBezTo>
                  <a:lnTo>
                    <a:pt x="297" y="69"/>
                  </a:lnTo>
                  <a:close/>
                  <a:moveTo>
                    <a:pt x="305" y="69"/>
                  </a:moveTo>
                  <a:cubicBezTo>
                    <a:pt x="312" y="69"/>
                    <a:pt x="312" y="69"/>
                    <a:pt x="312" y="69"/>
                  </a:cubicBezTo>
                  <a:cubicBezTo>
                    <a:pt x="312" y="77"/>
                    <a:pt x="312" y="77"/>
                    <a:pt x="312" y="77"/>
                  </a:cubicBezTo>
                  <a:cubicBezTo>
                    <a:pt x="305" y="77"/>
                    <a:pt x="305" y="77"/>
                    <a:pt x="305" y="77"/>
                  </a:cubicBezTo>
                  <a:lnTo>
                    <a:pt x="305" y="69"/>
                  </a:lnTo>
                  <a:close/>
                  <a:moveTo>
                    <a:pt x="305" y="67"/>
                  </a:moveTo>
                  <a:cubicBezTo>
                    <a:pt x="305" y="60"/>
                    <a:pt x="305" y="60"/>
                    <a:pt x="305" y="60"/>
                  </a:cubicBezTo>
                  <a:cubicBezTo>
                    <a:pt x="312" y="60"/>
                    <a:pt x="312" y="60"/>
                    <a:pt x="312" y="60"/>
                  </a:cubicBezTo>
                  <a:cubicBezTo>
                    <a:pt x="312" y="67"/>
                    <a:pt x="312" y="67"/>
                    <a:pt x="312" y="67"/>
                  </a:cubicBezTo>
                  <a:lnTo>
                    <a:pt x="305" y="67"/>
                  </a:lnTo>
                  <a:close/>
                  <a:moveTo>
                    <a:pt x="305" y="58"/>
                  </a:moveTo>
                  <a:cubicBezTo>
                    <a:pt x="305" y="50"/>
                    <a:pt x="305" y="50"/>
                    <a:pt x="305" y="50"/>
                  </a:cubicBezTo>
                  <a:cubicBezTo>
                    <a:pt x="312" y="50"/>
                    <a:pt x="312" y="50"/>
                    <a:pt x="312" y="50"/>
                  </a:cubicBezTo>
                  <a:cubicBezTo>
                    <a:pt x="312" y="58"/>
                    <a:pt x="312" y="58"/>
                    <a:pt x="312" y="58"/>
                  </a:cubicBezTo>
                  <a:lnTo>
                    <a:pt x="305" y="58"/>
                  </a:lnTo>
                  <a:close/>
                  <a:moveTo>
                    <a:pt x="304" y="58"/>
                  </a:moveTo>
                  <a:cubicBezTo>
                    <a:pt x="297" y="58"/>
                    <a:pt x="297" y="58"/>
                    <a:pt x="297" y="58"/>
                  </a:cubicBezTo>
                  <a:cubicBezTo>
                    <a:pt x="297" y="50"/>
                    <a:pt x="297" y="50"/>
                    <a:pt x="297" y="50"/>
                  </a:cubicBezTo>
                  <a:cubicBezTo>
                    <a:pt x="304" y="50"/>
                    <a:pt x="304" y="50"/>
                    <a:pt x="304" y="50"/>
                  </a:cubicBezTo>
                  <a:lnTo>
                    <a:pt x="304" y="58"/>
                  </a:lnTo>
                  <a:close/>
                  <a:moveTo>
                    <a:pt x="295" y="58"/>
                  </a:moveTo>
                  <a:cubicBezTo>
                    <a:pt x="288" y="58"/>
                    <a:pt x="288" y="58"/>
                    <a:pt x="288" y="58"/>
                  </a:cubicBezTo>
                  <a:cubicBezTo>
                    <a:pt x="288" y="50"/>
                    <a:pt x="288" y="50"/>
                    <a:pt x="288" y="50"/>
                  </a:cubicBezTo>
                  <a:cubicBezTo>
                    <a:pt x="295" y="50"/>
                    <a:pt x="295" y="50"/>
                    <a:pt x="295" y="50"/>
                  </a:cubicBezTo>
                  <a:lnTo>
                    <a:pt x="295" y="58"/>
                  </a:lnTo>
                  <a:close/>
                  <a:moveTo>
                    <a:pt x="287" y="58"/>
                  </a:moveTo>
                  <a:cubicBezTo>
                    <a:pt x="280" y="58"/>
                    <a:pt x="280" y="58"/>
                    <a:pt x="280" y="58"/>
                  </a:cubicBezTo>
                  <a:cubicBezTo>
                    <a:pt x="280" y="50"/>
                    <a:pt x="280" y="50"/>
                    <a:pt x="280" y="50"/>
                  </a:cubicBezTo>
                  <a:cubicBezTo>
                    <a:pt x="287" y="50"/>
                    <a:pt x="287" y="50"/>
                    <a:pt x="287" y="50"/>
                  </a:cubicBezTo>
                  <a:lnTo>
                    <a:pt x="287" y="58"/>
                  </a:lnTo>
                  <a:close/>
                  <a:moveTo>
                    <a:pt x="278" y="58"/>
                  </a:moveTo>
                  <a:cubicBezTo>
                    <a:pt x="272" y="58"/>
                    <a:pt x="272" y="58"/>
                    <a:pt x="272" y="58"/>
                  </a:cubicBezTo>
                  <a:cubicBezTo>
                    <a:pt x="272" y="50"/>
                    <a:pt x="272" y="50"/>
                    <a:pt x="272" y="50"/>
                  </a:cubicBezTo>
                  <a:cubicBezTo>
                    <a:pt x="278" y="50"/>
                    <a:pt x="278" y="50"/>
                    <a:pt x="278" y="50"/>
                  </a:cubicBezTo>
                  <a:lnTo>
                    <a:pt x="278" y="58"/>
                  </a:lnTo>
                  <a:close/>
                  <a:moveTo>
                    <a:pt x="270" y="58"/>
                  </a:moveTo>
                  <a:cubicBezTo>
                    <a:pt x="263" y="58"/>
                    <a:pt x="263" y="58"/>
                    <a:pt x="263" y="58"/>
                  </a:cubicBezTo>
                  <a:cubicBezTo>
                    <a:pt x="263" y="50"/>
                    <a:pt x="263" y="50"/>
                    <a:pt x="263" y="50"/>
                  </a:cubicBezTo>
                  <a:cubicBezTo>
                    <a:pt x="270" y="50"/>
                    <a:pt x="270" y="50"/>
                    <a:pt x="270" y="50"/>
                  </a:cubicBezTo>
                  <a:lnTo>
                    <a:pt x="270" y="58"/>
                  </a:lnTo>
                  <a:close/>
                  <a:moveTo>
                    <a:pt x="270" y="60"/>
                  </a:moveTo>
                  <a:cubicBezTo>
                    <a:pt x="270" y="67"/>
                    <a:pt x="270" y="67"/>
                    <a:pt x="270" y="67"/>
                  </a:cubicBezTo>
                  <a:cubicBezTo>
                    <a:pt x="263" y="67"/>
                    <a:pt x="263" y="67"/>
                    <a:pt x="263" y="67"/>
                  </a:cubicBezTo>
                  <a:cubicBezTo>
                    <a:pt x="263" y="60"/>
                    <a:pt x="263" y="60"/>
                    <a:pt x="263" y="60"/>
                  </a:cubicBezTo>
                  <a:lnTo>
                    <a:pt x="270" y="60"/>
                  </a:lnTo>
                  <a:close/>
                  <a:moveTo>
                    <a:pt x="270" y="69"/>
                  </a:moveTo>
                  <a:cubicBezTo>
                    <a:pt x="270" y="77"/>
                    <a:pt x="270" y="77"/>
                    <a:pt x="270" y="77"/>
                  </a:cubicBezTo>
                  <a:cubicBezTo>
                    <a:pt x="263" y="77"/>
                    <a:pt x="263" y="77"/>
                    <a:pt x="263" y="77"/>
                  </a:cubicBezTo>
                  <a:cubicBezTo>
                    <a:pt x="263" y="69"/>
                    <a:pt x="263" y="69"/>
                    <a:pt x="263" y="69"/>
                  </a:cubicBezTo>
                  <a:lnTo>
                    <a:pt x="270" y="69"/>
                  </a:lnTo>
                  <a:close/>
                  <a:moveTo>
                    <a:pt x="270" y="79"/>
                  </a:moveTo>
                  <a:cubicBezTo>
                    <a:pt x="270" y="86"/>
                    <a:pt x="270" y="86"/>
                    <a:pt x="270" y="86"/>
                  </a:cubicBezTo>
                  <a:cubicBezTo>
                    <a:pt x="263" y="86"/>
                    <a:pt x="263" y="86"/>
                    <a:pt x="263" y="86"/>
                  </a:cubicBezTo>
                  <a:cubicBezTo>
                    <a:pt x="263" y="79"/>
                    <a:pt x="263" y="79"/>
                    <a:pt x="263" y="79"/>
                  </a:cubicBezTo>
                  <a:lnTo>
                    <a:pt x="270" y="79"/>
                  </a:lnTo>
                  <a:close/>
                  <a:moveTo>
                    <a:pt x="272" y="79"/>
                  </a:moveTo>
                  <a:cubicBezTo>
                    <a:pt x="278" y="79"/>
                    <a:pt x="278" y="79"/>
                    <a:pt x="278" y="79"/>
                  </a:cubicBezTo>
                  <a:cubicBezTo>
                    <a:pt x="278" y="86"/>
                    <a:pt x="278" y="86"/>
                    <a:pt x="278" y="86"/>
                  </a:cubicBezTo>
                  <a:cubicBezTo>
                    <a:pt x="272" y="86"/>
                    <a:pt x="272" y="86"/>
                    <a:pt x="272" y="86"/>
                  </a:cubicBezTo>
                  <a:lnTo>
                    <a:pt x="272" y="79"/>
                  </a:lnTo>
                  <a:close/>
                  <a:moveTo>
                    <a:pt x="280" y="79"/>
                  </a:moveTo>
                  <a:cubicBezTo>
                    <a:pt x="287" y="79"/>
                    <a:pt x="287" y="79"/>
                    <a:pt x="287" y="79"/>
                  </a:cubicBezTo>
                  <a:cubicBezTo>
                    <a:pt x="287" y="86"/>
                    <a:pt x="287" y="86"/>
                    <a:pt x="287" y="86"/>
                  </a:cubicBezTo>
                  <a:cubicBezTo>
                    <a:pt x="280" y="86"/>
                    <a:pt x="280" y="86"/>
                    <a:pt x="280" y="86"/>
                  </a:cubicBezTo>
                  <a:lnTo>
                    <a:pt x="280" y="79"/>
                  </a:lnTo>
                  <a:close/>
                  <a:moveTo>
                    <a:pt x="288" y="79"/>
                  </a:moveTo>
                  <a:cubicBezTo>
                    <a:pt x="295" y="79"/>
                    <a:pt x="295" y="79"/>
                    <a:pt x="295" y="79"/>
                  </a:cubicBezTo>
                  <a:cubicBezTo>
                    <a:pt x="295" y="86"/>
                    <a:pt x="295" y="86"/>
                    <a:pt x="295" y="86"/>
                  </a:cubicBezTo>
                  <a:cubicBezTo>
                    <a:pt x="288" y="86"/>
                    <a:pt x="288" y="86"/>
                    <a:pt x="288" y="86"/>
                  </a:cubicBezTo>
                  <a:lnTo>
                    <a:pt x="288" y="79"/>
                  </a:lnTo>
                  <a:close/>
                  <a:moveTo>
                    <a:pt x="297" y="79"/>
                  </a:moveTo>
                  <a:cubicBezTo>
                    <a:pt x="304" y="79"/>
                    <a:pt x="304" y="79"/>
                    <a:pt x="304" y="79"/>
                  </a:cubicBezTo>
                  <a:cubicBezTo>
                    <a:pt x="304" y="86"/>
                    <a:pt x="304" y="86"/>
                    <a:pt x="304" y="86"/>
                  </a:cubicBezTo>
                  <a:cubicBezTo>
                    <a:pt x="297" y="86"/>
                    <a:pt x="297" y="86"/>
                    <a:pt x="297" y="86"/>
                  </a:cubicBezTo>
                  <a:lnTo>
                    <a:pt x="297" y="79"/>
                  </a:lnTo>
                  <a:close/>
                  <a:moveTo>
                    <a:pt x="305" y="79"/>
                  </a:moveTo>
                  <a:cubicBezTo>
                    <a:pt x="312" y="79"/>
                    <a:pt x="312" y="79"/>
                    <a:pt x="312" y="79"/>
                  </a:cubicBezTo>
                  <a:cubicBezTo>
                    <a:pt x="312" y="86"/>
                    <a:pt x="312" y="86"/>
                    <a:pt x="312" y="86"/>
                  </a:cubicBezTo>
                  <a:cubicBezTo>
                    <a:pt x="305" y="86"/>
                    <a:pt x="305" y="86"/>
                    <a:pt x="305" y="86"/>
                  </a:cubicBezTo>
                  <a:lnTo>
                    <a:pt x="305" y="79"/>
                  </a:lnTo>
                  <a:close/>
                  <a:moveTo>
                    <a:pt x="270" y="48"/>
                  </a:moveTo>
                  <a:cubicBezTo>
                    <a:pt x="263" y="48"/>
                    <a:pt x="263" y="48"/>
                    <a:pt x="263" y="48"/>
                  </a:cubicBezTo>
                  <a:cubicBezTo>
                    <a:pt x="263" y="41"/>
                    <a:pt x="263" y="41"/>
                    <a:pt x="263" y="41"/>
                  </a:cubicBezTo>
                  <a:cubicBezTo>
                    <a:pt x="270" y="41"/>
                    <a:pt x="270" y="41"/>
                    <a:pt x="270" y="41"/>
                  </a:cubicBezTo>
                  <a:lnTo>
                    <a:pt x="270" y="48"/>
                  </a:lnTo>
                  <a:close/>
                  <a:moveTo>
                    <a:pt x="263" y="88"/>
                  </a:moveTo>
                  <a:cubicBezTo>
                    <a:pt x="270" y="88"/>
                    <a:pt x="270" y="88"/>
                    <a:pt x="270" y="88"/>
                  </a:cubicBezTo>
                  <a:cubicBezTo>
                    <a:pt x="270" y="95"/>
                    <a:pt x="270" y="95"/>
                    <a:pt x="270" y="95"/>
                  </a:cubicBezTo>
                  <a:cubicBezTo>
                    <a:pt x="263" y="95"/>
                    <a:pt x="263" y="95"/>
                    <a:pt x="263" y="95"/>
                  </a:cubicBezTo>
                  <a:lnTo>
                    <a:pt x="263" y="88"/>
                  </a:lnTo>
                  <a:close/>
                  <a:moveTo>
                    <a:pt x="272" y="88"/>
                  </a:moveTo>
                  <a:cubicBezTo>
                    <a:pt x="278" y="88"/>
                    <a:pt x="278" y="88"/>
                    <a:pt x="278" y="88"/>
                  </a:cubicBezTo>
                  <a:cubicBezTo>
                    <a:pt x="278" y="95"/>
                    <a:pt x="278" y="95"/>
                    <a:pt x="278" y="95"/>
                  </a:cubicBezTo>
                  <a:cubicBezTo>
                    <a:pt x="272" y="95"/>
                    <a:pt x="272" y="95"/>
                    <a:pt x="272" y="95"/>
                  </a:cubicBezTo>
                  <a:lnTo>
                    <a:pt x="272" y="88"/>
                  </a:lnTo>
                  <a:close/>
                  <a:moveTo>
                    <a:pt x="280" y="88"/>
                  </a:moveTo>
                  <a:cubicBezTo>
                    <a:pt x="287" y="88"/>
                    <a:pt x="287" y="88"/>
                    <a:pt x="287" y="88"/>
                  </a:cubicBezTo>
                  <a:cubicBezTo>
                    <a:pt x="287" y="95"/>
                    <a:pt x="287" y="95"/>
                    <a:pt x="287" y="95"/>
                  </a:cubicBezTo>
                  <a:cubicBezTo>
                    <a:pt x="280" y="95"/>
                    <a:pt x="280" y="95"/>
                    <a:pt x="280" y="95"/>
                  </a:cubicBezTo>
                  <a:lnTo>
                    <a:pt x="280" y="88"/>
                  </a:lnTo>
                  <a:close/>
                  <a:moveTo>
                    <a:pt x="288" y="88"/>
                  </a:moveTo>
                  <a:cubicBezTo>
                    <a:pt x="295" y="88"/>
                    <a:pt x="295" y="88"/>
                    <a:pt x="295" y="88"/>
                  </a:cubicBezTo>
                  <a:cubicBezTo>
                    <a:pt x="295" y="95"/>
                    <a:pt x="295" y="95"/>
                    <a:pt x="295" y="95"/>
                  </a:cubicBezTo>
                  <a:cubicBezTo>
                    <a:pt x="288" y="95"/>
                    <a:pt x="288" y="95"/>
                    <a:pt x="288" y="95"/>
                  </a:cubicBezTo>
                  <a:lnTo>
                    <a:pt x="288" y="88"/>
                  </a:lnTo>
                  <a:close/>
                  <a:moveTo>
                    <a:pt x="297" y="88"/>
                  </a:moveTo>
                  <a:cubicBezTo>
                    <a:pt x="304" y="88"/>
                    <a:pt x="304" y="88"/>
                    <a:pt x="304" y="88"/>
                  </a:cubicBezTo>
                  <a:cubicBezTo>
                    <a:pt x="304" y="95"/>
                    <a:pt x="304" y="95"/>
                    <a:pt x="304" y="95"/>
                  </a:cubicBezTo>
                  <a:cubicBezTo>
                    <a:pt x="297" y="95"/>
                    <a:pt x="297" y="95"/>
                    <a:pt x="297" y="95"/>
                  </a:cubicBezTo>
                  <a:lnTo>
                    <a:pt x="297" y="88"/>
                  </a:lnTo>
                  <a:close/>
                  <a:moveTo>
                    <a:pt x="305" y="88"/>
                  </a:moveTo>
                  <a:cubicBezTo>
                    <a:pt x="312" y="88"/>
                    <a:pt x="312" y="88"/>
                    <a:pt x="312" y="88"/>
                  </a:cubicBezTo>
                  <a:cubicBezTo>
                    <a:pt x="312" y="95"/>
                    <a:pt x="312" y="95"/>
                    <a:pt x="312" y="95"/>
                  </a:cubicBezTo>
                  <a:cubicBezTo>
                    <a:pt x="305" y="95"/>
                    <a:pt x="305" y="95"/>
                    <a:pt x="305" y="95"/>
                  </a:cubicBezTo>
                  <a:lnTo>
                    <a:pt x="305" y="88"/>
                  </a:lnTo>
                  <a:close/>
                  <a:moveTo>
                    <a:pt x="312" y="36"/>
                  </a:moveTo>
                  <a:cubicBezTo>
                    <a:pt x="312" y="39"/>
                    <a:pt x="312" y="39"/>
                    <a:pt x="312" y="39"/>
                  </a:cubicBezTo>
                  <a:cubicBezTo>
                    <a:pt x="305" y="39"/>
                    <a:pt x="305" y="39"/>
                    <a:pt x="305" y="39"/>
                  </a:cubicBezTo>
                  <a:cubicBezTo>
                    <a:pt x="305" y="39"/>
                    <a:pt x="304" y="39"/>
                    <a:pt x="304" y="39"/>
                  </a:cubicBezTo>
                  <a:cubicBezTo>
                    <a:pt x="304" y="39"/>
                    <a:pt x="304" y="39"/>
                    <a:pt x="304" y="39"/>
                  </a:cubicBezTo>
                  <a:cubicBezTo>
                    <a:pt x="296" y="39"/>
                    <a:pt x="296" y="39"/>
                    <a:pt x="296" y="39"/>
                  </a:cubicBezTo>
                  <a:cubicBezTo>
                    <a:pt x="296" y="39"/>
                    <a:pt x="296" y="39"/>
                    <a:pt x="296" y="39"/>
                  </a:cubicBezTo>
                  <a:cubicBezTo>
                    <a:pt x="296" y="39"/>
                    <a:pt x="296" y="39"/>
                    <a:pt x="296" y="39"/>
                  </a:cubicBezTo>
                  <a:cubicBezTo>
                    <a:pt x="288" y="39"/>
                    <a:pt x="288" y="39"/>
                    <a:pt x="288" y="39"/>
                  </a:cubicBezTo>
                  <a:cubicBezTo>
                    <a:pt x="288" y="39"/>
                    <a:pt x="288" y="39"/>
                    <a:pt x="288" y="39"/>
                  </a:cubicBezTo>
                  <a:cubicBezTo>
                    <a:pt x="287" y="39"/>
                    <a:pt x="287" y="39"/>
                    <a:pt x="287" y="39"/>
                  </a:cubicBezTo>
                  <a:cubicBezTo>
                    <a:pt x="279" y="39"/>
                    <a:pt x="279" y="39"/>
                    <a:pt x="279" y="39"/>
                  </a:cubicBezTo>
                  <a:cubicBezTo>
                    <a:pt x="279" y="39"/>
                    <a:pt x="279" y="39"/>
                    <a:pt x="279" y="39"/>
                  </a:cubicBezTo>
                  <a:cubicBezTo>
                    <a:pt x="279" y="39"/>
                    <a:pt x="279" y="39"/>
                    <a:pt x="279" y="39"/>
                  </a:cubicBezTo>
                  <a:cubicBezTo>
                    <a:pt x="271" y="39"/>
                    <a:pt x="271" y="39"/>
                    <a:pt x="271" y="39"/>
                  </a:cubicBezTo>
                  <a:cubicBezTo>
                    <a:pt x="271" y="39"/>
                    <a:pt x="271" y="39"/>
                    <a:pt x="271" y="39"/>
                  </a:cubicBezTo>
                  <a:cubicBezTo>
                    <a:pt x="271" y="39"/>
                    <a:pt x="271" y="39"/>
                    <a:pt x="270" y="39"/>
                  </a:cubicBezTo>
                  <a:cubicBezTo>
                    <a:pt x="263" y="39"/>
                    <a:pt x="263" y="39"/>
                    <a:pt x="263" y="39"/>
                  </a:cubicBezTo>
                  <a:cubicBezTo>
                    <a:pt x="263" y="3"/>
                    <a:pt x="263" y="3"/>
                    <a:pt x="263" y="3"/>
                  </a:cubicBezTo>
                  <a:lnTo>
                    <a:pt x="312" y="3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4" name="Freeform 281"/>
            <p:cNvSpPr>
              <a:spLocks noEditPoints="1"/>
            </p:cNvSpPr>
            <p:nvPr userDrawn="1"/>
          </p:nvSpPr>
          <p:spPr bwMode="auto">
            <a:xfrm>
              <a:off x="4313238" y="4302125"/>
              <a:ext cx="434975" cy="531813"/>
            </a:xfrm>
            <a:custGeom>
              <a:avLst/>
              <a:gdLst>
                <a:gd name="T0" fmla="*/ 217 w 274"/>
                <a:gd name="T1" fmla="*/ 119 h 335"/>
                <a:gd name="T2" fmla="*/ 178 w 274"/>
                <a:gd name="T3" fmla="*/ 80 h 335"/>
                <a:gd name="T4" fmla="*/ 217 w 274"/>
                <a:gd name="T5" fmla="*/ 80 h 335"/>
                <a:gd name="T6" fmla="*/ 139 w 274"/>
                <a:gd name="T7" fmla="*/ 0 h 335"/>
                <a:gd name="T8" fmla="*/ 56 w 274"/>
                <a:gd name="T9" fmla="*/ 80 h 335"/>
                <a:gd name="T10" fmla="*/ 96 w 274"/>
                <a:gd name="T11" fmla="*/ 80 h 335"/>
                <a:gd name="T12" fmla="*/ 56 w 274"/>
                <a:gd name="T13" fmla="*/ 119 h 335"/>
                <a:gd name="T14" fmla="*/ 96 w 274"/>
                <a:gd name="T15" fmla="*/ 119 h 335"/>
                <a:gd name="T16" fmla="*/ 0 w 274"/>
                <a:gd name="T17" fmla="*/ 216 h 335"/>
                <a:gd name="T18" fmla="*/ 117 w 274"/>
                <a:gd name="T19" fmla="*/ 216 h 335"/>
                <a:gd name="T20" fmla="*/ 117 w 274"/>
                <a:gd name="T21" fmla="*/ 335 h 335"/>
                <a:gd name="T22" fmla="*/ 156 w 274"/>
                <a:gd name="T23" fmla="*/ 335 h 335"/>
                <a:gd name="T24" fmla="*/ 156 w 274"/>
                <a:gd name="T25" fmla="*/ 216 h 335"/>
                <a:gd name="T26" fmla="*/ 274 w 274"/>
                <a:gd name="T27" fmla="*/ 216 h 335"/>
                <a:gd name="T28" fmla="*/ 183 w 274"/>
                <a:gd name="T29" fmla="*/ 119 h 335"/>
                <a:gd name="T30" fmla="*/ 217 w 274"/>
                <a:gd name="T31" fmla="*/ 119 h 335"/>
                <a:gd name="T32" fmla="*/ 252 w 274"/>
                <a:gd name="T33" fmla="*/ 207 h 335"/>
                <a:gd name="T34" fmla="*/ 152 w 274"/>
                <a:gd name="T35" fmla="*/ 207 h 335"/>
                <a:gd name="T36" fmla="*/ 152 w 274"/>
                <a:gd name="T37" fmla="*/ 331 h 335"/>
                <a:gd name="T38" fmla="*/ 122 w 274"/>
                <a:gd name="T39" fmla="*/ 331 h 335"/>
                <a:gd name="T40" fmla="*/ 122 w 274"/>
                <a:gd name="T41" fmla="*/ 207 h 335"/>
                <a:gd name="T42" fmla="*/ 21 w 274"/>
                <a:gd name="T43" fmla="*/ 207 h 335"/>
                <a:gd name="T44" fmla="*/ 113 w 274"/>
                <a:gd name="T45" fmla="*/ 110 h 335"/>
                <a:gd name="T46" fmla="*/ 78 w 274"/>
                <a:gd name="T47" fmla="*/ 110 h 335"/>
                <a:gd name="T48" fmla="*/ 113 w 274"/>
                <a:gd name="T49" fmla="*/ 75 h 335"/>
                <a:gd name="T50" fmla="*/ 78 w 274"/>
                <a:gd name="T51" fmla="*/ 75 h 335"/>
                <a:gd name="T52" fmla="*/ 139 w 274"/>
                <a:gd name="T53" fmla="*/ 9 h 335"/>
                <a:gd name="T54" fmla="*/ 200 w 274"/>
                <a:gd name="T55" fmla="*/ 75 h 335"/>
                <a:gd name="T56" fmla="*/ 161 w 274"/>
                <a:gd name="T57" fmla="*/ 75 h 335"/>
                <a:gd name="T58" fmla="*/ 200 w 274"/>
                <a:gd name="T59" fmla="*/ 110 h 335"/>
                <a:gd name="T60" fmla="*/ 161 w 274"/>
                <a:gd name="T61" fmla="*/ 110 h 335"/>
                <a:gd name="T62" fmla="*/ 252 w 274"/>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4" h="335">
                  <a:moveTo>
                    <a:pt x="217" y="119"/>
                  </a:moveTo>
                  <a:lnTo>
                    <a:pt x="178" y="80"/>
                  </a:lnTo>
                  <a:lnTo>
                    <a:pt x="217" y="80"/>
                  </a:lnTo>
                  <a:lnTo>
                    <a:pt x="139" y="0"/>
                  </a:lnTo>
                  <a:lnTo>
                    <a:pt x="56" y="80"/>
                  </a:lnTo>
                  <a:lnTo>
                    <a:pt x="96" y="80"/>
                  </a:lnTo>
                  <a:lnTo>
                    <a:pt x="56" y="119"/>
                  </a:lnTo>
                  <a:lnTo>
                    <a:pt x="96" y="119"/>
                  </a:lnTo>
                  <a:lnTo>
                    <a:pt x="0" y="216"/>
                  </a:lnTo>
                  <a:lnTo>
                    <a:pt x="117" y="216"/>
                  </a:lnTo>
                  <a:lnTo>
                    <a:pt x="117" y="335"/>
                  </a:lnTo>
                  <a:lnTo>
                    <a:pt x="156" y="335"/>
                  </a:lnTo>
                  <a:lnTo>
                    <a:pt x="156" y="216"/>
                  </a:lnTo>
                  <a:lnTo>
                    <a:pt x="274" y="216"/>
                  </a:lnTo>
                  <a:lnTo>
                    <a:pt x="183" y="119"/>
                  </a:lnTo>
                  <a:lnTo>
                    <a:pt x="217" y="119"/>
                  </a:lnTo>
                  <a:close/>
                  <a:moveTo>
                    <a:pt x="252" y="207"/>
                  </a:moveTo>
                  <a:lnTo>
                    <a:pt x="152" y="207"/>
                  </a:lnTo>
                  <a:lnTo>
                    <a:pt x="152" y="331"/>
                  </a:lnTo>
                  <a:lnTo>
                    <a:pt x="122" y="331"/>
                  </a:lnTo>
                  <a:lnTo>
                    <a:pt x="122" y="207"/>
                  </a:lnTo>
                  <a:lnTo>
                    <a:pt x="21" y="207"/>
                  </a:lnTo>
                  <a:lnTo>
                    <a:pt x="113" y="110"/>
                  </a:lnTo>
                  <a:lnTo>
                    <a:pt x="78" y="110"/>
                  </a:lnTo>
                  <a:lnTo>
                    <a:pt x="113" y="75"/>
                  </a:lnTo>
                  <a:lnTo>
                    <a:pt x="78" y="75"/>
                  </a:lnTo>
                  <a:lnTo>
                    <a:pt x="139" y="9"/>
                  </a:lnTo>
                  <a:lnTo>
                    <a:pt x="200" y="75"/>
                  </a:lnTo>
                  <a:lnTo>
                    <a:pt x="161" y="75"/>
                  </a:lnTo>
                  <a:lnTo>
                    <a:pt x="200"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5" name="Freeform 282"/>
            <p:cNvSpPr>
              <a:spLocks noEditPoints="1"/>
            </p:cNvSpPr>
            <p:nvPr userDrawn="1"/>
          </p:nvSpPr>
          <p:spPr bwMode="auto">
            <a:xfrm>
              <a:off x="7381875" y="4302125"/>
              <a:ext cx="428625" cy="531813"/>
            </a:xfrm>
            <a:custGeom>
              <a:avLst/>
              <a:gdLst>
                <a:gd name="T0" fmla="*/ 217 w 270"/>
                <a:gd name="T1" fmla="*/ 119 h 335"/>
                <a:gd name="T2" fmla="*/ 178 w 270"/>
                <a:gd name="T3" fmla="*/ 80 h 335"/>
                <a:gd name="T4" fmla="*/ 217 w 270"/>
                <a:gd name="T5" fmla="*/ 80 h 335"/>
                <a:gd name="T6" fmla="*/ 139 w 270"/>
                <a:gd name="T7" fmla="*/ 0 h 335"/>
                <a:gd name="T8" fmla="*/ 56 w 270"/>
                <a:gd name="T9" fmla="*/ 80 h 335"/>
                <a:gd name="T10" fmla="*/ 96 w 270"/>
                <a:gd name="T11" fmla="*/ 80 h 335"/>
                <a:gd name="T12" fmla="*/ 56 w 270"/>
                <a:gd name="T13" fmla="*/ 119 h 335"/>
                <a:gd name="T14" fmla="*/ 96 w 270"/>
                <a:gd name="T15" fmla="*/ 119 h 335"/>
                <a:gd name="T16" fmla="*/ 0 w 270"/>
                <a:gd name="T17" fmla="*/ 216 h 335"/>
                <a:gd name="T18" fmla="*/ 113 w 270"/>
                <a:gd name="T19" fmla="*/ 216 h 335"/>
                <a:gd name="T20" fmla="*/ 113 w 270"/>
                <a:gd name="T21" fmla="*/ 335 h 335"/>
                <a:gd name="T22" fmla="*/ 157 w 270"/>
                <a:gd name="T23" fmla="*/ 335 h 335"/>
                <a:gd name="T24" fmla="*/ 157 w 270"/>
                <a:gd name="T25" fmla="*/ 216 h 335"/>
                <a:gd name="T26" fmla="*/ 270 w 270"/>
                <a:gd name="T27" fmla="*/ 216 h 335"/>
                <a:gd name="T28" fmla="*/ 178 w 270"/>
                <a:gd name="T29" fmla="*/ 119 h 335"/>
                <a:gd name="T30" fmla="*/ 217 w 270"/>
                <a:gd name="T31" fmla="*/ 119 h 335"/>
                <a:gd name="T32" fmla="*/ 252 w 270"/>
                <a:gd name="T33" fmla="*/ 207 h 335"/>
                <a:gd name="T34" fmla="*/ 148 w 270"/>
                <a:gd name="T35" fmla="*/ 207 h 335"/>
                <a:gd name="T36" fmla="*/ 148 w 270"/>
                <a:gd name="T37" fmla="*/ 331 h 335"/>
                <a:gd name="T38" fmla="*/ 122 w 270"/>
                <a:gd name="T39" fmla="*/ 331 h 335"/>
                <a:gd name="T40" fmla="*/ 122 w 270"/>
                <a:gd name="T41" fmla="*/ 207 h 335"/>
                <a:gd name="T42" fmla="*/ 22 w 270"/>
                <a:gd name="T43" fmla="*/ 207 h 335"/>
                <a:gd name="T44" fmla="*/ 113 w 270"/>
                <a:gd name="T45" fmla="*/ 110 h 335"/>
                <a:gd name="T46" fmla="*/ 74 w 270"/>
                <a:gd name="T47" fmla="*/ 110 h 335"/>
                <a:gd name="T48" fmla="*/ 113 w 270"/>
                <a:gd name="T49" fmla="*/ 75 h 335"/>
                <a:gd name="T50" fmla="*/ 74 w 270"/>
                <a:gd name="T51" fmla="*/ 75 h 335"/>
                <a:gd name="T52" fmla="*/ 139 w 270"/>
                <a:gd name="T53" fmla="*/ 9 h 335"/>
                <a:gd name="T54" fmla="*/ 196 w 270"/>
                <a:gd name="T55" fmla="*/ 75 h 335"/>
                <a:gd name="T56" fmla="*/ 161 w 270"/>
                <a:gd name="T57" fmla="*/ 75 h 335"/>
                <a:gd name="T58" fmla="*/ 196 w 270"/>
                <a:gd name="T59" fmla="*/ 110 h 335"/>
                <a:gd name="T60" fmla="*/ 161 w 270"/>
                <a:gd name="T61" fmla="*/ 110 h 335"/>
                <a:gd name="T62" fmla="*/ 252 w 270"/>
                <a:gd name="T63" fmla="*/ 207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70" h="335">
                  <a:moveTo>
                    <a:pt x="217" y="119"/>
                  </a:moveTo>
                  <a:lnTo>
                    <a:pt x="178" y="80"/>
                  </a:lnTo>
                  <a:lnTo>
                    <a:pt x="217" y="80"/>
                  </a:lnTo>
                  <a:lnTo>
                    <a:pt x="139" y="0"/>
                  </a:lnTo>
                  <a:lnTo>
                    <a:pt x="56" y="80"/>
                  </a:lnTo>
                  <a:lnTo>
                    <a:pt x="96" y="80"/>
                  </a:lnTo>
                  <a:lnTo>
                    <a:pt x="56" y="119"/>
                  </a:lnTo>
                  <a:lnTo>
                    <a:pt x="96" y="119"/>
                  </a:lnTo>
                  <a:lnTo>
                    <a:pt x="0" y="216"/>
                  </a:lnTo>
                  <a:lnTo>
                    <a:pt x="113" y="216"/>
                  </a:lnTo>
                  <a:lnTo>
                    <a:pt x="113" y="335"/>
                  </a:lnTo>
                  <a:lnTo>
                    <a:pt x="157" y="335"/>
                  </a:lnTo>
                  <a:lnTo>
                    <a:pt x="157" y="216"/>
                  </a:lnTo>
                  <a:lnTo>
                    <a:pt x="270" y="216"/>
                  </a:lnTo>
                  <a:lnTo>
                    <a:pt x="178" y="119"/>
                  </a:lnTo>
                  <a:lnTo>
                    <a:pt x="217" y="119"/>
                  </a:lnTo>
                  <a:close/>
                  <a:moveTo>
                    <a:pt x="252" y="207"/>
                  </a:moveTo>
                  <a:lnTo>
                    <a:pt x="148" y="207"/>
                  </a:lnTo>
                  <a:lnTo>
                    <a:pt x="148" y="331"/>
                  </a:lnTo>
                  <a:lnTo>
                    <a:pt x="122" y="331"/>
                  </a:lnTo>
                  <a:lnTo>
                    <a:pt x="122" y="207"/>
                  </a:lnTo>
                  <a:lnTo>
                    <a:pt x="22" y="207"/>
                  </a:lnTo>
                  <a:lnTo>
                    <a:pt x="113" y="110"/>
                  </a:lnTo>
                  <a:lnTo>
                    <a:pt x="74" y="110"/>
                  </a:lnTo>
                  <a:lnTo>
                    <a:pt x="113" y="75"/>
                  </a:lnTo>
                  <a:lnTo>
                    <a:pt x="74" y="75"/>
                  </a:lnTo>
                  <a:lnTo>
                    <a:pt x="139" y="9"/>
                  </a:lnTo>
                  <a:lnTo>
                    <a:pt x="196" y="75"/>
                  </a:lnTo>
                  <a:lnTo>
                    <a:pt x="161" y="75"/>
                  </a:lnTo>
                  <a:lnTo>
                    <a:pt x="196" y="110"/>
                  </a:lnTo>
                  <a:lnTo>
                    <a:pt x="161" y="110"/>
                  </a:lnTo>
                  <a:lnTo>
                    <a:pt x="252" y="20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6" name="Freeform 283"/>
            <p:cNvSpPr>
              <a:spLocks noEditPoints="1"/>
            </p:cNvSpPr>
            <p:nvPr userDrawn="1"/>
          </p:nvSpPr>
          <p:spPr bwMode="auto">
            <a:xfrm>
              <a:off x="11722100" y="4714875"/>
              <a:ext cx="26988" cy="34925"/>
            </a:xfrm>
            <a:custGeom>
              <a:avLst/>
              <a:gdLst>
                <a:gd name="T0" fmla="*/ 2 w 4"/>
                <a:gd name="T1" fmla="*/ 0 h 5"/>
                <a:gd name="T2" fmla="*/ 0 w 4"/>
                <a:gd name="T3" fmla="*/ 1 h 5"/>
                <a:gd name="T4" fmla="*/ 1 w 4"/>
                <a:gd name="T5" fmla="*/ 4 h 5"/>
                <a:gd name="T6" fmla="*/ 2 w 4"/>
                <a:gd name="T7" fmla="*/ 5 h 5"/>
                <a:gd name="T8" fmla="*/ 3 w 4"/>
                <a:gd name="T9" fmla="*/ 4 h 5"/>
                <a:gd name="T10" fmla="*/ 3 w 4"/>
                <a:gd name="T11" fmla="*/ 1 h 5"/>
                <a:gd name="T12" fmla="*/ 2 w 4"/>
                <a:gd name="T13" fmla="*/ 0 h 5"/>
                <a:gd name="T14" fmla="*/ 2 w 4"/>
                <a:gd name="T15" fmla="*/ 4 h 5"/>
                <a:gd name="T16" fmla="*/ 1 w 4"/>
                <a:gd name="T17" fmla="*/ 3 h 5"/>
                <a:gd name="T18" fmla="*/ 1 w 4"/>
                <a:gd name="T19" fmla="*/ 1 h 5"/>
                <a:gd name="T20" fmla="*/ 2 w 4"/>
                <a:gd name="T21" fmla="*/ 1 h 5"/>
                <a:gd name="T22" fmla="*/ 2 w 4"/>
                <a:gd name="T23" fmla="*/ 1 h 5"/>
                <a:gd name="T24" fmla="*/ 2 w 4"/>
                <a:gd name="T25"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0"/>
                  </a:moveTo>
                  <a:cubicBezTo>
                    <a:pt x="1" y="0"/>
                    <a:pt x="1" y="0"/>
                    <a:pt x="0" y="1"/>
                  </a:cubicBezTo>
                  <a:cubicBezTo>
                    <a:pt x="0" y="1"/>
                    <a:pt x="0" y="4"/>
                    <a:pt x="1" y="4"/>
                  </a:cubicBezTo>
                  <a:cubicBezTo>
                    <a:pt x="1" y="4"/>
                    <a:pt x="2" y="5"/>
                    <a:pt x="2" y="5"/>
                  </a:cubicBezTo>
                  <a:cubicBezTo>
                    <a:pt x="2" y="5"/>
                    <a:pt x="2" y="4"/>
                    <a:pt x="3" y="4"/>
                  </a:cubicBezTo>
                  <a:cubicBezTo>
                    <a:pt x="4" y="4"/>
                    <a:pt x="4" y="2"/>
                    <a:pt x="3" y="1"/>
                  </a:cubicBezTo>
                  <a:cubicBezTo>
                    <a:pt x="3" y="0"/>
                    <a:pt x="2" y="0"/>
                    <a:pt x="2" y="0"/>
                  </a:cubicBezTo>
                  <a:close/>
                  <a:moveTo>
                    <a:pt x="2" y="4"/>
                  </a:moveTo>
                  <a:cubicBezTo>
                    <a:pt x="2" y="4"/>
                    <a:pt x="2" y="4"/>
                    <a:pt x="1" y="3"/>
                  </a:cubicBezTo>
                  <a:cubicBezTo>
                    <a:pt x="1" y="3"/>
                    <a:pt x="1" y="2"/>
                    <a:pt x="1" y="1"/>
                  </a:cubicBezTo>
                  <a:cubicBezTo>
                    <a:pt x="1" y="1"/>
                    <a:pt x="1" y="1"/>
                    <a:pt x="2" y="1"/>
                  </a:cubicBezTo>
                  <a:cubicBezTo>
                    <a:pt x="2" y="1"/>
                    <a:pt x="2" y="1"/>
                    <a:pt x="2" y="1"/>
                  </a:cubicBezTo>
                  <a:cubicBezTo>
                    <a:pt x="3" y="2"/>
                    <a:pt x="3" y="3"/>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7" name="Freeform 284"/>
            <p:cNvSpPr>
              <a:spLocks noEditPoints="1"/>
            </p:cNvSpPr>
            <p:nvPr userDrawn="1"/>
          </p:nvSpPr>
          <p:spPr bwMode="auto">
            <a:xfrm>
              <a:off x="11798300" y="4778375"/>
              <a:ext cx="20638" cy="34925"/>
            </a:xfrm>
            <a:custGeom>
              <a:avLst/>
              <a:gdLst>
                <a:gd name="T0" fmla="*/ 0 w 3"/>
                <a:gd name="T1" fmla="*/ 3 h 5"/>
                <a:gd name="T2" fmla="*/ 1 w 3"/>
                <a:gd name="T3" fmla="*/ 5 h 5"/>
                <a:gd name="T4" fmla="*/ 2 w 3"/>
                <a:gd name="T5" fmla="*/ 5 h 5"/>
                <a:gd name="T6" fmla="*/ 3 w 3"/>
                <a:gd name="T7" fmla="*/ 4 h 5"/>
                <a:gd name="T8" fmla="*/ 3 w 3"/>
                <a:gd name="T9" fmla="*/ 1 h 5"/>
                <a:gd name="T10" fmla="*/ 1 w 3"/>
                <a:gd name="T11" fmla="*/ 0 h 5"/>
                <a:gd name="T12" fmla="*/ 0 w 3"/>
                <a:gd name="T13" fmla="*/ 3 h 5"/>
                <a:gd name="T14" fmla="*/ 2 w 3"/>
                <a:gd name="T15" fmla="*/ 1 h 5"/>
                <a:gd name="T16" fmla="*/ 2 w 3"/>
                <a:gd name="T17" fmla="*/ 2 h 5"/>
                <a:gd name="T18" fmla="*/ 2 w 3"/>
                <a:gd name="T19" fmla="*/ 4 h 5"/>
                <a:gd name="T20" fmla="*/ 2 w 3"/>
                <a:gd name="T21" fmla="*/ 4 h 5"/>
                <a:gd name="T22" fmla="*/ 1 w 3"/>
                <a:gd name="T23" fmla="*/ 4 h 5"/>
                <a:gd name="T24" fmla="*/ 1 w 3"/>
                <a:gd name="T25" fmla="*/ 3 h 5"/>
                <a:gd name="T26" fmla="*/ 1 w 3"/>
                <a:gd name="T27" fmla="*/ 1 h 5"/>
                <a:gd name="T28" fmla="*/ 2 w 3"/>
                <a:gd name="T2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 h="5">
                  <a:moveTo>
                    <a:pt x="0" y="3"/>
                  </a:moveTo>
                  <a:cubicBezTo>
                    <a:pt x="0" y="4"/>
                    <a:pt x="1" y="5"/>
                    <a:pt x="1" y="5"/>
                  </a:cubicBezTo>
                  <a:cubicBezTo>
                    <a:pt x="2" y="5"/>
                    <a:pt x="2" y="5"/>
                    <a:pt x="2" y="5"/>
                  </a:cubicBezTo>
                  <a:cubicBezTo>
                    <a:pt x="2" y="5"/>
                    <a:pt x="2" y="5"/>
                    <a:pt x="3" y="4"/>
                  </a:cubicBezTo>
                  <a:cubicBezTo>
                    <a:pt x="3" y="4"/>
                    <a:pt x="3" y="2"/>
                    <a:pt x="3" y="1"/>
                  </a:cubicBezTo>
                  <a:cubicBezTo>
                    <a:pt x="3" y="1"/>
                    <a:pt x="2" y="0"/>
                    <a:pt x="1" y="0"/>
                  </a:cubicBezTo>
                  <a:cubicBezTo>
                    <a:pt x="0" y="1"/>
                    <a:pt x="0" y="2"/>
                    <a:pt x="0" y="3"/>
                  </a:cubicBezTo>
                  <a:close/>
                  <a:moveTo>
                    <a:pt x="2" y="1"/>
                  </a:moveTo>
                  <a:cubicBezTo>
                    <a:pt x="2" y="1"/>
                    <a:pt x="2" y="1"/>
                    <a:pt x="2" y="2"/>
                  </a:cubicBezTo>
                  <a:cubicBezTo>
                    <a:pt x="2" y="2"/>
                    <a:pt x="2" y="3"/>
                    <a:pt x="2" y="4"/>
                  </a:cubicBezTo>
                  <a:cubicBezTo>
                    <a:pt x="2" y="4"/>
                    <a:pt x="2" y="4"/>
                    <a:pt x="2" y="4"/>
                  </a:cubicBezTo>
                  <a:cubicBezTo>
                    <a:pt x="2" y="4"/>
                    <a:pt x="1" y="4"/>
                    <a:pt x="1" y="4"/>
                  </a:cubicBezTo>
                  <a:cubicBezTo>
                    <a:pt x="1" y="4"/>
                    <a:pt x="1" y="3"/>
                    <a:pt x="1" y="3"/>
                  </a:cubicBezTo>
                  <a:cubicBezTo>
                    <a:pt x="1" y="2"/>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8" name="Freeform 285"/>
            <p:cNvSpPr>
              <a:spLocks noEditPoints="1"/>
            </p:cNvSpPr>
            <p:nvPr userDrawn="1"/>
          </p:nvSpPr>
          <p:spPr bwMode="auto">
            <a:xfrm>
              <a:off x="10941050" y="4232275"/>
              <a:ext cx="1244600" cy="615950"/>
            </a:xfrm>
            <a:custGeom>
              <a:avLst/>
              <a:gdLst>
                <a:gd name="T0" fmla="*/ 175 w 180"/>
                <a:gd name="T1" fmla="*/ 84 h 88"/>
                <a:gd name="T2" fmla="*/ 168 w 180"/>
                <a:gd name="T3" fmla="*/ 84 h 88"/>
                <a:gd name="T4" fmla="*/ 168 w 180"/>
                <a:gd name="T5" fmla="*/ 3 h 88"/>
                <a:gd name="T6" fmla="*/ 165 w 180"/>
                <a:gd name="T7" fmla="*/ 0 h 88"/>
                <a:gd name="T8" fmla="*/ 56 w 180"/>
                <a:gd name="T9" fmla="*/ 0 h 88"/>
                <a:gd name="T10" fmla="*/ 52 w 180"/>
                <a:gd name="T11" fmla="*/ 5 h 88"/>
                <a:gd name="T12" fmla="*/ 52 w 180"/>
                <a:gd name="T13" fmla="*/ 42 h 88"/>
                <a:gd name="T14" fmla="*/ 125 w 180"/>
                <a:gd name="T15" fmla="*/ 43 h 88"/>
                <a:gd name="T16" fmla="*/ 127 w 180"/>
                <a:gd name="T17" fmla="*/ 65 h 88"/>
                <a:gd name="T18" fmla="*/ 165 w 180"/>
                <a:gd name="T19" fmla="*/ 66 h 88"/>
                <a:gd name="T20" fmla="*/ 107 w 180"/>
                <a:gd name="T21" fmla="*/ 85 h 88"/>
                <a:gd name="T22" fmla="*/ 126 w 180"/>
                <a:gd name="T23" fmla="*/ 66 h 88"/>
                <a:gd name="T24" fmla="*/ 126 w 180"/>
                <a:gd name="T25" fmla="*/ 45 h 88"/>
                <a:gd name="T26" fmla="*/ 21 w 180"/>
                <a:gd name="T27" fmla="*/ 43 h 88"/>
                <a:gd name="T28" fmla="*/ 17 w 180"/>
                <a:gd name="T29" fmla="*/ 44 h 88"/>
                <a:gd name="T30" fmla="*/ 16 w 180"/>
                <a:gd name="T31" fmla="*/ 49 h 88"/>
                <a:gd name="T32" fmla="*/ 15 w 180"/>
                <a:gd name="T33" fmla="*/ 65 h 88"/>
                <a:gd name="T34" fmla="*/ 13 w 180"/>
                <a:gd name="T35" fmla="*/ 64 h 88"/>
                <a:gd name="T36" fmla="*/ 10 w 180"/>
                <a:gd name="T37" fmla="*/ 62 h 88"/>
                <a:gd name="T38" fmla="*/ 6 w 180"/>
                <a:gd name="T39" fmla="*/ 62 h 88"/>
                <a:gd name="T40" fmla="*/ 5 w 180"/>
                <a:gd name="T41" fmla="*/ 68 h 88"/>
                <a:gd name="T42" fmla="*/ 5 w 180"/>
                <a:gd name="T43" fmla="*/ 84 h 88"/>
                <a:gd name="T44" fmla="*/ 0 w 180"/>
                <a:gd name="T45" fmla="*/ 86 h 88"/>
                <a:gd name="T46" fmla="*/ 3 w 180"/>
                <a:gd name="T47" fmla="*/ 88 h 88"/>
                <a:gd name="T48" fmla="*/ 6 w 180"/>
                <a:gd name="T49" fmla="*/ 88 h 88"/>
                <a:gd name="T50" fmla="*/ 172 w 180"/>
                <a:gd name="T51" fmla="*/ 88 h 88"/>
                <a:gd name="T52" fmla="*/ 180 w 180"/>
                <a:gd name="T53" fmla="*/ 87 h 88"/>
                <a:gd name="T54" fmla="*/ 178 w 180"/>
                <a:gd name="T55" fmla="*/ 87 h 88"/>
                <a:gd name="T56" fmla="*/ 169 w 180"/>
                <a:gd name="T57" fmla="*/ 87 h 88"/>
                <a:gd name="T58" fmla="*/ 5 w 180"/>
                <a:gd name="T59" fmla="*/ 87 h 88"/>
                <a:gd name="T60" fmla="*/ 1 w 180"/>
                <a:gd name="T61" fmla="*/ 86 h 88"/>
                <a:gd name="T62" fmla="*/ 4 w 180"/>
                <a:gd name="T63" fmla="*/ 85 h 88"/>
                <a:gd name="T64" fmla="*/ 6 w 180"/>
                <a:gd name="T65" fmla="*/ 85 h 88"/>
                <a:gd name="T66" fmla="*/ 6 w 180"/>
                <a:gd name="T67" fmla="*/ 68 h 88"/>
                <a:gd name="T68" fmla="*/ 7 w 180"/>
                <a:gd name="T69" fmla="*/ 63 h 88"/>
                <a:gd name="T70" fmla="*/ 10 w 180"/>
                <a:gd name="T71" fmla="*/ 63 h 88"/>
                <a:gd name="T72" fmla="*/ 12 w 180"/>
                <a:gd name="T73" fmla="*/ 64 h 88"/>
                <a:gd name="T74" fmla="*/ 13 w 180"/>
                <a:gd name="T75" fmla="*/ 66 h 88"/>
                <a:gd name="T76" fmla="*/ 17 w 180"/>
                <a:gd name="T77" fmla="*/ 66 h 88"/>
                <a:gd name="T78" fmla="*/ 17 w 180"/>
                <a:gd name="T79" fmla="*/ 66 h 88"/>
                <a:gd name="T80" fmla="*/ 17 w 180"/>
                <a:gd name="T81" fmla="*/ 48 h 88"/>
                <a:gd name="T82" fmla="*/ 20 w 180"/>
                <a:gd name="T83" fmla="*/ 44 h 88"/>
                <a:gd name="T84" fmla="*/ 125 w 180"/>
                <a:gd name="T85" fmla="*/ 44 h 88"/>
                <a:gd name="T86" fmla="*/ 126 w 180"/>
                <a:gd name="T87" fmla="*/ 65 h 88"/>
                <a:gd name="T88" fmla="*/ 106 w 180"/>
                <a:gd name="T89" fmla="*/ 66 h 88"/>
                <a:gd name="T90" fmla="*/ 107 w 180"/>
                <a:gd name="T91" fmla="*/ 85 h 88"/>
                <a:gd name="T92" fmla="*/ 166 w 180"/>
                <a:gd name="T93" fmla="*/ 85 h 88"/>
                <a:gd name="T94" fmla="*/ 166 w 180"/>
                <a:gd name="T95" fmla="*/ 65 h 88"/>
                <a:gd name="T96" fmla="*/ 128 w 180"/>
                <a:gd name="T97" fmla="*/ 45 h 88"/>
                <a:gd name="T98" fmla="*/ 53 w 180"/>
                <a:gd name="T99" fmla="*/ 42 h 88"/>
                <a:gd name="T100" fmla="*/ 53 w 180"/>
                <a:gd name="T101" fmla="*/ 5 h 88"/>
                <a:gd name="T102" fmla="*/ 56 w 180"/>
                <a:gd name="T103" fmla="*/ 1 h 88"/>
                <a:gd name="T104" fmla="*/ 165 w 180"/>
                <a:gd name="T105" fmla="*/ 1 h 88"/>
                <a:gd name="T106" fmla="*/ 167 w 180"/>
                <a:gd name="T107" fmla="*/ 3 h 88"/>
                <a:gd name="T108" fmla="*/ 167 w 180"/>
                <a:gd name="T109" fmla="*/ 85 h 88"/>
                <a:gd name="T110" fmla="*/ 174 w 180"/>
                <a:gd name="T111" fmla="*/ 85 h 88"/>
                <a:gd name="T112" fmla="*/ 179 w 180"/>
                <a:gd name="T113" fmla="*/ 86 h 88"/>
                <a:gd name="T114" fmla="*/ 178 w 180"/>
                <a:gd name="T115" fmla="*/ 87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80" h="88">
                  <a:moveTo>
                    <a:pt x="180" y="85"/>
                  </a:moveTo>
                  <a:cubicBezTo>
                    <a:pt x="179" y="84"/>
                    <a:pt x="177" y="84"/>
                    <a:pt x="175" y="84"/>
                  </a:cubicBezTo>
                  <a:cubicBezTo>
                    <a:pt x="175" y="84"/>
                    <a:pt x="175" y="84"/>
                    <a:pt x="174" y="84"/>
                  </a:cubicBezTo>
                  <a:cubicBezTo>
                    <a:pt x="168" y="84"/>
                    <a:pt x="168" y="84"/>
                    <a:pt x="168" y="84"/>
                  </a:cubicBezTo>
                  <a:cubicBezTo>
                    <a:pt x="168" y="80"/>
                    <a:pt x="168" y="73"/>
                    <a:pt x="168" y="64"/>
                  </a:cubicBezTo>
                  <a:cubicBezTo>
                    <a:pt x="168" y="40"/>
                    <a:pt x="168" y="4"/>
                    <a:pt x="168" y="3"/>
                  </a:cubicBezTo>
                  <a:cubicBezTo>
                    <a:pt x="168" y="3"/>
                    <a:pt x="168" y="2"/>
                    <a:pt x="167" y="1"/>
                  </a:cubicBezTo>
                  <a:cubicBezTo>
                    <a:pt x="167" y="0"/>
                    <a:pt x="166" y="0"/>
                    <a:pt x="165" y="0"/>
                  </a:cubicBezTo>
                  <a:cubicBezTo>
                    <a:pt x="57" y="0"/>
                    <a:pt x="57" y="0"/>
                    <a:pt x="57" y="0"/>
                  </a:cubicBezTo>
                  <a:cubicBezTo>
                    <a:pt x="57" y="0"/>
                    <a:pt x="56" y="0"/>
                    <a:pt x="56" y="0"/>
                  </a:cubicBezTo>
                  <a:cubicBezTo>
                    <a:pt x="55" y="0"/>
                    <a:pt x="54" y="0"/>
                    <a:pt x="53" y="0"/>
                  </a:cubicBezTo>
                  <a:cubicBezTo>
                    <a:pt x="52" y="0"/>
                    <a:pt x="52" y="3"/>
                    <a:pt x="52" y="5"/>
                  </a:cubicBezTo>
                  <a:cubicBezTo>
                    <a:pt x="52" y="6"/>
                    <a:pt x="52" y="6"/>
                    <a:pt x="52" y="6"/>
                  </a:cubicBezTo>
                  <a:cubicBezTo>
                    <a:pt x="52" y="42"/>
                    <a:pt x="52" y="42"/>
                    <a:pt x="52" y="42"/>
                  </a:cubicBezTo>
                  <a:cubicBezTo>
                    <a:pt x="52" y="43"/>
                    <a:pt x="52" y="43"/>
                    <a:pt x="52" y="43"/>
                  </a:cubicBezTo>
                  <a:cubicBezTo>
                    <a:pt x="125" y="43"/>
                    <a:pt x="125" y="43"/>
                    <a:pt x="125" y="43"/>
                  </a:cubicBezTo>
                  <a:cubicBezTo>
                    <a:pt x="126" y="43"/>
                    <a:pt x="127" y="44"/>
                    <a:pt x="127" y="45"/>
                  </a:cubicBezTo>
                  <a:cubicBezTo>
                    <a:pt x="127" y="65"/>
                    <a:pt x="127" y="65"/>
                    <a:pt x="127" y="65"/>
                  </a:cubicBezTo>
                  <a:cubicBezTo>
                    <a:pt x="127" y="66"/>
                    <a:pt x="127" y="66"/>
                    <a:pt x="127" y="66"/>
                  </a:cubicBezTo>
                  <a:cubicBezTo>
                    <a:pt x="165" y="66"/>
                    <a:pt x="165" y="66"/>
                    <a:pt x="165" y="66"/>
                  </a:cubicBezTo>
                  <a:cubicBezTo>
                    <a:pt x="165" y="85"/>
                    <a:pt x="165" y="85"/>
                    <a:pt x="165" y="85"/>
                  </a:cubicBezTo>
                  <a:cubicBezTo>
                    <a:pt x="107" y="85"/>
                    <a:pt x="107" y="85"/>
                    <a:pt x="107" y="85"/>
                  </a:cubicBezTo>
                  <a:cubicBezTo>
                    <a:pt x="107" y="66"/>
                    <a:pt x="107" y="66"/>
                    <a:pt x="107" y="66"/>
                  </a:cubicBezTo>
                  <a:cubicBezTo>
                    <a:pt x="126" y="66"/>
                    <a:pt x="126" y="66"/>
                    <a:pt x="126" y="66"/>
                  </a:cubicBezTo>
                  <a:cubicBezTo>
                    <a:pt x="126" y="66"/>
                    <a:pt x="126" y="66"/>
                    <a:pt x="126" y="65"/>
                  </a:cubicBezTo>
                  <a:cubicBezTo>
                    <a:pt x="126" y="45"/>
                    <a:pt x="126" y="45"/>
                    <a:pt x="126" y="45"/>
                  </a:cubicBezTo>
                  <a:cubicBezTo>
                    <a:pt x="126" y="44"/>
                    <a:pt x="126" y="43"/>
                    <a:pt x="125" y="43"/>
                  </a:cubicBezTo>
                  <a:cubicBezTo>
                    <a:pt x="21" y="43"/>
                    <a:pt x="21" y="43"/>
                    <a:pt x="21" y="43"/>
                  </a:cubicBezTo>
                  <a:cubicBezTo>
                    <a:pt x="21" y="43"/>
                    <a:pt x="21" y="43"/>
                    <a:pt x="20" y="43"/>
                  </a:cubicBezTo>
                  <a:cubicBezTo>
                    <a:pt x="19" y="43"/>
                    <a:pt x="18" y="43"/>
                    <a:pt x="17" y="44"/>
                  </a:cubicBezTo>
                  <a:cubicBezTo>
                    <a:pt x="16" y="44"/>
                    <a:pt x="16" y="46"/>
                    <a:pt x="16" y="48"/>
                  </a:cubicBezTo>
                  <a:cubicBezTo>
                    <a:pt x="16" y="48"/>
                    <a:pt x="16" y="49"/>
                    <a:pt x="16" y="49"/>
                  </a:cubicBezTo>
                  <a:cubicBezTo>
                    <a:pt x="16" y="65"/>
                    <a:pt x="16" y="65"/>
                    <a:pt x="16" y="65"/>
                  </a:cubicBezTo>
                  <a:cubicBezTo>
                    <a:pt x="16" y="65"/>
                    <a:pt x="16" y="65"/>
                    <a:pt x="15" y="65"/>
                  </a:cubicBezTo>
                  <a:cubicBezTo>
                    <a:pt x="15" y="65"/>
                    <a:pt x="14" y="65"/>
                    <a:pt x="13" y="65"/>
                  </a:cubicBezTo>
                  <a:cubicBezTo>
                    <a:pt x="13" y="65"/>
                    <a:pt x="13" y="65"/>
                    <a:pt x="13" y="64"/>
                  </a:cubicBezTo>
                  <a:cubicBezTo>
                    <a:pt x="13" y="64"/>
                    <a:pt x="13" y="63"/>
                    <a:pt x="13" y="62"/>
                  </a:cubicBezTo>
                  <a:cubicBezTo>
                    <a:pt x="12" y="62"/>
                    <a:pt x="11" y="62"/>
                    <a:pt x="10" y="62"/>
                  </a:cubicBezTo>
                  <a:cubicBezTo>
                    <a:pt x="10" y="62"/>
                    <a:pt x="9" y="62"/>
                    <a:pt x="9" y="62"/>
                  </a:cubicBezTo>
                  <a:cubicBezTo>
                    <a:pt x="8" y="62"/>
                    <a:pt x="7" y="62"/>
                    <a:pt x="6" y="62"/>
                  </a:cubicBezTo>
                  <a:cubicBezTo>
                    <a:pt x="5" y="63"/>
                    <a:pt x="5" y="64"/>
                    <a:pt x="5" y="66"/>
                  </a:cubicBezTo>
                  <a:cubicBezTo>
                    <a:pt x="5" y="67"/>
                    <a:pt x="5" y="67"/>
                    <a:pt x="5" y="68"/>
                  </a:cubicBezTo>
                  <a:cubicBezTo>
                    <a:pt x="5" y="72"/>
                    <a:pt x="5" y="72"/>
                    <a:pt x="5" y="72"/>
                  </a:cubicBezTo>
                  <a:cubicBezTo>
                    <a:pt x="5" y="76"/>
                    <a:pt x="5" y="81"/>
                    <a:pt x="5" y="84"/>
                  </a:cubicBezTo>
                  <a:cubicBezTo>
                    <a:pt x="5" y="84"/>
                    <a:pt x="5" y="84"/>
                    <a:pt x="4" y="84"/>
                  </a:cubicBezTo>
                  <a:cubicBezTo>
                    <a:pt x="3" y="84"/>
                    <a:pt x="0" y="84"/>
                    <a:pt x="0" y="86"/>
                  </a:cubicBezTo>
                  <a:cubicBezTo>
                    <a:pt x="0" y="87"/>
                    <a:pt x="0" y="87"/>
                    <a:pt x="1" y="87"/>
                  </a:cubicBezTo>
                  <a:cubicBezTo>
                    <a:pt x="1" y="88"/>
                    <a:pt x="2" y="88"/>
                    <a:pt x="3" y="88"/>
                  </a:cubicBezTo>
                  <a:cubicBezTo>
                    <a:pt x="4" y="88"/>
                    <a:pt x="4" y="88"/>
                    <a:pt x="5" y="88"/>
                  </a:cubicBezTo>
                  <a:cubicBezTo>
                    <a:pt x="5" y="88"/>
                    <a:pt x="6" y="88"/>
                    <a:pt x="6" y="88"/>
                  </a:cubicBezTo>
                  <a:cubicBezTo>
                    <a:pt x="169" y="88"/>
                    <a:pt x="169" y="88"/>
                    <a:pt x="169" y="88"/>
                  </a:cubicBezTo>
                  <a:cubicBezTo>
                    <a:pt x="170" y="88"/>
                    <a:pt x="171" y="88"/>
                    <a:pt x="172" y="88"/>
                  </a:cubicBezTo>
                  <a:cubicBezTo>
                    <a:pt x="174" y="88"/>
                    <a:pt x="176" y="88"/>
                    <a:pt x="178" y="88"/>
                  </a:cubicBezTo>
                  <a:cubicBezTo>
                    <a:pt x="180" y="88"/>
                    <a:pt x="180" y="87"/>
                    <a:pt x="180" y="87"/>
                  </a:cubicBezTo>
                  <a:cubicBezTo>
                    <a:pt x="180" y="86"/>
                    <a:pt x="180" y="85"/>
                    <a:pt x="180" y="85"/>
                  </a:cubicBezTo>
                  <a:close/>
                  <a:moveTo>
                    <a:pt x="178" y="87"/>
                  </a:moveTo>
                  <a:cubicBezTo>
                    <a:pt x="176" y="87"/>
                    <a:pt x="174" y="87"/>
                    <a:pt x="172" y="87"/>
                  </a:cubicBezTo>
                  <a:cubicBezTo>
                    <a:pt x="171" y="87"/>
                    <a:pt x="170" y="87"/>
                    <a:pt x="169" y="87"/>
                  </a:cubicBezTo>
                  <a:cubicBezTo>
                    <a:pt x="6" y="87"/>
                    <a:pt x="6" y="87"/>
                    <a:pt x="6" y="87"/>
                  </a:cubicBezTo>
                  <a:cubicBezTo>
                    <a:pt x="6" y="87"/>
                    <a:pt x="5" y="87"/>
                    <a:pt x="5" y="87"/>
                  </a:cubicBezTo>
                  <a:cubicBezTo>
                    <a:pt x="3" y="87"/>
                    <a:pt x="2" y="87"/>
                    <a:pt x="1" y="87"/>
                  </a:cubicBezTo>
                  <a:cubicBezTo>
                    <a:pt x="1" y="87"/>
                    <a:pt x="1" y="87"/>
                    <a:pt x="1" y="86"/>
                  </a:cubicBezTo>
                  <a:cubicBezTo>
                    <a:pt x="1" y="85"/>
                    <a:pt x="2" y="85"/>
                    <a:pt x="3" y="85"/>
                  </a:cubicBezTo>
                  <a:cubicBezTo>
                    <a:pt x="3" y="85"/>
                    <a:pt x="4" y="85"/>
                    <a:pt x="4" y="85"/>
                  </a:cubicBezTo>
                  <a:cubicBezTo>
                    <a:pt x="5" y="85"/>
                    <a:pt x="5" y="85"/>
                    <a:pt x="6" y="85"/>
                  </a:cubicBezTo>
                  <a:cubicBezTo>
                    <a:pt x="6" y="85"/>
                    <a:pt x="6" y="85"/>
                    <a:pt x="6" y="85"/>
                  </a:cubicBezTo>
                  <a:cubicBezTo>
                    <a:pt x="6" y="81"/>
                    <a:pt x="6" y="76"/>
                    <a:pt x="6" y="72"/>
                  </a:cubicBezTo>
                  <a:cubicBezTo>
                    <a:pt x="6" y="68"/>
                    <a:pt x="6" y="68"/>
                    <a:pt x="6" y="68"/>
                  </a:cubicBezTo>
                  <a:cubicBezTo>
                    <a:pt x="6" y="67"/>
                    <a:pt x="6" y="67"/>
                    <a:pt x="6" y="66"/>
                  </a:cubicBezTo>
                  <a:cubicBezTo>
                    <a:pt x="6" y="65"/>
                    <a:pt x="6" y="63"/>
                    <a:pt x="7" y="63"/>
                  </a:cubicBezTo>
                  <a:cubicBezTo>
                    <a:pt x="7" y="62"/>
                    <a:pt x="8" y="63"/>
                    <a:pt x="9" y="63"/>
                  </a:cubicBezTo>
                  <a:cubicBezTo>
                    <a:pt x="9" y="63"/>
                    <a:pt x="10" y="63"/>
                    <a:pt x="10" y="63"/>
                  </a:cubicBezTo>
                  <a:cubicBezTo>
                    <a:pt x="11" y="62"/>
                    <a:pt x="12" y="62"/>
                    <a:pt x="12" y="63"/>
                  </a:cubicBezTo>
                  <a:cubicBezTo>
                    <a:pt x="12" y="63"/>
                    <a:pt x="12" y="64"/>
                    <a:pt x="12" y="64"/>
                  </a:cubicBezTo>
                  <a:cubicBezTo>
                    <a:pt x="12" y="65"/>
                    <a:pt x="12" y="65"/>
                    <a:pt x="12" y="66"/>
                  </a:cubicBezTo>
                  <a:cubicBezTo>
                    <a:pt x="12" y="66"/>
                    <a:pt x="12" y="66"/>
                    <a:pt x="13" y="66"/>
                  </a:cubicBezTo>
                  <a:cubicBezTo>
                    <a:pt x="13" y="66"/>
                    <a:pt x="14" y="66"/>
                    <a:pt x="15" y="66"/>
                  </a:cubicBezTo>
                  <a:cubicBezTo>
                    <a:pt x="16" y="66"/>
                    <a:pt x="16" y="66"/>
                    <a:pt x="17" y="66"/>
                  </a:cubicBezTo>
                  <a:cubicBezTo>
                    <a:pt x="17" y="66"/>
                    <a:pt x="17" y="66"/>
                    <a:pt x="17" y="66"/>
                  </a:cubicBezTo>
                  <a:cubicBezTo>
                    <a:pt x="17" y="66"/>
                    <a:pt x="17" y="66"/>
                    <a:pt x="17" y="66"/>
                  </a:cubicBezTo>
                  <a:cubicBezTo>
                    <a:pt x="17" y="49"/>
                    <a:pt x="17" y="49"/>
                    <a:pt x="17" y="49"/>
                  </a:cubicBezTo>
                  <a:cubicBezTo>
                    <a:pt x="17" y="49"/>
                    <a:pt x="17" y="48"/>
                    <a:pt x="17" y="48"/>
                  </a:cubicBezTo>
                  <a:cubicBezTo>
                    <a:pt x="17" y="47"/>
                    <a:pt x="17" y="45"/>
                    <a:pt x="18" y="44"/>
                  </a:cubicBezTo>
                  <a:cubicBezTo>
                    <a:pt x="18" y="44"/>
                    <a:pt x="19" y="44"/>
                    <a:pt x="20" y="44"/>
                  </a:cubicBezTo>
                  <a:cubicBezTo>
                    <a:pt x="21" y="44"/>
                    <a:pt x="21" y="44"/>
                    <a:pt x="21" y="44"/>
                  </a:cubicBezTo>
                  <a:cubicBezTo>
                    <a:pt x="125" y="44"/>
                    <a:pt x="125" y="44"/>
                    <a:pt x="125" y="44"/>
                  </a:cubicBezTo>
                  <a:cubicBezTo>
                    <a:pt x="125" y="44"/>
                    <a:pt x="126" y="44"/>
                    <a:pt x="126" y="45"/>
                  </a:cubicBezTo>
                  <a:cubicBezTo>
                    <a:pt x="126" y="65"/>
                    <a:pt x="126" y="65"/>
                    <a:pt x="126" y="65"/>
                  </a:cubicBezTo>
                  <a:cubicBezTo>
                    <a:pt x="107" y="65"/>
                    <a:pt x="107" y="65"/>
                    <a:pt x="107" y="65"/>
                  </a:cubicBezTo>
                  <a:cubicBezTo>
                    <a:pt x="107" y="65"/>
                    <a:pt x="106" y="65"/>
                    <a:pt x="106" y="66"/>
                  </a:cubicBezTo>
                  <a:cubicBezTo>
                    <a:pt x="106" y="85"/>
                    <a:pt x="106" y="85"/>
                    <a:pt x="106" y="85"/>
                  </a:cubicBezTo>
                  <a:cubicBezTo>
                    <a:pt x="106" y="85"/>
                    <a:pt x="107" y="85"/>
                    <a:pt x="107" y="85"/>
                  </a:cubicBezTo>
                  <a:cubicBezTo>
                    <a:pt x="166" y="85"/>
                    <a:pt x="166" y="85"/>
                    <a:pt x="166" y="85"/>
                  </a:cubicBezTo>
                  <a:cubicBezTo>
                    <a:pt x="166" y="85"/>
                    <a:pt x="166" y="85"/>
                    <a:pt x="166" y="85"/>
                  </a:cubicBezTo>
                  <a:cubicBezTo>
                    <a:pt x="166" y="65"/>
                    <a:pt x="166" y="65"/>
                    <a:pt x="166" y="65"/>
                  </a:cubicBezTo>
                  <a:cubicBezTo>
                    <a:pt x="166" y="65"/>
                    <a:pt x="166" y="65"/>
                    <a:pt x="166" y="65"/>
                  </a:cubicBezTo>
                  <a:cubicBezTo>
                    <a:pt x="128" y="65"/>
                    <a:pt x="128" y="65"/>
                    <a:pt x="128" y="65"/>
                  </a:cubicBezTo>
                  <a:cubicBezTo>
                    <a:pt x="128" y="45"/>
                    <a:pt x="128" y="45"/>
                    <a:pt x="128" y="45"/>
                  </a:cubicBezTo>
                  <a:cubicBezTo>
                    <a:pt x="128" y="43"/>
                    <a:pt x="126" y="42"/>
                    <a:pt x="125" y="42"/>
                  </a:cubicBezTo>
                  <a:cubicBezTo>
                    <a:pt x="53" y="42"/>
                    <a:pt x="53" y="42"/>
                    <a:pt x="53" y="42"/>
                  </a:cubicBezTo>
                  <a:cubicBezTo>
                    <a:pt x="53" y="6"/>
                    <a:pt x="53" y="6"/>
                    <a:pt x="53" y="6"/>
                  </a:cubicBezTo>
                  <a:cubicBezTo>
                    <a:pt x="53" y="6"/>
                    <a:pt x="53" y="6"/>
                    <a:pt x="53" y="5"/>
                  </a:cubicBezTo>
                  <a:cubicBezTo>
                    <a:pt x="53" y="3"/>
                    <a:pt x="53" y="1"/>
                    <a:pt x="54" y="1"/>
                  </a:cubicBezTo>
                  <a:cubicBezTo>
                    <a:pt x="54" y="1"/>
                    <a:pt x="55" y="1"/>
                    <a:pt x="56" y="1"/>
                  </a:cubicBezTo>
                  <a:cubicBezTo>
                    <a:pt x="56" y="1"/>
                    <a:pt x="57" y="1"/>
                    <a:pt x="57" y="1"/>
                  </a:cubicBezTo>
                  <a:cubicBezTo>
                    <a:pt x="165" y="1"/>
                    <a:pt x="165" y="1"/>
                    <a:pt x="165" y="1"/>
                  </a:cubicBezTo>
                  <a:cubicBezTo>
                    <a:pt x="166" y="1"/>
                    <a:pt x="166" y="1"/>
                    <a:pt x="167" y="2"/>
                  </a:cubicBezTo>
                  <a:cubicBezTo>
                    <a:pt x="167" y="2"/>
                    <a:pt x="167" y="3"/>
                    <a:pt x="167" y="3"/>
                  </a:cubicBezTo>
                  <a:cubicBezTo>
                    <a:pt x="167" y="4"/>
                    <a:pt x="167" y="31"/>
                    <a:pt x="167" y="64"/>
                  </a:cubicBezTo>
                  <a:cubicBezTo>
                    <a:pt x="167" y="73"/>
                    <a:pt x="167" y="81"/>
                    <a:pt x="167" y="85"/>
                  </a:cubicBezTo>
                  <a:cubicBezTo>
                    <a:pt x="167" y="85"/>
                    <a:pt x="167" y="85"/>
                    <a:pt x="168" y="85"/>
                  </a:cubicBezTo>
                  <a:cubicBezTo>
                    <a:pt x="174" y="85"/>
                    <a:pt x="174" y="85"/>
                    <a:pt x="174" y="85"/>
                  </a:cubicBezTo>
                  <a:cubicBezTo>
                    <a:pt x="175" y="85"/>
                    <a:pt x="175" y="85"/>
                    <a:pt x="175" y="85"/>
                  </a:cubicBezTo>
                  <a:cubicBezTo>
                    <a:pt x="177" y="85"/>
                    <a:pt x="178" y="85"/>
                    <a:pt x="179" y="86"/>
                  </a:cubicBezTo>
                  <a:cubicBezTo>
                    <a:pt x="179" y="86"/>
                    <a:pt x="179" y="86"/>
                    <a:pt x="179" y="86"/>
                  </a:cubicBezTo>
                  <a:cubicBezTo>
                    <a:pt x="179" y="87"/>
                    <a:pt x="179" y="87"/>
                    <a:pt x="178" y="8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9" name="Freeform 286"/>
            <p:cNvSpPr>
              <a:spLocks noEditPoints="1"/>
            </p:cNvSpPr>
            <p:nvPr userDrawn="1"/>
          </p:nvSpPr>
          <p:spPr bwMode="auto">
            <a:xfrm>
              <a:off x="11915775" y="4275138"/>
              <a:ext cx="14288"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0" name="Freeform 287"/>
            <p:cNvSpPr>
              <a:spLocks noEditPoints="1"/>
            </p:cNvSpPr>
            <p:nvPr userDrawn="1"/>
          </p:nvSpPr>
          <p:spPr bwMode="auto">
            <a:xfrm>
              <a:off x="11736388" y="4568825"/>
              <a:ext cx="12700" cy="90488"/>
            </a:xfrm>
            <a:custGeom>
              <a:avLst/>
              <a:gdLst>
                <a:gd name="T0" fmla="*/ 1 w 2"/>
                <a:gd name="T1" fmla="*/ 13 h 13"/>
                <a:gd name="T2" fmla="*/ 2 w 2"/>
                <a:gd name="T3" fmla="*/ 12 h 13"/>
                <a:gd name="T4" fmla="*/ 2 w 2"/>
                <a:gd name="T5" fmla="*/ 1 h 13"/>
                <a:gd name="T6" fmla="*/ 1 w 2"/>
                <a:gd name="T7" fmla="*/ 0 h 13"/>
                <a:gd name="T8" fmla="*/ 0 w 2"/>
                <a:gd name="T9" fmla="*/ 1 h 13"/>
                <a:gd name="T10" fmla="*/ 0 w 2"/>
                <a:gd name="T11" fmla="*/ 12 h 13"/>
                <a:gd name="T12" fmla="*/ 1 w 2"/>
                <a:gd name="T13" fmla="*/ 13 h 13"/>
                <a:gd name="T14" fmla="*/ 1 w 2"/>
                <a:gd name="T15" fmla="*/ 1 h 13"/>
                <a:gd name="T16" fmla="*/ 1 w 2"/>
                <a:gd name="T17" fmla="*/ 1 h 13"/>
                <a:gd name="T18" fmla="*/ 1 w 2"/>
                <a:gd name="T19" fmla="*/ 1 h 13"/>
                <a:gd name="T20" fmla="*/ 1 w 2"/>
                <a:gd name="T21" fmla="*/ 12 h 13"/>
                <a:gd name="T22" fmla="*/ 1 w 2"/>
                <a:gd name="T23" fmla="*/ 12 h 13"/>
                <a:gd name="T24" fmla="*/ 1 w 2"/>
                <a:gd name="T25" fmla="*/ 1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3">
                  <a:moveTo>
                    <a:pt x="1" y="13"/>
                  </a:moveTo>
                  <a:cubicBezTo>
                    <a:pt x="2" y="13"/>
                    <a:pt x="2" y="13"/>
                    <a:pt x="2" y="12"/>
                  </a:cubicBezTo>
                  <a:cubicBezTo>
                    <a:pt x="2" y="1"/>
                    <a:pt x="2" y="1"/>
                    <a:pt x="2" y="1"/>
                  </a:cubicBezTo>
                  <a:cubicBezTo>
                    <a:pt x="2" y="0"/>
                    <a:pt x="2" y="0"/>
                    <a:pt x="1" y="0"/>
                  </a:cubicBezTo>
                  <a:cubicBezTo>
                    <a:pt x="0" y="0"/>
                    <a:pt x="0" y="0"/>
                    <a:pt x="0" y="1"/>
                  </a:cubicBezTo>
                  <a:cubicBezTo>
                    <a:pt x="0" y="12"/>
                    <a:pt x="0" y="12"/>
                    <a:pt x="0" y="12"/>
                  </a:cubicBezTo>
                  <a:cubicBezTo>
                    <a:pt x="0" y="13"/>
                    <a:pt x="0" y="13"/>
                    <a:pt x="1" y="13"/>
                  </a:cubicBezTo>
                  <a:close/>
                  <a:moveTo>
                    <a:pt x="1" y="1"/>
                  </a:moveTo>
                  <a:cubicBezTo>
                    <a:pt x="1" y="1"/>
                    <a:pt x="1" y="1"/>
                    <a:pt x="1" y="1"/>
                  </a:cubicBezTo>
                  <a:cubicBezTo>
                    <a:pt x="1" y="1"/>
                    <a:pt x="1" y="1"/>
                    <a:pt x="1" y="1"/>
                  </a:cubicBezTo>
                  <a:cubicBezTo>
                    <a:pt x="1" y="12"/>
                    <a:pt x="1" y="12"/>
                    <a:pt x="1" y="12"/>
                  </a:cubicBezTo>
                  <a:cubicBezTo>
                    <a:pt x="1" y="12"/>
                    <a:pt x="1" y="12"/>
                    <a:pt x="1" y="1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1" name="Freeform 288"/>
            <p:cNvSpPr>
              <a:spLocks noEditPoints="1"/>
            </p:cNvSpPr>
            <p:nvPr userDrawn="1"/>
          </p:nvSpPr>
          <p:spPr bwMode="auto">
            <a:xfrm>
              <a:off x="11845925" y="4476750"/>
              <a:ext cx="242888" cy="182563"/>
            </a:xfrm>
            <a:custGeom>
              <a:avLst/>
              <a:gdLst>
                <a:gd name="T0" fmla="*/ 35 w 35"/>
                <a:gd name="T1" fmla="*/ 0 h 26"/>
                <a:gd name="T2" fmla="*/ 0 w 35"/>
                <a:gd name="T3" fmla="*/ 0 h 26"/>
                <a:gd name="T4" fmla="*/ 0 w 35"/>
                <a:gd name="T5" fmla="*/ 1 h 26"/>
                <a:gd name="T6" fmla="*/ 0 w 35"/>
                <a:gd name="T7" fmla="*/ 25 h 26"/>
                <a:gd name="T8" fmla="*/ 0 w 35"/>
                <a:gd name="T9" fmla="*/ 26 h 26"/>
                <a:gd name="T10" fmla="*/ 35 w 35"/>
                <a:gd name="T11" fmla="*/ 26 h 26"/>
                <a:gd name="T12" fmla="*/ 35 w 35"/>
                <a:gd name="T13" fmla="*/ 25 h 26"/>
                <a:gd name="T14" fmla="*/ 35 w 35"/>
                <a:gd name="T15" fmla="*/ 1 h 26"/>
                <a:gd name="T16" fmla="*/ 35 w 35"/>
                <a:gd name="T17" fmla="*/ 0 h 26"/>
                <a:gd name="T18" fmla="*/ 34 w 35"/>
                <a:gd name="T19" fmla="*/ 25 h 26"/>
                <a:gd name="T20" fmla="*/ 1 w 35"/>
                <a:gd name="T21" fmla="*/ 25 h 26"/>
                <a:gd name="T22" fmla="*/ 1 w 35"/>
                <a:gd name="T23" fmla="*/ 1 h 26"/>
                <a:gd name="T24" fmla="*/ 34 w 35"/>
                <a:gd name="T25" fmla="*/ 1 h 26"/>
                <a:gd name="T26" fmla="*/ 34 w 35"/>
                <a:gd name="T27" fmla="*/ 25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26">
                  <a:moveTo>
                    <a:pt x="35" y="0"/>
                  </a:moveTo>
                  <a:cubicBezTo>
                    <a:pt x="0" y="0"/>
                    <a:pt x="0" y="0"/>
                    <a:pt x="0" y="0"/>
                  </a:cubicBezTo>
                  <a:cubicBezTo>
                    <a:pt x="0" y="0"/>
                    <a:pt x="0" y="0"/>
                    <a:pt x="0" y="1"/>
                  </a:cubicBezTo>
                  <a:cubicBezTo>
                    <a:pt x="0" y="25"/>
                    <a:pt x="0" y="25"/>
                    <a:pt x="0" y="25"/>
                  </a:cubicBezTo>
                  <a:cubicBezTo>
                    <a:pt x="0" y="26"/>
                    <a:pt x="0" y="26"/>
                    <a:pt x="0" y="26"/>
                  </a:cubicBezTo>
                  <a:cubicBezTo>
                    <a:pt x="35" y="26"/>
                    <a:pt x="35" y="26"/>
                    <a:pt x="35" y="26"/>
                  </a:cubicBezTo>
                  <a:cubicBezTo>
                    <a:pt x="35" y="26"/>
                    <a:pt x="35" y="26"/>
                    <a:pt x="35" y="25"/>
                  </a:cubicBezTo>
                  <a:cubicBezTo>
                    <a:pt x="35" y="1"/>
                    <a:pt x="35" y="1"/>
                    <a:pt x="35" y="1"/>
                  </a:cubicBezTo>
                  <a:cubicBezTo>
                    <a:pt x="35" y="0"/>
                    <a:pt x="35" y="0"/>
                    <a:pt x="35" y="0"/>
                  </a:cubicBezTo>
                  <a:close/>
                  <a:moveTo>
                    <a:pt x="34" y="25"/>
                  </a:moveTo>
                  <a:cubicBezTo>
                    <a:pt x="1" y="25"/>
                    <a:pt x="1" y="25"/>
                    <a:pt x="1" y="25"/>
                  </a:cubicBezTo>
                  <a:cubicBezTo>
                    <a:pt x="1" y="1"/>
                    <a:pt x="1" y="1"/>
                    <a:pt x="1" y="1"/>
                  </a:cubicBezTo>
                  <a:cubicBezTo>
                    <a:pt x="34" y="1"/>
                    <a:pt x="34" y="1"/>
                    <a:pt x="34" y="1"/>
                  </a:cubicBezTo>
                  <a:lnTo>
                    <a:pt x="34" y="2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2" name="Freeform 289"/>
            <p:cNvSpPr>
              <a:spLocks noEditPoints="1"/>
            </p:cNvSpPr>
            <p:nvPr userDrawn="1"/>
          </p:nvSpPr>
          <p:spPr bwMode="auto">
            <a:xfrm>
              <a:off x="11804650"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3" name="Freeform 290"/>
            <p:cNvSpPr>
              <a:spLocks noEditPoints="1"/>
            </p:cNvSpPr>
            <p:nvPr userDrawn="1"/>
          </p:nvSpPr>
          <p:spPr bwMode="auto">
            <a:xfrm>
              <a:off x="11542713" y="4568825"/>
              <a:ext cx="20638" cy="133350"/>
            </a:xfrm>
            <a:custGeom>
              <a:avLst/>
              <a:gdLst>
                <a:gd name="T0" fmla="*/ 2 w 3"/>
                <a:gd name="T1" fmla="*/ 19 h 19"/>
                <a:gd name="T2" fmla="*/ 3 w 3"/>
                <a:gd name="T3" fmla="*/ 18 h 19"/>
                <a:gd name="T4" fmla="*/ 3 w 3"/>
                <a:gd name="T5" fmla="*/ 1 h 19"/>
                <a:gd name="T6" fmla="*/ 2 w 3"/>
                <a:gd name="T7" fmla="*/ 0 h 19"/>
                <a:gd name="T8" fmla="*/ 0 w 3"/>
                <a:gd name="T9" fmla="*/ 1 h 19"/>
                <a:gd name="T10" fmla="*/ 0 w 3"/>
                <a:gd name="T11" fmla="*/ 18 h 19"/>
                <a:gd name="T12" fmla="*/ 2 w 3"/>
                <a:gd name="T13" fmla="*/ 19 h 19"/>
                <a:gd name="T14" fmla="*/ 1 w 3"/>
                <a:gd name="T15" fmla="*/ 1 h 19"/>
                <a:gd name="T16" fmla="*/ 2 w 3"/>
                <a:gd name="T17" fmla="*/ 1 h 19"/>
                <a:gd name="T18" fmla="*/ 2 w 3"/>
                <a:gd name="T19" fmla="*/ 1 h 19"/>
                <a:gd name="T20" fmla="*/ 2 w 3"/>
                <a:gd name="T21" fmla="*/ 18 h 19"/>
                <a:gd name="T22" fmla="*/ 1 w 3"/>
                <a:gd name="T23" fmla="*/ 18 h 19"/>
                <a:gd name="T24" fmla="*/ 1 w 3"/>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 h="19">
                  <a:moveTo>
                    <a:pt x="2" y="19"/>
                  </a:moveTo>
                  <a:cubicBezTo>
                    <a:pt x="2" y="19"/>
                    <a:pt x="3" y="19"/>
                    <a:pt x="3" y="18"/>
                  </a:cubicBezTo>
                  <a:cubicBezTo>
                    <a:pt x="3" y="1"/>
                    <a:pt x="3" y="1"/>
                    <a:pt x="3" y="1"/>
                  </a:cubicBezTo>
                  <a:cubicBezTo>
                    <a:pt x="3" y="0"/>
                    <a:pt x="2" y="0"/>
                    <a:pt x="2" y="0"/>
                  </a:cubicBezTo>
                  <a:cubicBezTo>
                    <a:pt x="1" y="0"/>
                    <a:pt x="0" y="0"/>
                    <a:pt x="0" y="1"/>
                  </a:cubicBezTo>
                  <a:cubicBezTo>
                    <a:pt x="0" y="18"/>
                    <a:pt x="0" y="18"/>
                    <a:pt x="0" y="18"/>
                  </a:cubicBezTo>
                  <a:cubicBezTo>
                    <a:pt x="0" y="19"/>
                    <a:pt x="1" y="19"/>
                    <a:pt x="2" y="19"/>
                  </a:cubicBezTo>
                  <a:close/>
                  <a:moveTo>
                    <a:pt x="1" y="1"/>
                  </a:moveTo>
                  <a:cubicBezTo>
                    <a:pt x="1" y="1"/>
                    <a:pt x="1" y="1"/>
                    <a:pt x="2" y="1"/>
                  </a:cubicBezTo>
                  <a:cubicBezTo>
                    <a:pt x="2" y="1"/>
                    <a:pt x="2" y="1"/>
                    <a:pt x="2" y="1"/>
                  </a:cubicBezTo>
                  <a:cubicBezTo>
                    <a:pt x="2" y="18"/>
                    <a:pt x="2" y="18"/>
                    <a:pt x="2" y="18"/>
                  </a:cubicBezTo>
                  <a:cubicBezTo>
                    <a:pt x="2"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4" name="Freeform 291"/>
            <p:cNvSpPr>
              <a:spLocks noEditPoints="1"/>
            </p:cNvSpPr>
            <p:nvPr userDrawn="1"/>
          </p:nvSpPr>
          <p:spPr bwMode="auto">
            <a:xfrm>
              <a:off x="11363325"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2 w 2"/>
                <a:gd name="T15" fmla="*/ 30 h 31"/>
                <a:gd name="T16" fmla="*/ 1 w 2"/>
                <a:gd name="T17" fmla="*/ 30 h 31"/>
                <a:gd name="T18" fmla="*/ 1 w 2"/>
                <a:gd name="T19" fmla="*/ 2 h 31"/>
                <a:gd name="T20" fmla="*/ 1 w 2"/>
                <a:gd name="T21" fmla="*/ 1 h 31"/>
                <a:gd name="T22" fmla="*/ 2 w 2"/>
                <a:gd name="T23" fmla="*/ 2 h 31"/>
                <a:gd name="T24" fmla="*/ 2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2" y="30"/>
                  </a:moveTo>
                  <a:cubicBezTo>
                    <a:pt x="2" y="30"/>
                    <a:pt x="1" y="30"/>
                    <a:pt x="1" y="30"/>
                  </a:cubicBezTo>
                  <a:cubicBezTo>
                    <a:pt x="1" y="2"/>
                    <a:pt x="1" y="2"/>
                    <a:pt x="1" y="2"/>
                  </a:cubicBezTo>
                  <a:cubicBezTo>
                    <a:pt x="1" y="1"/>
                    <a:pt x="1" y="1"/>
                    <a:pt x="1" y="1"/>
                  </a:cubicBezTo>
                  <a:cubicBezTo>
                    <a:pt x="1" y="1"/>
                    <a:pt x="2" y="1"/>
                    <a:pt x="2" y="2"/>
                  </a:cubicBezTo>
                  <a:lnTo>
                    <a:pt x="2"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5" name="Freeform 292"/>
            <p:cNvSpPr>
              <a:spLocks noEditPoints="1"/>
            </p:cNvSpPr>
            <p:nvPr userDrawn="1"/>
          </p:nvSpPr>
          <p:spPr bwMode="auto">
            <a:xfrm>
              <a:off x="11425238"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8" y="16"/>
                    <a:pt x="9" y="15"/>
                    <a:pt x="9" y="15"/>
                  </a:cubicBezTo>
                  <a:cubicBezTo>
                    <a:pt x="9" y="1"/>
                    <a:pt x="9" y="1"/>
                    <a:pt x="9" y="1"/>
                  </a:cubicBezTo>
                  <a:cubicBezTo>
                    <a:pt x="9" y="0"/>
                    <a:pt x="8" y="0"/>
                    <a:pt x="8" y="0"/>
                  </a:cubicBezTo>
                  <a:cubicBezTo>
                    <a:pt x="1" y="0"/>
                    <a:pt x="1" y="0"/>
                    <a:pt x="1" y="0"/>
                  </a:cubicBezTo>
                  <a:cubicBezTo>
                    <a:pt x="0" y="0"/>
                    <a:pt x="0" y="0"/>
                    <a:pt x="0" y="1"/>
                  </a:cubicBezTo>
                  <a:cubicBezTo>
                    <a:pt x="0" y="15"/>
                    <a:pt x="0" y="15"/>
                    <a:pt x="0" y="15"/>
                  </a:cubicBezTo>
                  <a:cubicBezTo>
                    <a:pt x="0" y="15"/>
                    <a:pt x="0"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6" name="Freeform 293"/>
            <p:cNvSpPr>
              <a:spLocks noEditPoints="1"/>
            </p:cNvSpPr>
            <p:nvPr userDrawn="1"/>
          </p:nvSpPr>
          <p:spPr bwMode="auto">
            <a:xfrm>
              <a:off x="11695113" y="4275138"/>
              <a:ext cx="12700"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0" y="0"/>
                    <a:pt x="0" y="1"/>
                    <a:pt x="0" y="2"/>
                  </a:cubicBezTo>
                  <a:cubicBezTo>
                    <a:pt x="0" y="30"/>
                    <a:pt x="0" y="30"/>
                    <a:pt x="0" y="30"/>
                  </a:cubicBezTo>
                  <a:cubicBezTo>
                    <a:pt x="0" y="31"/>
                    <a:pt x="0"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7" name="Freeform 294"/>
            <p:cNvSpPr>
              <a:spLocks noEditPoints="1"/>
            </p:cNvSpPr>
            <p:nvPr userDrawn="1"/>
          </p:nvSpPr>
          <p:spPr bwMode="auto">
            <a:xfrm>
              <a:off x="11583988"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8" name="Freeform 295"/>
            <p:cNvSpPr>
              <a:spLocks noEditPoints="1"/>
            </p:cNvSpPr>
            <p:nvPr userDrawn="1"/>
          </p:nvSpPr>
          <p:spPr bwMode="auto">
            <a:xfrm>
              <a:off x="11472863" y="4275138"/>
              <a:ext cx="14288" cy="215900"/>
            </a:xfrm>
            <a:custGeom>
              <a:avLst/>
              <a:gdLst>
                <a:gd name="T0" fmla="*/ 1 w 2"/>
                <a:gd name="T1" fmla="*/ 0 h 31"/>
                <a:gd name="T2" fmla="*/ 0 w 2"/>
                <a:gd name="T3" fmla="*/ 2 h 31"/>
                <a:gd name="T4" fmla="*/ 0 w 2"/>
                <a:gd name="T5" fmla="*/ 30 h 31"/>
                <a:gd name="T6" fmla="*/ 1 w 2"/>
                <a:gd name="T7" fmla="*/ 31 h 31"/>
                <a:gd name="T8" fmla="*/ 2 w 2"/>
                <a:gd name="T9" fmla="*/ 30 h 31"/>
                <a:gd name="T10" fmla="*/ 2 w 2"/>
                <a:gd name="T11" fmla="*/ 2 h 31"/>
                <a:gd name="T12" fmla="*/ 1 w 2"/>
                <a:gd name="T13" fmla="*/ 0 h 31"/>
                <a:gd name="T14" fmla="*/ 1 w 2"/>
                <a:gd name="T15" fmla="*/ 30 h 31"/>
                <a:gd name="T16" fmla="*/ 1 w 2"/>
                <a:gd name="T17" fmla="*/ 30 h 31"/>
                <a:gd name="T18" fmla="*/ 1 w 2"/>
                <a:gd name="T19" fmla="*/ 2 h 31"/>
                <a:gd name="T20" fmla="*/ 1 w 2"/>
                <a:gd name="T21" fmla="*/ 1 h 31"/>
                <a:gd name="T22" fmla="*/ 1 w 2"/>
                <a:gd name="T23" fmla="*/ 2 h 31"/>
                <a:gd name="T24" fmla="*/ 1 w 2"/>
                <a:gd name="T25" fmla="*/ 3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31">
                  <a:moveTo>
                    <a:pt x="1" y="0"/>
                  </a:moveTo>
                  <a:cubicBezTo>
                    <a:pt x="1" y="0"/>
                    <a:pt x="0" y="1"/>
                    <a:pt x="0" y="2"/>
                  </a:cubicBezTo>
                  <a:cubicBezTo>
                    <a:pt x="0" y="30"/>
                    <a:pt x="0" y="30"/>
                    <a:pt x="0" y="30"/>
                  </a:cubicBezTo>
                  <a:cubicBezTo>
                    <a:pt x="0" y="31"/>
                    <a:pt x="1" y="31"/>
                    <a:pt x="1" y="31"/>
                  </a:cubicBezTo>
                  <a:cubicBezTo>
                    <a:pt x="2" y="31"/>
                    <a:pt x="2" y="31"/>
                    <a:pt x="2" y="30"/>
                  </a:cubicBezTo>
                  <a:cubicBezTo>
                    <a:pt x="2" y="2"/>
                    <a:pt x="2" y="2"/>
                    <a:pt x="2" y="2"/>
                  </a:cubicBezTo>
                  <a:cubicBezTo>
                    <a:pt x="2" y="1"/>
                    <a:pt x="2" y="0"/>
                    <a:pt x="1" y="0"/>
                  </a:cubicBezTo>
                  <a:close/>
                  <a:moveTo>
                    <a:pt x="1" y="30"/>
                  </a:moveTo>
                  <a:cubicBezTo>
                    <a:pt x="1" y="30"/>
                    <a:pt x="1" y="30"/>
                    <a:pt x="1" y="30"/>
                  </a:cubicBezTo>
                  <a:cubicBezTo>
                    <a:pt x="1" y="2"/>
                    <a:pt x="1" y="2"/>
                    <a:pt x="1" y="2"/>
                  </a:cubicBezTo>
                  <a:cubicBezTo>
                    <a:pt x="1" y="1"/>
                    <a:pt x="1" y="1"/>
                    <a:pt x="1" y="1"/>
                  </a:cubicBezTo>
                  <a:cubicBezTo>
                    <a:pt x="1" y="1"/>
                    <a:pt x="1" y="1"/>
                    <a:pt x="1" y="2"/>
                  </a:cubicBezTo>
                  <a:lnTo>
                    <a:pt x="1" y="3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9" name="Freeform 296"/>
            <p:cNvSpPr>
              <a:spLocks noEditPoints="1"/>
            </p:cNvSpPr>
            <p:nvPr userDrawn="1"/>
          </p:nvSpPr>
          <p:spPr bwMode="auto">
            <a:xfrm>
              <a:off x="11064875" y="4799013"/>
              <a:ext cx="560388" cy="22225"/>
            </a:xfrm>
            <a:custGeom>
              <a:avLst/>
              <a:gdLst>
                <a:gd name="T0" fmla="*/ 80 w 81"/>
                <a:gd name="T1" fmla="*/ 0 h 3"/>
                <a:gd name="T2" fmla="*/ 1 w 81"/>
                <a:gd name="T3" fmla="*/ 0 h 3"/>
                <a:gd name="T4" fmla="*/ 0 w 81"/>
                <a:gd name="T5" fmla="*/ 0 h 3"/>
                <a:gd name="T6" fmla="*/ 0 w 81"/>
                <a:gd name="T7" fmla="*/ 3 h 3"/>
                <a:gd name="T8" fmla="*/ 1 w 81"/>
                <a:gd name="T9" fmla="*/ 3 h 3"/>
                <a:gd name="T10" fmla="*/ 80 w 81"/>
                <a:gd name="T11" fmla="*/ 3 h 3"/>
                <a:gd name="T12" fmla="*/ 81 w 81"/>
                <a:gd name="T13" fmla="*/ 3 h 3"/>
                <a:gd name="T14" fmla="*/ 81 w 81"/>
                <a:gd name="T15" fmla="*/ 0 h 3"/>
                <a:gd name="T16" fmla="*/ 80 w 81"/>
                <a:gd name="T17" fmla="*/ 0 h 3"/>
                <a:gd name="T18" fmla="*/ 80 w 81"/>
                <a:gd name="T19" fmla="*/ 2 h 3"/>
                <a:gd name="T20" fmla="*/ 1 w 81"/>
                <a:gd name="T21" fmla="*/ 2 h 3"/>
                <a:gd name="T22" fmla="*/ 1 w 81"/>
                <a:gd name="T23" fmla="*/ 1 h 3"/>
                <a:gd name="T24" fmla="*/ 80 w 81"/>
                <a:gd name="T25" fmla="*/ 1 h 3"/>
                <a:gd name="T26" fmla="*/ 80 w 81"/>
                <a:gd name="T27" fmla="*/ 2 h 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1" h="3">
                  <a:moveTo>
                    <a:pt x="80" y="0"/>
                  </a:moveTo>
                  <a:cubicBezTo>
                    <a:pt x="1" y="0"/>
                    <a:pt x="1" y="0"/>
                    <a:pt x="1" y="0"/>
                  </a:cubicBezTo>
                  <a:cubicBezTo>
                    <a:pt x="0" y="0"/>
                    <a:pt x="0" y="0"/>
                    <a:pt x="0" y="0"/>
                  </a:cubicBezTo>
                  <a:cubicBezTo>
                    <a:pt x="0" y="3"/>
                    <a:pt x="0" y="3"/>
                    <a:pt x="0" y="3"/>
                  </a:cubicBezTo>
                  <a:cubicBezTo>
                    <a:pt x="0" y="3"/>
                    <a:pt x="0" y="3"/>
                    <a:pt x="1" y="3"/>
                  </a:cubicBezTo>
                  <a:cubicBezTo>
                    <a:pt x="80" y="3"/>
                    <a:pt x="80" y="3"/>
                    <a:pt x="80" y="3"/>
                  </a:cubicBezTo>
                  <a:cubicBezTo>
                    <a:pt x="81" y="3"/>
                    <a:pt x="81" y="3"/>
                    <a:pt x="81" y="3"/>
                  </a:cubicBezTo>
                  <a:cubicBezTo>
                    <a:pt x="81" y="0"/>
                    <a:pt x="81" y="0"/>
                    <a:pt x="81" y="0"/>
                  </a:cubicBezTo>
                  <a:cubicBezTo>
                    <a:pt x="81" y="0"/>
                    <a:pt x="81" y="0"/>
                    <a:pt x="80" y="0"/>
                  </a:cubicBezTo>
                  <a:close/>
                  <a:moveTo>
                    <a:pt x="80" y="2"/>
                  </a:moveTo>
                  <a:cubicBezTo>
                    <a:pt x="1" y="2"/>
                    <a:pt x="1" y="2"/>
                    <a:pt x="1" y="2"/>
                  </a:cubicBezTo>
                  <a:cubicBezTo>
                    <a:pt x="1" y="1"/>
                    <a:pt x="1" y="1"/>
                    <a:pt x="1" y="1"/>
                  </a:cubicBezTo>
                  <a:cubicBezTo>
                    <a:pt x="80" y="1"/>
                    <a:pt x="80" y="1"/>
                    <a:pt x="80" y="1"/>
                  </a:cubicBezTo>
                  <a:lnTo>
                    <a:pt x="8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0" name="Freeform 297"/>
            <p:cNvSpPr>
              <a:spLocks noEditPoints="1"/>
            </p:cNvSpPr>
            <p:nvPr userDrawn="1"/>
          </p:nvSpPr>
          <p:spPr bwMode="auto">
            <a:xfrm>
              <a:off x="11639550" y="4568825"/>
              <a:ext cx="12700" cy="133350"/>
            </a:xfrm>
            <a:custGeom>
              <a:avLst/>
              <a:gdLst>
                <a:gd name="T0" fmla="*/ 1 w 2"/>
                <a:gd name="T1" fmla="*/ 0 h 19"/>
                <a:gd name="T2" fmla="*/ 0 w 2"/>
                <a:gd name="T3" fmla="*/ 1 h 19"/>
                <a:gd name="T4" fmla="*/ 0 w 2"/>
                <a:gd name="T5" fmla="*/ 18 h 19"/>
                <a:gd name="T6" fmla="*/ 1 w 2"/>
                <a:gd name="T7" fmla="*/ 19 h 19"/>
                <a:gd name="T8" fmla="*/ 2 w 2"/>
                <a:gd name="T9" fmla="*/ 18 h 19"/>
                <a:gd name="T10" fmla="*/ 2 w 2"/>
                <a:gd name="T11" fmla="*/ 1 h 19"/>
                <a:gd name="T12" fmla="*/ 1 w 2"/>
                <a:gd name="T13" fmla="*/ 0 h 19"/>
                <a:gd name="T14" fmla="*/ 1 w 2"/>
                <a:gd name="T15" fmla="*/ 18 h 19"/>
                <a:gd name="T16" fmla="*/ 1 w 2"/>
                <a:gd name="T17" fmla="*/ 18 h 19"/>
                <a:gd name="T18" fmla="*/ 1 w 2"/>
                <a:gd name="T19" fmla="*/ 1 h 19"/>
                <a:gd name="T20" fmla="*/ 1 w 2"/>
                <a:gd name="T21" fmla="*/ 1 h 19"/>
                <a:gd name="T22" fmla="*/ 1 w 2"/>
                <a:gd name="T23" fmla="*/ 1 h 19"/>
                <a:gd name="T24" fmla="*/ 1 w 2"/>
                <a:gd name="T25"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0"/>
                  </a:moveTo>
                  <a:cubicBezTo>
                    <a:pt x="1" y="0"/>
                    <a:pt x="0" y="0"/>
                    <a:pt x="0" y="1"/>
                  </a:cubicBezTo>
                  <a:cubicBezTo>
                    <a:pt x="0" y="18"/>
                    <a:pt x="0" y="18"/>
                    <a:pt x="0" y="18"/>
                  </a:cubicBezTo>
                  <a:cubicBezTo>
                    <a:pt x="0" y="19"/>
                    <a:pt x="1" y="19"/>
                    <a:pt x="1" y="19"/>
                  </a:cubicBezTo>
                  <a:cubicBezTo>
                    <a:pt x="2" y="19"/>
                    <a:pt x="2" y="19"/>
                    <a:pt x="2" y="18"/>
                  </a:cubicBezTo>
                  <a:cubicBezTo>
                    <a:pt x="2" y="1"/>
                    <a:pt x="2" y="1"/>
                    <a:pt x="2" y="1"/>
                  </a:cubicBezTo>
                  <a:cubicBezTo>
                    <a:pt x="2" y="0"/>
                    <a:pt x="2" y="0"/>
                    <a:pt x="1" y="0"/>
                  </a:cubicBezTo>
                  <a:close/>
                  <a:moveTo>
                    <a:pt x="1" y="18"/>
                  </a:moveTo>
                  <a:cubicBezTo>
                    <a:pt x="1" y="18"/>
                    <a:pt x="1" y="18"/>
                    <a:pt x="1" y="18"/>
                  </a:cubicBezTo>
                  <a:cubicBezTo>
                    <a:pt x="1" y="1"/>
                    <a:pt x="1" y="1"/>
                    <a:pt x="1" y="1"/>
                  </a:cubicBezTo>
                  <a:cubicBezTo>
                    <a:pt x="1" y="1"/>
                    <a:pt x="1" y="1"/>
                    <a:pt x="1" y="1"/>
                  </a:cubicBezTo>
                  <a:cubicBezTo>
                    <a:pt x="1" y="1"/>
                    <a:pt x="1" y="1"/>
                    <a:pt x="1" y="1"/>
                  </a:cubicBezTo>
                  <a:lnTo>
                    <a:pt x="1" y="1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1" name="Freeform 298"/>
            <p:cNvSpPr>
              <a:spLocks noEditPoints="1"/>
            </p:cNvSpPr>
            <p:nvPr userDrawn="1"/>
          </p:nvSpPr>
          <p:spPr bwMode="auto">
            <a:xfrm>
              <a:off x="11064875" y="4743450"/>
              <a:ext cx="484188" cy="28575"/>
            </a:xfrm>
            <a:custGeom>
              <a:avLst/>
              <a:gdLst>
                <a:gd name="T0" fmla="*/ 1 w 70"/>
                <a:gd name="T1" fmla="*/ 4 h 4"/>
                <a:gd name="T2" fmla="*/ 70 w 70"/>
                <a:gd name="T3" fmla="*/ 4 h 4"/>
                <a:gd name="T4" fmla="*/ 70 w 70"/>
                <a:gd name="T5" fmla="*/ 4 h 4"/>
                <a:gd name="T6" fmla="*/ 70 w 70"/>
                <a:gd name="T7" fmla="*/ 1 h 4"/>
                <a:gd name="T8" fmla="*/ 70 w 70"/>
                <a:gd name="T9" fmla="*/ 0 h 4"/>
                <a:gd name="T10" fmla="*/ 1 w 70"/>
                <a:gd name="T11" fmla="*/ 0 h 4"/>
                <a:gd name="T12" fmla="*/ 0 w 70"/>
                <a:gd name="T13" fmla="*/ 1 h 4"/>
                <a:gd name="T14" fmla="*/ 0 w 70"/>
                <a:gd name="T15" fmla="*/ 4 h 4"/>
                <a:gd name="T16" fmla="*/ 1 w 70"/>
                <a:gd name="T17" fmla="*/ 4 h 4"/>
                <a:gd name="T18" fmla="*/ 1 w 70"/>
                <a:gd name="T19" fmla="*/ 1 h 4"/>
                <a:gd name="T20" fmla="*/ 69 w 70"/>
                <a:gd name="T21" fmla="*/ 1 h 4"/>
                <a:gd name="T22" fmla="*/ 69 w 70"/>
                <a:gd name="T23" fmla="*/ 3 h 4"/>
                <a:gd name="T24" fmla="*/ 1 w 70"/>
                <a:gd name="T25" fmla="*/ 3 h 4"/>
                <a:gd name="T26" fmla="*/ 1 w 70"/>
                <a:gd name="T27" fmla="*/ 1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 h="4">
                  <a:moveTo>
                    <a:pt x="1" y="4"/>
                  </a:moveTo>
                  <a:cubicBezTo>
                    <a:pt x="70" y="4"/>
                    <a:pt x="70" y="4"/>
                    <a:pt x="70" y="4"/>
                  </a:cubicBezTo>
                  <a:cubicBezTo>
                    <a:pt x="70" y="4"/>
                    <a:pt x="70" y="4"/>
                    <a:pt x="70" y="4"/>
                  </a:cubicBezTo>
                  <a:cubicBezTo>
                    <a:pt x="70" y="1"/>
                    <a:pt x="70" y="1"/>
                    <a:pt x="70" y="1"/>
                  </a:cubicBezTo>
                  <a:cubicBezTo>
                    <a:pt x="70" y="1"/>
                    <a:pt x="70" y="0"/>
                    <a:pt x="70" y="0"/>
                  </a:cubicBezTo>
                  <a:cubicBezTo>
                    <a:pt x="1" y="0"/>
                    <a:pt x="1" y="0"/>
                    <a:pt x="1" y="0"/>
                  </a:cubicBezTo>
                  <a:cubicBezTo>
                    <a:pt x="0" y="0"/>
                    <a:pt x="0" y="1"/>
                    <a:pt x="0" y="1"/>
                  </a:cubicBezTo>
                  <a:cubicBezTo>
                    <a:pt x="0" y="4"/>
                    <a:pt x="0" y="4"/>
                    <a:pt x="0" y="4"/>
                  </a:cubicBezTo>
                  <a:cubicBezTo>
                    <a:pt x="0" y="4"/>
                    <a:pt x="0" y="4"/>
                    <a:pt x="1" y="4"/>
                  </a:cubicBezTo>
                  <a:close/>
                  <a:moveTo>
                    <a:pt x="1" y="1"/>
                  </a:moveTo>
                  <a:cubicBezTo>
                    <a:pt x="69" y="1"/>
                    <a:pt x="69" y="1"/>
                    <a:pt x="69" y="1"/>
                  </a:cubicBezTo>
                  <a:cubicBezTo>
                    <a:pt x="69" y="3"/>
                    <a:pt x="69" y="3"/>
                    <a:pt x="69" y="3"/>
                  </a:cubicBezTo>
                  <a:cubicBezTo>
                    <a:pt x="1" y="3"/>
                    <a:pt x="1" y="3"/>
                    <a:pt x="1" y="3"/>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2" name="Freeform 299"/>
            <p:cNvSpPr>
              <a:spLocks noEditPoints="1"/>
            </p:cNvSpPr>
            <p:nvPr userDrawn="1"/>
          </p:nvSpPr>
          <p:spPr bwMode="auto">
            <a:xfrm>
              <a:off x="12026900" y="4275138"/>
              <a:ext cx="12700" cy="160338"/>
            </a:xfrm>
            <a:custGeom>
              <a:avLst/>
              <a:gdLst>
                <a:gd name="T0" fmla="*/ 1 w 2"/>
                <a:gd name="T1" fmla="*/ 23 h 23"/>
                <a:gd name="T2" fmla="*/ 2 w 2"/>
                <a:gd name="T3" fmla="*/ 22 h 23"/>
                <a:gd name="T4" fmla="*/ 2 w 2"/>
                <a:gd name="T5" fmla="*/ 1 h 23"/>
                <a:gd name="T6" fmla="*/ 1 w 2"/>
                <a:gd name="T7" fmla="*/ 0 h 23"/>
                <a:gd name="T8" fmla="*/ 0 w 2"/>
                <a:gd name="T9" fmla="*/ 1 h 23"/>
                <a:gd name="T10" fmla="*/ 0 w 2"/>
                <a:gd name="T11" fmla="*/ 22 h 23"/>
                <a:gd name="T12" fmla="*/ 1 w 2"/>
                <a:gd name="T13" fmla="*/ 23 h 23"/>
                <a:gd name="T14" fmla="*/ 1 w 2"/>
                <a:gd name="T15" fmla="*/ 1 h 23"/>
                <a:gd name="T16" fmla="*/ 1 w 2"/>
                <a:gd name="T17" fmla="*/ 1 h 23"/>
                <a:gd name="T18" fmla="*/ 1 w 2"/>
                <a:gd name="T19" fmla="*/ 1 h 23"/>
                <a:gd name="T20" fmla="*/ 1 w 2"/>
                <a:gd name="T21" fmla="*/ 22 h 23"/>
                <a:gd name="T22" fmla="*/ 1 w 2"/>
                <a:gd name="T23" fmla="*/ 22 h 23"/>
                <a:gd name="T24" fmla="*/ 1 w 2"/>
                <a:gd name="T25"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23">
                  <a:moveTo>
                    <a:pt x="1" y="23"/>
                  </a:moveTo>
                  <a:cubicBezTo>
                    <a:pt x="1" y="23"/>
                    <a:pt x="2" y="23"/>
                    <a:pt x="2" y="22"/>
                  </a:cubicBezTo>
                  <a:cubicBezTo>
                    <a:pt x="2" y="1"/>
                    <a:pt x="2" y="1"/>
                    <a:pt x="2" y="1"/>
                  </a:cubicBezTo>
                  <a:cubicBezTo>
                    <a:pt x="2" y="0"/>
                    <a:pt x="1" y="0"/>
                    <a:pt x="1" y="0"/>
                  </a:cubicBezTo>
                  <a:cubicBezTo>
                    <a:pt x="0" y="0"/>
                    <a:pt x="0" y="0"/>
                    <a:pt x="0" y="1"/>
                  </a:cubicBezTo>
                  <a:cubicBezTo>
                    <a:pt x="0" y="22"/>
                    <a:pt x="0" y="22"/>
                    <a:pt x="0" y="22"/>
                  </a:cubicBezTo>
                  <a:cubicBezTo>
                    <a:pt x="0" y="23"/>
                    <a:pt x="0" y="23"/>
                    <a:pt x="1" y="23"/>
                  </a:cubicBezTo>
                  <a:close/>
                  <a:moveTo>
                    <a:pt x="1" y="1"/>
                  </a:moveTo>
                  <a:cubicBezTo>
                    <a:pt x="1" y="1"/>
                    <a:pt x="1" y="1"/>
                    <a:pt x="1" y="1"/>
                  </a:cubicBezTo>
                  <a:cubicBezTo>
                    <a:pt x="1" y="1"/>
                    <a:pt x="1" y="1"/>
                    <a:pt x="1" y="1"/>
                  </a:cubicBezTo>
                  <a:cubicBezTo>
                    <a:pt x="1" y="22"/>
                    <a:pt x="1" y="22"/>
                    <a:pt x="1" y="22"/>
                  </a:cubicBezTo>
                  <a:cubicBezTo>
                    <a:pt x="1" y="22"/>
                    <a:pt x="1" y="22"/>
                    <a:pt x="1" y="2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3" name="Freeform 300"/>
            <p:cNvSpPr>
              <a:spLocks noEditPoints="1"/>
            </p:cNvSpPr>
            <p:nvPr userDrawn="1"/>
          </p:nvSpPr>
          <p:spPr bwMode="auto">
            <a:xfrm>
              <a:off x="11293475" y="4589463"/>
              <a:ext cx="61913" cy="112713"/>
            </a:xfrm>
            <a:custGeom>
              <a:avLst/>
              <a:gdLst>
                <a:gd name="T0" fmla="*/ 1 w 9"/>
                <a:gd name="T1" fmla="*/ 16 h 16"/>
                <a:gd name="T2" fmla="*/ 8 w 9"/>
                <a:gd name="T3" fmla="*/ 16 h 16"/>
                <a:gd name="T4" fmla="*/ 9 w 9"/>
                <a:gd name="T5" fmla="*/ 15 h 16"/>
                <a:gd name="T6" fmla="*/ 9 w 9"/>
                <a:gd name="T7" fmla="*/ 1 h 16"/>
                <a:gd name="T8" fmla="*/ 8 w 9"/>
                <a:gd name="T9" fmla="*/ 0 h 16"/>
                <a:gd name="T10" fmla="*/ 1 w 9"/>
                <a:gd name="T11" fmla="*/ 0 h 16"/>
                <a:gd name="T12" fmla="*/ 0 w 9"/>
                <a:gd name="T13" fmla="*/ 1 h 16"/>
                <a:gd name="T14" fmla="*/ 0 w 9"/>
                <a:gd name="T15" fmla="*/ 15 h 16"/>
                <a:gd name="T16" fmla="*/ 1 w 9"/>
                <a:gd name="T17" fmla="*/ 16 h 16"/>
                <a:gd name="T18" fmla="*/ 1 w 9"/>
                <a:gd name="T19" fmla="*/ 1 h 16"/>
                <a:gd name="T20" fmla="*/ 8 w 9"/>
                <a:gd name="T21" fmla="*/ 1 h 16"/>
                <a:gd name="T22" fmla="*/ 8 w 9"/>
                <a:gd name="T23" fmla="*/ 15 h 16"/>
                <a:gd name="T24" fmla="*/ 1 w 9"/>
                <a:gd name="T25" fmla="*/ 15 h 16"/>
                <a:gd name="T26" fmla="*/ 1 w 9"/>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 h="16">
                  <a:moveTo>
                    <a:pt x="1" y="16"/>
                  </a:moveTo>
                  <a:cubicBezTo>
                    <a:pt x="8" y="16"/>
                    <a:pt x="8" y="16"/>
                    <a:pt x="8" y="16"/>
                  </a:cubicBezTo>
                  <a:cubicBezTo>
                    <a:pt x="9" y="16"/>
                    <a:pt x="9" y="15"/>
                    <a:pt x="9" y="15"/>
                  </a:cubicBezTo>
                  <a:cubicBezTo>
                    <a:pt x="9" y="1"/>
                    <a:pt x="9" y="1"/>
                    <a:pt x="9" y="1"/>
                  </a:cubicBezTo>
                  <a:cubicBezTo>
                    <a:pt x="9" y="0"/>
                    <a:pt x="9" y="0"/>
                    <a:pt x="8" y="0"/>
                  </a:cubicBezTo>
                  <a:cubicBezTo>
                    <a:pt x="1" y="0"/>
                    <a:pt x="1" y="0"/>
                    <a:pt x="1" y="0"/>
                  </a:cubicBezTo>
                  <a:cubicBezTo>
                    <a:pt x="1" y="0"/>
                    <a:pt x="0" y="0"/>
                    <a:pt x="0" y="1"/>
                  </a:cubicBezTo>
                  <a:cubicBezTo>
                    <a:pt x="0" y="15"/>
                    <a:pt x="0" y="15"/>
                    <a:pt x="0" y="15"/>
                  </a:cubicBezTo>
                  <a:cubicBezTo>
                    <a:pt x="0" y="15"/>
                    <a:pt x="1" y="16"/>
                    <a:pt x="1" y="16"/>
                  </a:cubicBezTo>
                  <a:close/>
                  <a:moveTo>
                    <a:pt x="1" y="1"/>
                  </a:moveTo>
                  <a:cubicBezTo>
                    <a:pt x="8" y="1"/>
                    <a:pt x="8" y="1"/>
                    <a:pt x="8" y="1"/>
                  </a:cubicBezTo>
                  <a:cubicBezTo>
                    <a:pt x="8" y="15"/>
                    <a:pt x="8" y="15"/>
                    <a:pt x="8"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4" name="Freeform 301"/>
            <p:cNvSpPr>
              <a:spLocks noEditPoints="1"/>
            </p:cNvSpPr>
            <p:nvPr userDrawn="1"/>
          </p:nvSpPr>
          <p:spPr bwMode="auto">
            <a:xfrm>
              <a:off x="11363325" y="4589463"/>
              <a:ext cx="53975" cy="112713"/>
            </a:xfrm>
            <a:custGeom>
              <a:avLst/>
              <a:gdLst>
                <a:gd name="T0" fmla="*/ 0 w 8"/>
                <a:gd name="T1" fmla="*/ 16 h 16"/>
                <a:gd name="T2" fmla="*/ 8 w 8"/>
                <a:gd name="T3" fmla="*/ 16 h 16"/>
                <a:gd name="T4" fmla="*/ 8 w 8"/>
                <a:gd name="T5" fmla="*/ 15 h 16"/>
                <a:gd name="T6" fmla="*/ 8 w 8"/>
                <a:gd name="T7" fmla="*/ 1 h 16"/>
                <a:gd name="T8" fmla="*/ 8 w 8"/>
                <a:gd name="T9" fmla="*/ 0 h 16"/>
                <a:gd name="T10" fmla="*/ 0 w 8"/>
                <a:gd name="T11" fmla="*/ 0 h 16"/>
                <a:gd name="T12" fmla="*/ 0 w 8"/>
                <a:gd name="T13" fmla="*/ 1 h 16"/>
                <a:gd name="T14" fmla="*/ 0 w 8"/>
                <a:gd name="T15" fmla="*/ 15 h 16"/>
                <a:gd name="T16" fmla="*/ 0 w 8"/>
                <a:gd name="T17" fmla="*/ 16 h 16"/>
                <a:gd name="T18" fmla="*/ 1 w 8"/>
                <a:gd name="T19" fmla="*/ 1 h 16"/>
                <a:gd name="T20" fmla="*/ 7 w 8"/>
                <a:gd name="T21" fmla="*/ 1 h 16"/>
                <a:gd name="T22" fmla="*/ 7 w 8"/>
                <a:gd name="T23" fmla="*/ 15 h 16"/>
                <a:gd name="T24" fmla="*/ 1 w 8"/>
                <a:gd name="T25" fmla="*/ 15 h 16"/>
                <a:gd name="T26" fmla="*/ 1 w 8"/>
                <a:gd name="T27" fmla="*/ 1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6">
                  <a:moveTo>
                    <a:pt x="0" y="16"/>
                  </a:moveTo>
                  <a:cubicBezTo>
                    <a:pt x="8" y="16"/>
                    <a:pt x="8" y="16"/>
                    <a:pt x="8" y="16"/>
                  </a:cubicBezTo>
                  <a:cubicBezTo>
                    <a:pt x="8" y="16"/>
                    <a:pt x="8" y="15"/>
                    <a:pt x="8" y="15"/>
                  </a:cubicBezTo>
                  <a:cubicBezTo>
                    <a:pt x="8" y="1"/>
                    <a:pt x="8" y="1"/>
                    <a:pt x="8" y="1"/>
                  </a:cubicBezTo>
                  <a:cubicBezTo>
                    <a:pt x="8" y="0"/>
                    <a:pt x="8" y="0"/>
                    <a:pt x="8" y="0"/>
                  </a:cubicBezTo>
                  <a:cubicBezTo>
                    <a:pt x="0" y="0"/>
                    <a:pt x="0" y="0"/>
                    <a:pt x="0" y="0"/>
                  </a:cubicBezTo>
                  <a:cubicBezTo>
                    <a:pt x="0" y="0"/>
                    <a:pt x="0" y="0"/>
                    <a:pt x="0" y="1"/>
                  </a:cubicBezTo>
                  <a:cubicBezTo>
                    <a:pt x="0" y="15"/>
                    <a:pt x="0" y="15"/>
                    <a:pt x="0" y="15"/>
                  </a:cubicBezTo>
                  <a:cubicBezTo>
                    <a:pt x="0" y="15"/>
                    <a:pt x="0" y="16"/>
                    <a:pt x="0" y="16"/>
                  </a:cubicBezTo>
                  <a:close/>
                  <a:moveTo>
                    <a:pt x="1" y="1"/>
                  </a:moveTo>
                  <a:cubicBezTo>
                    <a:pt x="7" y="1"/>
                    <a:pt x="7" y="1"/>
                    <a:pt x="7" y="1"/>
                  </a:cubicBezTo>
                  <a:cubicBezTo>
                    <a:pt x="7" y="15"/>
                    <a:pt x="7" y="15"/>
                    <a:pt x="7" y="15"/>
                  </a:cubicBezTo>
                  <a:cubicBezTo>
                    <a:pt x="1" y="15"/>
                    <a:pt x="1" y="15"/>
                    <a:pt x="1" y="15"/>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5" name="Freeform 302"/>
            <p:cNvSpPr>
              <a:spLocks noEditPoints="1"/>
            </p:cNvSpPr>
            <p:nvPr userDrawn="1"/>
          </p:nvSpPr>
          <p:spPr bwMode="auto">
            <a:xfrm>
              <a:off x="11120438"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1 w 2"/>
                <a:gd name="T15" fmla="*/ 1 h 19"/>
                <a:gd name="T16" fmla="*/ 1 w 2"/>
                <a:gd name="T17" fmla="*/ 1 h 19"/>
                <a:gd name="T18" fmla="*/ 1 w 2"/>
                <a:gd name="T19" fmla="*/ 1 h 19"/>
                <a:gd name="T20" fmla="*/ 1 w 2"/>
                <a:gd name="T21" fmla="*/ 18 h 19"/>
                <a:gd name="T22" fmla="*/ 1 w 2"/>
                <a:gd name="T23" fmla="*/ 18 h 19"/>
                <a:gd name="T24" fmla="*/ 1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1" y="1"/>
                  </a:moveTo>
                  <a:cubicBezTo>
                    <a:pt x="1" y="1"/>
                    <a:pt x="1" y="1"/>
                    <a:pt x="1" y="1"/>
                  </a:cubicBezTo>
                  <a:cubicBezTo>
                    <a:pt x="1" y="1"/>
                    <a:pt x="1" y="1"/>
                    <a:pt x="1" y="1"/>
                  </a:cubicBezTo>
                  <a:cubicBezTo>
                    <a:pt x="1" y="18"/>
                    <a:pt x="1" y="18"/>
                    <a:pt x="1" y="18"/>
                  </a:cubicBezTo>
                  <a:cubicBezTo>
                    <a:pt x="1" y="18"/>
                    <a:pt x="1" y="18"/>
                    <a:pt x="1" y="18"/>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6" name="Freeform 303"/>
            <p:cNvSpPr>
              <a:spLocks noEditPoints="1"/>
            </p:cNvSpPr>
            <p:nvPr userDrawn="1"/>
          </p:nvSpPr>
          <p:spPr bwMode="auto">
            <a:xfrm>
              <a:off x="11217275" y="4568825"/>
              <a:ext cx="14288" cy="133350"/>
            </a:xfrm>
            <a:custGeom>
              <a:avLst/>
              <a:gdLst>
                <a:gd name="T0" fmla="*/ 1 w 2"/>
                <a:gd name="T1" fmla="*/ 19 h 19"/>
                <a:gd name="T2" fmla="*/ 2 w 2"/>
                <a:gd name="T3" fmla="*/ 18 h 19"/>
                <a:gd name="T4" fmla="*/ 2 w 2"/>
                <a:gd name="T5" fmla="*/ 1 h 19"/>
                <a:gd name="T6" fmla="*/ 1 w 2"/>
                <a:gd name="T7" fmla="*/ 0 h 19"/>
                <a:gd name="T8" fmla="*/ 0 w 2"/>
                <a:gd name="T9" fmla="*/ 1 h 19"/>
                <a:gd name="T10" fmla="*/ 0 w 2"/>
                <a:gd name="T11" fmla="*/ 18 h 19"/>
                <a:gd name="T12" fmla="*/ 1 w 2"/>
                <a:gd name="T13" fmla="*/ 19 h 19"/>
                <a:gd name="T14" fmla="*/ 0 w 2"/>
                <a:gd name="T15" fmla="*/ 1 h 19"/>
                <a:gd name="T16" fmla="*/ 1 w 2"/>
                <a:gd name="T17" fmla="*/ 1 h 19"/>
                <a:gd name="T18" fmla="*/ 1 w 2"/>
                <a:gd name="T19" fmla="*/ 1 h 19"/>
                <a:gd name="T20" fmla="*/ 1 w 2"/>
                <a:gd name="T21" fmla="*/ 18 h 19"/>
                <a:gd name="T22" fmla="*/ 0 w 2"/>
                <a:gd name="T23" fmla="*/ 18 h 19"/>
                <a:gd name="T24" fmla="*/ 0 w 2"/>
                <a:gd name="T25" fmla="*/ 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 h="19">
                  <a:moveTo>
                    <a:pt x="1" y="19"/>
                  </a:moveTo>
                  <a:cubicBezTo>
                    <a:pt x="1" y="19"/>
                    <a:pt x="2" y="19"/>
                    <a:pt x="2" y="18"/>
                  </a:cubicBezTo>
                  <a:cubicBezTo>
                    <a:pt x="2" y="1"/>
                    <a:pt x="2" y="1"/>
                    <a:pt x="2" y="1"/>
                  </a:cubicBezTo>
                  <a:cubicBezTo>
                    <a:pt x="2" y="0"/>
                    <a:pt x="1" y="0"/>
                    <a:pt x="1" y="0"/>
                  </a:cubicBezTo>
                  <a:cubicBezTo>
                    <a:pt x="0" y="0"/>
                    <a:pt x="0" y="0"/>
                    <a:pt x="0" y="1"/>
                  </a:cubicBezTo>
                  <a:cubicBezTo>
                    <a:pt x="0" y="18"/>
                    <a:pt x="0" y="18"/>
                    <a:pt x="0" y="18"/>
                  </a:cubicBezTo>
                  <a:cubicBezTo>
                    <a:pt x="0" y="19"/>
                    <a:pt x="0" y="19"/>
                    <a:pt x="1" y="19"/>
                  </a:cubicBezTo>
                  <a:close/>
                  <a:moveTo>
                    <a:pt x="0" y="1"/>
                  </a:moveTo>
                  <a:cubicBezTo>
                    <a:pt x="0" y="1"/>
                    <a:pt x="1" y="1"/>
                    <a:pt x="1" y="1"/>
                  </a:cubicBezTo>
                  <a:cubicBezTo>
                    <a:pt x="1" y="1"/>
                    <a:pt x="1" y="1"/>
                    <a:pt x="1" y="1"/>
                  </a:cubicBezTo>
                  <a:cubicBezTo>
                    <a:pt x="1" y="18"/>
                    <a:pt x="1" y="18"/>
                    <a:pt x="1" y="18"/>
                  </a:cubicBezTo>
                  <a:cubicBezTo>
                    <a:pt x="1" y="18"/>
                    <a:pt x="0" y="18"/>
                    <a:pt x="0" y="18"/>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7" name="Freeform 304"/>
            <p:cNvSpPr>
              <a:spLocks noEditPoints="1"/>
            </p:cNvSpPr>
            <p:nvPr userDrawn="1"/>
          </p:nvSpPr>
          <p:spPr bwMode="auto">
            <a:xfrm>
              <a:off x="12012613" y="4729163"/>
              <a:ext cx="26988" cy="34925"/>
            </a:xfrm>
            <a:custGeom>
              <a:avLst/>
              <a:gdLst>
                <a:gd name="T0" fmla="*/ 2 w 4"/>
                <a:gd name="T1" fmla="*/ 5 h 5"/>
                <a:gd name="T2" fmla="*/ 3 w 4"/>
                <a:gd name="T3" fmla="*/ 4 h 5"/>
                <a:gd name="T4" fmla="*/ 3 w 4"/>
                <a:gd name="T5" fmla="*/ 0 h 5"/>
                <a:gd name="T6" fmla="*/ 1 w 4"/>
                <a:gd name="T7" fmla="*/ 0 h 5"/>
                <a:gd name="T8" fmla="*/ 0 w 4"/>
                <a:gd name="T9" fmla="*/ 3 h 5"/>
                <a:gd name="T10" fmla="*/ 2 w 4"/>
                <a:gd name="T11" fmla="*/ 5 h 5"/>
                <a:gd name="T12" fmla="*/ 2 w 4"/>
                <a:gd name="T13" fmla="*/ 5 h 5"/>
                <a:gd name="T14" fmla="*/ 1 w 4"/>
                <a:gd name="T15" fmla="*/ 2 h 5"/>
                <a:gd name="T16" fmla="*/ 2 w 4"/>
                <a:gd name="T17" fmla="*/ 1 h 5"/>
                <a:gd name="T18" fmla="*/ 2 w 4"/>
                <a:gd name="T19" fmla="*/ 1 h 5"/>
                <a:gd name="T20" fmla="*/ 2 w 4"/>
                <a:gd name="T21" fmla="*/ 3 h 5"/>
                <a:gd name="T22" fmla="*/ 2 w 4"/>
                <a:gd name="T23" fmla="*/ 4 h 5"/>
                <a:gd name="T24" fmla="*/ 1 w 4"/>
                <a:gd name="T25" fmla="*/ 2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 h="5">
                  <a:moveTo>
                    <a:pt x="2" y="5"/>
                  </a:moveTo>
                  <a:cubicBezTo>
                    <a:pt x="2" y="5"/>
                    <a:pt x="3" y="4"/>
                    <a:pt x="3" y="4"/>
                  </a:cubicBezTo>
                  <a:cubicBezTo>
                    <a:pt x="4" y="3"/>
                    <a:pt x="4" y="1"/>
                    <a:pt x="3" y="0"/>
                  </a:cubicBezTo>
                  <a:cubicBezTo>
                    <a:pt x="3" y="0"/>
                    <a:pt x="2" y="0"/>
                    <a:pt x="1" y="0"/>
                  </a:cubicBezTo>
                  <a:cubicBezTo>
                    <a:pt x="0" y="0"/>
                    <a:pt x="0" y="1"/>
                    <a:pt x="0" y="3"/>
                  </a:cubicBezTo>
                  <a:cubicBezTo>
                    <a:pt x="0" y="4"/>
                    <a:pt x="1" y="5"/>
                    <a:pt x="2" y="5"/>
                  </a:cubicBezTo>
                  <a:cubicBezTo>
                    <a:pt x="2" y="5"/>
                    <a:pt x="2" y="5"/>
                    <a:pt x="2" y="5"/>
                  </a:cubicBezTo>
                  <a:close/>
                  <a:moveTo>
                    <a:pt x="1" y="2"/>
                  </a:moveTo>
                  <a:cubicBezTo>
                    <a:pt x="1" y="2"/>
                    <a:pt x="1" y="1"/>
                    <a:pt x="2" y="1"/>
                  </a:cubicBezTo>
                  <a:cubicBezTo>
                    <a:pt x="2" y="1"/>
                    <a:pt x="2" y="1"/>
                    <a:pt x="2" y="1"/>
                  </a:cubicBezTo>
                  <a:cubicBezTo>
                    <a:pt x="3" y="2"/>
                    <a:pt x="3" y="3"/>
                    <a:pt x="2" y="3"/>
                  </a:cubicBezTo>
                  <a:cubicBezTo>
                    <a:pt x="2" y="4"/>
                    <a:pt x="2" y="4"/>
                    <a:pt x="2" y="4"/>
                  </a:cubicBezTo>
                  <a:cubicBezTo>
                    <a:pt x="1" y="4"/>
                    <a:pt x="1" y="3"/>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8" name="Freeform 305"/>
            <p:cNvSpPr>
              <a:spLocks noEditPoints="1"/>
            </p:cNvSpPr>
            <p:nvPr userDrawn="1"/>
          </p:nvSpPr>
          <p:spPr bwMode="auto">
            <a:xfrm>
              <a:off x="11936413" y="4743450"/>
              <a:ext cx="20638" cy="34925"/>
            </a:xfrm>
            <a:custGeom>
              <a:avLst/>
              <a:gdLst>
                <a:gd name="T0" fmla="*/ 2 w 3"/>
                <a:gd name="T1" fmla="*/ 5 h 5"/>
                <a:gd name="T2" fmla="*/ 3 w 3"/>
                <a:gd name="T3" fmla="*/ 4 h 5"/>
                <a:gd name="T4" fmla="*/ 3 w 3"/>
                <a:gd name="T5" fmla="*/ 4 h 5"/>
                <a:gd name="T6" fmla="*/ 3 w 3"/>
                <a:gd name="T7" fmla="*/ 3 h 5"/>
                <a:gd name="T8" fmla="*/ 3 w 3"/>
                <a:gd name="T9" fmla="*/ 1 h 5"/>
                <a:gd name="T10" fmla="*/ 2 w 3"/>
                <a:gd name="T11" fmla="*/ 0 h 5"/>
                <a:gd name="T12" fmla="*/ 2 w 3"/>
                <a:gd name="T13" fmla="*/ 0 h 5"/>
                <a:gd name="T14" fmla="*/ 0 w 3"/>
                <a:gd name="T15" fmla="*/ 1 h 5"/>
                <a:gd name="T16" fmla="*/ 0 w 3"/>
                <a:gd name="T17" fmla="*/ 4 h 5"/>
                <a:gd name="T18" fmla="*/ 2 w 3"/>
                <a:gd name="T19" fmla="*/ 5 h 5"/>
                <a:gd name="T20" fmla="*/ 2 w 3"/>
                <a:gd name="T21" fmla="*/ 5 h 5"/>
                <a:gd name="T22" fmla="*/ 1 w 3"/>
                <a:gd name="T23" fmla="*/ 1 h 5"/>
                <a:gd name="T24" fmla="*/ 2 w 3"/>
                <a:gd name="T25" fmla="*/ 1 h 5"/>
                <a:gd name="T26" fmla="*/ 2 w 3"/>
                <a:gd name="T27" fmla="*/ 1 h 5"/>
                <a:gd name="T28" fmla="*/ 2 w 3"/>
                <a:gd name="T29" fmla="*/ 1 h 5"/>
                <a:gd name="T30" fmla="*/ 2 w 3"/>
                <a:gd name="T31" fmla="*/ 2 h 5"/>
                <a:gd name="T32" fmla="*/ 2 w 3"/>
                <a:gd name="T33" fmla="*/ 4 h 5"/>
                <a:gd name="T34" fmla="*/ 2 w 3"/>
                <a:gd name="T35" fmla="*/ 4 h 5"/>
                <a:gd name="T36" fmla="*/ 1 w 3"/>
                <a:gd name="T37" fmla="*/ 4 h 5"/>
                <a:gd name="T38" fmla="*/ 1 w 3"/>
                <a:gd name="T39" fmla="*/ 1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 h="5">
                  <a:moveTo>
                    <a:pt x="2" y="5"/>
                  </a:moveTo>
                  <a:cubicBezTo>
                    <a:pt x="2" y="5"/>
                    <a:pt x="3" y="4"/>
                    <a:pt x="3" y="4"/>
                  </a:cubicBezTo>
                  <a:cubicBezTo>
                    <a:pt x="3" y="4"/>
                    <a:pt x="3" y="4"/>
                    <a:pt x="3" y="4"/>
                  </a:cubicBezTo>
                  <a:cubicBezTo>
                    <a:pt x="3" y="3"/>
                    <a:pt x="3" y="3"/>
                    <a:pt x="3" y="3"/>
                  </a:cubicBezTo>
                  <a:cubicBezTo>
                    <a:pt x="3" y="2"/>
                    <a:pt x="3" y="2"/>
                    <a:pt x="3" y="1"/>
                  </a:cubicBezTo>
                  <a:cubicBezTo>
                    <a:pt x="3" y="0"/>
                    <a:pt x="2" y="0"/>
                    <a:pt x="2" y="0"/>
                  </a:cubicBezTo>
                  <a:cubicBezTo>
                    <a:pt x="2" y="0"/>
                    <a:pt x="2" y="0"/>
                    <a:pt x="2" y="0"/>
                  </a:cubicBezTo>
                  <a:cubicBezTo>
                    <a:pt x="1" y="0"/>
                    <a:pt x="0" y="1"/>
                    <a:pt x="0" y="1"/>
                  </a:cubicBezTo>
                  <a:cubicBezTo>
                    <a:pt x="0" y="2"/>
                    <a:pt x="0" y="4"/>
                    <a:pt x="0" y="4"/>
                  </a:cubicBezTo>
                  <a:cubicBezTo>
                    <a:pt x="1" y="5"/>
                    <a:pt x="1" y="5"/>
                    <a:pt x="2" y="5"/>
                  </a:cubicBezTo>
                  <a:cubicBezTo>
                    <a:pt x="2" y="5"/>
                    <a:pt x="2" y="5"/>
                    <a:pt x="2" y="5"/>
                  </a:cubicBezTo>
                  <a:close/>
                  <a:moveTo>
                    <a:pt x="1" y="1"/>
                  </a:moveTo>
                  <a:cubicBezTo>
                    <a:pt x="1" y="1"/>
                    <a:pt x="1" y="1"/>
                    <a:pt x="2" y="1"/>
                  </a:cubicBezTo>
                  <a:cubicBezTo>
                    <a:pt x="2" y="1"/>
                    <a:pt x="2" y="1"/>
                    <a:pt x="2" y="1"/>
                  </a:cubicBezTo>
                  <a:cubicBezTo>
                    <a:pt x="2" y="1"/>
                    <a:pt x="2" y="1"/>
                    <a:pt x="2" y="1"/>
                  </a:cubicBezTo>
                  <a:cubicBezTo>
                    <a:pt x="2" y="2"/>
                    <a:pt x="2" y="2"/>
                    <a:pt x="2" y="2"/>
                  </a:cubicBezTo>
                  <a:cubicBezTo>
                    <a:pt x="2" y="3"/>
                    <a:pt x="2" y="3"/>
                    <a:pt x="2" y="4"/>
                  </a:cubicBezTo>
                  <a:cubicBezTo>
                    <a:pt x="2" y="4"/>
                    <a:pt x="2" y="4"/>
                    <a:pt x="2" y="4"/>
                  </a:cubicBezTo>
                  <a:cubicBezTo>
                    <a:pt x="1" y="4"/>
                    <a:pt x="1" y="4"/>
                    <a:pt x="1" y="4"/>
                  </a:cubicBezTo>
                  <a:cubicBezTo>
                    <a:pt x="1" y="4"/>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2" name="矩形 1"/>
          <p:cNvSpPr/>
          <p:nvPr/>
        </p:nvSpPr>
        <p:spPr>
          <a:xfrm>
            <a:off x="1715770" y="378460"/>
            <a:ext cx="843915" cy="565785"/>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7"/>
    </p:custData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p:nvPr>
            <p:custDataLst>
              <p:tags r:id="rId1"/>
            </p:custDataLst>
          </p:nvPr>
        </p:nvSpPr>
        <p:spPr>
          <a:xfrm>
            <a:off x="3053080" y="2730818"/>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rPr>
              <a:t>01</a:t>
            </a:r>
            <a:endPar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endParaRPr>
          </a:p>
        </p:txBody>
      </p:sp>
      <p:cxnSp>
        <p:nvCxnSpPr>
          <p:cNvPr id="11" name="直接连接符 10"/>
          <p:cNvCxnSpPr/>
          <p:nvPr>
            <p:custDataLst>
              <p:tags r:id="rId2"/>
            </p:custDataLst>
          </p:nvPr>
        </p:nvCxnSpPr>
        <p:spPr>
          <a:xfrm>
            <a:off x="2935605" y="2272983"/>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3"/>
            </p:custDataLst>
          </p:nvPr>
        </p:nvCxnSpPr>
        <p:spPr>
          <a:xfrm>
            <a:off x="2935605" y="4426268"/>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sp>
        <p:nvSpPr>
          <p:cNvPr id="13" name="标题 12"/>
          <p:cNvSpPr>
            <a:spLocks noGrp="1"/>
          </p:cNvSpPr>
          <p:nvPr>
            <p:custDataLst>
              <p:tags r:id="rId4"/>
            </p:custDataLst>
          </p:nvPr>
        </p:nvSpPr>
        <p:spPr>
          <a:xfrm>
            <a:off x="4568825" y="2931795"/>
            <a:ext cx="3649345" cy="835660"/>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altLang="en-US" dirty="0">
                <a:ea typeface="微软雅黑" panose="020B0503020204020204" pitchFamily="34" charset="-122"/>
              </a:rPr>
              <a:t>研究背景</a:t>
            </a:r>
            <a:r>
              <a:rPr lang="zh-CN" altLang="en-US" dirty="0">
                <a:ea typeface="微软雅黑" panose="020B0503020204020204" pitchFamily="34" charset="-122"/>
              </a:rPr>
              <a:t>与意义</a:t>
            </a:r>
            <a:endParaRPr lang="zh-CN" altLang="en-US" dirty="0">
              <a:ea typeface="微软雅黑" panose="020B0503020204020204" pitchFamily="34" charset="-122"/>
            </a:endParaRPr>
          </a:p>
        </p:txBody>
      </p:sp>
      <p:pic>
        <p:nvPicPr>
          <p:cNvPr id="5" name="图片 4" descr="logo-05"/>
          <p:cNvPicPr>
            <a:picLocks noChangeAspect="1"/>
          </p:cNvPicPr>
          <p:nvPr/>
        </p:nvPicPr>
        <p:blipFill>
          <a:blip r:embed="rId5"/>
          <a:stretch>
            <a:fillRect/>
          </a:stretch>
        </p:blipFill>
        <p:spPr>
          <a:xfrm>
            <a:off x="9492615" y="-1282700"/>
            <a:ext cx="4442460" cy="4099560"/>
          </a:xfrm>
          <a:prstGeom prst="rect">
            <a:avLst/>
          </a:prstGeom>
        </p:spPr>
      </p:pic>
      <p:pic>
        <p:nvPicPr>
          <p:cNvPr id="15" name="图片 14" descr="logo-06 - 副本"/>
          <p:cNvPicPr>
            <a:picLocks noChangeAspect="1"/>
          </p:cNvPicPr>
          <p:nvPr/>
        </p:nvPicPr>
        <p:blipFill>
          <a:blip r:embed="rId6"/>
          <a:stretch>
            <a:fillRect/>
          </a:stretch>
        </p:blipFill>
        <p:spPr>
          <a:xfrm>
            <a:off x="-1113155" y="3810000"/>
            <a:ext cx="3503930" cy="3232785"/>
          </a:xfrm>
          <a:prstGeom prst="rect">
            <a:avLst/>
          </a:prstGeom>
        </p:spPr>
      </p:pic>
      <p:pic>
        <p:nvPicPr>
          <p:cNvPr id="6" name="图片 5" descr="logo-04"/>
          <p:cNvPicPr>
            <a:picLocks noChangeAspect="1"/>
          </p:cNvPicPr>
          <p:nvPr/>
        </p:nvPicPr>
        <p:blipFill>
          <a:blip r:embed="rId7"/>
          <a:srcRect l="8157" t="21366" r="39086" b="30035"/>
          <a:stretch>
            <a:fillRect/>
          </a:stretch>
        </p:blipFill>
        <p:spPr>
          <a:xfrm>
            <a:off x="0" y="0"/>
            <a:ext cx="1737360" cy="1057275"/>
          </a:xfrm>
          <a:prstGeom prst="rect">
            <a:avLst/>
          </a:prstGeom>
        </p:spPr>
      </p:pic>
      <p:pic>
        <p:nvPicPr>
          <p:cNvPr id="17" name="图形 1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5576572"/>
            <a:ext cx="12185215" cy="1240790"/>
          </a:xfrm>
          <a:prstGeom prst="rect">
            <a:avLst/>
          </a:prstGeom>
        </p:spPr>
      </p:pic>
    </p:spTree>
    <p:custDataLst>
      <p:tags r:id="rId10"/>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515485" y="448310"/>
            <a:ext cx="2423160" cy="525780"/>
            <a:chOff x="7111" y="706"/>
            <a:chExt cx="3816" cy="828"/>
          </a:xfrm>
        </p:grpSpPr>
        <p:sp>
          <p:nvSpPr>
            <p:cNvPr id="4" name="矩形 3"/>
            <p:cNvSpPr/>
            <p:nvPr/>
          </p:nvSpPr>
          <p:spPr>
            <a:xfrm>
              <a:off x="7839" y="709"/>
              <a:ext cx="3088" cy="628"/>
            </a:xfrm>
            <a:prstGeom prst="rect">
              <a:avLst/>
            </a:prstGeom>
          </p:spPr>
          <p:txBody>
            <a:bodyPr wrap="none">
              <a:spAutoFit/>
            </a:bodyPr>
            <a:p>
              <a:pPr lvl="0"/>
              <a:r>
                <a:rPr lang="zh-CN" altLang="en-US" sz="2000" dirty="0">
                  <a:solidFill>
                    <a:srgbClr val="BD934E"/>
                  </a:solidFill>
                </a:rPr>
                <a:t>研究背景与意义</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pic>
        <p:nvPicPr>
          <p:cNvPr id="8" name="图片 7"/>
          <p:cNvPicPr>
            <a:picLocks noChangeAspect="1"/>
          </p:cNvPicPr>
          <p:nvPr/>
        </p:nvPicPr>
        <p:blipFill>
          <a:blip r:embed="rId2"/>
          <a:stretch>
            <a:fillRect/>
          </a:stretch>
        </p:blipFill>
        <p:spPr>
          <a:xfrm>
            <a:off x="127000" y="1018540"/>
            <a:ext cx="6569075" cy="3266440"/>
          </a:xfrm>
          <a:prstGeom prst="rect">
            <a:avLst/>
          </a:prstGeom>
        </p:spPr>
      </p:pic>
      <p:grpSp>
        <p:nvGrpSpPr>
          <p:cNvPr id="10" name="组合 9"/>
          <p:cNvGrpSpPr/>
          <p:nvPr/>
        </p:nvGrpSpPr>
        <p:grpSpPr>
          <a:xfrm>
            <a:off x="127000" y="4905375"/>
            <a:ext cx="11965305" cy="1816649"/>
            <a:chOff x="415" y="1625"/>
            <a:chExt cx="14903" cy="10243"/>
          </a:xfrm>
        </p:grpSpPr>
        <p:sp>
          <p:nvSpPr>
            <p:cNvPr id="6" name="矩形 5"/>
            <p:cNvSpPr/>
            <p:nvPr>
              <p:custDataLst>
                <p:tags r:id="rId3"/>
              </p:custDataLst>
            </p:nvPr>
          </p:nvSpPr>
          <p:spPr>
            <a:xfrm>
              <a:off x="643" y="1625"/>
              <a:ext cx="14555" cy="10243"/>
            </a:xfrm>
            <a:prstGeom prst="rect">
              <a:avLst/>
            </a:prstGeom>
            <a:noFill/>
          </p:spPr>
          <p:txBody>
            <a:bodyPr wrap="square" rtlCol="0">
              <a:noAutofit/>
            </a:bodyPr>
            <a:p>
              <a:pPr lvl="0" indent="0" fontAlgn="auto">
                <a:lnSpc>
                  <a:spcPct val="150000"/>
                </a:lnSpc>
              </a:pPr>
              <a:r>
                <a:rPr lang="zh-CN" altLang="en-US" b="1" dirty="0">
                  <a:sym typeface="+mn-ea"/>
                </a:rPr>
                <a:t>借助现代化技术赋能文言文-现代汉语翻译任务</a:t>
              </a:r>
              <a:r>
                <a:rPr lang="zh-CN" altLang="en-US" dirty="0">
                  <a:sym typeface="+mn-ea"/>
                </a:rPr>
                <a:t>尤为重要。</a:t>
              </a:r>
              <a:r>
                <a:rPr lang="zh-CN" altLang="en-US" dirty="0">
                  <a:solidFill>
                    <a:schemeClr val="tx1"/>
                  </a:solidFill>
                </a:rPr>
                <a:t>由于</a:t>
              </a:r>
              <a:r>
                <a:rPr lang="zh-CN" altLang="en-US" b="1" dirty="0">
                  <a:solidFill>
                    <a:schemeClr val="tx1"/>
                  </a:solidFill>
                </a:rPr>
                <a:t>文言文与现代汉语具备特殊性</a:t>
              </a:r>
              <a:r>
                <a:rPr lang="zh-CN" altLang="en-US" dirty="0">
                  <a:solidFill>
                    <a:schemeClr val="tx1"/>
                  </a:solidFill>
                </a:rPr>
                <a:t>，对于文言文-现代汉语机器翻译技术的</a:t>
              </a:r>
              <a:r>
                <a:rPr lang="zh-CN" altLang="en-US" b="1" dirty="0">
                  <a:solidFill>
                    <a:schemeClr val="tx1"/>
                  </a:solidFill>
                </a:rPr>
                <a:t>研究仍然发展缓慢</a:t>
              </a:r>
              <a:r>
                <a:rPr lang="zh-CN" altLang="en-US" dirty="0">
                  <a:solidFill>
                    <a:schemeClr val="tx1"/>
                  </a:solidFill>
                </a:rPr>
                <a:t>。</a:t>
              </a:r>
              <a:endParaRPr lang="zh-CN" altLang="en-US" dirty="0">
                <a:solidFill>
                  <a:schemeClr val="tx1"/>
                </a:solidFill>
              </a:endParaRPr>
            </a:p>
            <a:p>
              <a:pPr lvl="0" indent="0" fontAlgn="auto">
                <a:lnSpc>
                  <a:spcPct val="150000"/>
                </a:lnSpc>
              </a:pPr>
              <a:r>
                <a:rPr lang="zh-CN" altLang="en-US" b="1" dirty="0">
                  <a:sym typeface="+mn-ea"/>
                </a:rPr>
                <a:t>针对现有的挑战</a:t>
              </a:r>
              <a:r>
                <a:rPr lang="zh-CN" altLang="en-US" dirty="0">
                  <a:sym typeface="+mn-ea"/>
                </a:rPr>
                <a:t>，构建适合自己任务的数据集，设计融合背景信息的渐进式机器翻译模型，并构建多角度的评价指标，以此更好地实现自己的任务目标和实验探究。</a:t>
              </a:r>
              <a:endParaRPr lang="zh-CN" altLang="en-US" dirty="0"/>
            </a:p>
            <a:p>
              <a:pPr lvl="0" indent="0" fontAlgn="auto">
                <a:lnSpc>
                  <a:spcPct val="150000"/>
                </a:lnSpc>
              </a:pPr>
              <a:endParaRPr lang="en-US" altLang="zh-CN" dirty="0">
                <a:solidFill>
                  <a:schemeClr val="tx1"/>
                </a:solidFill>
              </a:endParaRPr>
            </a:p>
          </p:txBody>
        </p:sp>
        <p:sp>
          <p:nvSpPr>
            <p:cNvPr id="2" name="圆角矩形 1"/>
            <p:cNvSpPr/>
            <p:nvPr/>
          </p:nvSpPr>
          <p:spPr>
            <a:xfrm>
              <a:off x="415" y="1625"/>
              <a:ext cx="14903" cy="10243"/>
            </a:xfrm>
            <a:prstGeom prst="roundRect">
              <a:avLst>
                <a:gd name="adj" fmla="val 9188"/>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5" name="矩形 4"/>
          <p:cNvSpPr/>
          <p:nvPr>
            <p:custDataLst>
              <p:tags r:id="rId4"/>
            </p:custDataLst>
          </p:nvPr>
        </p:nvSpPr>
        <p:spPr>
          <a:xfrm>
            <a:off x="2077085" y="4284980"/>
            <a:ext cx="266890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1-1</a:t>
            </a:r>
            <a:r>
              <a:rPr lang="zh-CN" altLang="en-US" dirty="0">
                <a:solidFill>
                  <a:schemeClr val="tx1"/>
                </a:solidFill>
              </a:rPr>
              <a:t>：文言文</a:t>
            </a:r>
            <a:r>
              <a:rPr lang="zh-CN" altLang="en-US" dirty="0">
                <a:solidFill>
                  <a:schemeClr val="tx1"/>
                </a:solidFill>
              </a:rPr>
              <a:t>一词多义</a:t>
            </a:r>
            <a:endParaRPr lang="zh-CN" altLang="en-US" dirty="0">
              <a:solidFill>
                <a:schemeClr val="tx1"/>
              </a:solidFill>
            </a:endParaRPr>
          </a:p>
        </p:txBody>
      </p:sp>
      <p:pic>
        <p:nvPicPr>
          <p:cNvPr id="9" name="图片 8" descr="文言文-现代汉语机器翻译任务现有的进展和存在的挑战"/>
          <p:cNvPicPr>
            <a:picLocks noChangeAspect="1"/>
          </p:cNvPicPr>
          <p:nvPr/>
        </p:nvPicPr>
        <p:blipFill>
          <a:blip r:embed="rId5"/>
          <a:stretch>
            <a:fillRect/>
          </a:stretch>
        </p:blipFill>
        <p:spPr>
          <a:xfrm>
            <a:off x="6696075" y="1018540"/>
            <a:ext cx="5396230" cy="3233420"/>
          </a:xfrm>
          <a:prstGeom prst="rect">
            <a:avLst/>
          </a:prstGeom>
        </p:spPr>
      </p:pic>
      <p:sp>
        <p:nvSpPr>
          <p:cNvPr id="11" name="矩形 10"/>
          <p:cNvSpPr/>
          <p:nvPr>
            <p:custDataLst>
              <p:tags r:id="rId6"/>
            </p:custDataLst>
          </p:nvPr>
        </p:nvSpPr>
        <p:spPr>
          <a:xfrm>
            <a:off x="7608570" y="4284980"/>
            <a:ext cx="357060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1-2</a:t>
            </a:r>
            <a:r>
              <a:rPr lang="zh-CN" altLang="en-US" dirty="0">
                <a:solidFill>
                  <a:schemeClr val="tx1"/>
                </a:solidFill>
              </a:rPr>
              <a:t>：现有的进展和存在的挑战</a:t>
            </a:r>
            <a:endParaRPr lang="zh-CN" altLang="en-US" dirty="0">
              <a:solidFill>
                <a:schemeClr val="tx1"/>
              </a:solidFill>
            </a:endParaRPr>
          </a:p>
        </p:txBody>
      </p:sp>
    </p:spTree>
    <p:custDataLst>
      <p:tags r:id="rId7"/>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p:nvPr>
            <p:custDataLst>
              <p:tags r:id="rId1"/>
            </p:custDataLst>
          </p:nvPr>
        </p:nvSpPr>
        <p:spPr>
          <a:xfrm>
            <a:off x="3053080" y="2730818"/>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rPr>
              <a:t>02</a:t>
            </a:r>
            <a:endPar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endParaRPr>
          </a:p>
        </p:txBody>
      </p:sp>
      <p:cxnSp>
        <p:nvCxnSpPr>
          <p:cNvPr id="11" name="直接连接符 10"/>
          <p:cNvCxnSpPr/>
          <p:nvPr>
            <p:custDataLst>
              <p:tags r:id="rId2"/>
            </p:custDataLst>
          </p:nvPr>
        </p:nvCxnSpPr>
        <p:spPr>
          <a:xfrm>
            <a:off x="2935605" y="2272983"/>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3"/>
            </p:custDataLst>
          </p:nvPr>
        </p:nvCxnSpPr>
        <p:spPr>
          <a:xfrm>
            <a:off x="2935605" y="4426268"/>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sp>
        <p:nvSpPr>
          <p:cNvPr id="13" name="标题 12"/>
          <p:cNvSpPr>
            <a:spLocks noGrp="1"/>
          </p:cNvSpPr>
          <p:nvPr>
            <p:custDataLst>
              <p:tags r:id="rId4"/>
            </p:custDataLst>
          </p:nvPr>
        </p:nvSpPr>
        <p:spPr>
          <a:xfrm>
            <a:off x="4568825" y="2931795"/>
            <a:ext cx="3649345" cy="835660"/>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altLang="en-US" dirty="0">
                <a:ea typeface="微软雅黑" panose="020B0503020204020204" pitchFamily="34" charset="-122"/>
              </a:rPr>
              <a:t>研究</a:t>
            </a:r>
            <a:r>
              <a:rPr lang="zh-CN" altLang="en-US" dirty="0">
                <a:ea typeface="微软雅黑" panose="020B0503020204020204" pitchFamily="34" charset="-122"/>
              </a:rPr>
              <a:t>思路与实现</a:t>
            </a:r>
            <a:endParaRPr lang="zh-CN" altLang="en-US" dirty="0">
              <a:ea typeface="微软雅黑" panose="020B0503020204020204" pitchFamily="34" charset="-122"/>
            </a:endParaRPr>
          </a:p>
        </p:txBody>
      </p:sp>
      <p:pic>
        <p:nvPicPr>
          <p:cNvPr id="5" name="图片 4" descr="logo-05"/>
          <p:cNvPicPr>
            <a:picLocks noChangeAspect="1"/>
          </p:cNvPicPr>
          <p:nvPr/>
        </p:nvPicPr>
        <p:blipFill>
          <a:blip r:embed="rId5"/>
          <a:stretch>
            <a:fillRect/>
          </a:stretch>
        </p:blipFill>
        <p:spPr>
          <a:xfrm>
            <a:off x="9492615" y="-1282700"/>
            <a:ext cx="4442460" cy="4099560"/>
          </a:xfrm>
          <a:prstGeom prst="rect">
            <a:avLst/>
          </a:prstGeom>
        </p:spPr>
      </p:pic>
      <p:pic>
        <p:nvPicPr>
          <p:cNvPr id="15" name="图片 14" descr="logo-06 - 副本"/>
          <p:cNvPicPr>
            <a:picLocks noChangeAspect="1"/>
          </p:cNvPicPr>
          <p:nvPr/>
        </p:nvPicPr>
        <p:blipFill>
          <a:blip r:embed="rId6"/>
          <a:stretch>
            <a:fillRect/>
          </a:stretch>
        </p:blipFill>
        <p:spPr>
          <a:xfrm>
            <a:off x="-1113155" y="3810000"/>
            <a:ext cx="3503930" cy="3232785"/>
          </a:xfrm>
          <a:prstGeom prst="rect">
            <a:avLst/>
          </a:prstGeom>
        </p:spPr>
      </p:pic>
      <p:pic>
        <p:nvPicPr>
          <p:cNvPr id="6" name="图片 5" descr="logo-04"/>
          <p:cNvPicPr>
            <a:picLocks noChangeAspect="1"/>
          </p:cNvPicPr>
          <p:nvPr/>
        </p:nvPicPr>
        <p:blipFill>
          <a:blip r:embed="rId7"/>
          <a:srcRect l="8157" t="21366" r="39086" b="30035"/>
          <a:stretch>
            <a:fillRect/>
          </a:stretch>
        </p:blipFill>
        <p:spPr>
          <a:xfrm>
            <a:off x="0" y="0"/>
            <a:ext cx="1737360" cy="1057275"/>
          </a:xfrm>
          <a:prstGeom prst="rect">
            <a:avLst/>
          </a:prstGeom>
        </p:spPr>
      </p:pic>
      <p:pic>
        <p:nvPicPr>
          <p:cNvPr id="17" name="图形 16"/>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0" y="5576572"/>
            <a:ext cx="12185215" cy="1240790"/>
          </a:xfrm>
          <a:prstGeom prst="rect">
            <a:avLst/>
          </a:prstGeom>
        </p:spPr>
      </p:pic>
    </p:spTree>
    <p:custDataLst>
      <p:tags r:id="rId10"/>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187325" y="1101725"/>
            <a:ext cx="11751310" cy="1753235"/>
          </a:xfrm>
          <a:prstGeom prst="rect">
            <a:avLst/>
          </a:prstGeom>
          <a:noFill/>
        </p:spPr>
        <p:txBody>
          <a:bodyPr wrap="square" rtlCol="0">
            <a:spAutoFit/>
          </a:bodyPr>
          <a:p>
            <a:pPr lvl="0" indent="0" fontAlgn="auto">
              <a:lnSpc>
                <a:spcPct val="150000"/>
              </a:lnSpc>
            </a:pPr>
            <a:r>
              <a:rPr lang="zh-CN" altLang="en-US" b="1" dirty="0">
                <a:solidFill>
                  <a:schemeClr val="tx1"/>
                </a:solidFill>
              </a:rPr>
              <a:t>文言文-现代汉语数据集（2080500 条文言文-现代汉语平行语句对）</a:t>
            </a:r>
            <a:endParaRPr lang="zh-CN" altLang="en-US" b="1" dirty="0">
              <a:solidFill>
                <a:schemeClr val="tx1"/>
              </a:solidFill>
            </a:endParaRPr>
          </a:p>
          <a:p>
            <a:pPr lvl="0" indent="0" fontAlgn="auto">
              <a:lnSpc>
                <a:spcPct val="150000"/>
              </a:lnSpc>
            </a:pPr>
            <a:r>
              <a:rPr lang="zh-CN" altLang="en-US" dirty="0">
                <a:solidFill>
                  <a:schemeClr val="tx1"/>
                </a:solidFill>
              </a:rPr>
              <a:t>我们收集了现有的类别丰富的</a:t>
            </a:r>
            <a:r>
              <a:rPr lang="zh-CN" altLang="en-US" b="1" dirty="0">
                <a:solidFill>
                  <a:schemeClr val="tx1"/>
                </a:solidFill>
              </a:rPr>
              <a:t>古文-现代汉语数据集</a:t>
            </a:r>
            <a:r>
              <a:rPr lang="zh-CN" altLang="en-US" dirty="0">
                <a:solidFill>
                  <a:schemeClr val="tx1"/>
                </a:solidFill>
              </a:rPr>
              <a:t>，自己通过爬虫技术爬取了各种主题的</a:t>
            </a:r>
            <a:r>
              <a:rPr lang="zh-CN" altLang="en-US" b="1" dirty="0">
                <a:solidFill>
                  <a:schemeClr val="tx1"/>
                </a:solidFill>
              </a:rPr>
              <a:t>古诗-现代汉语数据集</a:t>
            </a:r>
            <a:r>
              <a:rPr lang="zh-CN" altLang="en-US" dirty="0">
                <a:solidFill>
                  <a:schemeClr val="tx1"/>
                </a:solidFill>
              </a:rPr>
              <a:t>，并对获取的两份数据集进行了如句子对齐等数据预处理，经过</a:t>
            </a:r>
            <a:r>
              <a:rPr lang="zh-CN" altLang="en-US" b="1" dirty="0">
                <a:solidFill>
                  <a:schemeClr val="tx1"/>
                </a:solidFill>
              </a:rPr>
              <a:t>筛选和合并</a:t>
            </a:r>
            <a:r>
              <a:rPr lang="zh-CN" altLang="en-US" dirty="0">
                <a:solidFill>
                  <a:schemeClr val="tx1"/>
                </a:solidFill>
              </a:rPr>
              <a:t>构建了我们自己的</a:t>
            </a:r>
            <a:r>
              <a:rPr lang="zh-CN" altLang="en-US" b="1" dirty="0">
                <a:solidFill>
                  <a:schemeClr val="tx1"/>
                </a:solidFill>
              </a:rPr>
              <a:t>文言文-现代汉语数据集</a:t>
            </a:r>
            <a:r>
              <a:rPr lang="zh-CN" altLang="en-US" dirty="0">
                <a:solidFill>
                  <a:schemeClr val="tx1"/>
                </a:solidFill>
              </a:rPr>
              <a:t>，该数据集可</a:t>
            </a:r>
            <a:r>
              <a:rPr lang="zh-CN" altLang="en-US" b="1" dirty="0">
                <a:solidFill>
                  <a:schemeClr val="tx1"/>
                </a:solidFill>
              </a:rPr>
              <a:t>用于我们第一阶段任务的基础性机器翻译任务中</a:t>
            </a:r>
            <a:r>
              <a:rPr lang="zh-CN" altLang="en-US" dirty="0">
                <a:solidFill>
                  <a:schemeClr val="tx1"/>
                </a:solidFill>
              </a:rPr>
              <a:t>。</a:t>
            </a:r>
            <a:endParaRPr lang="zh-CN" altLang="en-US" dirty="0">
              <a:solidFill>
                <a:schemeClr val="tx1"/>
              </a:solidFill>
            </a:endParaRPr>
          </a:p>
        </p:txBody>
      </p:sp>
      <p:grpSp>
        <p:nvGrpSpPr>
          <p:cNvPr id="3" name="组合 2"/>
          <p:cNvGrpSpPr/>
          <p:nvPr/>
        </p:nvGrpSpPr>
        <p:grpSpPr>
          <a:xfrm>
            <a:off x="4907280" y="450215"/>
            <a:ext cx="1915160" cy="525780"/>
            <a:chOff x="7111" y="706"/>
            <a:chExt cx="3016" cy="828"/>
          </a:xfrm>
        </p:grpSpPr>
        <p:sp>
          <p:nvSpPr>
            <p:cNvPr id="4" name="矩形 3"/>
            <p:cNvSpPr/>
            <p:nvPr/>
          </p:nvSpPr>
          <p:spPr>
            <a:xfrm>
              <a:off x="7839" y="709"/>
              <a:ext cx="2288" cy="628"/>
            </a:xfrm>
            <a:prstGeom prst="rect">
              <a:avLst/>
            </a:prstGeom>
          </p:spPr>
          <p:txBody>
            <a:bodyPr wrap="none">
              <a:spAutoFit/>
            </a:bodyPr>
            <a:p>
              <a:pPr lvl="0"/>
              <a:r>
                <a:rPr lang="zh-CN" altLang="en-US" sz="2000" dirty="0">
                  <a:solidFill>
                    <a:srgbClr val="BD934E"/>
                  </a:solidFill>
                </a:rPr>
                <a:t>数据集构建</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2"/>
            <a:srcRect/>
            <a:stretch>
              <a:fillRect/>
            </a:stretch>
          </p:blipFill>
          <p:spPr>
            <a:xfrm rot="17197349" flipH="1">
              <a:off x="7078" y="738"/>
              <a:ext cx="828" cy="763"/>
            </a:xfrm>
            <a:prstGeom prst="rect">
              <a:avLst/>
            </a:prstGeom>
          </p:spPr>
        </p:pic>
      </p:grpSp>
      <p:sp>
        <p:nvSpPr>
          <p:cNvPr id="8" name="矩形 7"/>
          <p:cNvSpPr/>
          <p:nvPr>
            <p:custDataLst>
              <p:tags r:id="rId3"/>
            </p:custDataLst>
          </p:nvPr>
        </p:nvSpPr>
        <p:spPr>
          <a:xfrm>
            <a:off x="186690" y="3002280"/>
            <a:ext cx="11751945" cy="1753235"/>
          </a:xfrm>
          <a:prstGeom prst="rect">
            <a:avLst/>
          </a:prstGeom>
          <a:noFill/>
        </p:spPr>
        <p:txBody>
          <a:bodyPr wrap="square" rtlCol="0">
            <a:spAutoFit/>
          </a:bodyPr>
          <a:p>
            <a:pPr lvl="0" indent="0" fontAlgn="auto">
              <a:lnSpc>
                <a:spcPct val="150000"/>
              </a:lnSpc>
            </a:pPr>
            <a:r>
              <a:rPr lang="zh-CN" altLang="en-US" b="1" dirty="0">
                <a:solidFill>
                  <a:schemeClr val="tx1"/>
                </a:solidFill>
              </a:rPr>
              <a:t>背景简述数据集（21160 条结构化的背景数据）</a:t>
            </a:r>
            <a:endParaRPr lang="zh-CN" altLang="en-US" b="1" dirty="0">
              <a:solidFill>
                <a:schemeClr val="tx1"/>
              </a:solidFill>
            </a:endParaRPr>
          </a:p>
          <a:p>
            <a:pPr lvl="0" indent="0" fontAlgn="auto">
              <a:lnSpc>
                <a:spcPct val="150000"/>
              </a:lnSpc>
            </a:pPr>
            <a:r>
              <a:rPr lang="zh-CN" altLang="en-US" dirty="0">
                <a:solidFill>
                  <a:schemeClr val="tx1"/>
                </a:solidFill>
              </a:rPr>
              <a:t>我们通过一些包含古代人物、古代故事的背景知识网站，使用爬虫技术爬取了许多背景知识，主要包括</a:t>
            </a:r>
            <a:r>
              <a:rPr lang="zh-CN" altLang="en-US" b="1" dirty="0">
                <a:solidFill>
                  <a:schemeClr val="tx1"/>
                </a:solidFill>
              </a:rPr>
              <a:t>人物背景和典故背景</a:t>
            </a:r>
            <a:r>
              <a:rPr lang="zh-CN" altLang="en-US" dirty="0">
                <a:solidFill>
                  <a:schemeClr val="tx1"/>
                </a:solidFill>
              </a:rPr>
              <a:t>，构建了我们的</a:t>
            </a:r>
            <a:r>
              <a:rPr lang="zh-CN" altLang="en-US" b="1" dirty="0">
                <a:solidFill>
                  <a:schemeClr val="tx1"/>
                </a:solidFill>
              </a:rPr>
              <a:t>背景简述数据集</a:t>
            </a:r>
            <a:r>
              <a:rPr lang="zh-CN" altLang="en-US" dirty="0">
                <a:solidFill>
                  <a:schemeClr val="tx1"/>
                </a:solidFill>
              </a:rPr>
              <a:t>，该数据集可以通过一定的改进，</a:t>
            </a:r>
            <a:r>
              <a:rPr lang="zh-CN" altLang="en-US" b="1" dirty="0">
                <a:solidFill>
                  <a:schemeClr val="tx1"/>
                </a:solidFill>
              </a:rPr>
              <a:t>用于我们第二阶段任务中的背景信息提取模块</a:t>
            </a:r>
            <a:r>
              <a:rPr lang="zh-CN" altLang="en-US" dirty="0">
                <a:solidFill>
                  <a:schemeClr val="tx1"/>
                </a:solidFill>
              </a:rPr>
              <a:t>。</a:t>
            </a:r>
            <a:endParaRPr lang="zh-CN" altLang="en-US" dirty="0">
              <a:solidFill>
                <a:schemeClr val="tx1"/>
              </a:solidFill>
            </a:endParaRPr>
          </a:p>
        </p:txBody>
      </p:sp>
      <p:sp>
        <p:nvSpPr>
          <p:cNvPr id="9" name="矩形 8"/>
          <p:cNvSpPr/>
          <p:nvPr>
            <p:custDataLst>
              <p:tags r:id="rId4"/>
            </p:custDataLst>
          </p:nvPr>
        </p:nvSpPr>
        <p:spPr>
          <a:xfrm>
            <a:off x="187325" y="4919980"/>
            <a:ext cx="11752580" cy="1753235"/>
          </a:xfrm>
          <a:prstGeom prst="rect">
            <a:avLst/>
          </a:prstGeom>
          <a:noFill/>
        </p:spPr>
        <p:txBody>
          <a:bodyPr wrap="square" rtlCol="0">
            <a:spAutoFit/>
          </a:bodyPr>
          <a:p>
            <a:pPr lvl="0" indent="0" fontAlgn="auto">
              <a:lnSpc>
                <a:spcPct val="150000"/>
              </a:lnSpc>
            </a:pPr>
            <a:r>
              <a:rPr lang="zh-CN" altLang="en-US" b="1" dirty="0">
                <a:solidFill>
                  <a:schemeClr val="tx1"/>
                </a:solidFill>
              </a:rPr>
              <a:t>译文优化数据集（20000 条文言文-优化译文平行语句对）</a:t>
            </a:r>
            <a:endParaRPr lang="zh-CN" altLang="en-US" b="1" dirty="0">
              <a:solidFill>
                <a:schemeClr val="tx1"/>
              </a:solidFill>
            </a:endParaRPr>
          </a:p>
          <a:p>
            <a:pPr lvl="0" indent="0" fontAlgn="auto">
              <a:lnSpc>
                <a:spcPct val="150000"/>
              </a:lnSpc>
            </a:pPr>
            <a:r>
              <a:rPr lang="zh-CN" altLang="en-US" dirty="0">
                <a:solidFill>
                  <a:schemeClr val="tx1"/>
                </a:solidFill>
              </a:rPr>
              <a:t>为了提升我们参考译文的文采，我们对部分原始参考译文进行了改写，通过提问的方式借助 gpt 接口进行</a:t>
            </a:r>
            <a:r>
              <a:rPr lang="zh-CN" altLang="en-US" b="1" dirty="0">
                <a:solidFill>
                  <a:schemeClr val="tx1"/>
                </a:solidFill>
              </a:rPr>
              <a:t>改写，并筛选</a:t>
            </a:r>
            <a:r>
              <a:rPr lang="zh-CN" altLang="en-US" dirty="0">
                <a:solidFill>
                  <a:schemeClr val="tx1"/>
                </a:solidFill>
              </a:rPr>
              <a:t>改写前后语义相似度 95% 以上的数据，构建我们的</a:t>
            </a:r>
            <a:r>
              <a:rPr lang="zh-CN" altLang="en-US" b="1" dirty="0">
                <a:solidFill>
                  <a:schemeClr val="tx1"/>
                </a:solidFill>
              </a:rPr>
              <a:t>译文优化数据集</a:t>
            </a:r>
            <a:r>
              <a:rPr lang="zh-CN" altLang="en-US" dirty="0">
                <a:solidFill>
                  <a:schemeClr val="tx1"/>
                </a:solidFill>
              </a:rPr>
              <a:t>，该数据集可</a:t>
            </a:r>
            <a:r>
              <a:rPr lang="zh-CN" altLang="en-US" b="1" dirty="0">
                <a:solidFill>
                  <a:schemeClr val="tx1"/>
                </a:solidFill>
              </a:rPr>
              <a:t>用于我们第二阶段任务中的提升生成文本文采的模块</a:t>
            </a:r>
            <a:r>
              <a:rPr lang="zh-CN" altLang="en-US" dirty="0">
                <a:solidFill>
                  <a:schemeClr val="tx1"/>
                </a:solidFill>
              </a:rPr>
              <a:t>。</a:t>
            </a:r>
            <a:endParaRPr lang="zh-CN" altLang="en-US" dirty="0">
              <a:solidFill>
                <a:schemeClr val="tx1"/>
              </a:solidFill>
            </a:endParaRPr>
          </a:p>
        </p:txBody>
      </p:sp>
      <p:sp>
        <p:nvSpPr>
          <p:cNvPr id="2" name="圆角矩形 1"/>
          <p:cNvSpPr/>
          <p:nvPr>
            <p:custDataLst>
              <p:tags r:id="rId5"/>
            </p:custDataLst>
          </p:nvPr>
        </p:nvSpPr>
        <p:spPr>
          <a:xfrm>
            <a:off x="186690" y="1103630"/>
            <a:ext cx="11751945" cy="1751330"/>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圆角矩形 4"/>
          <p:cNvSpPr/>
          <p:nvPr>
            <p:custDataLst>
              <p:tags r:id="rId6"/>
            </p:custDataLst>
          </p:nvPr>
        </p:nvSpPr>
        <p:spPr>
          <a:xfrm>
            <a:off x="187960" y="3002280"/>
            <a:ext cx="11751945" cy="1770380"/>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圆角矩形 9"/>
          <p:cNvSpPr/>
          <p:nvPr>
            <p:custDataLst>
              <p:tags r:id="rId7"/>
            </p:custDataLst>
          </p:nvPr>
        </p:nvSpPr>
        <p:spPr>
          <a:xfrm>
            <a:off x="186690" y="4902835"/>
            <a:ext cx="11725275" cy="1746885"/>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8"/>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845185" y="5447030"/>
            <a:ext cx="10813415" cy="922020"/>
          </a:xfrm>
          <a:prstGeom prst="rect">
            <a:avLst/>
          </a:prstGeom>
          <a:noFill/>
        </p:spPr>
        <p:txBody>
          <a:bodyPr wrap="square" rtlCol="0">
            <a:spAutoFit/>
          </a:bodyPr>
          <a:p>
            <a:pPr lvl="0" indent="0" fontAlgn="auto">
              <a:lnSpc>
                <a:spcPct val="150000"/>
              </a:lnSpc>
            </a:pPr>
            <a:r>
              <a:rPr lang="zh-CN" altLang="en-US" b="1" dirty="0">
                <a:solidFill>
                  <a:schemeClr val="tx1"/>
                </a:solidFill>
              </a:rPr>
              <a:t>模拟人工翻译的渐进式翻译思想</a:t>
            </a:r>
            <a:r>
              <a:rPr lang="zh-CN" altLang="en-US" dirty="0">
                <a:solidFill>
                  <a:schemeClr val="tx1"/>
                </a:solidFill>
              </a:rPr>
              <a:t>：先根据自己储备的知识进行基础性翻译，然后结合提供的特殊信息，如特殊的字词翻译和文言文背景信息等，进行进一步的更全面的翻译，最后再考虑优化自己的翻译语言。</a:t>
            </a:r>
            <a:endParaRPr lang="zh-CN" altLang="en-US" dirty="0">
              <a:solidFill>
                <a:schemeClr val="tx1"/>
              </a:solidFill>
            </a:endParaRPr>
          </a:p>
        </p:txBody>
      </p:sp>
      <p:grpSp>
        <p:nvGrpSpPr>
          <p:cNvPr id="3" name="组合 2"/>
          <p:cNvGrpSpPr/>
          <p:nvPr/>
        </p:nvGrpSpPr>
        <p:grpSpPr>
          <a:xfrm>
            <a:off x="4515485" y="448310"/>
            <a:ext cx="3947160" cy="525780"/>
            <a:chOff x="7111" y="706"/>
            <a:chExt cx="6216" cy="828"/>
          </a:xfrm>
        </p:grpSpPr>
        <p:sp>
          <p:nvSpPr>
            <p:cNvPr id="4" name="矩形 3"/>
            <p:cNvSpPr/>
            <p:nvPr/>
          </p:nvSpPr>
          <p:spPr>
            <a:xfrm>
              <a:off x="7839" y="709"/>
              <a:ext cx="5488" cy="628"/>
            </a:xfrm>
            <a:prstGeom prst="rect">
              <a:avLst/>
            </a:prstGeom>
          </p:spPr>
          <p:txBody>
            <a:bodyPr wrap="none">
              <a:spAutoFit/>
            </a:bodyPr>
            <a:p>
              <a:pPr lvl="0"/>
              <a:r>
                <a:rPr lang="zh-CN" altLang="en-US" sz="2000" dirty="0">
                  <a:solidFill>
                    <a:srgbClr val="BD934E"/>
                  </a:solidFill>
                </a:rPr>
                <a:t>研究思路与实现</a:t>
              </a:r>
              <a:r>
                <a:rPr lang="en-US" altLang="zh-CN" sz="2000" dirty="0">
                  <a:solidFill>
                    <a:srgbClr val="BD934E"/>
                  </a:solidFill>
                </a:rPr>
                <a:t>——</a:t>
              </a:r>
              <a:r>
                <a:rPr lang="zh-CN" altLang="en-US" sz="2000" dirty="0">
                  <a:solidFill>
                    <a:srgbClr val="BD934E"/>
                  </a:solidFill>
                </a:rPr>
                <a:t>整体设计</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2"/>
            <a:srcRect/>
            <a:stretch>
              <a:fillRect/>
            </a:stretch>
          </p:blipFill>
          <p:spPr>
            <a:xfrm rot="17197349" flipH="1">
              <a:off x="7078" y="738"/>
              <a:ext cx="828" cy="763"/>
            </a:xfrm>
            <a:prstGeom prst="rect">
              <a:avLst/>
            </a:prstGeom>
          </p:spPr>
        </p:pic>
      </p:grpSp>
      <p:pic>
        <p:nvPicPr>
          <p:cNvPr id="2" name="图片 1" descr="整体设计_00"/>
          <p:cNvPicPr>
            <a:picLocks noChangeAspect="1"/>
          </p:cNvPicPr>
          <p:nvPr/>
        </p:nvPicPr>
        <p:blipFill>
          <a:blip r:embed="rId3"/>
          <a:stretch>
            <a:fillRect/>
          </a:stretch>
        </p:blipFill>
        <p:spPr>
          <a:xfrm>
            <a:off x="2359025" y="1031875"/>
            <a:ext cx="7785735" cy="3971925"/>
          </a:xfrm>
          <a:prstGeom prst="rect">
            <a:avLst/>
          </a:prstGeom>
        </p:spPr>
      </p:pic>
      <p:sp>
        <p:nvSpPr>
          <p:cNvPr id="5" name="矩形 4"/>
          <p:cNvSpPr/>
          <p:nvPr>
            <p:custDataLst>
              <p:tags r:id="rId4"/>
            </p:custDataLst>
          </p:nvPr>
        </p:nvSpPr>
        <p:spPr>
          <a:xfrm>
            <a:off x="5285740" y="4940300"/>
            <a:ext cx="193230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2-1</a:t>
            </a:r>
            <a:r>
              <a:rPr lang="zh-CN" altLang="en-US" dirty="0">
                <a:solidFill>
                  <a:schemeClr val="tx1"/>
                </a:solidFill>
              </a:rPr>
              <a:t>：整体设计</a:t>
            </a:r>
            <a:endParaRPr lang="zh-CN" altLang="en-US" dirty="0">
              <a:solidFill>
                <a:schemeClr val="tx1"/>
              </a:solidFill>
            </a:endParaRPr>
          </a:p>
        </p:txBody>
      </p:sp>
    </p:spTree>
    <p:custDataLst>
      <p:tags r:id="rId5"/>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4420" y="450215"/>
            <a:ext cx="4963160" cy="525780"/>
            <a:chOff x="7111" y="706"/>
            <a:chExt cx="7816" cy="828"/>
          </a:xfrm>
        </p:grpSpPr>
        <p:sp>
          <p:nvSpPr>
            <p:cNvPr id="4" name="矩形 3"/>
            <p:cNvSpPr/>
            <p:nvPr/>
          </p:nvSpPr>
          <p:spPr>
            <a:xfrm>
              <a:off x="7839" y="709"/>
              <a:ext cx="7088" cy="628"/>
            </a:xfrm>
            <a:prstGeom prst="rect">
              <a:avLst/>
            </a:prstGeom>
          </p:spPr>
          <p:txBody>
            <a:bodyPr wrap="none">
              <a:spAutoFit/>
            </a:bodyPr>
            <a:p>
              <a:pPr lvl="0"/>
              <a:r>
                <a:rPr lang="zh-CN" altLang="en-US" sz="2000" dirty="0">
                  <a:solidFill>
                    <a:srgbClr val="BD934E"/>
                  </a:solidFill>
                </a:rPr>
                <a:t>研究思路与实现</a:t>
              </a:r>
              <a:r>
                <a:rPr lang="en-US" altLang="zh-CN" sz="2000" dirty="0">
                  <a:solidFill>
                    <a:srgbClr val="BD934E"/>
                  </a:solidFill>
                </a:rPr>
                <a:t>——</a:t>
              </a:r>
              <a:r>
                <a:rPr lang="zh-CN" altLang="en-US" sz="2000" dirty="0">
                  <a:solidFill>
                    <a:srgbClr val="BD934E"/>
                  </a:solidFill>
                </a:rPr>
                <a:t>第</a:t>
              </a:r>
              <a:r>
                <a:rPr lang="zh-CN" altLang="en-US" sz="2000" dirty="0">
                  <a:solidFill>
                    <a:srgbClr val="BD934E"/>
                  </a:solidFill>
                </a:rPr>
                <a:t>一阶段模型设计</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298450" y="5883910"/>
            <a:ext cx="11494770" cy="922020"/>
          </a:xfrm>
          <a:prstGeom prst="rect">
            <a:avLst/>
          </a:prstGeom>
          <a:noFill/>
        </p:spPr>
        <p:txBody>
          <a:bodyPr wrap="square" rtlCol="0">
            <a:spAutoFit/>
          </a:bodyPr>
          <a:p>
            <a:pPr lvl="0" indent="0" fontAlgn="auto">
              <a:lnSpc>
                <a:spcPct val="150000"/>
              </a:lnSpc>
            </a:pPr>
            <a:r>
              <a:rPr lang="zh-CN" altLang="en-US" dirty="0">
                <a:solidFill>
                  <a:schemeClr val="tx1"/>
                </a:solidFill>
              </a:rPr>
              <a:t>在第一阶段模型的设计中，主要由两个部份构成，一个是</a:t>
            </a:r>
            <a:r>
              <a:rPr lang="zh-CN" altLang="en-US" b="1" dirty="0">
                <a:solidFill>
                  <a:schemeClr val="tx1"/>
                </a:solidFill>
              </a:rPr>
              <a:t>音节对齐</a:t>
            </a:r>
            <a:r>
              <a:rPr lang="zh-CN" altLang="en-US" dirty="0">
                <a:solidFill>
                  <a:schemeClr val="tx1"/>
                </a:solidFill>
              </a:rPr>
              <a:t>，即文言文的单音节与现代汉语的双音节进行对齐；另一个则是，以</a:t>
            </a:r>
            <a:r>
              <a:rPr lang="zh-CN" altLang="en-US" b="1" dirty="0">
                <a:solidFill>
                  <a:schemeClr val="tx1"/>
                </a:solidFill>
              </a:rPr>
              <a:t>编码器-解码器的架构</a:t>
            </a:r>
            <a:r>
              <a:rPr lang="zh-CN" altLang="en-US" dirty="0">
                <a:solidFill>
                  <a:schemeClr val="tx1"/>
                </a:solidFill>
              </a:rPr>
              <a:t>进行模型的训练。</a:t>
            </a:r>
            <a:endParaRPr lang="zh-CN" altLang="en-US" dirty="0">
              <a:solidFill>
                <a:schemeClr val="tx1"/>
              </a:solidFill>
            </a:endParaRPr>
          </a:p>
        </p:txBody>
      </p:sp>
      <p:pic>
        <p:nvPicPr>
          <p:cNvPr id="2" name="图片 1" descr="机器翻译模型设计图"/>
          <p:cNvPicPr>
            <a:picLocks noChangeAspect="1"/>
          </p:cNvPicPr>
          <p:nvPr/>
        </p:nvPicPr>
        <p:blipFill>
          <a:blip r:embed="rId3"/>
          <a:stretch>
            <a:fillRect/>
          </a:stretch>
        </p:blipFill>
        <p:spPr>
          <a:xfrm>
            <a:off x="387350" y="1715770"/>
            <a:ext cx="5502275" cy="2889250"/>
          </a:xfrm>
          <a:prstGeom prst="rect">
            <a:avLst/>
          </a:prstGeom>
        </p:spPr>
      </p:pic>
      <p:pic>
        <p:nvPicPr>
          <p:cNvPr id="5" name="图片 4" descr="第一阶段模型架构图"/>
          <p:cNvPicPr>
            <a:picLocks noChangeAspect="1"/>
          </p:cNvPicPr>
          <p:nvPr/>
        </p:nvPicPr>
        <p:blipFill>
          <a:blip r:embed="rId4"/>
          <a:stretch>
            <a:fillRect/>
          </a:stretch>
        </p:blipFill>
        <p:spPr>
          <a:xfrm>
            <a:off x="7073265" y="968375"/>
            <a:ext cx="4116705" cy="4384040"/>
          </a:xfrm>
          <a:prstGeom prst="rect">
            <a:avLst/>
          </a:prstGeom>
        </p:spPr>
      </p:pic>
      <p:sp>
        <p:nvSpPr>
          <p:cNvPr id="10" name="矩形 9"/>
          <p:cNvSpPr/>
          <p:nvPr>
            <p:custDataLst>
              <p:tags r:id="rId5"/>
            </p:custDataLst>
          </p:nvPr>
        </p:nvSpPr>
        <p:spPr>
          <a:xfrm>
            <a:off x="1687830" y="4743450"/>
            <a:ext cx="290068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2-2</a:t>
            </a:r>
            <a:r>
              <a:rPr lang="zh-CN" altLang="en-US" dirty="0">
                <a:solidFill>
                  <a:schemeClr val="tx1"/>
                </a:solidFill>
              </a:rPr>
              <a:t>：</a:t>
            </a:r>
            <a:r>
              <a:rPr lang="zh-CN" altLang="en-US" dirty="0">
                <a:solidFill>
                  <a:schemeClr val="tx1"/>
                </a:solidFill>
              </a:rPr>
              <a:t>第一阶段模型设计</a:t>
            </a:r>
            <a:endParaRPr lang="zh-CN" altLang="en-US" dirty="0">
              <a:solidFill>
                <a:schemeClr val="tx1"/>
              </a:solidFill>
            </a:endParaRPr>
          </a:p>
        </p:txBody>
      </p:sp>
      <p:sp>
        <p:nvSpPr>
          <p:cNvPr id="11" name="矩形 10"/>
          <p:cNvSpPr/>
          <p:nvPr>
            <p:custDataLst>
              <p:tags r:id="rId6"/>
            </p:custDataLst>
          </p:nvPr>
        </p:nvSpPr>
        <p:spPr>
          <a:xfrm>
            <a:off x="7722870" y="5377180"/>
            <a:ext cx="281686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2-3</a:t>
            </a:r>
            <a:r>
              <a:rPr lang="zh-CN" altLang="en-US" dirty="0">
                <a:solidFill>
                  <a:schemeClr val="tx1"/>
                </a:solidFill>
              </a:rPr>
              <a:t>：第一阶段模型</a:t>
            </a:r>
            <a:r>
              <a:rPr lang="zh-CN" altLang="en-US" dirty="0">
                <a:solidFill>
                  <a:schemeClr val="tx1"/>
                </a:solidFill>
              </a:rPr>
              <a:t>架构</a:t>
            </a:r>
            <a:endParaRPr lang="zh-CN" altLang="en-US" dirty="0">
              <a:solidFill>
                <a:schemeClr val="tx1"/>
              </a:solidFill>
            </a:endParaRPr>
          </a:p>
        </p:txBody>
      </p:sp>
    </p:spTree>
    <p:custDataLst>
      <p:tags r:id="rId7"/>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4420" y="450215"/>
            <a:ext cx="4963160" cy="525780"/>
            <a:chOff x="7111" y="706"/>
            <a:chExt cx="7816" cy="828"/>
          </a:xfrm>
        </p:grpSpPr>
        <p:sp>
          <p:nvSpPr>
            <p:cNvPr id="4" name="矩形 3"/>
            <p:cNvSpPr/>
            <p:nvPr/>
          </p:nvSpPr>
          <p:spPr>
            <a:xfrm>
              <a:off x="7839" y="709"/>
              <a:ext cx="7088" cy="628"/>
            </a:xfrm>
            <a:prstGeom prst="rect">
              <a:avLst/>
            </a:prstGeom>
          </p:spPr>
          <p:txBody>
            <a:bodyPr wrap="none">
              <a:spAutoFit/>
            </a:bodyPr>
            <a:p>
              <a:pPr lvl="0"/>
              <a:r>
                <a:rPr lang="zh-CN" altLang="en-US" sz="2000" dirty="0">
                  <a:solidFill>
                    <a:srgbClr val="BD934E"/>
                  </a:solidFill>
                </a:rPr>
                <a:t>研究思路与实现</a:t>
              </a:r>
              <a:r>
                <a:rPr lang="en-US" altLang="zh-CN" sz="2000" dirty="0">
                  <a:solidFill>
                    <a:srgbClr val="BD934E"/>
                  </a:solidFill>
                </a:rPr>
                <a:t>——</a:t>
              </a:r>
              <a:r>
                <a:rPr lang="zh-CN" altLang="en-US" sz="2000" dirty="0">
                  <a:solidFill>
                    <a:srgbClr val="BD934E"/>
                  </a:solidFill>
                </a:rPr>
                <a:t>第</a:t>
              </a:r>
              <a:r>
                <a:rPr lang="zh-CN" altLang="en-US" sz="2000" dirty="0">
                  <a:solidFill>
                    <a:srgbClr val="BD934E"/>
                  </a:solidFill>
                </a:rPr>
                <a:t>一阶段模型设计</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668655" y="5808345"/>
            <a:ext cx="11316335" cy="922020"/>
          </a:xfrm>
          <a:prstGeom prst="rect">
            <a:avLst/>
          </a:prstGeom>
          <a:noFill/>
        </p:spPr>
        <p:txBody>
          <a:bodyPr wrap="square" rtlCol="0">
            <a:spAutoFit/>
          </a:bodyPr>
          <a:p>
            <a:pPr lvl="0" indent="0" fontAlgn="auto">
              <a:lnSpc>
                <a:spcPct val="150000"/>
              </a:lnSpc>
            </a:pPr>
            <a:r>
              <a:rPr lang="zh-CN" altLang="en-US">
                <a:sym typeface="+mn-ea"/>
              </a:rPr>
              <a:t>对于</a:t>
            </a:r>
            <a:r>
              <a:rPr lang="zh-CN" altLang="en-US" b="1">
                <a:sym typeface="+mn-ea"/>
              </a:rPr>
              <a:t>音节对齐</a:t>
            </a:r>
            <a:r>
              <a:rPr lang="zh-CN" altLang="en-US">
                <a:sym typeface="+mn-ea"/>
              </a:rPr>
              <a:t>，使用通过大量语料数据进行多任务训练的</a:t>
            </a:r>
            <a:r>
              <a:rPr lang="zh-CN" altLang="en-US" b="1">
                <a:sym typeface="+mn-ea"/>
              </a:rPr>
              <a:t>预训练模型来获取文言文-现代汉语之间的特征联系</a:t>
            </a:r>
            <a:r>
              <a:rPr lang="zh-CN" altLang="en-US">
                <a:sym typeface="+mn-ea"/>
              </a:rPr>
              <a:t>。对于</a:t>
            </a:r>
            <a:r>
              <a:rPr lang="zh-CN" altLang="en-US" b="1">
                <a:sym typeface="+mn-ea"/>
              </a:rPr>
              <a:t>模型架构</a:t>
            </a:r>
            <a:r>
              <a:rPr lang="zh-CN" altLang="en-US">
                <a:sym typeface="+mn-ea"/>
              </a:rPr>
              <a:t>，使用了兼顾 NLU任务和 NLG 任务的中文</a:t>
            </a:r>
            <a:r>
              <a:rPr lang="zh-CN" altLang="en-US" b="1">
                <a:sym typeface="+mn-ea"/>
              </a:rPr>
              <a:t>非平衡 Transformer 结构</a:t>
            </a:r>
            <a:r>
              <a:rPr lang="en-US" altLang="zh-CN" b="1">
                <a:sym typeface="+mn-ea"/>
              </a:rPr>
              <a:t>CPT</a:t>
            </a:r>
            <a:r>
              <a:rPr lang="zh-CN" altLang="en-US">
                <a:sym typeface="+mn-ea"/>
              </a:rPr>
              <a:t>来进行模型的训练。</a:t>
            </a:r>
            <a:endParaRPr lang="zh-CN" altLang="en-US" dirty="0">
              <a:solidFill>
                <a:schemeClr val="tx1"/>
              </a:solidFill>
            </a:endParaRPr>
          </a:p>
        </p:txBody>
      </p:sp>
      <p:sp>
        <p:nvSpPr>
          <p:cNvPr id="10" name="矩形 9"/>
          <p:cNvSpPr/>
          <p:nvPr>
            <p:custDataLst>
              <p:tags r:id="rId3"/>
            </p:custDataLst>
          </p:nvPr>
        </p:nvSpPr>
        <p:spPr>
          <a:xfrm>
            <a:off x="687070" y="5194300"/>
            <a:ext cx="465074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2-4</a:t>
            </a:r>
            <a:r>
              <a:rPr lang="zh-CN" altLang="en-US" dirty="0">
                <a:solidFill>
                  <a:schemeClr val="tx1"/>
                </a:solidFill>
              </a:rPr>
              <a:t>：刘等人的句子级翻译模型整体架构图</a:t>
            </a:r>
            <a:endParaRPr lang="zh-CN" altLang="en-US" dirty="0">
              <a:solidFill>
                <a:schemeClr val="tx1"/>
              </a:solidFill>
            </a:endParaRPr>
          </a:p>
        </p:txBody>
      </p:sp>
      <p:sp>
        <p:nvSpPr>
          <p:cNvPr id="11" name="矩形 10"/>
          <p:cNvSpPr/>
          <p:nvPr>
            <p:custDataLst>
              <p:tags r:id="rId4"/>
            </p:custDataLst>
          </p:nvPr>
        </p:nvSpPr>
        <p:spPr>
          <a:xfrm>
            <a:off x="7670800" y="5194300"/>
            <a:ext cx="217487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2-5</a:t>
            </a:r>
            <a:r>
              <a:rPr lang="zh-CN" altLang="en-US" dirty="0">
                <a:solidFill>
                  <a:schemeClr val="tx1"/>
                </a:solidFill>
              </a:rPr>
              <a:t>：CPT 结构图</a:t>
            </a:r>
            <a:endParaRPr lang="zh-CN" altLang="en-US" dirty="0">
              <a:solidFill>
                <a:schemeClr val="tx1"/>
              </a:solidFill>
            </a:endParaRPr>
          </a:p>
        </p:txBody>
      </p:sp>
      <p:pic>
        <p:nvPicPr>
          <p:cNvPr id="6" name="图片 5" descr="CPT结构图"/>
          <p:cNvPicPr>
            <a:picLocks noChangeAspect="1"/>
          </p:cNvPicPr>
          <p:nvPr/>
        </p:nvPicPr>
        <p:blipFill>
          <a:blip r:embed="rId5"/>
          <a:stretch>
            <a:fillRect/>
          </a:stretch>
        </p:blipFill>
        <p:spPr>
          <a:xfrm>
            <a:off x="5723255" y="1334135"/>
            <a:ext cx="6069965" cy="3559175"/>
          </a:xfrm>
          <a:prstGeom prst="rect">
            <a:avLst/>
          </a:prstGeom>
        </p:spPr>
      </p:pic>
      <p:pic>
        <p:nvPicPr>
          <p:cNvPr id="8" name="图片 7" descr="刘等人的句子级翻译模型整体架构图"/>
          <p:cNvPicPr>
            <a:picLocks noChangeAspect="1"/>
          </p:cNvPicPr>
          <p:nvPr/>
        </p:nvPicPr>
        <p:blipFill>
          <a:blip r:embed="rId6"/>
          <a:stretch>
            <a:fillRect/>
          </a:stretch>
        </p:blipFill>
        <p:spPr>
          <a:xfrm>
            <a:off x="804545" y="1040130"/>
            <a:ext cx="4415790" cy="4147820"/>
          </a:xfrm>
          <a:prstGeom prst="rect">
            <a:avLst/>
          </a:prstGeom>
        </p:spPr>
      </p:pic>
    </p:spTree>
    <p:custDataLst>
      <p:tags r:id="rId7"/>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4420" y="450215"/>
            <a:ext cx="4963160" cy="525780"/>
            <a:chOff x="7111" y="706"/>
            <a:chExt cx="7816" cy="828"/>
          </a:xfrm>
        </p:grpSpPr>
        <p:sp>
          <p:nvSpPr>
            <p:cNvPr id="4" name="矩形 3"/>
            <p:cNvSpPr/>
            <p:nvPr/>
          </p:nvSpPr>
          <p:spPr>
            <a:xfrm>
              <a:off x="7839" y="709"/>
              <a:ext cx="7088" cy="628"/>
            </a:xfrm>
            <a:prstGeom prst="rect">
              <a:avLst/>
            </a:prstGeom>
          </p:spPr>
          <p:txBody>
            <a:bodyPr wrap="none">
              <a:spAutoFit/>
            </a:bodyPr>
            <a:p>
              <a:pPr lvl="0"/>
              <a:r>
                <a:rPr lang="zh-CN" altLang="en-US" sz="2000" dirty="0">
                  <a:solidFill>
                    <a:srgbClr val="BD934E"/>
                  </a:solidFill>
                </a:rPr>
                <a:t>研究思路与实现</a:t>
              </a:r>
              <a:r>
                <a:rPr lang="en-US" altLang="zh-CN" sz="2000" dirty="0">
                  <a:solidFill>
                    <a:srgbClr val="BD934E"/>
                  </a:solidFill>
                </a:rPr>
                <a:t>——</a:t>
              </a:r>
              <a:r>
                <a:rPr lang="zh-CN" altLang="en-US" sz="2000" dirty="0">
                  <a:solidFill>
                    <a:srgbClr val="BD934E"/>
                  </a:solidFill>
                </a:rPr>
                <a:t>第</a:t>
              </a:r>
              <a:r>
                <a:rPr lang="zh-CN" altLang="en-US" sz="2000" dirty="0">
                  <a:solidFill>
                    <a:srgbClr val="BD934E"/>
                  </a:solidFill>
                </a:rPr>
                <a:t>二阶段模型设计</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215265" y="5828665"/>
            <a:ext cx="11976100" cy="922020"/>
          </a:xfrm>
          <a:prstGeom prst="rect">
            <a:avLst/>
          </a:prstGeom>
          <a:noFill/>
        </p:spPr>
        <p:txBody>
          <a:bodyPr wrap="square" rtlCol="0">
            <a:spAutoFit/>
          </a:bodyPr>
          <a:p>
            <a:pPr lvl="0" indent="0" fontAlgn="auto">
              <a:lnSpc>
                <a:spcPct val="150000"/>
              </a:lnSpc>
            </a:pPr>
            <a:r>
              <a:rPr lang="zh-CN" altLang="en-US" dirty="0">
                <a:solidFill>
                  <a:schemeClr val="tx1"/>
                </a:solidFill>
              </a:rPr>
              <a:t>在第二阶段模型的设计中，主要由两个部分构成，一个是</a:t>
            </a:r>
            <a:r>
              <a:rPr lang="zh-CN" altLang="en-US" b="1" dirty="0">
                <a:solidFill>
                  <a:schemeClr val="tx1"/>
                </a:solidFill>
              </a:rPr>
              <a:t>背景信息的提取</a:t>
            </a:r>
            <a:r>
              <a:rPr lang="zh-CN" altLang="en-US" dirty="0">
                <a:solidFill>
                  <a:schemeClr val="tx1"/>
                </a:solidFill>
              </a:rPr>
              <a:t>，其主要任务是进行背景实体识别，再根据背景实体识别的结果进行字典查询，提取出背景信息；另一个则是以</a:t>
            </a:r>
            <a:r>
              <a:rPr lang="zh-CN" altLang="en-US" b="1" dirty="0">
                <a:solidFill>
                  <a:schemeClr val="tx1"/>
                </a:solidFill>
              </a:rPr>
              <a:t>编码器-编码器-解码器的架构</a:t>
            </a:r>
            <a:r>
              <a:rPr lang="zh-CN" altLang="en-US" dirty="0">
                <a:solidFill>
                  <a:schemeClr val="tx1"/>
                </a:solidFill>
              </a:rPr>
              <a:t>进行模型的</a:t>
            </a:r>
            <a:r>
              <a:rPr lang="zh-CN" altLang="en-US" dirty="0">
                <a:solidFill>
                  <a:schemeClr val="tx1"/>
                </a:solidFill>
              </a:rPr>
              <a:t>训练。</a:t>
            </a:r>
            <a:endParaRPr lang="zh-CN" altLang="en-US" dirty="0">
              <a:solidFill>
                <a:schemeClr val="tx1"/>
              </a:solidFill>
            </a:endParaRPr>
          </a:p>
        </p:txBody>
      </p:sp>
      <p:sp>
        <p:nvSpPr>
          <p:cNvPr id="10" name="矩形 9"/>
          <p:cNvSpPr/>
          <p:nvPr>
            <p:custDataLst>
              <p:tags r:id="rId3"/>
            </p:custDataLst>
          </p:nvPr>
        </p:nvSpPr>
        <p:spPr>
          <a:xfrm>
            <a:off x="1657350" y="4518025"/>
            <a:ext cx="292227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2-6</a:t>
            </a:r>
            <a:r>
              <a:rPr lang="zh-CN" altLang="en-US" dirty="0">
                <a:solidFill>
                  <a:schemeClr val="tx1"/>
                </a:solidFill>
              </a:rPr>
              <a:t>：第</a:t>
            </a:r>
            <a:r>
              <a:rPr lang="zh-CN" altLang="en-US" dirty="0">
                <a:solidFill>
                  <a:schemeClr val="tx1"/>
                </a:solidFill>
              </a:rPr>
              <a:t>二阶段模型设计</a:t>
            </a:r>
            <a:endParaRPr lang="zh-CN" altLang="en-US" dirty="0">
              <a:solidFill>
                <a:schemeClr val="tx1"/>
              </a:solidFill>
            </a:endParaRPr>
          </a:p>
        </p:txBody>
      </p:sp>
      <p:sp>
        <p:nvSpPr>
          <p:cNvPr id="11" name="矩形 10"/>
          <p:cNvSpPr/>
          <p:nvPr>
            <p:custDataLst>
              <p:tags r:id="rId4"/>
            </p:custDataLst>
          </p:nvPr>
        </p:nvSpPr>
        <p:spPr>
          <a:xfrm>
            <a:off x="7805420" y="5321935"/>
            <a:ext cx="281686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2-7</a:t>
            </a:r>
            <a:r>
              <a:rPr lang="zh-CN" altLang="en-US" dirty="0">
                <a:solidFill>
                  <a:schemeClr val="tx1"/>
                </a:solidFill>
              </a:rPr>
              <a:t>：第</a:t>
            </a:r>
            <a:r>
              <a:rPr lang="zh-CN" altLang="en-US" dirty="0">
                <a:solidFill>
                  <a:schemeClr val="tx1"/>
                </a:solidFill>
              </a:rPr>
              <a:t>二阶段模型</a:t>
            </a:r>
            <a:r>
              <a:rPr lang="zh-CN" altLang="en-US" dirty="0">
                <a:solidFill>
                  <a:schemeClr val="tx1"/>
                </a:solidFill>
              </a:rPr>
              <a:t>架构</a:t>
            </a:r>
            <a:endParaRPr lang="zh-CN" altLang="en-US" dirty="0">
              <a:solidFill>
                <a:schemeClr val="tx1"/>
              </a:solidFill>
            </a:endParaRPr>
          </a:p>
        </p:txBody>
      </p:sp>
      <p:pic>
        <p:nvPicPr>
          <p:cNvPr id="12" name="图片 11" descr="第二阶段模型设计"/>
          <p:cNvPicPr>
            <a:picLocks noChangeAspect="1"/>
          </p:cNvPicPr>
          <p:nvPr/>
        </p:nvPicPr>
        <p:blipFill>
          <a:blip r:embed="rId5"/>
          <a:stretch>
            <a:fillRect/>
          </a:stretch>
        </p:blipFill>
        <p:spPr>
          <a:xfrm>
            <a:off x="441960" y="1778635"/>
            <a:ext cx="5353685" cy="2616200"/>
          </a:xfrm>
          <a:prstGeom prst="rect">
            <a:avLst/>
          </a:prstGeom>
        </p:spPr>
      </p:pic>
      <p:pic>
        <p:nvPicPr>
          <p:cNvPr id="14" name="图片 13" descr="第二阶段模型架构图"/>
          <p:cNvPicPr>
            <a:picLocks noChangeAspect="1"/>
          </p:cNvPicPr>
          <p:nvPr/>
        </p:nvPicPr>
        <p:blipFill>
          <a:blip r:embed="rId6"/>
          <a:stretch>
            <a:fillRect/>
          </a:stretch>
        </p:blipFill>
        <p:spPr>
          <a:xfrm>
            <a:off x="6866255" y="1033780"/>
            <a:ext cx="4694555" cy="4105275"/>
          </a:xfrm>
          <a:prstGeom prst="rect">
            <a:avLst/>
          </a:prstGeom>
        </p:spPr>
      </p:pic>
    </p:spTree>
    <p:custDataLst>
      <p:tags r:id="rId7"/>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614420" y="450215"/>
            <a:ext cx="4963160" cy="525780"/>
            <a:chOff x="7111" y="706"/>
            <a:chExt cx="7816" cy="828"/>
          </a:xfrm>
        </p:grpSpPr>
        <p:sp>
          <p:nvSpPr>
            <p:cNvPr id="4" name="矩形 3"/>
            <p:cNvSpPr/>
            <p:nvPr/>
          </p:nvSpPr>
          <p:spPr>
            <a:xfrm>
              <a:off x="7839" y="709"/>
              <a:ext cx="7088" cy="628"/>
            </a:xfrm>
            <a:prstGeom prst="rect">
              <a:avLst/>
            </a:prstGeom>
          </p:spPr>
          <p:txBody>
            <a:bodyPr wrap="none">
              <a:spAutoFit/>
            </a:bodyPr>
            <a:p>
              <a:pPr lvl="0"/>
              <a:r>
                <a:rPr lang="zh-CN" altLang="en-US" sz="2000" dirty="0">
                  <a:solidFill>
                    <a:srgbClr val="BD934E"/>
                  </a:solidFill>
                </a:rPr>
                <a:t>研究思路与实现</a:t>
              </a:r>
              <a:r>
                <a:rPr lang="en-US" altLang="zh-CN" sz="2000" dirty="0">
                  <a:solidFill>
                    <a:srgbClr val="BD934E"/>
                  </a:solidFill>
                </a:rPr>
                <a:t>——</a:t>
              </a:r>
              <a:r>
                <a:rPr lang="zh-CN" altLang="en-US" sz="2000" dirty="0">
                  <a:solidFill>
                    <a:srgbClr val="BD934E"/>
                  </a:solidFill>
                </a:rPr>
                <a:t>背景信息提取</a:t>
              </a:r>
              <a:r>
                <a:rPr lang="zh-CN" altLang="en-US" sz="2000" dirty="0">
                  <a:solidFill>
                    <a:srgbClr val="BD934E"/>
                  </a:solidFill>
                </a:rPr>
                <a:t>设计</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416560" y="5110480"/>
            <a:ext cx="11530330" cy="1337945"/>
          </a:xfrm>
          <a:prstGeom prst="rect">
            <a:avLst/>
          </a:prstGeom>
          <a:noFill/>
        </p:spPr>
        <p:txBody>
          <a:bodyPr wrap="square" rtlCol="0">
            <a:spAutoFit/>
          </a:bodyPr>
          <a:p>
            <a:pPr lvl="0" indent="0" fontAlgn="auto">
              <a:lnSpc>
                <a:spcPct val="150000"/>
              </a:lnSpc>
            </a:pPr>
            <a:r>
              <a:rPr lang="zh-CN" altLang="en-US" dirty="0">
                <a:solidFill>
                  <a:schemeClr val="tx1"/>
                </a:solidFill>
              </a:rPr>
              <a:t>将收集的</a:t>
            </a:r>
            <a:r>
              <a:rPr lang="zh-CN" altLang="en-US" b="1" dirty="0">
                <a:solidFill>
                  <a:schemeClr val="tx1"/>
                </a:solidFill>
              </a:rPr>
              <a:t>背景简述数据集中的键值</a:t>
            </a:r>
            <a:r>
              <a:rPr lang="zh-CN" altLang="en-US" dirty="0">
                <a:solidFill>
                  <a:schemeClr val="tx1"/>
                </a:solidFill>
              </a:rPr>
              <a:t>，即背景名（包括典故名和部分人名），作为我们文言文命名实体识别模型的</a:t>
            </a:r>
            <a:r>
              <a:rPr lang="zh-CN" altLang="en-US" b="1" dirty="0">
                <a:solidFill>
                  <a:schemeClr val="tx1"/>
                </a:solidFill>
              </a:rPr>
              <a:t>白名单字典的键值</a:t>
            </a:r>
            <a:r>
              <a:rPr lang="zh-CN" altLang="en-US" dirty="0">
                <a:solidFill>
                  <a:schemeClr val="tx1"/>
                </a:solidFill>
              </a:rPr>
              <a:t>，对输入的文言文</a:t>
            </a:r>
            <a:r>
              <a:rPr lang="zh-CN" altLang="en-US" b="1" dirty="0">
                <a:solidFill>
                  <a:schemeClr val="tx1"/>
                </a:solidFill>
              </a:rPr>
              <a:t>分词后进行识别</a:t>
            </a:r>
            <a:r>
              <a:rPr lang="zh-CN" altLang="en-US" dirty="0">
                <a:solidFill>
                  <a:schemeClr val="tx1"/>
                </a:solidFill>
              </a:rPr>
              <a:t>，优先识别白名单字典中的内容，对于识别出来的实体，进行背景简述数据集（即背景简述字典）的查询，</a:t>
            </a:r>
            <a:r>
              <a:rPr lang="zh-CN" altLang="en-US">
                <a:sym typeface="+mn-ea"/>
              </a:rPr>
              <a:t>并根据查询结果进行相应格式的输出</a:t>
            </a:r>
            <a:r>
              <a:rPr lang="zh-CN" altLang="en-US" dirty="0">
                <a:solidFill>
                  <a:schemeClr val="tx1"/>
                </a:solidFill>
              </a:rPr>
              <a:t>。</a:t>
            </a:r>
            <a:endParaRPr lang="zh-CN" altLang="en-US" dirty="0">
              <a:solidFill>
                <a:schemeClr val="tx1"/>
              </a:solidFill>
            </a:endParaRPr>
          </a:p>
        </p:txBody>
      </p:sp>
      <p:sp>
        <p:nvSpPr>
          <p:cNvPr id="10" name="矩形 9"/>
          <p:cNvSpPr/>
          <p:nvPr>
            <p:custDataLst>
              <p:tags r:id="rId3"/>
            </p:custDataLst>
          </p:nvPr>
        </p:nvSpPr>
        <p:spPr>
          <a:xfrm>
            <a:off x="415925" y="4255135"/>
            <a:ext cx="568007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2-8</a:t>
            </a:r>
            <a:r>
              <a:rPr lang="zh-CN" altLang="en-US" dirty="0">
                <a:solidFill>
                  <a:schemeClr val="tx1"/>
                </a:solidFill>
              </a:rPr>
              <a:t>：包含典故标注的命名实体识别数据集构建流程</a:t>
            </a:r>
            <a:endParaRPr lang="zh-CN" altLang="en-US" dirty="0">
              <a:solidFill>
                <a:schemeClr val="tx1"/>
              </a:solidFill>
            </a:endParaRPr>
          </a:p>
        </p:txBody>
      </p:sp>
      <p:sp>
        <p:nvSpPr>
          <p:cNvPr id="11" name="矩形 10"/>
          <p:cNvSpPr/>
          <p:nvPr>
            <p:custDataLst>
              <p:tags r:id="rId4"/>
            </p:custDataLst>
          </p:nvPr>
        </p:nvSpPr>
        <p:spPr>
          <a:xfrm>
            <a:off x="7258685" y="4255135"/>
            <a:ext cx="335089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2-9</a:t>
            </a:r>
            <a:r>
              <a:rPr lang="zh-CN" altLang="en-US" dirty="0">
                <a:solidFill>
                  <a:schemeClr val="tx1"/>
                </a:solidFill>
              </a:rPr>
              <a:t>：背景信息提取实现流程</a:t>
            </a:r>
            <a:endParaRPr lang="zh-CN" altLang="en-US" dirty="0">
              <a:solidFill>
                <a:schemeClr val="tx1"/>
              </a:solidFill>
            </a:endParaRPr>
          </a:p>
        </p:txBody>
      </p:sp>
      <p:pic>
        <p:nvPicPr>
          <p:cNvPr id="2" name="图片 1" descr="背景信息提取实现流程图"/>
          <p:cNvPicPr>
            <a:picLocks noChangeAspect="1"/>
          </p:cNvPicPr>
          <p:nvPr/>
        </p:nvPicPr>
        <p:blipFill>
          <a:blip r:embed="rId5"/>
          <a:stretch>
            <a:fillRect/>
          </a:stretch>
        </p:blipFill>
        <p:spPr>
          <a:xfrm>
            <a:off x="5921375" y="1717040"/>
            <a:ext cx="6025515" cy="2405380"/>
          </a:xfrm>
          <a:prstGeom prst="rect">
            <a:avLst/>
          </a:prstGeom>
        </p:spPr>
      </p:pic>
      <p:pic>
        <p:nvPicPr>
          <p:cNvPr id="5" name="图片 4" descr="包含典故标注的命名实体识别数据集构建流程图"/>
          <p:cNvPicPr>
            <a:picLocks noChangeAspect="1"/>
          </p:cNvPicPr>
          <p:nvPr/>
        </p:nvPicPr>
        <p:blipFill>
          <a:blip r:embed="rId6"/>
          <a:stretch>
            <a:fillRect/>
          </a:stretch>
        </p:blipFill>
        <p:spPr>
          <a:xfrm>
            <a:off x="534670" y="2341880"/>
            <a:ext cx="5227955" cy="1711960"/>
          </a:xfrm>
          <a:prstGeom prst="rect">
            <a:avLst/>
          </a:prstGeom>
        </p:spPr>
      </p:pic>
    </p:spTree>
    <p:custDataLst>
      <p:tags r:id="rId7"/>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p:nvPr>
            <p:custDataLst>
              <p:tags r:id="rId1"/>
            </p:custDataLst>
          </p:nvPr>
        </p:nvSpPr>
        <p:spPr>
          <a:xfrm>
            <a:off x="3053080" y="2730818"/>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rPr>
              <a:t>03</a:t>
            </a:r>
            <a:endPar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endParaRPr>
          </a:p>
        </p:txBody>
      </p:sp>
      <p:cxnSp>
        <p:nvCxnSpPr>
          <p:cNvPr id="11" name="直接连接符 10"/>
          <p:cNvCxnSpPr/>
          <p:nvPr>
            <p:custDataLst>
              <p:tags r:id="rId2"/>
            </p:custDataLst>
          </p:nvPr>
        </p:nvCxnSpPr>
        <p:spPr>
          <a:xfrm>
            <a:off x="2935605" y="2272983"/>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3"/>
            </p:custDataLst>
          </p:nvPr>
        </p:nvCxnSpPr>
        <p:spPr>
          <a:xfrm>
            <a:off x="2935605" y="4426268"/>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sp>
        <p:nvSpPr>
          <p:cNvPr id="13" name="标题 12"/>
          <p:cNvSpPr>
            <a:spLocks noGrp="1"/>
          </p:cNvSpPr>
          <p:nvPr>
            <p:custDataLst>
              <p:tags r:id="rId4"/>
            </p:custDataLst>
          </p:nvPr>
        </p:nvSpPr>
        <p:spPr>
          <a:xfrm>
            <a:off x="4568825" y="2931795"/>
            <a:ext cx="3649345" cy="835660"/>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altLang="en-US" dirty="0">
                <a:ea typeface="微软雅黑" panose="020B0503020204020204" pitchFamily="34" charset="-122"/>
              </a:rPr>
              <a:t>实验探究与</a:t>
            </a:r>
            <a:r>
              <a:rPr lang="zh-CN" altLang="en-US" dirty="0">
                <a:ea typeface="微软雅黑" panose="020B0503020204020204" pitchFamily="34" charset="-122"/>
              </a:rPr>
              <a:t>分析</a:t>
            </a:r>
            <a:endParaRPr lang="zh-CN" altLang="en-US" dirty="0">
              <a:ea typeface="微软雅黑" panose="020B0503020204020204" pitchFamily="34" charset="-122"/>
            </a:endParaRPr>
          </a:p>
        </p:txBody>
      </p:sp>
      <p:pic>
        <p:nvPicPr>
          <p:cNvPr id="5" name="图片 4" descr="logo-05"/>
          <p:cNvPicPr>
            <a:picLocks noChangeAspect="1"/>
          </p:cNvPicPr>
          <p:nvPr/>
        </p:nvPicPr>
        <p:blipFill>
          <a:blip r:embed="rId5"/>
          <a:stretch>
            <a:fillRect/>
          </a:stretch>
        </p:blipFill>
        <p:spPr>
          <a:xfrm>
            <a:off x="9492615" y="-1282700"/>
            <a:ext cx="4442460" cy="4099560"/>
          </a:xfrm>
          <a:prstGeom prst="rect">
            <a:avLst/>
          </a:prstGeom>
        </p:spPr>
      </p:pic>
      <p:pic>
        <p:nvPicPr>
          <p:cNvPr id="15" name="图片 14" descr="logo-06 - 副本"/>
          <p:cNvPicPr>
            <a:picLocks noChangeAspect="1"/>
          </p:cNvPicPr>
          <p:nvPr/>
        </p:nvPicPr>
        <p:blipFill>
          <a:blip r:embed="rId6"/>
          <a:stretch>
            <a:fillRect/>
          </a:stretch>
        </p:blipFill>
        <p:spPr>
          <a:xfrm>
            <a:off x="-1113155" y="3810000"/>
            <a:ext cx="3503930" cy="3232785"/>
          </a:xfrm>
          <a:prstGeom prst="rect">
            <a:avLst/>
          </a:prstGeom>
        </p:spPr>
      </p:pic>
      <p:pic>
        <p:nvPicPr>
          <p:cNvPr id="6" name="图片 5" descr="logo-04"/>
          <p:cNvPicPr>
            <a:picLocks noChangeAspect="1"/>
          </p:cNvPicPr>
          <p:nvPr/>
        </p:nvPicPr>
        <p:blipFill>
          <a:blip r:embed="rId7"/>
          <a:srcRect l="8157" t="21366" r="39086" b="30035"/>
          <a:stretch>
            <a:fillRect/>
          </a:stretch>
        </p:blipFill>
        <p:spPr>
          <a:xfrm>
            <a:off x="0" y="0"/>
            <a:ext cx="1737360" cy="1057275"/>
          </a:xfrm>
          <a:prstGeom prst="rect">
            <a:avLst/>
          </a:prstGeom>
        </p:spPr>
      </p:pic>
      <p:pic>
        <p:nvPicPr>
          <p:cNvPr id="17" name="图形 16"/>
          <p:cNvPicPr>
            <a:picLocks noChangeAspect="1"/>
          </p:cNvPicPr>
          <p:nvPr/>
        </p:nvPicPr>
        <p:blipFill>
          <a:blip r:embed="rId8"/>
          <a:stretch>
            <a:fillRect/>
          </a:stretch>
        </p:blipFill>
        <p:spPr>
          <a:xfrm>
            <a:off x="0" y="5576572"/>
            <a:ext cx="12185215" cy="1240790"/>
          </a:xfrm>
          <a:prstGeom prst="rect">
            <a:avLst/>
          </a:prstGeom>
        </p:spPr>
      </p:pic>
    </p:spTree>
    <p:custDataLst>
      <p:tags r:id="rId9"/>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custDataLst>
              <p:tags r:id="rId1"/>
            </p:custDataLst>
          </p:nvPr>
        </p:nvSpPr>
        <p:spPr>
          <a:xfrm>
            <a:off x="320675" y="1228725"/>
            <a:ext cx="3761105" cy="5005705"/>
          </a:xfrm>
          <a:prstGeom prst="rect">
            <a:avLst/>
          </a:prstGeom>
          <a:noFill/>
        </p:spPr>
        <p:txBody>
          <a:bodyPr wrap="square" rtlCol="0">
            <a:noAutofit/>
          </a:bodyPr>
          <a:p>
            <a:pPr lvl="0" indent="0" fontAlgn="auto">
              <a:lnSpc>
                <a:spcPct val="150000"/>
              </a:lnSpc>
            </a:pPr>
            <a:r>
              <a:rPr lang="zh-CN" altLang="en-US" b="1" dirty="0">
                <a:solidFill>
                  <a:schemeClr val="tx1"/>
                </a:solidFill>
              </a:rPr>
              <a:t>信</a:t>
            </a:r>
            <a:endParaRPr lang="zh-CN" altLang="en-US" b="1" dirty="0">
              <a:solidFill>
                <a:schemeClr val="tx1"/>
              </a:solidFill>
            </a:endParaRPr>
          </a:p>
          <a:p>
            <a:pPr lvl="0" indent="0" fontAlgn="auto">
              <a:lnSpc>
                <a:spcPct val="150000"/>
              </a:lnSpc>
            </a:pPr>
            <a:r>
              <a:rPr lang="zh-CN" altLang="en-US" dirty="0">
                <a:solidFill>
                  <a:schemeClr val="tx1"/>
                </a:solidFill>
              </a:rPr>
              <a:t>文言文-现代汉语翻译“信”指标强调信息的忠实度，表示信息传递的可靠性和真实性，所以我们认为语义相似性能很好地作为“信”的指标。</a:t>
            </a:r>
            <a:r>
              <a:rPr lang="zh-CN" altLang="en-US" dirty="0">
                <a:sym typeface="+mn-ea"/>
              </a:rPr>
              <a:t>在本文的“信”的指标方面，我们使用</a:t>
            </a:r>
            <a:r>
              <a:rPr lang="zh-CN" altLang="en-US" b="1" dirty="0">
                <a:sym typeface="+mn-ea"/>
              </a:rPr>
              <a:t>基于 bert-base-chinese</a:t>
            </a:r>
            <a:r>
              <a:rPr lang="zh-CN" altLang="en-US" dirty="0">
                <a:sym typeface="+mn-ea"/>
              </a:rPr>
              <a:t> 预训练模型的 </a:t>
            </a:r>
            <a:r>
              <a:rPr lang="zh-CN" altLang="en-US" b="1" dirty="0">
                <a:sym typeface="+mn-ea"/>
              </a:rPr>
              <a:t>BertScore</a:t>
            </a:r>
            <a:r>
              <a:rPr lang="zh-CN" altLang="en-US" dirty="0">
                <a:sym typeface="+mn-ea"/>
              </a:rPr>
              <a:t> 来进行评估，</a:t>
            </a:r>
            <a:r>
              <a:rPr lang="zh-CN" altLang="en-US" dirty="0">
                <a:solidFill>
                  <a:schemeClr val="tx1"/>
                </a:solidFill>
              </a:rPr>
              <a:t>通过深层理解参考译文和推理译文中的语义，并计算参考译文和推理译文的语义相似性分数。</a:t>
            </a:r>
            <a:endParaRPr lang="zh-CN" altLang="en-US" dirty="0">
              <a:solidFill>
                <a:schemeClr val="tx1"/>
              </a:solidFill>
            </a:endParaRPr>
          </a:p>
          <a:p>
            <a:pPr lvl="0" indent="0" fontAlgn="auto">
              <a:lnSpc>
                <a:spcPct val="150000"/>
              </a:lnSpc>
            </a:pPr>
            <a:endParaRPr lang="zh-CN" altLang="en-US" dirty="0">
              <a:solidFill>
                <a:schemeClr val="tx1"/>
              </a:solidFill>
            </a:endParaRPr>
          </a:p>
          <a:p>
            <a:pPr lvl="0" indent="0" fontAlgn="auto">
              <a:lnSpc>
                <a:spcPct val="150000"/>
              </a:lnSpc>
            </a:pPr>
            <a:endParaRPr lang="zh-CN" altLang="en-US" dirty="0">
              <a:solidFill>
                <a:schemeClr val="tx1"/>
              </a:solidFill>
            </a:endParaRPr>
          </a:p>
        </p:txBody>
      </p:sp>
      <p:grpSp>
        <p:nvGrpSpPr>
          <p:cNvPr id="3" name="组合 2"/>
          <p:cNvGrpSpPr/>
          <p:nvPr/>
        </p:nvGrpSpPr>
        <p:grpSpPr>
          <a:xfrm>
            <a:off x="3619500" y="500380"/>
            <a:ext cx="4455160" cy="525780"/>
            <a:chOff x="7111" y="706"/>
            <a:chExt cx="7016" cy="828"/>
          </a:xfrm>
        </p:grpSpPr>
        <p:sp>
          <p:nvSpPr>
            <p:cNvPr id="4" name="矩形 3"/>
            <p:cNvSpPr/>
            <p:nvPr/>
          </p:nvSpPr>
          <p:spPr>
            <a:xfrm>
              <a:off x="7839" y="709"/>
              <a:ext cx="6288" cy="628"/>
            </a:xfrm>
            <a:prstGeom prst="rect">
              <a:avLst/>
            </a:prstGeom>
          </p:spPr>
          <p:txBody>
            <a:bodyPr wrap="none">
              <a:spAutoFit/>
            </a:bodyPr>
            <a:p>
              <a:pPr lvl="0"/>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评价指标构建</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2"/>
            <a:srcRect/>
            <a:stretch>
              <a:fillRect/>
            </a:stretch>
          </p:blipFill>
          <p:spPr>
            <a:xfrm rot="17197349" flipH="1">
              <a:off x="7078" y="738"/>
              <a:ext cx="828" cy="763"/>
            </a:xfrm>
            <a:prstGeom prst="rect">
              <a:avLst/>
            </a:prstGeom>
          </p:spPr>
        </p:pic>
      </p:grpSp>
      <p:sp>
        <p:nvSpPr>
          <p:cNvPr id="2" name="圆角矩形 1"/>
          <p:cNvSpPr/>
          <p:nvPr/>
        </p:nvSpPr>
        <p:spPr>
          <a:xfrm>
            <a:off x="248285" y="1228725"/>
            <a:ext cx="3832860" cy="5151120"/>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2" name="组合 11"/>
          <p:cNvGrpSpPr/>
          <p:nvPr/>
        </p:nvGrpSpPr>
        <p:grpSpPr>
          <a:xfrm>
            <a:off x="4262120" y="1228725"/>
            <a:ext cx="3893820" cy="5151120"/>
            <a:chOff x="6614" y="1935"/>
            <a:chExt cx="6132" cy="8112"/>
          </a:xfrm>
        </p:grpSpPr>
        <p:sp>
          <p:nvSpPr>
            <p:cNvPr id="8" name="矩形 7"/>
            <p:cNvSpPr/>
            <p:nvPr>
              <p:custDataLst>
                <p:tags r:id="rId3"/>
              </p:custDataLst>
            </p:nvPr>
          </p:nvSpPr>
          <p:spPr>
            <a:xfrm>
              <a:off x="6684" y="1935"/>
              <a:ext cx="6063" cy="7883"/>
            </a:xfrm>
            <a:prstGeom prst="rect">
              <a:avLst/>
            </a:prstGeom>
            <a:noFill/>
          </p:spPr>
          <p:txBody>
            <a:bodyPr wrap="square" rtlCol="0">
              <a:noAutofit/>
            </a:bodyPr>
            <a:p>
              <a:pPr lvl="0" indent="0" fontAlgn="auto">
                <a:lnSpc>
                  <a:spcPct val="150000"/>
                </a:lnSpc>
              </a:pPr>
              <a:r>
                <a:rPr lang="zh-CN" altLang="en-US" b="1" dirty="0">
                  <a:solidFill>
                    <a:schemeClr val="tx1"/>
                  </a:solidFill>
                </a:rPr>
                <a:t>达</a:t>
              </a:r>
              <a:endParaRPr lang="zh-CN" altLang="en-US" b="1" dirty="0">
                <a:solidFill>
                  <a:schemeClr val="tx1"/>
                </a:solidFill>
              </a:endParaRPr>
            </a:p>
            <a:p>
              <a:pPr lvl="0" indent="0" fontAlgn="auto">
                <a:lnSpc>
                  <a:spcPct val="150000"/>
                </a:lnSpc>
              </a:pPr>
              <a:r>
                <a:rPr lang="zh-CN" altLang="en-US" dirty="0"/>
                <a:t>只有通顺连贯的表达，才能使读者顺利理解文本语句的含义。因此“达”也是评判文言文-现代汉语翻译质量的一个重要指标。对于“达”方面，我们</a:t>
              </a:r>
              <a:r>
                <a:rPr lang="zh-CN" altLang="en-US" b="1" dirty="0"/>
                <a:t>借鉴了 LSA 的思路</a:t>
              </a:r>
              <a:r>
                <a:rPr lang="zh-CN" altLang="en-US" dirty="0"/>
                <a:t>（通过比较高维语义空间中 2 个相邻文本片段的向量，来评估连贯性），</a:t>
              </a:r>
              <a:r>
                <a:rPr lang="zh-CN" altLang="en-US" b="1" dirty="0"/>
                <a:t>以句子中相邻单词的相似度来代表句子的连贯性</a:t>
              </a:r>
              <a:r>
                <a:rPr lang="zh-CN" altLang="en-US" dirty="0"/>
                <a:t>，将语句中相邻词语的语义相似度，作为评估文本语句通顺连贯的指标。</a:t>
              </a:r>
              <a:endParaRPr lang="zh-CN" altLang="en-US" dirty="0"/>
            </a:p>
            <a:p>
              <a:pPr lvl="0" indent="0" fontAlgn="auto">
                <a:lnSpc>
                  <a:spcPct val="150000"/>
                </a:lnSpc>
              </a:pPr>
              <a:endParaRPr lang="zh-CN" altLang="en-US" dirty="0">
                <a:solidFill>
                  <a:schemeClr val="tx1"/>
                </a:solidFill>
              </a:endParaRPr>
            </a:p>
          </p:txBody>
        </p:sp>
        <p:sp>
          <p:nvSpPr>
            <p:cNvPr id="5" name="圆角矩形 4"/>
            <p:cNvSpPr/>
            <p:nvPr/>
          </p:nvSpPr>
          <p:spPr>
            <a:xfrm>
              <a:off x="6614" y="1935"/>
              <a:ext cx="6126" cy="8112"/>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 name="组合 10"/>
          <p:cNvGrpSpPr/>
          <p:nvPr/>
        </p:nvGrpSpPr>
        <p:grpSpPr>
          <a:xfrm>
            <a:off x="8331835" y="1228725"/>
            <a:ext cx="3586480" cy="5151120"/>
            <a:chOff x="13003" y="1935"/>
            <a:chExt cx="5648" cy="8112"/>
          </a:xfrm>
        </p:grpSpPr>
        <p:sp>
          <p:nvSpPr>
            <p:cNvPr id="9" name="矩形 8"/>
            <p:cNvSpPr/>
            <p:nvPr>
              <p:custDataLst>
                <p:tags r:id="rId4"/>
              </p:custDataLst>
            </p:nvPr>
          </p:nvSpPr>
          <p:spPr>
            <a:xfrm>
              <a:off x="13121" y="1935"/>
              <a:ext cx="5507" cy="7883"/>
            </a:xfrm>
            <a:prstGeom prst="rect">
              <a:avLst/>
            </a:prstGeom>
            <a:noFill/>
          </p:spPr>
          <p:txBody>
            <a:bodyPr wrap="square" rtlCol="0">
              <a:noAutofit/>
            </a:bodyPr>
            <a:p>
              <a:pPr lvl="0" indent="0" fontAlgn="auto">
                <a:lnSpc>
                  <a:spcPct val="150000"/>
                </a:lnSpc>
              </a:pPr>
              <a:r>
                <a:rPr lang="zh-CN" altLang="en-US" b="1" dirty="0">
                  <a:solidFill>
                    <a:schemeClr val="tx1"/>
                  </a:solidFill>
                </a:rPr>
                <a:t>雅</a:t>
              </a:r>
              <a:endParaRPr lang="zh-CN" altLang="en-US" b="1" dirty="0">
                <a:solidFill>
                  <a:schemeClr val="tx1"/>
                </a:solidFill>
              </a:endParaRPr>
            </a:p>
            <a:p>
              <a:pPr lvl="0" indent="0" fontAlgn="auto">
                <a:lnSpc>
                  <a:spcPct val="150000"/>
                </a:lnSpc>
              </a:pPr>
              <a:r>
                <a:rPr lang="zh-CN" altLang="en-US" dirty="0"/>
                <a:t>在文言文的人工翻译中，还需要考虑翻译文本的雅致程度。一个雅致的翻译可以提升读者对文本的理解和欣赏，并且更好地传达原作品的美感和深度。我们通过对词汇类型占比率和词汇信息熵进行计算，并训练文采评估模型，</a:t>
              </a:r>
              <a:r>
                <a:rPr lang="zh-CN" altLang="en-US" b="1" dirty="0"/>
                <a:t>对“词汇丰富性”和“文采评估”的综合考量</a:t>
              </a:r>
              <a:r>
                <a:rPr lang="zh-CN" altLang="en-US" dirty="0"/>
                <a:t>，得到我们对“雅”指标的评价。</a:t>
              </a:r>
              <a:endParaRPr lang="zh-CN" altLang="en-US" dirty="0"/>
            </a:p>
          </p:txBody>
        </p:sp>
        <p:sp>
          <p:nvSpPr>
            <p:cNvPr id="10" name="圆角矩形 9"/>
            <p:cNvSpPr/>
            <p:nvPr/>
          </p:nvSpPr>
          <p:spPr>
            <a:xfrm>
              <a:off x="13003" y="1935"/>
              <a:ext cx="5649" cy="8112"/>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ustDataLst>
      <p:tags r:id="rId5"/>
    </p:custData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3129280" y="500380"/>
            <a:ext cx="5471160" cy="525780"/>
            <a:chOff x="7111" y="706"/>
            <a:chExt cx="8616" cy="828"/>
          </a:xfrm>
        </p:grpSpPr>
        <p:sp>
          <p:nvSpPr>
            <p:cNvPr id="4" name="矩形 3"/>
            <p:cNvSpPr/>
            <p:nvPr/>
          </p:nvSpPr>
          <p:spPr>
            <a:xfrm>
              <a:off x="7839" y="709"/>
              <a:ext cx="78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背景实体识别对比试验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6040755" y="1174750"/>
            <a:ext cx="5915660" cy="1320165"/>
          </a:xfrm>
          <a:prstGeom prst="rect">
            <a:avLst/>
          </a:prstGeom>
          <a:noFill/>
        </p:spPr>
        <p:txBody>
          <a:bodyPr wrap="square" rtlCol="0">
            <a:noAutofit/>
          </a:bodyPr>
          <a:p>
            <a:pPr lvl="0" indent="0" fontAlgn="auto">
              <a:lnSpc>
                <a:spcPct val="150000"/>
              </a:lnSpc>
            </a:pPr>
            <a:r>
              <a:rPr lang="zh-CN" altLang="en-US" dirty="0">
                <a:sym typeface="+mn-ea"/>
              </a:rPr>
              <a:t>BGModel1：</a:t>
            </a:r>
            <a:r>
              <a:rPr lang="zh-CN" altLang="en-US" dirty="0">
                <a:solidFill>
                  <a:schemeClr val="tx1"/>
                </a:solidFill>
              </a:rPr>
              <a:t>使用典故白名单机制</a:t>
            </a:r>
            <a:r>
              <a:rPr lang="zh-CN" altLang="en-US" dirty="0">
                <a:solidFill>
                  <a:schemeClr val="tx1"/>
                </a:solidFill>
              </a:rPr>
              <a:t>训练所得到的模型。</a:t>
            </a:r>
            <a:endParaRPr lang="zh-CN" altLang="en-US" dirty="0">
              <a:solidFill>
                <a:schemeClr val="tx1"/>
              </a:solidFill>
            </a:endParaRPr>
          </a:p>
          <a:p>
            <a:pPr lvl="0" indent="0" fontAlgn="auto">
              <a:lnSpc>
                <a:spcPct val="150000"/>
              </a:lnSpc>
            </a:pPr>
            <a:r>
              <a:rPr lang="zh-CN" altLang="en-US" dirty="0">
                <a:sym typeface="+mn-ea"/>
              </a:rPr>
              <a:t>BGModel2：</a:t>
            </a:r>
            <a:r>
              <a:rPr lang="zh-CN" altLang="en-US" dirty="0">
                <a:solidFill>
                  <a:schemeClr val="tx1"/>
                </a:solidFill>
              </a:rPr>
              <a:t>使用带有典故标注的数据集进行文言文命名实体识别训练得到的模型。</a:t>
            </a:r>
            <a:endParaRPr lang="zh-CN" altLang="en-US" dirty="0">
              <a:solidFill>
                <a:schemeClr val="tx1"/>
              </a:solidFill>
            </a:endParaRPr>
          </a:p>
        </p:txBody>
      </p:sp>
      <p:pic>
        <p:nvPicPr>
          <p:cNvPr id="5" name="图片 4"/>
          <p:cNvPicPr>
            <a:picLocks noChangeAspect="1"/>
          </p:cNvPicPr>
          <p:nvPr/>
        </p:nvPicPr>
        <p:blipFill>
          <a:blip r:embed="rId3"/>
          <a:stretch>
            <a:fillRect/>
          </a:stretch>
        </p:blipFill>
        <p:spPr>
          <a:xfrm>
            <a:off x="417195" y="1174750"/>
            <a:ext cx="5486400" cy="5160645"/>
          </a:xfrm>
          <a:prstGeom prst="rect">
            <a:avLst/>
          </a:prstGeom>
        </p:spPr>
      </p:pic>
      <p:sp>
        <p:nvSpPr>
          <p:cNvPr id="10" name="矩形 9"/>
          <p:cNvSpPr/>
          <p:nvPr>
            <p:custDataLst>
              <p:tags r:id="rId4"/>
            </p:custDataLst>
          </p:nvPr>
        </p:nvSpPr>
        <p:spPr>
          <a:xfrm>
            <a:off x="6040120" y="2494915"/>
            <a:ext cx="6069965" cy="4237990"/>
          </a:xfrm>
          <a:prstGeom prst="rect">
            <a:avLst/>
          </a:prstGeom>
          <a:noFill/>
        </p:spPr>
        <p:txBody>
          <a:bodyPr wrap="square" rtlCol="0">
            <a:noAutofit/>
          </a:bodyPr>
          <a:p>
            <a:pPr lvl="0" indent="0" fontAlgn="auto">
              <a:lnSpc>
                <a:spcPct val="150000"/>
              </a:lnSpc>
            </a:pPr>
            <a:r>
              <a:rPr lang="zh-CN" altLang="en-US" b="1" dirty="0"/>
              <a:t>结论：</a:t>
            </a:r>
            <a:r>
              <a:rPr lang="zh-CN" altLang="en-US" dirty="0"/>
              <a:t>BGModel2 优秀的识别效果十分依赖输入句子的结构，在大部分情况下识别效果差于 BGModel1。</a:t>
            </a:r>
            <a:r>
              <a:rPr lang="zh-CN" altLang="en-US" dirty="0">
                <a:sym typeface="+mn-ea"/>
              </a:rPr>
              <a:t>因此使用 </a:t>
            </a:r>
            <a:r>
              <a:rPr lang="zh-CN" altLang="en-US" b="1" dirty="0">
                <a:sym typeface="+mn-ea"/>
              </a:rPr>
              <a:t>BGModel1进行背景实体识别，是一个更好的方式</a:t>
            </a:r>
            <a:r>
              <a:rPr lang="zh-CN" altLang="en-US" dirty="0">
                <a:sym typeface="+mn-ea"/>
              </a:rPr>
              <a:t>。</a:t>
            </a:r>
            <a:endParaRPr lang="zh-CN" altLang="en-US" dirty="0"/>
          </a:p>
          <a:p>
            <a:pPr lvl="0" indent="0" fontAlgn="auto">
              <a:lnSpc>
                <a:spcPct val="150000"/>
              </a:lnSpc>
            </a:pPr>
            <a:r>
              <a:rPr lang="zh-CN" altLang="en-US" b="1" dirty="0"/>
              <a:t>分析：</a:t>
            </a:r>
            <a:r>
              <a:rPr lang="zh-CN" altLang="en-US" dirty="0"/>
              <a:t>我们认为主要是因为</a:t>
            </a:r>
            <a:r>
              <a:rPr lang="zh-CN" altLang="en-US" b="1" dirty="0"/>
              <a:t>典故并不具有某种特殊的结构</a:t>
            </a:r>
            <a:r>
              <a:rPr lang="zh-CN" altLang="en-US" dirty="0"/>
              <a:t>，其往往是源于古代故事，与词汇本身的字面义和结构关系不大，是一种人为赋予含义的词语。</a:t>
            </a:r>
            <a:r>
              <a:rPr lang="zh-CN" altLang="en-US" b="1" dirty="0"/>
              <a:t>典故在句子中的位置与语法结构也不存在较强的相关性</a:t>
            </a:r>
            <a:r>
              <a:rPr lang="zh-CN" altLang="en-US" dirty="0"/>
              <a:t>，所以通过模型学习潜在的句子结构信息、语法信息等，推理出来的结果，经常是“假阳性”表现，传递了大量错误的干扰信息给下游任务，导致下游任务的表现效果不佳。</a:t>
            </a:r>
            <a:endParaRPr lang="zh-CN" altLang="en-US" dirty="0"/>
          </a:p>
        </p:txBody>
      </p:sp>
      <p:sp>
        <p:nvSpPr>
          <p:cNvPr id="2" name="圆角矩形 1"/>
          <p:cNvSpPr/>
          <p:nvPr/>
        </p:nvSpPr>
        <p:spPr>
          <a:xfrm>
            <a:off x="6040120" y="1174750"/>
            <a:ext cx="5916295" cy="1320800"/>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圆角矩形 5"/>
          <p:cNvSpPr/>
          <p:nvPr/>
        </p:nvSpPr>
        <p:spPr>
          <a:xfrm>
            <a:off x="6040755" y="2622550"/>
            <a:ext cx="5915660" cy="4032885"/>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custDataLst>
              <p:tags r:id="rId5"/>
            </p:custDataLst>
          </p:nvPr>
        </p:nvSpPr>
        <p:spPr>
          <a:xfrm>
            <a:off x="1987550" y="6335395"/>
            <a:ext cx="234632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3-1</a:t>
            </a:r>
            <a:r>
              <a:rPr lang="zh-CN" altLang="en-US" dirty="0">
                <a:solidFill>
                  <a:schemeClr val="tx1"/>
                </a:solidFill>
              </a:rPr>
              <a:t>：识别结果对比</a:t>
            </a:r>
            <a:endParaRPr lang="zh-CN" altLang="en-US" dirty="0">
              <a:solidFill>
                <a:schemeClr val="tx1"/>
              </a:solidFill>
            </a:endParaRPr>
          </a:p>
        </p:txBody>
      </p:sp>
    </p:spTree>
    <p:custDataLst>
      <p:tags r:id="rId6"/>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367280" y="500380"/>
            <a:ext cx="6995160" cy="525780"/>
            <a:chOff x="7111" y="706"/>
            <a:chExt cx="11016" cy="828"/>
          </a:xfrm>
        </p:grpSpPr>
        <p:sp>
          <p:nvSpPr>
            <p:cNvPr id="4" name="矩形 3"/>
            <p:cNvSpPr/>
            <p:nvPr/>
          </p:nvSpPr>
          <p:spPr>
            <a:xfrm>
              <a:off x="7839" y="709"/>
              <a:ext cx="102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单阶段模型与两阶段模型的对比实验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1529080" y="3410585"/>
            <a:ext cx="9436100" cy="1046480"/>
          </a:xfrm>
          <a:prstGeom prst="rect">
            <a:avLst/>
          </a:prstGeom>
          <a:noFill/>
        </p:spPr>
        <p:txBody>
          <a:bodyPr wrap="square" rtlCol="0">
            <a:noAutofit/>
          </a:bodyPr>
          <a:p>
            <a:pPr lvl="0" indent="0" fontAlgn="auto">
              <a:lnSpc>
                <a:spcPct val="150000"/>
              </a:lnSpc>
            </a:pPr>
            <a:r>
              <a:rPr lang="zh-CN" altLang="en-US" dirty="0">
                <a:sym typeface="+mn-ea"/>
              </a:rPr>
              <a:t>Model1：</a:t>
            </a:r>
            <a:r>
              <a:rPr lang="zh-CN" altLang="en-US" dirty="0">
                <a:solidFill>
                  <a:schemeClr val="tx1"/>
                </a:solidFill>
              </a:rPr>
              <a:t>单阶段融合背景信息所得的模型</a:t>
            </a:r>
            <a:r>
              <a:rPr lang="zh-CN" altLang="en-US" dirty="0">
                <a:solidFill>
                  <a:schemeClr val="tx1"/>
                </a:solidFill>
              </a:rPr>
              <a:t>。</a:t>
            </a:r>
            <a:endParaRPr lang="zh-CN" altLang="en-US" dirty="0">
              <a:solidFill>
                <a:schemeClr val="tx1"/>
              </a:solidFill>
            </a:endParaRPr>
          </a:p>
          <a:p>
            <a:pPr lvl="0" indent="0" fontAlgn="auto">
              <a:lnSpc>
                <a:spcPct val="150000"/>
              </a:lnSpc>
            </a:pPr>
            <a:r>
              <a:rPr lang="zh-CN" altLang="en-US" dirty="0">
                <a:sym typeface="+mn-ea"/>
              </a:rPr>
              <a:t>PModelStage2_1：</a:t>
            </a:r>
            <a:r>
              <a:rPr lang="zh-CN" altLang="en-US" dirty="0">
                <a:solidFill>
                  <a:schemeClr val="tx1"/>
                </a:solidFill>
              </a:rPr>
              <a:t>在第一个阶段主做翻译任务，在第二个阶段融合背景信息所得的模型</a:t>
            </a:r>
            <a:r>
              <a:rPr lang="zh-CN" altLang="en-US" dirty="0">
                <a:solidFill>
                  <a:schemeClr val="tx1"/>
                </a:solidFill>
              </a:rPr>
              <a:t>。</a:t>
            </a:r>
            <a:endParaRPr lang="zh-CN" altLang="en-US" dirty="0">
              <a:solidFill>
                <a:schemeClr val="tx1"/>
              </a:solidFill>
            </a:endParaRPr>
          </a:p>
        </p:txBody>
      </p:sp>
      <p:pic>
        <p:nvPicPr>
          <p:cNvPr id="2" name="图片 1"/>
          <p:cNvPicPr>
            <a:picLocks noChangeAspect="1"/>
          </p:cNvPicPr>
          <p:nvPr/>
        </p:nvPicPr>
        <p:blipFill>
          <a:blip r:embed="rId3"/>
          <a:stretch>
            <a:fillRect/>
          </a:stretch>
        </p:blipFill>
        <p:spPr>
          <a:xfrm>
            <a:off x="2301875" y="1509395"/>
            <a:ext cx="7452995" cy="1292860"/>
          </a:xfrm>
          <a:prstGeom prst="rect">
            <a:avLst/>
          </a:prstGeom>
        </p:spPr>
      </p:pic>
      <p:sp>
        <p:nvSpPr>
          <p:cNvPr id="5" name="圆角矩形 4"/>
          <p:cNvSpPr/>
          <p:nvPr/>
        </p:nvSpPr>
        <p:spPr>
          <a:xfrm>
            <a:off x="1529080" y="3410585"/>
            <a:ext cx="9140190" cy="955040"/>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1" name="组合 10"/>
          <p:cNvGrpSpPr/>
          <p:nvPr/>
        </p:nvGrpSpPr>
        <p:grpSpPr>
          <a:xfrm>
            <a:off x="1068705" y="4548505"/>
            <a:ext cx="9895840" cy="1830070"/>
            <a:chOff x="1684" y="7019"/>
            <a:chExt cx="15584" cy="2882"/>
          </a:xfrm>
        </p:grpSpPr>
        <p:sp>
          <p:nvSpPr>
            <p:cNvPr id="6" name="矩形 5"/>
            <p:cNvSpPr/>
            <p:nvPr>
              <p:custDataLst>
                <p:tags r:id="rId4"/>
              </p:custDataLst>
            </p:nvPr>
          </p:nvSpPr>
          <p:spPr>
            <a:xfrm>
              <a:off x="1684" y="7019"/>
              <a:ext cx="15583" cy="2883"/>
            </a:xfrm>
            <a:prstGeom prst="rect">
              <a:avLst/>
            </a:prstGeom>
            <a:noFill/>
          </p:spPr>
          <p:txBody>
            <a:bodyPr wrap="square" rtlCol="0">
              <a:noAutofit/>
            </a:bodyPr>
            <a:p>
              <a:pPr lvl="0" indent="0" fontAlgn="auto">
                <a:lnSpc>
                  <a:spcPct val="150000"/>
                </a:lnSpc>
              </a:pPr>
              <a:r>
                <a:rPr lang="zh-CN" altLang="en-US" b="1" dirty="0"/>
                <a:t>分析：</a:t>
              </a:r>
              <a:r>
                <a:rPr lang="zh-CN" altLang="en-US" dirty="0"/>
                <a:t>可以看出 </a:t>
              </a:r>
              <a:r>
                <a:rPr lang="zh-CN" altLang="en-US" b="1" dirty="0"/>
                <a:t>Model1 模型在整个 Encoder 端的理解文本能力有所下降</a:t>
              </a:r>
              <a:r>
                <a:rPr lang="zh-CN" altLang="en-US" dirty="0"/>
                <a:t>，我们认为主要原因是Model1 融合背景虽然结构简便，但是</a:t>
              </a:r>
              <a:r>
                <a:rPr lang="zh-CN" altLang="en-US" b="1" dirty="0"/>
                <a:t>在其模型架构内任务并不清晰</a:t>
              </a:r>
              <a:r>
                <a:rPr lang="zh-CN" altLang="en-US" dirty="0"/>
                <a:t>，传递到Decoder 端的信息既有文言文的编码信息，又有现代文的编码信息，这</a:t>
              </a:r>
              <a:r>
                <a:rPr lang="zh-CN" altLang="en-US" b="1" dirty="0"/>
                <a:t>对于整个 Encoder 端学习输入信息的潜在特征造成了不少困扰</a:t>
              </a:r>
              <a:r>
                <a:rPr lang="zh-CN" altLang="en-US" dirty="0"/>
                <a:t>，导致整个模型学习文言文与现代汉语的对应关系的能力出现下降。</a:t>
              </a:r>
              <a:endParaRPr lang="zh-CN" altLang="en-US" dirty="0"/>
            </a:p>
          </p:txBody>
        </p:sp>
        <p:sp>
          <p:nvSpPr>
            <p:cNvPr id="8" name="圆角矩形 7"/>
            <p:cNvSpPr/>
            <p:nvPr/>
          </p:nvSpPr>
          <p:spPr>
            <a:xfrm>
              <a:off x="1684" y="7037"/>
              <a:ext cx="15584" cy="2862"/>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矩形 9"/>
          <p:cNvSpPr/>
          <p:nvPr>
            <p:custDataLst>
              <p:tags r:id="rId5"/>
            </p:custDataLst>
          </p:nvPr>
        </p:nvSpPr>
        <p:spPr>
          <a:xfrm>
            <a:off x="3574415" y="2800985"/>
            <a:ext cx="488569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3-2</a:t>
            </a:r>
            <a:r>
              <a:rPr lang="zh-CN" altLang="en-US" dirty="0">
                <a:solidFill>
                  <a:schemeClr val="tx1"/>
                </a:solidFill>
              </a:rPr>
              <a:t>：单阶段模型和两阶段模型翻译效果对比</a:t>
            </a:r>
            <a:endParaRPr lang="zh-CN" altLang="en-US" dirty="0">
              <a:solidFill>
                <a:schemeClr val="tx1"/>
              </a:solidFill>
            </a:endParaRPr>
          </a:p>
        </p:txBody>
      </p:sp>
    </p:spTree>
    <p:custDataLst>
      <p:tags r:id="rId6"/>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17420" y="441960"/>
            <a:ext cx="7757160" cy="525780"/>
            <a:chOff x="7111" y="706"/>
            <a:chExt cx="12216" cy="828"/>
          </a:xfrm>
        </p:grpSpPr>
        <p:sp>
          <p:nvSpPr>
            <p:cNvPr id="4" name="矩形 3"/>
            <p:cNvSpPr/>
            <p:nvPr/>
          </p:nvSpPr>
          <p:spPr>
            <a:xfrm>
              <a:off x="7839" y="709"/>
              <a:ext cx="114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基础性机器翻译模型与现有模型的对比实验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pic>
        <p:nvPicPr>
          <p:cNvPr id="5" name="图片 4"/>
          <p:cNvPicPr>
            <a:picLocks noChangeAspect="1"/>
          </p:cNvPicPr>
          <p:nvPr/>
        </p:nvPicPr>
        <p:blipFill>
          <a:blip r:embed="rId2"/>
          <a:stretch>
            <a:fillRect/>
          </a:stretch>
        </p:blipFill>
        <p:spPr>
          <a:xfrm>
            <a:off x="2307590" y="1423035"/>
            <a:ext cx="8039100" cy="1435100"/>
          </a:xfrm>
          <a:prstGeom prst="rect">
            <a:avLst/>
          </a:prstGeom>
        </p:spPr>
      </p:pic>
      <p:grpSp>
        <p:nvGrpSpPr>
          <p:cNvPr id="12" name="组合 11"/>
          <p:cNvGrpSpPr/>
          <p:nvPr/>
        </p:nvGrpSpPr>
        <p:grpSpPr>
          <a:xfrm>
            <a:off x="3076575" y="3481070"/>
            <a:ext cx="6501765" cy="955040"/>
            <a:chOff x="3634" y="5650"/>
            <a:chExt cx="9744" cy="1504"/>
          </a:xfrm>
        </p:grpSpPr>
        <p:sp>
          <p:nvSpPr>
            <p:cNvPr id="9" name="矩形 8"/>
            <p:cNvSpPr/>
            <p:nvPr>
              <p:custDataLst>
                <p:tags r:id="rId3"/>
              </p:custDataLst>
            </p:nvPr>
          </p:nvSpPr>
          <p:spPr>
            <a:xfrm>
              <a:off x="3634" y="5650"/>
              <a:ext cx="9744" cy="1504"/>
            </a:xfrm>
            <a:prstGeom prst="rect">
              <a:avLst/>
            </a:prstGeom>
            <a:noFill/>
          </p:spPr>
          <p:txBody>
            <a:bodyPr wrap="square" rtlCol="0">
              <a:noAutofit/>
            </a:bodyPr>
            <a:p>
              <a:pPr lvl="0" indent="0" fontAlgn="auto">
                <a:lnSpc>
                  <a:spcPct val="150000"/>
                </a:lnSpc>
              </a:pPr>
              <a:r>
                <a:rPr lang="zh-CN" altLang="en-US" dirty="0">
                  <a:sym typeface="+mn-ea"/>
                </a:rPr>
                <a:t>YuanModel：</a:t>
              </a:r>
              <a:r>
                <a:rPr lang="zh-CN" altLang="en-US" dirty="0">
                  <a:solidFill>
                    <a:schemeClr val="tx1"/>
                  </a:solidFill>
                </a:rPr>
                <a:t>一个名叫“渊”的文言文翻译器。</a:t>
              </a:r>
              <a:endParaRPr lang="zh-CN" altLang="en-US" dirty="0">
                <a:solidFill>
                  <a:schemeClr val="tx1"/>
                </a:solidFill>
              </a:endParaRPr>
            </a:p>
            <a:p>
              <a:pPr lvl="0" indent="0" fontAlgn="auto">
                <a:lnSpc>
                  <a:spcPct val="150000"/>
                </a:lnSpc>
              </a:pPr>
              <a:r>
                <a:rPr lang="zh-CN" altLang="en-US" dirty="0">
                  <a:sym typeface="+mn-ea"/>
                </a:rPr>
                <a:t>PModelStage1：</a:t>
              </a:r>
              <a:r>
                <a:rPr lang="zh-CN" altLang="en-US" dirty="0">
                  <a:solidFill>
                    <a:schemeClr val="tx1"/>
                  </a:solidFill>
                </a:rPr>
                <a:t>第一阶段基础性翻译阶段训练所得的模型。</a:t>
              </a:r>
              <a:endParaRPr lang="zh-CN" altLang="en-US" dirty="0">
                <a:solidFill>
                  <a:schemeClr val="tx1"/>
                </a:solidFill>
              </a:endParaRPr>
            </a:p>
          </p:txBody>
        </p:sp>
        <p:sp>
          <p:nvSpPr>
            <p:cNvPr id="2" name="圆角矩形 1"/>
            <p:cNvSpPr/>
            <p:nvPr/>
          </p:nvSpPr>
          <p:spPr>
            <a:xfrm>
              <a:off x="3634" y="5650"/>
              <a:ext cx="9744" cy="1504"/>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3" name="组合 12"/>
          <p:cNvGrpSpPr/>
          <p:nvPr/>
        </p:nvGrpSpPr>
        <p:grpSpPr>
          <a:xfrm>
            <a:off x="1168400" y="4609465"/>
            <a:ext cx="10317480" cy="1873250"/>
            <a:chOff x="1910" y="7370"/>
            <a:chExt cx="15794" cy="2950"/>
          </a:xfrm>
        </p:grpSpPr>
        <p:sp>
          <p:nvSpPr>
            <p:cNvPr id="6" name="矩形 5"/>
            <p:cNvSpPr/>
            <p:nvPr>
              <p:custDataLst>
                <p:tags r:id="rId4"/>
              </p:custDataLst>
            </p:nvPr>
          </p:nvSpPr>
          <p:spPr>
            <a:xfrm>
              <a:off x="1910" y="7371"/>
              <a:ext cx="15794" cy="2922"/>
            </a:xfrm>
            <a:prstGeom prst="rect">
              <a:avLst/>
            </a:prstGeom>
            <a:noFill/>
          </p:spPr>
          <p:txBody>
            <a:bodyPr wrap="square" rtlCol="0">
              <a:noAutofit/>
            </a:bodyPr>
            <a:p>
              <a:pPr lvl="0" indent="0" fontAlgn="auto">
                <a:lnSpc>
                  <a:spcPct val="150000"/>
                </a:lnSpc>
              </a:pPr>
              <a:r>
                <a:rPr lang="zh-CN" altLang="en-US" b="1" dirty="0"/>
                <a:t>分析：</a:t>
              </a:r>
              <a:r>
                <a:rPr lang="zh-CN" altLang="en-US" dirty="0"/>
                <a:t>我们的PModelStage1模型从“信”、“达”、“雅”三方面来看虽然只是</a:t>
              </a:r>
              <a:r>
                <a:rPr lang="zh-CN" altLang="en-US" b="1" dirty="0"/>
                <a:t>略优于</a:t>
              </a:r>
              <a:r>
                <a:rPr lang="zh-CN" altLang="en-US" dirty="0"/>
                <a:t> YuanModel 模型，但是我们的 PModelStage1 模型大小比 YuanModel 模型</a:t>
              </a:r>
              <a:r>
                <a:rPr lang="zh-CN" altLang="en-US" b="1" dirty="0"/>
                <a:t>小很多</a:t>
              </a:r>
              <a:r>
                <a:rPr lang="zh-CN" altLang="en-US" dirty="0"/>
                <a:t>，推理速度是 YuanModel 的 2-3 倍。</a:t>
              </a:r>
              <a:r>
                <a:rPr lang="zh-CN" altLang="en-US" b="1" dirty="0"/>
                <a:t>更快的推理速度</a:t>
              </a:r>
              <a:r>
                <a:rPr lang="zh-CN" altLang="en-US" dirty="0"/>
                <a:t>，得益于我们模型架构是个非平衡的 Transformer 结构，其更少层次的解码器，</a:t>
              </a:r>
              <a:r>
                <a:rPr lang="zh-CN" altLang="en-US" b="1" dirty="0"/>
                <a:t>在保证效果的同时，加快了推理速度</a:t>
              </a:r>
              <a:r>
                <a:rPr lang="zh-CN" altLang="en-US" dirty="0"/>
                <a:t>。</a:t>
              </a:r>
              <a:endParaRPr lang="zh-CN" altLang="en-US" dirty="0"/>
            </a:p>
          </p:txBody>
        </p:sp>
        <p:sp>
          <p:nvSpPr>
            <p:cNvPr id="8" name="圆角矩形 7"/>
            <p:cNvSpPr/>
            <p:nvPr/>
          </p:nvSpPr>
          <p:spPr>
            <a:xfrm>
              <a:off x="1910" y="7370"/>
              <a:ext cx="15794" cy="2950"/>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0" name="矩形 9"/>
          <p:cNvSpPr/>
          <p:nvPr>
            <p:custDataLst>
              <p:tags r:id="rId5"/>
            </p:custDataLst>
          </p:nvPr>
        </p:nvSpPr>
        <p:spPr>
          <a:xfrm>
            <a:off x="3076575" y="2800985"/>
            <a:ext cx="650113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3-3</a:t>
            </a:r>
            <a:r>
              <a:rPr lang="zh-CN" altLang="en-US" dirty="0">
                <a:solidFill>
                  <a:schemeClr val="tx1"/>
                </a:solidFill>
              </a:rPr>
              <a:t>：我们基础性机器翻译模型与现有开源模型翻译效果对比</a:t>
            </a:r>
            <a:endParaRPr lang="zh-CN" altLang="en-US" dirty="0">
              <a:solidFill>
                <a:schemeClr val="tx1"/>
              </a:solidFill>
            </a:endParaRPr>
          </a:p>
        </p:txBody>
      </p:sp>
    </p:spTree>
    <p:custDataLst>
      <p:tags r:id="rId6"/>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17420" y="441960"/>
            <a:ext cx="8011160" cy="525780"/>
            <a:chOff x="7111" y="706"/>
            <a:chExt cx="12616" cy="828"/>
          </a:xfrm>
        </p:grpSpPr>
        <p:sp>
          <p:nvSpPr>
            <p:cNvPr id="4" name="矩形 3"/>
            <p:cNvSpPr/>
            <p:nvPr/>
          </p:nvSpPr>
          <p:spPr>
            <a:xfrm>
              <a:off x="7839" y="709"/>
              <a:ext cx="118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渐进式机器翻译模型与微调大模型的对比实验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pic>
        <p:nvPicPr>
          <p:cNvPr id="2" name="图片 1"/>
          <p:cNvPicPr>
            <a:picLocks noChangeAspect="1"/>
          </p:cNvPicPr>
          <p:nvPr/>
        </p:nvPicPr>
        <p:blipFill>
          <a:blip r:embed="rId2"/>
          <a:stretch>
            <a:fillRect/>
          </a:stretch>
        </p:blipFill>
        <p:spPr>
          <a:xfrm>
            <a:off x="755015" y="979805"/>
            <a:ext cx="5212080" cy="1889760"/>
          </a:xfrm>
          <a:prstGeom prst="rect">
            <a:avLst/>
          </a:prstGeom>
        </p:spPr>
      </p:pic>
      <p:pic>
        <p:nvPicPr>
          <p:cNvPr id="8" name="图片 7"/>
          <p:cNvPicPr>
            <a:picLocks noChangeAspect="1"/>
          </p:cNvPicPr>
          <p:nvPr/>
        </p:nvPicPr>
        <p:blipFill>
          <a:blip r:embed="rId3"/>
          <a:stretch>
            <a:fillRect/>
          </a:stretch>
        </p:blipFill>
        <p:spPr>
          <a:xfrm>
            <a:off x="755650" y="3951605"/>
            <a:ext cx="5211445" cy="2157730"/>
          </a:xfrm>
          <a:prstGeom prst="rect">
            <a:avLst/>
          </a:prstGeom>
        </p:spPr>
      </p:pic>
      <p:pic>
        <p:nvPicPr>
          <p:cNvPr id="10" name="图片 9"/>
          <p:cNvPicPr>
            <a:picLocks noChangeAspect="1"/>
          </p:cNvPicPr>
          <p:nvPr/>
        </p:nvPicPr>
        <p:blipFill>
          <a:blip r:embed="rId4"/>
          <a:stretch>
            <a:fillRect/>
          </a:stretch>
        </p:blipFill>
        <p:spPr>
          <a:xfrm>
            <a:off x="6473825" y="880110"/>
            <a:ext cx="5212080" cy="3230880"/>
          </a:xfrm>
          <a:prstGeom prst="rect">
            <a:avLst/>
          </a:prstGeom>
        </p:spPr>
      </p:pic>
      <p:grpSp>
        <p:nvGrpSpPr>
          <p:cNvPr id="13" name="组合 12"/>
          <p:cNvGrpSpPr/>
          <p:nvPr/>
        </p:nvGrpSpPr>
        <p:grpSpPr>
          <a:xfrm>
            <a:off x="6473825" y="4790440"/>
            <a:ext cx="5212715" cy="1796415"/>
            <a:chOff x="1012" y="8801"/>
            <a:chExt cx="17662" cy="2829"/>
          </a:xfrm>
        </p:grpSpPr>
        <p:sp>
          <p:nvSpPr>
            <p:cNvPr id="6" name="矩形 5"/>
            <p:cNvSpPr/>
            <p:nvPr>
              <p:custDataLst>
                <p:tags r:id="rId5"/>
              </p:custDataLst>
            </p:nvPr>
          </p:nvSpPr>
          <p:spPr>
            <a:xfrm>
              <a:off x="1012" y="8808"/>
              <a:ext cx="17660" cy="1898"/>
            </a:xfrm>
            <a:prstGeom prst="rect">
              <a:avLst/>
            </a:prstGeom>
            <a:noFill/>
          </p:spPr>
          <p:txBody>
            <a:bodyPr wrap="square" rtlCol="0">
              <a:noAutofit/>
            </a:bodyPr>
            <a:p>
              <a:pPr lvl="0" indent="0" fontAlgn="auto">
                <a:lnSpc>
                  <a:spcPct val="150000"/>
                </a:lnSpc>
              </a:pPr>
              <a:r>
                <a:rPr lang="zh-CN" altLang="en-US" b="1" dirty="0"/>
                <a:t>分析：</a:t>
              </a:r>
              <a:r>
                <a:rPr lang="zh-CN" altLang="en-US" dirty="0"/>
                <a:t>大模型在</a:t>
              </a:r>
              <a:r>
                <a:rPr lang="en-US" altLang="zh-CN" dirty="0"/>
                <a:t>“</a:t>
              </a:r>
              <a:r>
                <a:rPr lang="zh-CN" altLang="en-US" dirty="0"/>
                <a:t>文言文</a:t>
              </a:r>
              <a:r>
                <a:rPr lang="en-US" altLang="zh-CN" dirty="0"/>
                <a:t>-</a:t>
              </a:r>
              <a:r>
                <a:rPr lang="zh-CN" altLang="en-US" dirty="0"/>
                <a:t>现代汉语</a:t>
              </a:r>
              <a:r>
                <a:rPr lang="en-US" altLang="zh-CN" dirty="0"/>
                <a:t>”</a:t>
              </a:r>
              <a:r>
                <a:rPr lang="zh-CN" altLang="en-US" dirty="0"/>
                <a:t>翻译任务上，通过微调，</a:t>
              </a:r>
              <a:r>
                <a:rPr lang="zh-CN" altLang="en-US" b="1" dirty="0"/>
                <a:t>整体上都能取得较好的效果</a:t>
              </a:r>
              <a:r>
                <a:rPr lang="zh-CN" altLang="en-US" dirty="0"/>
                <a:t>，且“信”指标的</a:t>
              </a:r>
              <a:r>
                <a:rPr lang="zh-CN" altLang="en-US" b="1" dirty="0"/>
                <a:t>表现效果与模型的大小大致成正相关趋势</a:t>
              </a:r>
              <a:r>
                <a:rPr lang="zh-CN" altLang="en-US" dirty="0"/>
                <a:t>。其中，</a:t>
              </a:r>
              <a:r>
                <a:rPr lang="en-US" altLang="zh-CN" b="1" dirty="0"/>
                <a:t>“-Xunzi-”</a:t>
              </a:r>
              <a:r>
                <a:rPr lang="zh-CN" altLang="en-US" b="1" dirty="0"/>
                <a:t>大模型表现最好</a:t>
              </a:r>
              <a:r>
                <a:rPr lang="zh-CN" altLang="en-US" dirty="0"/>
                <a:t>。</a:t>
              </a:r>
              <a:endParaRPr lang="zh-CN" altLang="en-US" dirty="0"/>
            </a:p>
          </p:txBody>
        </p:sp>
        <p:sp>
          <p:nvSpPr>
            <p:cNvPr id="5" name="圆角矩形 4"/>
            <p:cNvSpPr/>
            <p:nvPr/>
          </p:nvSpPr>
          <p:spPr>
            <a:xfrm>
              <a:off x="1012" y="8801"/>
              <a:ext cx="17662" cy="2829"/>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9" name="矩形 8"/>
          <p:cNvSpPr/>
          <p:nvPr>
            <p:custDataLst>
              <p:tags r:id="rId6"/>
            </p:custDataLst>
          </p:nvPr>
        </p:nvSpPr>
        <p:spPr>
          <a:xfrm>
            <a:off x="1287145" y="2938145"/>
            <a:ext cx="414845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3-4</a:t>
            </a:r>
            <a:r>
              <a:rPr lang="zh-CN" altLang="en-US" dirty="0">
                <a:solidFill>
                  <a:schemeClr val="tx1"/>
                </a:solidFill>
              </a:rPr>
              <a:t>：Qwen 系列大模型训练效果对比</a:t>
            </a:r>
            <a:endParaRPr lang="zh-CN" altLang="en-US" dirty="0">
              <a:solidFill>
                <a:schemeClr val="tx1"/>
              </a:solidFill>
            </a:endParaRPr>
          </a:p>
        </p:txBody>
      </p:sp>
      <p:sp>
        <p:nvSpPr>
          <p:cNvPr id="14" name="矩形 13"/>
          <p:cNvSpPr/>
          <p:nvPr>
            <p:custDataLst>
              <p:tags r:id="rId7"/>
            </p:custDataLst>
          </p:nvPr>
        </p:nvSpPr>
        <p:spPr>
          <a:xfrm>
            <a:off x="492760" y="6109335"/>
            <a:ext cx="573659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3-5</a:t>
            </a:r>
            <a:r>
              <a:rPr lang="zh-CN" altLang="en-US" dirty="0">
                <a:solidFill>
                  <a:schemeClr val="tx1"/>
                </a:solidFill>
              </a:rPr>
              <a:t>：Baichuan 和 BLOOM 系列大模型训练效果对比</a:t>
            </a:r>
            <a:endParaRPr lang="zh-CN" altLang="en-US" dirty="0">
              <a:solidFill>
                <a:schemeClr val="tx1"/>
              </a:solidFill>
            </a:endParaRPr>
          </a:p>
        </p:txBody>
      </p:sp>
      <p:sp>
        <p:nvSpPr>
          <p:cNvPr id="15" name="矩形 14"/>
          <p:cNvSpPr/>
          <p:nvPr>
            <p:custDataLst>
              <p:tags r:id="rId8"/>
            </p:custDataLst>
          </p:nvPr>
        </p:nvSpPr>
        <p:spPr>
          <a:xfrm>
            <a:off x="6473825" y="4148455"/>
            <a:ext cx="5212080"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3-6</a:t>
            </a:r>
            <a:r>
              <a:rPr lang="zh-CN" altLang="en-US" dirty="0">
                <a:solidFill>
                  <a:schemeClr val="tx1"/>
                </a:solidFill>
              </a:rPr>
              <a:t>：ChatGLM 及其他系列大模型训练效果对比</a:t>
            </a:r>
            <a:endParaRPr lang="zh-CN" altLang="en-US" dirty="0">
              <a:solidFill>
                <a:schemeClr val="tx1"/>
              </a:solidFill>
            </a:endParaRPr>
          </a:p>
        </p:txBody>
      </p:sp>
    </p:spTree>
    <p:custDataLst>
      <p:tags r:id="rId9"/>
    </p:custData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2217420" y="441960"/>
            <a:ext cx="8011160" cy="525780"/>
            <a:chOff x="7111" y="706"/>
            <a:chExt cx="12616" cy="828"/>
          </a:xfrm>
        </p:grpSpPr>
        <p:sp>
          <p:nvSpPr>
            <p:cNvPr id="4" name="矩形 3"/>
            <p:cNvSpPr/>
            <p:nvPr/>
          </p:nvSpPr>
          <p:spPr>
            <a:xfrm>
              <a:off x="7839" y="709"/>
              <a:ext cx="118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渐进式机器翻译模型与微调大模型的对比实验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pic>
        <p:nvPicPr>
          <p:cNvPr id="11" name="图片 10"/>
          <p:cNvPicPr>
            <a:picLocks noChangeAspect="1"/>
          </p:cNvPicPr>
          <p:nvPr/>
        </p:nvPicPr>
        <p:blipFill>
          <a:blip r:embed="rId2"/>
          <a:stretch>
            <a:fillRect/>
          </a:stretch>
        </p:blipFill>
        <p:spPr>
          <a:xfrm>
            <a:off x="6570345" y="1131570"/>
            <a:ext cx="5397500" cy="1459865"/>
          </a:xfrm>
          <a:prstGeom prst="rect">
            <a:avLst/>
          </a:prstGeom>
        </p:spPr>
      </p:pic>
      <p:grpSp>
        <p:nvGrpSpPr>
          <p:cNvPr id="12" name="组合 11"/>
          <p:cNvGrpSpPr/>
          <p:nvPr/>
        </p:nvGrpSpPr>
        <p:grpSpPr>
          <a:xfrm>
            <a:off x="6569710" y="3215005"/>
            <a:ext cx="5397500" cy="2615565"/>
            <a:chOff x="-6010" y="4371"/>
            <a:chExt cx="24684" cy="4119"/>
          </a:xfrm>
        </p:grpSpPr>
        <p:sp>
          <p:nvSpPr>
            <p:cNvPr id="6" name="矩形 5"/>
            <p:cNvSpPr/>
            <p:nvPr>
              <p:custDataLst>
                <p:tags r:id="rId3"/>
              </p:custDataLst>
            </p:nvPr>
          </p:nvSpPr>
          <p:spPr>
            <a:xfrm>
              <a:off x="-6010" y="4371"/>
              <a:ext cx="24684" cy="4119"/>
            </a:xfrm>
            <a:prstGeom prst="rect">
              <a:avLst/>
            </a:prstGeom>
            <a:noFill/>
          </p:spPr>
          <p:txBody>
            <a:bodyPr wrap="square" rtlCol="0">
              <a:noAutofit/>
            </a:bodyPr>
            <a:p>
              <a:pPr lvl="0" indent="0" fontAlgn="auto">
                <a:lnSpc>
                  <a:spcPct val="150000"/>
                </a:lnSpc>
              </a:pPr>
              <a:r>
                <a:rPr lang="zh-CN" altLang="en-US" b="1" dirty="0"/>
                <a:t>分析：</a:t>
              </a:r>
              <a:r>
                <a:rPr lang="zh-CN" altLang="en-US" dirty="0"/>
                <a:t>我们的模型 PModelStage2_2 在“信”、“达”、“雅”三个指标上</a:t>
              </a:r>
              <a:r>
                <a:rPr lang="zh-CN" altLang="en-US" b="1" dirty="0"/>
                <a:t>与大模型的表现效果相近</a:t>
              </a:r>
              <a:r>
                <a:rPr lang="zh-CN" altLang="en-US" dirty="0"/>
                <a:t>（“信”的表现效果略差于大模型，“达”和“雅”的表现效果略优于大模型），但是我们的模型</a:t>
              </a:r>
              <a:r>
                <a:rPr lang="zh-CN" altLang="en-US" b="1" dirty="0"/>
                <a:t>所占空间更小</a:t>
              </a:r>
              <a:r>
                <a:rPr lang="zh-CN" altLang="en-US" dirty="0"/>
                <a:t>，在相近的表现效果上，有着</a:t>
              </a:r>
              <a:r>
                <a:rPr lang="zh-CN" altLang="en-US" b="1" dirty="0"/>
                <a:t>更快的推理速度</a:t>
              </a:r>
              <a:r>
                <a:rPr lang="zh-CN" altLang="en-US" dirty="0"/>
                <a:t>。</a:t>
              </a:r>
              <a:endParaRPr lang="zh-CN" altLang="en-US" dirty="0"/>
            </a:p>
          </p:txBody>
        </p:sp>
        <p:sp>
          <p:nvSpPr>
            <p:cNvPr id="5" name="圆角矩形 4"/>
            <p:cNvSpPr/>
            <p:nvPr/>
          </p:nvSpPr>
          <p:spPr>
            <a:xfrm>
              <a:off x="-6010" y="4457"/>
              <a:ext cx="24684" cy="3938"/>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pic>
        <p:nvPicPr>
          <p:cNvPr id="9" name="图片 8" descr="文言文-现代汉语翻译示例"/>
          <p:cNvPicPr>
            <a:picLocks noChangeAspect="1"/>
          </p:cNvPicPr>
          <p:nvPr/>
        </p:nvPicPr>
        <p:blipFill>
          <a:blip r:embed="rId4"/>
          <a:stretch>
            <a:fillRect/>
          </a:stretch>
        </p:blipFill>
        <p:spPr>
          <a:xfrm>
            <a:off x="188595" y="1131570"/>
            <a:ext cx="6270625" cy="4638675"/>
          </a:xfrm>
          <a:prstGeom prst="rect">
            <a:avLst/>
          </a:prstGeom>
        </p:spPr>
      </p:pic>
      <p:sp>
        <p:nvSpPr>
          <p:cNvPr id="15" name="矩形 14"/>
          <p:cNvSpPr/>
          <p:nvPr>
            <p:custDataLst>
              <p:tags r:id="rId5"/>
            </p:custDataLst>
          </p:nvPr>
        </p:nvSpPr>
        <p:spPr>
          <a:xfrm>
            <a:off x="1504315" y="5770245"/>
            <a:ext cx="363918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3-7</a:t>
            </a:r>
            <a:r>
              <a:rPr lang="zh-CN" altLang="en-US" dirty="0">
                <a:solidFill>
                  <a:schemeClr val="tx1"/>
                </a:solidFill>
              </a:rPr>
              <a:t>：文言文-现代汉语翻译示例</a:t>
            </a:r>
            <a:endParaRPr lang="zh-CN" altLang="en-US" dirty="0">
              <a:solidFill>
                <a:schemeClr val="tx1"/>
              </a:solidFill>
            </a:endParaRPr>
          </a:p>
        </p:txBody>
      </p:sp>
      <p:sp>
        <p:nvSpPr>
          <p:cNvPr id="13" name="矩形 12"/>
          <p:cNvSpPr/>
          <p:nvPr>
            <p:custDataLst>
              <p:tags r:id="rId6"/>
            </p:custDataLst>
          </p:nvPr>
        </p:nvSpPr>
        <p:spPr>
          <a:xfrm>
            <a:off x="6569710" y="2591435"/>
            <a:ext cx="539813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3-8</a:t>
            </a:r>
            <a:r>
              <a:rPr lang="zh-CN" altLang="en-US" dirty="0">
                <a:solidFill>
                  <a:schemeClr val="tx1"/>
                </a:solidFill>
              </a:rPr>
              <a:t>：渐进式机器翻译模型与大模型翻译效果对比</a:t>
            </a:r>
            <a:endParaRPr lang="zh-CN" altLang="en-US" dirty="0">
              <a:solidFill>
                <a:schemeClr val="tx1"/>
              </a:solidFill>
            </a:endParaRPr>
          </a:p>
        </p:txBody>
      </p:sp>
    </p:spTree>
    <p:custDataLst>
      <p:tags r:id="rId7"/>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56075" y="441960"/>
            <a:ext cx="3947160" cy="525780"/>
            <a:chOff x="7111" y="706"/>
            <a:chExt cx="6216" cy="828"/>
          </a:xfrm>
        </p:grpSpPr>
        <p:sp>
          <p:nvSpPr>
            <p:cNvPr id="4" name="矩形 3"/>
            <p:cNvSpPr/>
            <p:nvPr/>
          </p:nvSpPr>
          <p:spPr>
            <a:xfrm>
              <a:off x="7839" y="709"/>
              <a:ext cx="5488" cy="628"/>
            </a:xfrm>
            <a:prstGeom prst="rect">
              <a:avLst/>
            </a:prstGeom>
          </p:spPr>
          <p:txBody>
            <a:bodyPr wrap="none">
              <a:spAutoFit/>
            </a:bodyPr>
            <a:p>
              <a:pPr lvl="0" algn="l"/>
              <a:r>
                <a:rPr lang="zh-CN" altLang="en-US" sz="2000" dirty="0">
                  <a:solidFill>
                    <a:srgbClr val="BD934E"/>
                  </a:solidFill>
                </a:rPr>
                <a:t>实验探究与分析</a:t>
              </a:r>
              <a:r>
                <a:rPr lang="en-US" altLang="zh-CN" sz="2000" dirty="0">
                  <a:solidFill>
                    <a:srgbClr val="BD934E"/>
                  </a:solidFill>
                </a:rPr>
                <a:t>——</a:t>
              </a:r>
              <a:r>
                <a:rPr lang="zh-CN" altLang="en-US" sz="2000" dirty="0">
                  <a:solidFill>
                    <a:srgbClr val="BD934E"/>
                  </a:solidFill>
                </a:rPr>
                <a:t>消融实验</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sp>
        <p:nvSpPr>
          <p:cNvPr id="9" name="矩形 8"/>
          <p:cNvSpPr/>
          <p:nvPr>
            <p:custDataLst>
              <p:tags r:id="rId2"/>
            </p:custDataLst>
          </p:nvPr>
        </p:nvSpPr>
        <p:spPr>
          <a:xfrm>
            <a:off x="1001395" y="3134360"/>
            <a:ext cx="10484485" cy="1417955"/>
          </a:xfrm>
          <a:prstGeom prst="rect">
            <a:avLst/>
          </a:prstGeom>
          <a:noFill/>
        </p:spPr>
        <p:txBody>
          <a:bodyPr wrap="square" rtlCol="0">
            <a:noAutofit/>
          </a:bodyPr>
          <a:p>
            <a:pPr lvl="0" indent="0" fontAlgn="auto">
              <a:lnSpc>
                <a:spcPct val="150000"/>
              </a:lnSpc>
            </a:pPr>
            <a:r>
              <a:rPr lang="zh-CN" altLang="en-US" dirty="0"/>
              <a:t>PModelStage1模型：是在第一阶段基础性翻译阶段训练所得的</a:t>
            </a:r>
            <a:r>
              <a:rPr lang="zh-CN" altLang="en-US" dirty="0"/>
              <a:t>模型。</a:t>
            </a:r>
            <a:endParaRPr lang="zh-CN" altLang="en-US" dirty="0"/>
          </a:p>
          <a:p>
            <a:pPr lvl="0" indent="0" fontAlgn="auto">
              <a:lnSpc>
                <a:spcPct val="150000"/>
              </a:lnSpc>
            </a:pPr>
            <a:r>
              <a:rPr lang="zh-CN" altLang="en-US" dirty="0"/>
              <a:t>PModelStage2_1模型：是在第二阶段融合了背景信息，但未使用改写优化的译文进行训练所得的模型。</a:t>
            </a:r>
            <a:endParaRPr lang="zh-CN" altLang="en-US" dirty="0"/>
          </a:p>
          <a:p>
            <a:pPr lvl="0" indent="0" fontAlgn="auto">
              <a:lnSpc>
                <a:spcPct val="150000"/>
              </a:lnSpc>
            </a:pPr>
            <a:r>
              <a:rPr lang="zh-CN" altLang="en-US" dirty="0"/>
              <a:t>PModelStage2_2模型：是融合了背景信息以及优化译文训练所得的模型。</a:t>
            </a:r>
            <a:endParaRPr lang="zh-CN" altLang="en-US" dirty="0"/>
          </a:p>
        </p:txBody>
      </p:sp>
      <p:sp>
        <p:nvSpPr>
          <p:cNvPr id="6" name="矩形 5"/>
          <p:cNvSpPr/>
          <p:nvPr>
            <p:custDataLst>
              <p:tags r:id="rId3"/>
            </p:custDataLst>
          </p:nvPr>
        </p:nvSpPr>
        <p:spPr>
          <a:xfrm>
            <a:off x="154305" y="4582795"/>
            <a:ext cx="11884025" cy="2240280"/>
          </a:xfrm>
          <a:prstGeom prst="rect">
            <a:avLst/>
          </a:prstGeom>
          <a:noFill/>
        </p:spPr>
        <p:txBody>
          <a:bodyPr wrap="square" rtlCol="0">
            <a:noAutofit/>
          </a:bodyPr>
          <a:p>
            <a:pPr lvl="0" indent="0" fontAlgn="auto">
              <a:lnSpc>
                <a:spcPct val="150000"/>
              </a:lnSpc>
            </a:pPr>
            <a:r>
              <a:rPr lang="zh-CN" altLang="en-US" b="1" dirty="0"/>
              <a:t>分析：</a:t>
            </a:r>
            <a:r>
              <a:rPr lang="zh-CN" altLang="en-US" dirty="0"/>
              <a:t>通过在第二个阶段</a:t>
            </a:r>
            <a:r>
              <a:rPr lang="zh-CN" altLang="en-US" b="1" dirty="0"/>
              <a:t>增加背景信息的融合</a:t>
            </a:r>
            <a:r>
              <a:rPr lang="zh-CN" altLang="en-US" dirty="0"/>
              <a:t>，能够</a:t>
            </a:r>
            <a:r>
              <a:rPr lang="zh-CN" altLang="en-US" b="1" dirty="0"/>
              <a:t>使“信”的指标提升</a:t>
            </a:r>
            <a:r>
              <a:rPr lang="zh-CN" altLang="en-US" dirty="0"/>
              <a:t>（PModelStage2_1 相比PModelStage1 在“信”的指标上增加了 0.81），但是在流畅度和文采雅致方面没有很大提升；通过在前面融合背景信息的基础上，在数据集中</a:t>
            </a:r>
            <a:r>
              <a:rPr lang="zh-CN" altLang="en-US" b="1" dirty="0"/>
              <a:t>增添部份优化的译文</a:t>
            </a:r>
            <a:r>
              <a:rPr lang="zh-CN" altLang="en-US" dirty="0"/>
              <a:t>进行训练，虽然</a:t>
            </a:r>
            <a:r>
              <a:rPr lang="zh-CN" altLang="en-US" b="1" dirty="0"/>
              <a:t>损失了一定的“信”指标</a:t>
            </a:r>
            <a:r>
              <a:rPr lang="zh-CN" altLang="en-US" dirty="0"/>
              <a:t>（PModelStage2_2 相比 PModelStage2_1 在“信”的指标上下降了 0.52），但是</a:t>
            </a:r>
            <a:r>
              <a:rPr lang="zh-CN" altLang="en-US" b="1" dirty="0"/>
              <a:t>在流畅度和文采雅致方面有所提升</a:t>
            </a:r>
            <a:r>
              <a:rPr lang="zh-CN" altLang="en-US" dirty="0"/>
              <a:t>（PModelStage2_2 相比PModelStage2_1 在“达”和“雅”的指标上分别提升了 0.44 和 0.16）。</a:t>
            </a:r>
            <a:endParaRPr lang="zh-CN" altLang="en-US" dirty="0"/>
          </a:p>
        </p:txBody>
      </p:sp>
      <p:pic>
        <p:nvPicPr>
          <p:cNvPr id="2" name="图片 1"/>
          <p:cNvPicPr>
            <a:picLocks noChangeAspect="1"/>
          </p:cNvPicPr>
          <p:nvPr/>
        </p:nvPicPr>
        <p:blipFill>
          <a:blip r:embed="rId4"/>
          <a:stretch>
            <a:fillRect/>
          </a:stretch>
        </p:blipFill>
        <p:spPr>
          <a:xfrm>
            <a:off x="2045970" y="922655"/>
            <a:ext cx="8100060" cy="1811020"/>
          </a:xfrm>
          <a:prstGeom prst="rect">
            <a:avLst/>
          </a:prstGeom>
        </p:spPr>
      </p:pic>
      <p:sp>
        <p:nvSpPr>
          <p:cNvPr id="5" name="圆角矩形 4"/>
          <p:cNvSpPr/>
          <p:nvPr/>
        </p:nvSpPr>
        <p:spPr>
          <a:xfrm>
            <a:off x="1001395" y="3239770"/>
            <a:ext cx="10484485" cy="1232535"/>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153670" y="4638675"/>
            <a:ext cx="11884025" cy="2115820"/>
          </a:xfrm>
          <a:prstGeom prst="roundRect">
            <a:avLst>
              <a:gd name="adj" fmla="val 0"/>
            </a:avLst>
          </a:prstGeom>
          <a:noFill/>
          <a:ln w="19050">
            <a:solidFill>
              <a:srgbClr val="C39E67"/>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矩形 12"/>
          <p:cNvSpPr/>
          <p:nvPr>
            <p:custDataLst>
              <p:tags r:id="rId5"/>
            </p:custDataLst>
          </p:nvPr>
        </p:nvSpPr>
        <p:spPr>
          <a:xfrm>
            <a:off x="5088890" y="2622550"/>
            <a:ext cx="2013585" cy="506730"/>
          </a:xfrm>
          <a:prstGeom prst="rect">
            <a:avLst/>
          </a:prstGeom>
          <a:noFill/>
        </p:spPr>
        <p:txBody>
          <a:bodyPr wrap="square" rtlCol="0">
            <a:spAutoFit/>
          </a:bodyPr>
          <a:p>
            <a:pPr lvl="0" indent="0" fontAlgn="auto">
              <a:lnSpc>
                <a:spcPct val="150000"/>
              </a:lnSpc>
            </a:pPr>
            <a:r>
              <a:rPr lang="zh-CN" altLang="en-US" dirty="0">
                <a:solidFill>
                  <a:schemeClr val="tx1"/>
                </a:solidFill>
              </a:rPr>
              <a:t>图</a:t>
            </a:r>
            <a:r>
              <a:rPr lang="en-US" altLang="zh-CN" dirty="0">
                <a:solidFill>
                  <a:schemeClr val="tx1"/>
                </a:solidFill>
              </a:rPr>
              <a:t>3-9</a:t>
            </a:r>
            <a:r>
              <a:rPr lang="zh-CN" altLang="en-US" dirty="0">
                <a:solidFill>
                  <a:schemeClr val="tx1"/>
                </a:solidFill>
              </a:rPr>
              <a:t>：消融实验</a:t>
            </a:r>
            <a:endParaRPr lang="zh-CN" altLang="en-US" dirty="0">
              <a:solidFill>
                <a:schemeClr val="tx1"/>
              </a:solidFill>
            </a:endParaRPr>
          </a:p>
        </p:txBody>
      </p:sp>
    </p:spTree>
    <p:custDataLst>
      <p:tags r:id="rId6"/>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2"/>
          <p:cNvSpPr txBox="1"/>
          <p:nvPr>
            <p:custDataLst>
              <p:tags r:id="rId1"/>
            </p:custDataLst>
          </p:nvPr>
        </p:nvSpPr>
        <p:spPr>
          <a:xfrm>
            <a:off x="3053080" y="2730818"/>
            <a:ext cx="1487170" cy="1240790"/>
          </a:xfrm>
          <a:prstGeom prst="rect">
            <a:avLst/>
          </a:prstGeom>
          <a:noFill/>
        </p:spPr>
        <p:txBody>
          <a:bodyPr wrap="square" lIns="91440" tIns="45720" rIns="91440" bIns="45720" rtlCol="0" anchor="ctr"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R="0" algn="ctr" defTabSz="914400" fontAlgn="auto">
              <a:lnSpc>
                <a:spcPct val="100000"/>
              </a:lnSpc>
              <a:spcBef>
                <a:spcPts val="0"/>
              </a:spcBef>
              <a:spcAft>
                <a:spcPts val="0"/>
              </a:spcAft>
              <a:buClrTx/>
              <a:buSzTx/>
              <a:buFontTx/>
            </a:pPr>
            <a:r>
              <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rPr>
              <a:t>04</a:t>
            </a:r>
            <a:endParaRPr lang="en-US" altLang="zh-CN" sz="7200" b="1" spc="200" dirty="0">
              <a:solidFill>
                <a:srgbClr val="B88F4D"/>
              </a:solidFill>
              <a:latin typeface="Arial" panose="020B0604020202020204" pitchFamily="34" charset="0"/>
              <a:ea typeface="微软雅黑" panose="020B0503020204020204" pitchFamily="34" charset="-122"/>
              <a:cs typeface="Arial" panose="020B0604020202020204" pitchFamily="34" charset="0"/>
              <a:sym typeface="+mn-lt"/>
            </a:endParaRPr>
          </a:p>
        </p:txBody>
      </p:sp>
      <p:cxnSp>
        <p:nvCxnSpPr>
          <p:cNvPr id="11" name="直接连接符 10"/>
          <p:cNvCxnSpPr/>
          <p:nvPr>
            <p:custDataLst>
              <p:tags r:id="rId2"/>
            </p:custDataLst>
          </p:nvPr>
        </p:nvCxnSpPr>
        <p:spPr>
          <a:xfrm>
            <a:off x="2935605" y="2272983"/>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3"/>
            </p:custDataLst>
          </p:nvPr>
        </p:nvCxnSpPr>
        <p:spPr>
          <a:xfrm>
            <a:off x="2935605" y="4426268"/>
            <a:ext cx="6320790" cy="0"/>
          </a:xfrm>
          <a:prstGeom prst="line">
            <a:avLst/>
          </a:prstGeom>
          <a:ln w="25400">
            <a:solidFill>
              <a:srgbClr val="B88F4D"/>
            </a:solidFill>
          </a:ln>
        </p:spPr>
        <p:style>
          <a:lnRef idx="1">
            <a:schemeClr val="accent1"/>
          </a:lnRef>
          <a:fillRef idx="0">
            <a:schemeClr val="accent1"/>
          </a:fillRef>
          <a:effectRef idx="0">
            <a:schemeClr val="accent1"/>
          </a:effectRef>
          <a:fontRef idx="minor">
            <a:schemeClr val="tx1"/>
          </a:fontRef>
        </p:style>
      </p:cxnSp>
      <p:sp>
        <p:nvSpPr>
          <p:cNvPr id="13" name="标题 12"/>
          <p:cNvSpPr>
            <a:spLocks noGrp="1"/>
          </p:cNvSpPr>
          <p:nvPr>
            <p:custDataLst>
              <p:tags r:id="rId4"/>
            </p:custDataLst>
          </p:nvPr>
        </p:nvSpPr>
        <p:spPr>
          <a:xfrm>
            <a:off x="4568825" y="2931795"/>
            <a:ext cx="3649345" cy="835660"/>
          </a:xfrm>
          <a:prstGeom prst="rect">
            <a:avLst/>
          </a:prstGeom>
        </p:spPr>
        <p:txBody>
          <a:bodyPr vert="horz" lIns="90170" tIns="46990" rIns="90170" bIns="46990" rtlCol="0" anchor="ctr" anchorCtr="0">
            <a:noAutofit/>
          </a:bodyPr>
          <a:lst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a:lstStyle>
          <a:p>
            <a:pPr algn="l"/>
            <a:r>
              <a:rPr lang="zh-CN" altLang="en-US" dirty="0">
                <a:ea typeface="微软雅黑" panose="020B0503020204020204" pitchFamily="34" charset="-122"/>
              </a:rPr>
              <a:t>工作总结</a:t>
            </a:r>
            <a:r>
              <a:rPr lang="zh-CN" altLang="en-US" dirty="0">
                <a:ea typeface="微软雅黑" panose="020B0503020204020204" pitchFamily="34" charset="-122"/>
              </a:rPr>
              <a:t>与展望</a:t>
            </a:r>
            <a:endParaRPr lang="zh-CN" altLang="en-US" dirty="0">
              <a:ea typeface="微软雅黑" panose="020B0503020204020204" pitchFamily="34" charset="-122"/>
            </a:endParaRPr>
          </a:p>
        </p:txBody>
      </p:sp>
      <p:pic>
        <p:nvPicPr>
          <p:cNvPr id="5" name="图片 4" descr="logo-05"/>
          <p:cNvPicPr>
            <a:picLocks noChangeAspect="1"/>
          </p:cNvPicPr>
          <p:nvPr/>
        </p:nvPicPr>
        <p:blipFill>
          <a:blip r:embed="rId5"/>
          <a:stretch>
            <a:fillRect/>
          </a:stretch>
        </p:blipFill>
        <p:spPr>
          <a:xfrm>
            <a:off x="9492615" y="-1282700"/>
            <a:ext cx="4442460" cy="4099560"/>
          </a:xfrm>
          <a:prstGeom prst="rect">
            <a:avLst/>
          </a:prstGeom>
        </p:spPr>
      </p:pic>
      <p:pic>
        <p:nvPicPr>
          <p:cNvPr id="15" name="图片 14" descr="logo-06 - 副本"/>
          <p:cNvPicPr>
            <a:picLocks noChangeAspect="1"/>
          </p:cNvPicPr>
          <p:nvPr/>
        </p:nvPicPr>
        <p:blipFill>
          <a:blip r:embed="rId6"/>
          <a:stretch>
            <a:fillRect/>
          </a:stretch>
        </p:blipFill>
        <p:spPr>
          <a:xfrm>
            <a:off x="-1113155" y="3810000"/>
            <a:ext cx="3503930" cy="3232785"/>
          </a:xfrm>
          <a:prstGeom prst="rect">
            <a:avLst/>
          </a:prstGeom>
        </p:spPr>
      </p:pic>
      <p:pic>
        <p:nvPicPr>
          <p:cNvPr id="6" name="图片 5" descr="logo-04"/>
          <p:cNvPicPr>
            <a:picLocks noChangeAspect="1"/>
          </p:cNvPicPr>
          <p:nvPr/>
        </p:nvPicPr>
        <p:blipFill>
          <a:blip r:embed="rId7"/>
          <a:srcRect l="8157" t="21366" r="39086" b="30035"/>
          <a:stretch>
            <a:fillRect/>
          </a:stretch>
        </p:blipFill>
        <p:spPr>
          <a:xfrm>
            <a:off x="0" y="0"/>
            <a:ext cx="1737360" cy="1057275"/>
          </a:xfrm>
          <a:prstGeom prst="rect">
            <a:avLst/>
          </a:prstGeom>
        </p:spPr>
      </p:pic>
      <p:pic>
        <p:nvPicPr>
          <p:cNvPr id="17" name="图形 16"/>
          <p:cNvPicPr>
            <a:picLocks noChangeAspect="1"/>
          </p:cNvPicPr>
          <p:nvPr/>
        </p:nvPicPr>
        <p:blipFill>
          <a:blip r:embed="rId8"/>
          <a:stretch>
            <a:fillRect/>
          </a:stretch>
        </p:blipFill>
        <p:spPr>
          <a:xfrm>
            <a:off x="0" y="5576572"/>
            <a:ext cx="12185215" cy="1240790"/>
          </a:xfrm>
          <a:prstGeom prst="rect">
            <a:avLst/>
          </a:prstGeom>
        </p:spPr>
      </p:pic>
    </p:spTree>
    <p:custDataLst>
      <p:tags r:id="rId9"/>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515485" y="448310"/>
            <a:ext cx="2423160" cy="525780"/>
            <a:chOff x="7111" y="706"/>
            <a:chExt cx="3816" cy="828"/>
          </a:xfrm>
        </p:grpSpPr>
        <p:sp>
          <p:nvSpPr>
            <p:cNvPr id="4" name="矩形 3"/>
            <p:cNvSpPr/>
            <p:nvPr/>
          </p:nvSpPr>
          <p:spPr>
            <a:xfrm>
              <a:off x="7839" y="709"/>
              <a:ext cx="3088" cy="628"/>
            </a:xfrm>
            <a:prstGeom prst="rect">
              <a:avLst/>
            </a:prstGeom>
          </p:spPr>
          <p:txBody>
            <a:bodyPr wrap="none">
              <a:spAutoFit/>
            </a:bodyPr>
            <a:p>
              <a:pPr lvl="0"/>
              <a:r>
                <a:rPr lang="zh-CN" altLang="en-US" sz="2000" dirty="0">
                  <a:solidFill>
                    <a:srgbClr val="BD934E"/>
                  </a:solidFill>
                </a:rPr>
                <a:t>工作总结</a:t>
              </a:r>
              <a:r>
                <a:rPr lang="zh-CN" altLang="en-US" sz="2000" dirty="0">
                  <a:solidFill>
                    <a:srgbClr val="BD934E"/>
                  </a:solidFill>
                </a:rPr>
                <a:t>与展望</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grpSp>
        <p:nvGrpSpPr>
          <p:cNvPr id="15" name="组合 14"/>
          <p:cNvGrpSpPr/>
          <p:nvPr/>
        </p:nvGrpSpPr>
        <p:grpSpPr>
          <a:xfrm>
            <a:off x="439420" y="1211580"/>
            <a:ext cx="11212830" cy="1437640"/>
            <a:chOff x="91" y="1466"/>
            <a:chExt cx="6001" cy="2427"/>
          </a:xfrm>
        </p:grpSpPr>
        <p:sp>
          <p:nvSpPr>
            <p:cNvPr id="6" name="矩形 5"/>
            <p:cNvSpPr/>
            <p:nvPr>
              <p:custDataLst>
                <p:tags r:id="rId2"/>
              </p:custDataLst>
            </p:nvPr>
          </p:nvSpPr>
          <p:spPr>
            <a:xfrm>
              <a:off x="91" y="1466"/>
              <a:ext cx="6001" cy="2427"/>
            </a:xfrm>
            <a:prstGeom prst="rect">
              <a:avLst/>
            </a:prstGeom>
            <a:noFill/>
          </p:spPr>
          <p:txBody>
            <a:bodyPr wrap="square" rtlCol="0">
              <a:noAutofit/>
            </a:bodyPr>
            <a:p>
              <a:pPr lvl="0" indent="0" fontAlgn="auto">
                <a:lnSpc>
                  <a:spcPct val="150000"/>
                </a:lnSpc>
              </a:pPr>
              <a:r>
                <a:rPr lang="zh-CN" altLang="en-US" b="1" dirty="0">
                  <a:solidFill>
                    <a:schemeClr val="tx1"/>
                  </a:solidFill>
                </a:rPr>
                <a:t>在数据集构建方面：</a:t>
              </a:r>
              <a:r>
                <a:rPr lang="zh-CN" altLang="en-US" dirty="0">
                  <a:solidFill>
                    <a:schemeClr val="tx1"/>
                  </a:solidFill>
                </a:rPr>
                <a:t>我们通过爬虫技术获取网络公开语料，并借助现有大模型，经过筛选以及数据处理，构建了“</a:t>
              </a:r>
              <a:r>
                <a:rPr lang="zh-CN" altLang="en-US" b="1" dirty="0">
                  <a:solidFill>
                    <a:schemeClr val="tx1"/>
                  </a:solidFill>
                </a:rPr>
                <a:t>文言文-现代汉语数据集</a:t>
              </a:r>
              <a:r>
                <a:rPr lang="zh-CN" altLang="en-US" dirty="0">
                  <a:solidFill>
                    <a:schemeClr val="tx1"/>
                  </a:solidFill>
                </a:rPr>
                <a:t>”（2080500 条文言文-现代汉语平行语句对）、“</a:t>
              </a:r>
              <a:r>
                <a:rPr lang="zh-CN" altLang="en-US" b="1" dirty="0">
                  <a:solidFill>
                    <a:schemeClr val="tx1"/>
                  </a:solidFill>
                </a:rPr>
                <a:t>背景简述数据集</a:t>
              </a:r>
              <a:r>
                <a:rPr lang="zh-CN" altLang="en-US" dirty="0">
                  <a:solidFill>
                    <a:schemeClr val="tx1"/>
                  </a:solidFill>
                </a:rPr>
                <a:t>”（21160 条结构化的背景数据）、“</a:t>
              </a:r>
              <a:r>
                <a:rPr lang="zh-CN" altLang="en-US" b="1" dirty="0">
                  <a:solidFill>
                    <a:schemeClr val="tx1"/>
                  </a:solidFill>
                </a:rPr>
                <a:t>译文优化数据集</a:t>
              </a:r>
              <a:r>
                <a:rPr lang="zh-CN" altLang="en-US" dirty="0">
                  <a:solidFill>
                    <a:schemeClr val="tx1"/>
                  </a:solidFill>
                </a:rPr>
                <a:t>”（20000 条文言文-优化译文平行语句对）这 3 个高质量数据集。</a:t>
              </a:r>
              <a:endParaRPr lang="zh-CN" altLang="en-US" dirty="0">
                <a:solidFill>
                  <a:schemeClr val="tx1"/>
                </a:solidFill>
              </a:endParaRPr>
            </a:p>
          </p:txBody>
        </p:sp>
        <p:sp>
          <p:nvSpPr>
            <p:cNvPr id="8" name="圆角矩形 7"/>
            <p:cNvSpPr/>
            <p:nvPr/>
          </p:nvSpPr>
          <p:spPr>
            <a:xfrm>
              <a:off x="91" y="1467"/>
              <a:ext cx="5999" cy="2385"/>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1" name="组合 10"/>
          <p:cNvGrpSpPr/>
          <p:nvPr/>
        </p:nvGrpSpPr>
        <p:grpSpPr>
          <a:xfrm>
            <a:off x="410845" y="2867025"/>
            <a:ext cx="5352415" cy="2204720"/>
            <a:chOff x="6333" y="1337"/>
            <a:chExt cx="8982" cy="3729"/>
          </a:xfrm>
        </p:grpSpPr>
        <p:sp>
          <p:nvSpPr>
            <p:cNvPr id="2" name="矩形 1"/>
            <p:cNvSpPr/>
            <p:nvPr>
              <p:custDataLst>
                <p:tags r:id="rId3"/>
              </p:custDataLst>
            </p:nvPr>
          </p:nvSpPr>
          <p:spPr>
            <a:xfrm>
              <a:off x="6333" y="1337"/>
              <a:ext cx="8947" cy="3728"/>
            </a:xfrm>
            <a:prstGeom prst="rect">
              <a:avLst/>
            </a:prstGeom>
            <a:noFill/>
          </p:spPr>
          <p:txBody>
            <a:bodyPr wrap="square" rtlCol="0">
              <a:noAutofit/>
            </a:bodyPr>
            <a:p>
              <a:pPr lvl="0" indent="0" fontAlgn="auto">
                <a:lnSpc>
                  <a:spcPct val="150000"/>
                </a:lnSpc>
              </a:pPr>
              <a:r>
                <a:rPr lang="zh-CN" altLang="en-US" b="1" dirty="0">
                  <a:solidFill>
                    <a:schemeClr val="tx1"/>
                  </a:solidFill>
                </a:rPr>
                <a:t>在渐进式机器翻译模型的第一阶段：</a:t>
              </a:r>
              <a:r>
                <a:rPr lang="zh-CN" altLang="en-US" dirty="0">
                  <a:solidFill>
                    <a:schemeClr val="tx1"/>
                  </a:solidFill>
                </a:rPr>
                <a:t>我们通过预训练模型获取文言文与现代汉语之间的特征联系，提出使用基于预训练的非平衡 Transformer 模型进行训练，以此来</a:t>
              </a:r>
              <a:r>
                <a:rPr lang="zh-CN" altLang="en-US" b="1" dirty="0">
                  <a:solidFill>
                    <a:schemeClr val="tx1"/>
                  </a:solidFill>
                </a:rPr>
                <a:t>模拟人工翻译思维中“根据储备知识进行基础性翻译”</a:t>
              </a:r>
              <a:r>
                <a:rPr lang="zh-CN" altLang="en-US" dirty="0">
                  <a:solidFill>
                    <a:schemeClr val="tx1"/>
                  </a:solidFill>
                </a:rPr>
                <a:t>的步骤，取得了</a:t>
              </a:r>
              <a:r>
                <a:rPr lang="zh-CN" altLang="en-US" b="1" dirty="0">
                  <a:solidFill>
                    <a:schemeClr val="tx1"/>
                  </a:solidFill>
                </a:rPr>
                <a:t>优秀的表现效果</a:t>
              </a:r>
              <a:r>
                <a:rPr lang="zh-CN" altLang="en-US" dirty="0">
                  <a:solidFill>
                    <a:schemeClr val="tx1"/>
                  </a:solidFill>
                </a:rPr>
                <a:t>。</a:t>
              </a:r>
              <a:endParaRPr lang="zh-CN" altLang="en-US" dirty="0">
                <a:solidFill>
                  <a:schemeClr val="tx1"/>
                </a:solidFill>
              </a:endParaRPr>
            </a:p>
          </p:txBody>
        </p:sp>
        <p:sp>
          <p:nvSpPr>
            <p:cNvPr id="9" name="圆角矩形 8"/>
            <p:cNvSpPr/>
            <p:nvPr/>
          </p:nvSpPr>
          <p:spPr>
            <a:xfrm>
              <a:off x="6381" y="1467"/>
              <a:ext cx="8934" cy="3599"/>
            </a:xfrm>
            <a:prstGeom prst="roundRect">
              <a:avLst>
                <a:gd name="adj" fmla="val 3951"/>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6" name="组合 15"/>
          <p:cNvGrpSpPr/>
          <p:nvPr/>
        </p:nvGrpSpPr>
        <p:grpSpPr>
          <a:xfrm>
            <a:off x="394970" y="5390515"/>
            <a:ext cx="11494135" cy="1032510"/>
            <a:chOff x="15522" y="1467"/>
            <a:chExt cx="3660" cy="6020"/>
          </a:xfrm>
        </p:grpSpPr>
        <p:sp>
          <p:nvSpPr>
            <p:cNvPr id="5" name="矩形 4"/>
            <p:cNvSpPr/>
            <p:nvPr>
              <p:custDataLst>
                <p:tags r:id="rId4"/>
              </p:custDataLst>
            </p:nvPr>
          </p:nvSpPr>
          <p:spPr>
            <a:xfrm>
              <a:off x="15522" y="1468"/>
              <a:ext cx="3660" cy="5902"/>
            </a:xfrm>
            <a:prstGeom prst="rect">
              <a:avLst/>
            </a:prstGeom>
            <a:noFill/>
          </p:spPr>
          <p:txBody>
            <a:bodyPr wrap="square" rtlCol="0">
              <a:noAutofit/>
            </a:bodyPr>
            <a:p>
              <a:pPr lvl="0" indent="0" fontAlgn="auto">
                <a:lnSpc>
                  <a:spcPct val="150000"/>
                </a:lnSpc>
              </a:pPr>
              <a:r>
                <a:rPr lang="zh-CN" altLang="en-US" b="1" dirty="0">
                  <a:solidFill>
                    <a:schemeClr val="tx1"/>
                  </a:solidFill>
                </a:rPr>
                <a:t>在评价指标方面：</a:t>
              </a:r>
              <a:r>
                <a:rPr lang="zh-CN" altLang="en-US" dirty="0">
                  <a:solidFill>
                    <a:schemeClr val="tx1"/>
                  </a:solidFill>
                </a:rPr>
                <a:t>我们根据任务特性因地制宜采用了</a:t>
              </a:r>
              <a:r>
                <a:rPr lang="zh-CN" altLang="en-US" b="1" dirty="0">
                  <a:solidFill>
                    <a:schemeClr val="tx1"/>
                  </a:solidFill>
                </a:rPr>
                <a:t>融入预训练模型的质量估计方法</a:t>
              </a:r>
              <a:r>
                <a:rPr lang="zh-CN" altLang="en-US" dirty="0">
                  <a:solidFill>
                    <a:schemeClr val="tx1"/>
                  </a:solidFill>
                </a:rPr>
                <a:t>，提出并构建了“</a:t>
              </a:r>
              <a:r>
                <a:rPr lang="zh-CN" altLang="en-US" b="1" dirty="0">
                  <a:solidFill>
                    <a:schemeClr val="tx1"/>
                  </a:solidFill>
                </a:rPr>
                <a:t>信”、“达”、“雅”</a:t>
              </a:r>
              <a:r>
                <a:rPr lang="zh-CN" altLang="en-US" dirty="0">
                  <a:solidFill>
                    <a:schemeClr val="tx1"/>
                  </a:solidFill>
                </a:rPr>
                <a:t>评价指标，</a:t>
              </a:r>
              <a:r>
                <a:rPr lang="zh-CN" altLang="en-US" b="1" dirty="0">
                  <a:solidFill>
                    <a:schemeClr val="tx1"/>
                  </a:solidFill>
                </a:rPr>
                <a:t>为翻译质量评估提供了更完整的视角</a:t>
              </a:r>
              <a:r>
                <a:rPr lang="zh-CN" altLang="en-US" dirty="0">
                  <a:solidFill>
                    <a:schemeClr val="tx1"/>
                  </a:solidFill>
                </a:rPr>
                <a:t>。</a:t>
              </a:r>
              <a:endParaRPr lang="zh-CN" altLang="en-US" dirty="0">
                <a:solidFill>
                  <a:schemeClr val="tx1"/>
                </a:solidFill>
              </a:endParaRPr>
            </a:p>
          </p:txBody>
        </p:sp>
        <p:sp>
          <p:nvSpPr>
            <p:cNvPr id="10" name="圆角矩形 9"/>
            <p:cNvSpPr/>
            <p:nvPr/>
          </p:nvSpPr>
          <p:spPr>
            <a:xfrm>
              <a:off x="15523" y="1467"/>
              <a:ext cx="3609" cy="6021"/>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2" name="组合 11"/>
          <p:cNvGrpSpPr/>
          <p:nvPr/>
        </p:nvGrpSpPr>
        <p:grpSpPr>
          <a:xfrm>
            <a:off x="6171493" y="2907697"/>
            <a:ext cx="5476701" cy="2224511"/>
            <a:chOff x="10659" y="1374"/>
            <a:chExt cx="9145" cy="6804"/>
          </a:xfrm>
        </p:grpSpPr>
        <p:sp>
          <p:nvSpPr>
            <p:cNvPr id="13" name="矩形 12"/>
            <p:cNvSpPr/>
            <p:nvPr>
              <p:custDataLst>
                <p:tags r:id="rId5"/>
              </p:custDataLst>
            </p:nvPr>
          </p:nvSpPr>
          <p:spPr>
            <a:xfrm>
              <a:off x="10659" y="1374"/>
              <a:ext cx="9116" cy="6804"/>
            </a:xfrm>
            <a:prstGeom prst="rect">
              <a:avLst/>
            </a:prstGeom>
            <a:noFill/>
          </p:spPr>
          <p:txBody>
            <a:bodyPr wrap="square" rtlCol="0">
              <a:noAutofit/>
            </a:bodyPr>
            <a:p>
              <a:pPr lvl="0" indent="0" fontAlgn="auto">
                <a:lnSpc>
                  <a:spcPct val="150000"/>
                </a:lnSpc>
              </a:pPr>
              <a:r>
                <a:rPr lang="zh-CN" altLang="en-US" b="1" dirty="0">
                  <a:solidFill>
                    <a:schemeClr val="tx1"/>
                  </a:solidFill>
                </a:rPr>
                <a:t>在渐进式机器翻译模型的第二阶段：</a:t>
              </a:r>
              <a:r>
                <a:rPr lang="zh-CN" altLang="en-US" dirty="0">
                  <a:solidFill>
                    <a:schemeClr val="tx1"/>
                  </a:solidFill>
                </a:rPr>
                <a:t>我们提出使用编码器-编码器-解码器的结构，在基础性翻译的基础上融入背景信息和优化译文，以此来</a:t>
              </a:r>
              <a:r>
                <a:rPr lang="zh-CN" altLang="en-US" b="1" dirty="0">
                  <a:solidFill>
                    <a:schemeClr val="tx1"/>
                  </a:solidFill>
                </a:rPr>
                <a:t>模拟人工翻译思维中“结合特殊信息进一步翻译”和“优化自己的翻译语言”</a:t>
              </a:r>
              <a:r>
                <a:rPr lang="zh-CN" altLang="en-US" dirty="0">
                  <a:solidFill>
                    <a:schemeClr val="tx1"/>
                  </a:solidFill>
                </a:rPr>
                <a:t>的步骤，进一步</a:t>
              </a:r>
              <a:r>
                <a:rPr lang="zh-CN" altLang="en-US" b="1" dirty="0">
                  <a:solidFill>
                    <a:schemeClr val="tx1"/>
                  </a:solidFill>
                </a:rPr>
                <a:t>优化了模型的翻译效果</a:t>
              </a:r>
              <a:r>
                <a:rPr lang="zh-CN" altLang="en-US" dirty="0">
                  <a:solidFill>
                    <a:schemeClr val="tx1"/>
                  </a:solidFill>
                </a:rPr>
                <a:t>。</a:t>
              </a:r>
              <a:endParaRPr lang="zh-CN" altLang="en-US" dirty="0">
                <a:solidFill>
                  <a:schemeClr val="tx1"/>
                </a:solidFill>
              </a:endParaRPr>
            </a:p>
          </p:txBody>
        </p:sp>
        <p:sp>
          <p:nvSpPr>
            <p:cNvPr id="14" name="圆角矩形 13"/>
            <p:cNvSpPr/>
            <p:nvPr/>
          </p:nvSpPr>
          <p:spPr>
            <a:xfrm>
              <a:off x="10659" y="1428"/>
              <a:ext cx="9145" cy="6561"/>
            </a:xfrm>
            <a:prstGeom prst="roundRect">
              <a:avLst>
                <a:gd name="adj" fmla="val 3951"/>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ustDataLst>
      <p:tags r:id="rId6"/>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515485" y="448310"/>
            <a:ext cx="2423160" cy="525780"/>
            <a:chOff x="7111" y="706"/>
            <a:chExt cx="3816" cy="828"/>
          </a:xfrm>
        </p:grpSpPr>
        <p:sp>
          <p:nvSpPr>
            <p:cNvPr id="4" name="矩形 3"/>
            <p:cNvSpPr/>
            <p:nvPr/>
          </p:nvSpPr>
          <p:spPr>
            <a:xfrm>
              <a:off x="7839" y="709"/>
              <a:ext cx="3088" cy="628"/>
            </a:xfrm>
            <a:prstGeom prst="rect">
              <a:avLst/>
            </a:prstGeom>
          </p:spPr>
          <p:txBody>
            <a:bodyPr wrap="none">
              <a:spAutoFit/>
            </a:bodyPr>
            <a:p>
              <a:pPr lvl="0"/>
              <a:r>
                <a:rPr lang="zh-CN" altLang="en-US" sz="2000" dirty="0">
                  <a:solidFill>
                    <a:srgbClr val="BD934E"/>
                  </a:solidFill>
                </a:rPr>
                <a:t>工作总结</a:t>
              </a:r>
              <a:r>
                <a:rPr lang="zh-CN" altLang="en-US" sz="2000" dirty="0">
                  <a:solidFill>
                    <a:srgbClr val="BD934E"/>
                  </a:solidFill>
                </a:rPr>
                <a:t>与展望</a:t>
              </a:r>
              <a:endParaRPr lang="zh-CN" altLang="en-US" sz="2000" dirty="0">
                <a:solidFill>
                  <a:srgbClr val="BD934E"/>
                </a:solidFill>
              </a:endParaRPr>
            </a:p>
          </p:txBody>
        </p:sp>
        <p:pic>
          <p:nvPicPr>
            <p:cNvPr id="7" name="图片 6" descr="G:\2021\校庆\PPT\logo-08.pnglogo-08"/>
            <p:cNvPicPr>
              <a:picLocks noChangeAspect="1"/>
            </p:cNvPicPr>
            <p:nvPr/>
          </p:nvPicPr>
          <p:blipFill>
            <a:blip r:embed="rId1"/>
            <a:srcRect/>
            <a:stretch>
              <a:fillRect/>
            </a:stretch>
          </p:blipFill>
          <p:spPr>
            <a:xfrm rot="17197349" flipH="1">
              <a:off x="7078" y="738"/>
              <a:ext cx="828" cy="763"/>
            </a:xfrm>
            <a:prstGeom prst="rect">
              <a:avLst/>
            </a:prstGeom>
          </p:spPr>
        </p:pic>
      </p:grpSp>
      <p:grpSp>
        <p:nvGrpSpPr>
          <p:cNvPr id="12" name="组合 11"/>
          <p:cNvGrpSpPr/>
          <p:nvPr/>
        </p:nvGrpSpPr>
        <p:grpSpPr>
          <a:xfrm>
            <a:off x="499110" y="1400175"/>
            <a:ext cx="3074670" cy="4519930"/>
            <a:chOff x="211" y="2205"/>
            <a:chExt cx="4842" cy="7118"/>
          </a:xfrm>
        </p:grpSpPr>
        <p:sp>
          <p:nvSpPr>
            <p:cNvPr id="6" name="矩形 5"/>
            <p:cNvSpPr/>
            <p:nvPr>
              <p:custDataLst>
                <p:tags r:id="rId2"/>
              </p:custDataLst>
            </p:nvPr>
          </p:nvSpPr>
          <p:spPr>
            <a:xfrm>
              <a:off x="223" y="2384"/>
              <a:ext cx="4830" cy="6687"/>
            </a:xfrm>
            <a:prstGeom prst="rect">
              <a:avLst/>
            </a:prstGeom>
            <a:noFill/>
          </p:spPr>
          <p:txBody>
            <a:bodyPr wrap="square" rtlCol="0">
              <a:spAutoFit/>
            </a:bodyPr>
            <a:p>
              <a:pPr lvl="0" indent="0" fontAlgn="auto">
                <a:lnSpc>
                  <a:spcPct val="150000"/>
                </a:lnSpc>
              </a:pPr>
              <a:r>
                <a:rPr lang="zh-CN" altLang="en-US" b="1" dirty="0">
                  <a:solidFill>
                    <a:schemeClr val="tx1"/>
                  </a:solidFill>
                </a:rPr>
                <a:t>提升平行语料中参考译文的质量：</a:t>
              </a:r>
              <a:r>
                <a:rPr lang="zh-CN" altLang="en-US" dirty="0">
                  <a:solidFill>
                    <a:schemeClr val="tx1"/>
                  </a:solidFill>
                </a:rPr>
                <a:t>大部分平行语料中的译文都是基础性翻译，缺乏高质量的译文，我们可以</a:t>
              </a:r>
              <a:r>
                <a:rPr lang="zh-CN" altLang="en-US" b="1" dirty="0">
                  <a:solidFill>
                    <a:schemeClr val="tx1"/>
                  </a:solidFill>
                </a:rPr>
                <a:t>请专业翻译人员进行“信”、“达”、“雅”的高质量人工翻译</a:t>
              </a:r>
              <a:r>
                <a:rPr lang="zh-CN" altLang="en-US" dirty="0">
                  <a:solidFill>
                    <a:schemeClr val="tx1"/>
                  </a:solidFill>
                </a:rPr>
                <a:t>，多角度提升参考译文的质量，让模型学到更好的表达方式，进而提升翻译的效果。</a:t>
              </a:r>
              <a:endParaRPr lang="zh-CN" altLang="en-US" dirty="0">
                <a:solidFill>
                  <a:schemeClr val="tx1"/>
                </a:solidFill>
              </a:endParaRPr>
            </a:p>
          </p:txBody>
        </p:sp>
        <p:sp>
          <p:nvSpPr>
            <p:cNvPr id="8" name="圆角矩形 7"/>
            <p:cNvSpPr/>
            <p:nvPr/>
          </p:nvSpPr>
          <p:spPr>
            <a:xfrm>
              <a:off x="211" y="2205"/>
              <a:ext cx="4841" cy="7119"/>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3" name="组合 12"/>
          <p:cNvGrpSpPr/>
          <p:nvPr/>
        </p:nvGrpSpPr>
        <p:grpSpPr>
          <a:xfrm>
            <a:off x="4180840" y="1400175"/>
            <a:ext cx="3242310" cy="4519930"/>
            <a:chOff x="6173" y="2205"/>
            <a:chExt cx="5106" cy="7118"/>
          </a:xfrm>
        </p:grpSpPr>
        <p:sp>
          <p:nvSpPr>
            <p:cNvPr id="2" name="矩形 1"/>
            <p:cNvSpPr/>
            <p:nvPr>
              <p:custDataLst>
                <p:tags r:id="rId3"/>
              </p:custDataLst>
            </p:nvPr>
          </p:nvSpPr>
          <p:spPr>
            <a:xfrm>
              <a:off x="6173" y="2384"/>
              <a:ext cx="5107" cy="6687"/>
            </a:xfrm>
            <a:prstGeom prst="rect">
              <a:avLst/>
            </a:prstGeom>
            <a:noFill/>
          </p:spPr>
          <p:txBody>
            <a:bodyPr wrap="square" rtlCol="0">
              <a:spAutoFit/>
            </a:bodyPr>
            <a:p>
              <a:pPr lvl="0" indent="0" fontAlgn="auto">
                <a:lnSpc>
                  <a:spcPct val="150000"/>
                </a:lnSpc>
              </a:pPr>
              <a:r>
                <a:rPr lang="zh-CN" altLang="en-US" b="1" dirty="0">
                  <a:solidFill>
                    <a:schemeClr val="tx1"/>
                  </a:solidFill>
                </a:rPr>
                <a:t>增强模型背景信息提取的能力：</a:t>
              </a:r>
              <a:endParaRPr lang="zh-CN" altLang="en-US" b="1" dirty="0">
                <a:solidFill>
                  <a:schemeClr val="tx1"/>
                </a:solidFill>
              </a:endParaRPr>
            </a:p>
            <a:p>
              <a:pPr lvl="0" indent="0" fontAlgn="auto">
                <a:lnSpc>
                  <a:spcPct val="150000"/>
                </a:lnSpc>
              </a:pPr>
              <a:r>
                <a:rPr lang="zh-CN" altLang="en-US" dirty="0">
                  <a:solidFill>
                    <a:schemeClr val="tx1"/>
                  </a:solidFill>
                </a:rPr>
                <a:t>在本课题</a:t>
              </a:r>
              <a:r>
                <a:rPr lang="zh-CN" altLang="en-US" dirty="0">
                  <a:solidFill>
                    <a:schemeClr val="tx1"/>
                  </a:solidFill>
                </a:rPr>
                <a:t>中白名单信息量的有限性限制了模型的提取能力，我们可以进一步针对背景信息提取任务设计模型去学习大量文言文语料，对无法从字典中提取出信息的背景，采用互联网搜索或大模型提问的方式调用相关接口来获得背景信息，从而</a:t>
              </a:r>
              <a:r>
                <a:rPr lang="zh-CN" altLang="en-US" b="1" dirty="0">
                  <a:solidFill>
                    <a:schemeClr val="tx1"/>
                  </a:solidFill>
                </a:rPr>
                <a:t>扩充背景信息库</a:t>
              </a:r>
              <a:r>
                <a:rPr lang="zh-CN" altLang="en-US" dirty="0">
                  <a:solidFill>
                    <a:schemeClr val="tx1"/>
                  </a:solidFill>
                </a:rPr>
                <a:t>。</a:t>
              </a:r>
              <a:endParaRPr lang="zh-CN" altLang="en-US" dirty="0">
                <a:solidFill>
                  <a:schemeClr val="tx1"/>
                </a:solidFill>
              </a:endParaRPr>
            </a:p>
          </p:txBody>
        </p:sp>
        <p:sp>
          <p:nvSpPr>
            <p:cNvPr id="9" name="圆角矩形 8"/>
            <p:cNvSpPr/>
            <p:nvPr/>
          </p:nvSpPr>
          <p:spPr>
            <a:xfrm>
              <a:off x="6173" y="2205"/>
              <a:ext cx="5107" cy="7119"/>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grpSp>
        <p:nvGrpSpPr>
          <p:cNvPr id="14" name="组合 13"/>
          <p:cNvGrpSpPr/>
          <p:nvPr/>
        </p:nvGrpSpPr>
        <p:grpSpPr>
          <a:xfrm>
            <a:off x="8031480" y="1400175"/>
            <a:ext cx="3164840" cy="4519930"/>
            <a:chOff x="13221" y="2205"/>
            <a:chExt cx="4984" cy="7118"/>
          </a:xfrm>
        </p:grpSpPr>
        <p:sp>
          <p:nvSpPr>
            <p:cNvPr id="5" name="矩形 4"/>
            <p:cNvSpPr/>
            <p:nvPr>
              <p:custDataLst>
                <p:tags r:id="rId4"/>
              </p:custDataLst>
            </p:nvPr>
          </p:nvSpPr>
          <p:spPr>
            <a:xfrm>
              <a:off x="13221" y="2384"/>
              <a:ext cx="4984" cy="6687"/>
            </a:xfrm>
            <a:prstGeom prst="rect">
              <a:avLst/>
            </a:prstGeom>
            <a:noFill/>
          </p:spPr>
          <p:txBody>
            <a:bodyPr wrap="square" rtlCol="0">
              <a:spAutoFit/>
            </a:bodyPr>
            <a:p>
              <a:pPr lvl="0" indent="0" fontAlgn="auto">
                <a:lnSpc>
                  <a:spcPct val="150000"/>
                </a:lnSpc>
              </a:pPr>
              <a:r>
                <a:rPr lang="zh-CN" altLang="en-US" b="1" dirty="0">
                  <a:solidFill>
                    <a:schemeClr val="tx1"/>
                  </a:solidFill>
                </a:rPr>
                <a:t>探索篇章级翻译：</a:t>
              </a:r>
              <a:endParaRPr lang="zh-CN" altLang="en-US" b="1" dirty="0">
                <a:solidFill>
                  <a:schemeClr val="tx1"/>
                </a:solidFill>
              </a:endParaRPr>
            </a:p>
            <a:p>
              <a:pPr lvl="0" indent="0" fontAlgn="auto">
                <a:lnSpc>
                  <a:spcPct val="150000"/>
                </a:lnSpc>
              </a:pPr>
              <a:r>
                <a:rPr lang="zh-CN" altLang="en-US" dirty="0">
                  <a:solidFill>
                    <a:schemeClr val="tx1"/>
                  </a:solidFill>
                </a:rPr>
                <a:t>本文所做的研究是基于句子级的机器翻译，而</a:t>
              </a:r>
              <a:r>
                <a:rPr lang="zh-CN" altLang="en-US" b="1" dirty="0">
                  <a:solidFill>
                    <a:schemeClr val="tx1"/>
                  </a:solidFill>
                </a:rPr>
                <a:t>篇章级机器翻译</a:t>
              </a:r>
              <a:r>
                <a:rPr lang="zh-CN" altLang="en-US" dirty="0">
                  <a:solidFill>
                    <a:schemeClr val="tx1"/>
                  </a:solidFill>
                </a:rPr>
                <a:t>并不能看作是句子级机器翻译的简单拼接，其</a:t>
              </a:r>
              <a:r>
                <a:rPr lang="zh-CN" altLang="en-US" b="1" dirty="0">
                  <a:solidFill>
                    <a:schemeClr val="tx1"/>
                  </a:solidFill>
                </a:rPr>
                <a:t>对于上下文内容以及背景信息有着更强的依赖性</a:t>
              </a:r>
              <a:r>
                <a:rPr lang="zh-CN" altLang="en-US" dirty="0">
                  <a:solidFill>
                    <a:schemeClr val="tx1"/>
                  </a:solidFill>
                </a:rPr>
                <a:t>，可以尝试修改模型的部分结构以及调整训练参数，增强模型对大量语句的学习能力和处理能力。</a:t>
              </a:r>
              <a:endParaRPr lang="zh-CN" altLang="en-US" dirty="0">
                <a:solidFill>
                  <a:schemeClr val="tx1"/>
                </a:solidFill>
              </a:endParaRPr>
            </a:p>
          </p:txBody>
        </p:sp>
        <p:sp>
          <p:nvSpPr>
            <p:cNvPr id="10" name="圆角矩形 9"/>
            <p:cNvSpPr/>
            <p:nvPr/>
          </p:nvSpPr>
          <p:spPr>
            <a:xfrm>
              <a:off x="13221" y="2205"/>
              <a:ext cx="4984" cy="7119"/>
            </a:xfrm>
            <a:prstGeom prst="roundRect">
              <a:avLst>
                <a:gd name="adj" fmla="val 12224"/>
              </a:avLst>
            </a:prstGeom>
            <a:noFill/>
            <a:ln>
              <a:solidFill>
                <a:srgbClr val="C39E67"/>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ustDataLst>
      <p:tags r:id="rId5"/>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rot="5400000">
            <a:off x="975360" y="-975360"/>
            <a:ext cx="3429000" cy="5379720"/>
          </a:xfrm>
          <a:prstGeom prst="rtTriangle">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直角三角形 6"/>
          <p:cNvSpPr/>
          <p:nvPr/>
        </p:nvSpPr>
        <p:spPr>
          <a:xfrm rot="5400000" flipH="1" flipV="1">
            <a:off x="7787642" y="2453640"/>
            <a:ext cx="3429000" cy="5379720"/>
          </a:xfrm>
          <a:prstGeom prst="rtTriangle">
            <a:avLst/>
          </a:pr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圆角 7"/>
          <p:cNvSpPr/>
          <p:nvPr/>
        </p:nvSpPr>
        <p:spPr>
          <a:xfrm>
            <a:off x="392430" y="401548"/>
            <a:ext cx="11407140" cy="6054904"/>
          </a:xfrm>
          <a:prstGeom prst="roundRect">
            <a:avLst>
              <a:gd name="adj" fmla="val 4586"/>
            </a:avLst>
          </a:prstGeom>
          <a:solidFill>
            <a:schemeClr val="bg1"/>
          </a:solidFill>
          <a:ln>
            <a:noFill/>
          </a:ln>
          <a:effectLst>
            <a:outerShdw blurRad="1905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cxnSp>
        <p:nvCxnSpPr>
          <p:cNvPr id="11" name="直接连接符 10"/>
          <p:cNvCxnSpPr/>
          <p:nvPr/>
        </p:nvCxnSpPr>
        <p:spPr>
          <a:xfrm>
            <a:off x="1884000" y="4234376"/>
            <a:ext cx="8424000"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2" name="文本框 1"/>
          <p:cNvSpPr txBox="1"/>
          <p:nvPr/>
        </p:nvSpPr>
        <p:spPr>
          <a:xfrm>
            <a:off x="1722120" y="2853651"/>
            <a:ext cx="8747760" cy="1106805"/>
          </a:xfrm>
          <a:prstGeom prst="rect">
            <a:avLst/>
          </a:prstGeom>
          <a:noFill/>
        </p:spPr>
        <p:txBody>
          <a:bodyPr wrap="square" rtlCol="0">
            <a:spAutoFit/>
          </a:bodyPr>
          <a:lstStyle/>
          <a:p>
            <a:pPr algn="ctr"/>
            <a:r>
              <a:rPr lang="zh-CN" altLang="en-US" sz="6600" dirty="0">
                <a:latin typeface="等线" panose="02010600030101010101" charset="-122"/>
                <a:ea typeface="等线" panose="02010600030101010101" charset="-122"/>
                <a:cs typeface="等线" panose="02010600030101010101" charset="-122"/>
              </a:rPr>
              <a:t>敬请批评指正</a:t>
            </a:r>
            <a:endParaRPr lang="en-US" altLang="zh-CN" sz="1400" dirty="0">
              <a:latin typeface="等线" panose="02010600030101010101" charset="-122"/>
              <a:ea typeface="等线" panose="02010600030101010101" charset="-122"/>
              <a:cs typeface="等线" panose="02010600030101010101" charset="-122"/>
            </a:endParaRPr>
          </a:p>
        </p:txBody>
      </p:sp>
      <p:cxnSp>
        <p:nvCxnSpPr>
          <p:cNvPr id="12" name="直接连接符 11"/>
          <p:cNvCxnSpPr/>
          <p:nvPr/>
        </p:nvCxnSpPr>
        <p:spPr>
          <a:xfrm>
            <a:off x="1884000" y="2623943"/>
            <a:ext cx="8424000" cy="0"/>
          </a:xfrm>
          <a:prstGeom prst="line">
            <a:avLst/>
          </a:prstGeom>
          <a:ln w="15875">
            <a:solidFill>
              <a:srgbClr val="3F3B3A"/>
            </a:solidFill>
          </a:ln>
        </p:spPr>
        <p:style>
          <a:lnRef idx="1">
            <a:schemeClr val="accent1"/>
          </a:lnRef>
          <a:fillRef idx="0">
            <a:schemeClr val="accent1"/>
          </a:fillRef>
          <a:effectRef idx="0">
            <a:schemeClr val="accent1"/>
          </a:effectRef>
          <a:fontRef idx="minor">
            <a:schemeClr val="tx1"/>
          </a:fontRef>
        </p:style>
      </p:cxnSp>
      <p:sp>
        <p:nvSpPr>
          <p:cNvPr id="14" name="Freeform 5"/>
          <p:cNvSpPr/>
          <p:nvPr/>
        </p:nvSpPr>
        <p:spPr>
          <a:xfrm>
            <a:off x="5162867" y="1374638"/>
            <a:ext cx="1866266" cy="1085280"/>
          </a:xfrm>
          <a:custGeom>
            <a:avLst/>
            <a:gdLst/>
            <a:ahLst/>
            <a:cxnLst>
              <a:cxn ang="0">
                <a:pos x="wd2" y="hd2"/>
              </a:cxn>
              <a:cxn ang="5400000">
                <a:pos x="wd2" y="hd2"/>
              </a:cxn>
              <a:cxn ang="10800000">
                <a:pos x="wd2" y="hd2"/>
              </a:cxn>
              <a:cxn ang="16200000">
                <a:pos x="wd2" y="hd2"/>
              </a:cxn>
            </a:cxnLst>
            <a:rect l="0" t="0" r="r" b="b"/>
            <a:pathLst>
              <a:path w="21600" h="21600" extrusionOk="0">
                <a:moveTo>
                  <a:pt x="20978" y="16267"/>
                </a:moveTo>
                <a:cubicBezTo>
                  <a:pt x="20978" y="15467"/>
                  <a:pt x="20823" y="14933"/>
                  <a:pt x="20357" y="14933"/>
                </a:cubicBezTo>
                <a:cubicBezTo>
                  <a:pt x="20357" y="7200"/>
                  <a:pt x="20357" y="7200"/>
                  <a:pt x="20357" y="7200"/>
                </a:cubicBezTo>
                <a:cubicBezTo>
                  <a:pt x="21600" y="6400"/>
                  <a:pt x="21600" y="6400"/>
                  <a:pt x="21600" y="6400"/>
                </a:cubicBezTo>
                <a:cubicBezTo>
                  <a:pt x="10878" y="0"/>
                  <a:pt x="10878" y="0"/>
                  <a:pt x="10878" y="0"/>
                </a:cubicBezTo>
                <a:cubicBezTo>
                  <a:pt x="0" y="6400"/>
                  <a:pt x="0" y="6400"/>
                  <a:pt x="0" y="6400"/>
                </a:cubicBezTo>
                <a:cubicBezTo>
                  <a:pt x="10878" y="12800"/>
                  <a:pt x="10878" y="12800"/>
                  <a:pt x="10878" y="12800"/>
                </a:cubicBezTo>
                <a:cubicBezTo>
                  <a:pt x="19735" y="7467"/>
                  <a:pt x="19735" y="7467"/>
                  <a:pt x="19735" y="7467"/>
                </a:cubicBezTo>
                <a:cubicBezTo>
                  <a:pt x="19735" y="14933"/>
                  <a:pt x="19735" y="14933"/>
                  <a:pt x="19735" y="14933"/>
                </a:cubicBezTo>
                <a:cubicBezTo>
                  <a:pt x="19424" y="14933"/>
                  <a:pt x="19114" y="15467"/>
                  <a:pt x="19114" y="16267"/>
                </a:cubicBezTo>
                <a:cubicBezTo>
                  <a:pt x="19114" y="16800"/>
                  <a:pt x="19424" y="17067"/>
                  <a:pt x="19580" y="17067"/>
                </a:cubicBezTo>
                <a:cubicBezTo>
                  <a:pt x="19114" y="21600"/>
                  <a:pt x="19114" y="21600"/>
                  <a:pt x="19114" y="21600"/>
                </a:cubicBezTo>
                <a:cubicBezTo>
                  <a:pt x="20978" y="21600"/>
                  <a:pt x="20978" y="21600"/>
                  <a:pt x="20978" y="21600"/>
                </a:cubicBezTo>
                <a:cubicBezTo>
                  <a:pt x="20512" y="17067"/>
                  <a:pt x="20512" y="17067"/>
                  <a:pt x="20512" y="17067"/>
                </a:cubicBezTo>
                <a:cubicBezTo>
                  <a:pt x="20823" y="17067"/>
                  <a:pt x="20978" y="16800"/>
                  <a:pt x="20978" y="16267"/>
                </a:cubicBezTo>
                <a:close/>
                <a:moveTo>
                  <a:pt x="4351" y="11200"/>
                </a:moveTo>
                <a:cubicBezTo>
                  <a:pt x="4351" y="18400"/>
                  <a:pt x="4351" y="18400"/>
                  <a:pt x="4351" y="18400"/>
                </a:cubicBezTo>
                <a:cubicBezTo>
                  <a:pt x="4351" y="20267"/>
                  <a:pt x="7304" y="21600"/>
                  <a:pt x="10878" y="21600"/>
                </a:cubicBezTo>
                <a:cubicBezTo>
                  <a:pt x="14296" y="21600"/>
                  <a:pt x="17249" y="20267"/>
                  <a:pt x="17249" y="18400"/>
                </a:cubicBezTo>
                <a:cubicBezTo>
                  <a:pt x="17249" y="11200"/>
                  <a:pt x="17249" y="11200"/>
                  <a:pt x="17249" y="11200"/>
                </a:cubicBezTo>
                <a:cubicBezTo>
                  <a:pt x="10878" y="14933"/>
                  <a:pt x="10878" y="14933"/>
                  <a:pt x="10878" y="14933"/>
                </a:cubicBezTo>
                <a:lnTo>
                  <a:pt x="4351" y="11200"/>
                </a:lnTo>
                <a:close/>
              </a:path>
            </a:pathLst>
          </a:custGeom>
          <a:solidFill>
            <a:srgbClr val="63065F"/>
          </a:solidFill>
          <a:ln w="12700" cap="flat">
            <a:noFill/>
            <a:miter lim="400000"/>
          </a:ln>
          <a:effectLst/>
        </p:spPr>
        <p:txBody>
          <a:bodyPr wrap="square" lIns="91439" tIns="91439" rIns="91439" bIns="91439" numCol="1" anchor="t">
            <a:noAutofit/>
          </a:bodyPr>
          <a:lstStyle/>
          <a:p/>
        </p:txBody>
      </p:sp>
      <p:sp>
        <p:nvSpPr>
          <p:cNvPr id="5" name="矩形 4"/>
          <p:cNvSpPr/>
          <p:nvPr/>
        </p:nvSpPr>
        <p:spPr>
          <a:xfrm>
            <a:off x="11083616" y="581460"/>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10871324" y="581460"/>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10659032" y="581460"/>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p:cNvSpPr/>
          <p:nvPr/>
        </p:nvSpPr>
        <p:spPr>
          <a:xfrm rot="5400000">
            <a:off x="572342" y="5740497"/>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rot="5400000">
            <a:off x="572342" y="5528205"/>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rot="5400000">
            <a:off x="572342" y="5315913"/>
            <a:ext cx="115200" cy="115200"/>
          </a:xfrm>
          <a:prstGeom prst="rect">
            <a:avLst/>
          </a:prstGeom>
          <a:solidFill>
            <a:srgbClr val="3F3B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5" name="图片占位符 34" descr="03校标，中、英文校名组合"/>
          <p:cNvPicPr>
            <a:picLocks noChangeAspect="1"/>
          </p:cNvPicPr>
          <p:nvPr/>
        </p:nvPicPr>
        <p:blipFill>
          <a:blip r:embed="rId1">
            <a:clrChange>
              <a:clrFrom>
                <a:srgbClr val="FFFFFF">
                  <a:alpha val="100000"/>
                </a:srgbClr>
              </a:clrFrom>
              <a:clrTo>
                <a:srgbClr val="FFFFFF">
                  <a:alpha val="100000"/>
                  <a:alpha val="0"/>
                </a:srgbClr>
              </a:clrTo>
            </a:clrChange>
          </a:blip>
          <a:stretch>
            <a:fillRect/>
          </a:stretch>
        </p:blipFill>
        <p:spPr>
          <a:xfrm>
            <a:off x="5040630" y="5655310"/>
            <a:ext cx="2110740" cy="671195"/>
          </a:xfrm>
          <a:prstGeom prst="rect">
            <a:avLst/>
          </a:prstGeom>
        </p:spPr>
      </p:pic>
      <p:pic>
        <p:nvPicPr>
          <p:cNvPr id="13" name="图片 12" descr="logo-15"/>
          <p:cNvPicPr>
            <a:picLocks noChangeAspect="1"/>
          </p:cNvPicPr>
          <p:nvPr/>
        </p:nvPicPr>
        <p:blipFill>
          <a:blip r:embed="rId2"/>
          <a:srcRect r="51485"/>
          <a:stretch>
            <a:fillRect/>
          </a:stretch>
        </p:blipFill>
        <p:spPr>
          <a:xfrm>
            <a:off x="287020" y="260985"/>
            <a:ext cx="1047750" cy="1212215"/>
          </a:xfrm>
          <a:prstGeom prst="rect">
            <a:avLst/>
          </a:prstGeom>
        </p:spPr>
      </p:pic>
      <p:sp>
        <p:nvSpPr>
          <p:cNvPr id="3" name="文本框 2"/>
          <p:cNvSpPr txBox="1"/>
          <p:nvPr/>
        </p:nvSpPr>
        <p:spPr>
          <a:xfrm>
            <a:off x="1884045" y="4733290"/>
            <a:ext cx="8615045" cy="460375"/>
          </a:xfrm>
          <a:prstGeom prst="rect">
            <a:avLst/>
          </a:prstGeom>
          <a:noFill/>
        </p:spPr>
        <p:txBody>
          <a:bodyPr wrap="square" rtlCol="0">
            <a:spAutoFit/>
          </a:bodyPr>
          <a:p>
            <a:pPr algn="ctr"/>
            <a:r>
              <a:rPr lang="zh-CN" altLang="en-US" sz="2400" dirty="0">
                <a:latin typeface="等线" panose="02010600030101010101" charset="-122"/>
                <a:ea typeface="等线" panose="02010600030101010101" charset="-122"/>
                <a:cs typeface="等线" panose="02010600030101010101" charset="-122"/>
              </a:rPr>
              <a:t>指导老师：葛季栋</a:t>
            </a:r>
            <a:r>
              <a:rPr lang="en-US" altLang="zh-CN" sz="2400" dirty="0">
                <a:latin typeface="等线" panose="02010600030101010101" charset="-122"/>
                <a:ea typeface="等线" panose="02010600030101010101" charset="-122"/>
                <a:cs typeface="等线" panose="02010600030101010101" charset="-122"/>
              </a:rPr>
              <a:t>  </a:t>
            </a:r>
            <a:r>
              <a:rPr lang="zh-CN" altLang="en-US" sz="2400" dirty="0">
                <a:latin typeface="等线" panose="02010600030101010101" charset="-122"/>
                <a:ea typeface="等线" panose="02010600030101010101" charset="-122"/>
                <a:cs typeface="等线" panose="02010600030101010101" charset="-122"/>
              </a:rPr>
              <a:t>汇报人：余彰恒</a:t>
            </a:r>
            <a:r>
              <a:rPr lang="en-US" altLang="zh-CN" sz="2400" dirty="0">
                <a:latin typeface="等线" panose="02010600030101010101" charset="-122"/>
                <a:ea typeface="等线" panose="02010600030101010101" charset="-122"/>
                <a:cs typeface="等线" panose="02010600030101010101" charset="-122"/>
              </a:rPr>
              <a:t>  </a:t>
            </a:r>
            <a:r>
              <a:rPr lang="zh-CN" altLang="en-US" sz="2400" dirty="0">
                <a:latin typeface="等线" panose="02010600030101010101" charset="-122"/>
                <a:ea typeface="等线" panose="02010600030101010101" charset="-122"/>
                <a:cs typeface="等线" panose="02010600030101010101" charset="-122"/>
              </a:rPr>
              <a:t>时间：</a:t>
            </a:r>
            <a:r>
              <a:rPr lang="en-US" altLang="zh-CN" sz="2400" dirty="0">
                <a:latin typeface="等线" panose="02010600030101010101" charset="-122"/>
                <a:ea typeface="等线" panose="02010600030101010101" charset="-122"/>
                <a:cs typeface="等线" panose="02010600030101010101" charset="-122"/>
              </a:rPr>
              <a:t>2024.05.16</a:t>
            </a:r>
            <a:endParaRPr lang="en-US" altLang="zh-CN" sz="2400" dirty="0">
              <a:latin typeface="等线" panose="02010600030101010101" charset="-122"/>
              <a:ea typeface="等线" panose="02010600030101010101" charset="-122"/>
              <a:cs typeface="等线" panose="02010600030101010101" charset="-122"/>
            </a:endParaRPr>
          </a:p>
        </p:txBody>
      </p:sp>
    </p:spTree>
  </p:cSld>
  <p:clrMapOvr>
    <a:masterClrMapping/>
  </p:clrMapOvr>
  <mc:AlternateContent xmlns:mc="http://schemas.openxmlformats.org/markup-compatibility/2006">
    <mc:Choice xmlns:p14="http://schemas.microsoft.com/office/powerpoint/2010/main" Requires="p14">
      <p:transition p14:dur="500"/>
    </mc:Choice>
    <mc:Fallback>
      <p:transition/>
    </mc:Fallback>
  </mc:AlternateContent>
  <p:timing>
    <p:tnLst>
      <p:par>
        <p:cTn id="1" dur="indefinite" restart="never" nodeType="tmRoot"/>
      </p:par>
    </p:tnLst>
    <p:bldLst>
      <p:bldP spid="6" grpId="0" animBg="1"/>
      <p:bldP spid="7" grpId="0" animBg="1"/>
      <p:bldP spid="8" grpId="0" animBg="1"/>
      <p:bldP spid="2" grpId="0"/>
      <p:bldP spid="14" grpId="0" animBg="1"/>
      <p:bldP spid="5" grpId="0" animBg="1"/>
      <p:bldP spid="20" grpId="0" animBg="1"/>
      <p:bldP spid="21" grpId="0" animBg="1"/>
      <p:bldP spid="25" grpId="0" animBg="1"/>
      <p:bldP spid="26" grpId="0" animBg="1"/>
      <p:bldP spid="27" grpId="0" animBg="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5.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56.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57.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58.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59.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60.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61.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62.xml><?xml version="1.0" encoding="utf-8"?>
<p:tagLst xmlns:p="http://schemas.openxmlformats.org/presentationml/2006/main">
  <p:tag name="KSO_WM_BEAUTIFY_FLAG" val="#wm#"/>
  <p:tag name="KSO_WM_TEMPLATE_CATEGORY" val="custom"/>
  <p:tag name="KSO_WM_TEMPLATE_INDEX" val="20205081"/>
</p:tagLst>
</file>

<file path=ppt/tags/tag6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1"/>
  <p:tag name="KSO_WM_UNIT_TYPE" val="i"/>
  <p:tag name="KSO_WM_UNIT_INDEX"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2"/>
  <p:tag name="KSO_WM_UNIT_TYPE" val="i"/>
  <p:tag name="KSO_WM_UNIT_INDEX" val="2"/>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5396"/>
  <p:tag name="KSO_WM_UNIT_ID" val="custom20205396_7*a*1"/>
  <p:tag name="KSO_WM_UNIT_ISNUMDGMTITLE" val="0"/>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72.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1"/>
  <p:tag name="KSO_WM_UNIT_TYPE" val="i"/>
  <p:tag name="KSO_WM_UNIT_INDEX" val="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2"/>
  <p:tag name="KSO_WM_UNIT_TYPE" val="i"/>
  <p:tag name="KSO_WM_UNIT_INDEX" val="2"/>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5396"/>
  <p:tag name="KSO_WM_UNIT_ID" val="custom20205396_7*a*1"/>
  <p:tag name="KSO_WM_UNIT_ISNUMDGMTITLE" val="0"/>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
  <p:tag name="KSO_WM_DIAGRAM_VIRTUALLY_FRAME" val="{&quot;height&quot;:749.15,&quot;left&quot;:14.65,&quot;top&quot;:86.75,&quot;width&quot;:927.55}"/>
</p:tagLst>
</file>

<file path=ppt/tags/tag78.xml><?xml version="1.0" encoding="utf-8"?>
<p:tagLst xmlns:p="http://schemas.openxmlformats.org/presentationml/2006/main">
  <p:tag name="KSO_WM_BEAUTIFY_FLAG" val=""/>
  <p:tag name="KSO_WM_DIAGRAM_VIRTUALLY_FRAME" val="{&quot;height&quot;:749.15,&quot;left&quot;:14.65,&quot;top&quot;:86.75,&quot;width&quot;:927.55}"/>
</p:tagLst>
</file>

<file path=ppt/tags/tag79.xml><?xml version="1.0" encoding="utf-8"?>
<p:tagLst xmlns:p="http://schemas.openxmlformats.org/presentationml/2006/main">
  <p:tag name="KSO_WM_BEAUTIFY_FLAG" val=""/>
  <p:tag name="KSO_WM_DIAGRAM_VIRTUALLY_FRAME" val="{&quot;height&quot;:749.15,&quot;left&quot;:14.65,&quot;top&quot;:86.75,&quot;width&quot;:927.55}"/>
</p:tagLst>
</file>

<file path=ppt/tags/tag80.xml><?xml version="1.0" encoding="utf-8"?>
<p:tagLst xmlns:p="http://schemas.openxmlformats.org/presentationml/2006/main">
  <p:tag name="KSO_WM_DIAGRAM_VIRTUALLY_FRAME" val="{&quot;height&quot;:749.15,&quot;left&quot;:14.65,&quot;top&quot;:86.75,&quot;width&quot;:927.55}"/>
</p:tagLst>
</file>

<file path=ppt/tags/tag81.xml><?xml version="1.0" encoding="utf-8"?>
<p:tagLst xmlns:p="http://schemas.openxmlformats.org/presentationml/2006/main">
  <p:tag name="KSO_WM_DIAGRAM_VIRTUALLY_FRAME" val="{&quot;height&quot;:749.15,&quot;left&quot;:14.65,&quot;top&quot;:86.75,&quot;width&quot;:927.55}"/>
</p:tagLst>
</file>

<file path=ppt/tags/tag82.xml><?xml version="1.0" encoding="utf-8"?>
<p:tagLst xmlns:p="http://schemas.openxmlformats.org/presentationml/2006/main">
  <p:tag name="KSO_WM_DIAGRAM_VIRTUALLY_FRAME" val="{&quot;height&quot;:749.15,&quot;left&quot;:14.65,&quot;top&quot;:86.75,&quot;width&quot;:927.55}"/>
</p:tagLst>
</file>

<file path=ppt/tags/tag8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0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1"/>
  <p:tag name="KSO_WM_UNIT_TYPE" val="i"/>
  <p:tag name="KSO_WM_UNIT_INDEX" val="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2"/>
  <p:tag name="KSO_WM_UNIT_TYPE" val="i"/>
  <p:tag name="KSO_WM_UNIT_INDEX" val="2"/>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5396"/>
  <p:tag name="KSO_WM_UNIT_ID" val="custom20205396_7*a*1"/>
  <p:tag name="KSO_WM_UNIT_ISNUMDGMTITLE" val="0"/>
</p:tagLst>
</file>

<file path=ppt/tags/tag107.xml><?xml version="1.0" encoding="utf-8"?>
<p:tagLst xmlns:p="http://schemas.openxmlformats.org/presentationml/2006/main">
  <p:tag name="KSO_WM_BEAUTIFY_FLAG" val="#wm#"/>
  <p:tag name="KSO_WM_TEMPLATE_CATEGORY" val="custom"/>
  <p:tag name="KSO_WM_TEMPLATE_INDEX" val="20205081"/>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LAYERLEVEL" val="1"/>
  <p:tag name="KSO_WM_TAG_VERSION" val="1.0"/>
  <p:tag name="KSO_WM_BEAUTIFY_FLAG" val="#wm#"/>
  <p:tag name="KSO_WM_UNIT_NOCLEAR" val="0"/>
  <p:tag name="KSO_WM_UNIT_VALUE" val="1"/>
  <p:tag name="KSO_WM_UNIT_TYPE" val="e"/>
  <p:tag name="KSO_WM_UNIT_INDEX" val="1"/>
  <p:tag name="KSO_WM_UNIT_PRESET_TEXT" val="01"/>
  <p:tag name="KSO_WM_TEMPLATE_CATEGORY" val="custom"/>
  <p:tag name="KSO_WM_TEMPLATE_INDEX" val="20205396"/>
  <p:tag name="KSO_WM_UNIT_ID" val="custom20205396_7*e*1"/>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1"/>
  <p:tag name="KSO_WM_UNIT_TYPE" val="i"/>
  <p:tag name="KSO_WM_UNIT_INDEX" val="1"/>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TEMPLATE_CATEGORY" val="custom"/>
  <p:tag name="KSO_WM_TEMPLATE_INDEX" val="20205396"/>
  <p:tag name="KSO_WM_UNIT_ID" val="custom20205396_7*i*2"/>
  <p:tag name="KSO_WM_UNIT_TYPE" val="i"/>
  <p:tag name="KSO_WM_UNIT_INDEX" val="2"/>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LAYERLEVEL" val="1"/>
  <p:tag name="KSO_WM_TAG_VERSION" val="1.0"/>
  <p:tag name="KSO_WM_BEAUTIFY_FLAG" val="#wm#"/>
  <p:tag name="KSO_WM_UNIT_ISCONTENTSTITLE" val="0"/>
  <p:tag name="KSO_WM_UNIT_NOCLEAR" val="0"/>
  <p:tag name="KSO_WM_UNIT_VALUE" val="9"/>
  <p:tag name="KSO_WM_UNIT_TYPE" val="a"/>
  <p:tag name="KSO_WM_UNIT_INDEX" val="1"/>
  <p:tag name="KSO_WM_UNIT_PRESET_TEXT" val="单击此处添加标题"/>
  <p:tag name="KSO_WM_TEMPLATE_CATEGORY" val="custom"/>
  <p:tag name="KSO_WM_TEMPLATE_INDEX" val="20205396"/>
  <p:tag name="KSO_WM_UNIT_ID" val="custom20205396_7*a*1"/>
  <p:tag name="KSO_WM_UNIT_ISNUMDGMTITLE" val="0"/>
</p:tagLst>
</file>

<file path=ppt/tags/tag141.xml><?xml version="1.0" encoding="utf-8"?>
<p:tagLst xmlns:p="http://schemas.openxmlformats.org/presentationml/2006/main">
  <p:tag name="KSO_WM_BEAUTIFY_FLAG" val="#wm#"/>
  <p:tag name="KSO_WM_TEMPLATE_CATEGORY" val="custom"/>
  <p:tag name="KSO_WM_TEMPLATE_INDEX" val="20205081"/>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commondata" val="eyJoZGlkIjoiYTVmMzE3MmY2NzQ0ZWE3MGE5NjM0YmY3ZDk0MGYzMDcifQ=="/>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4618</Words>
  <Application>WPS 演示</Application>
  <PresentationFormat>宽屏</PresentationFormat>
  <Paragraphs>194</Paragraphs>
  <Slides>23</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23</vt:i4>
      </vt:variant>
    </vt:vector>
  </HeadingPairs>
  <TitlesOfParts>
    <vt:vector size="32" baseType="lpstr">
      <vt:lpstr>Arial</vt:lpstr>
      <vt:lpstr>宋体</vt:lpstr>
      <vt:lpstr>Wingdings</vt:lpstr>
      <vt:lpstr>微软雅黑</vt:lpstr>
      <vt:lpstr>Wingdings</vt:lpstr>
      <vt:lpstr>等线</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PC</dc:creator>
  <cp:lastModifiedBy>文峰</cp:lastModifiedBy>
  <cp:revision>476</cp:revision>
  <dcterms:created xsi:type="dcterms:W3CDTF">2019-06-19T02:08:00Z</dcterms:created>
  <dcterms:modified xsi:type="dcterms:W3CDTF">2025-05-08T08:08:10Z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2052-12.1.0.20784</vt:lpwstr>
  </property>
  <property fmtid="{D5CDD505-2E9C-101B-9397-08002B2CF9AE}" pid="3" name="ICV">
    <vt:lpwstr>565C04C1B32C44D3BE19055F9FA4DD47_13</vt:lpwstr>
  </property>
</Properties>
</file>