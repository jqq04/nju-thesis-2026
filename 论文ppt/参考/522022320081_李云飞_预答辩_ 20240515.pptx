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84" r:id="rId5"/>
    <p:sldId id="266" r:id="rId6"/>
    <p:sldId id="285" r:id="rId7"/>
    <p:sldId id="286" r:id="rId8"/>
    <p:sldId id="287" r:id="rId9"/>
    <p:sldId id="288" r:id="rId10"/>
    <p:sldId id="331" r:id="rId11"/>
    <p:sldId id="293" r:id="rId12"/>
    <p:sldId id="330" r:id="rId13"/>
    <p:sldId id="290" r:id="rId14"/>
    <p:sldId id="341" r:id="rId15"/>
    <p:sldId id="299" r:id="rId16"/>
    <p:sldId id="298" r:id="rId17"/>
    <p:sldId id="340" r:id="rId18"/>
    <p:sldId id="300" r:id="rId19"/>
    <p:sldId id="301" r:id="rId20"/>
    <p:sldId id="329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ABDC"/>
    <a:srgbClr val="FFFFFF"/>
    <a:srgbClr val="FFCCCC"/>
    <a:srgbClr val="6B0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19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3-29T18:56:00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4386.59 8168.76,'0'0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3-29T18:56:00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4151.59 8233.76,'0'0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3-29T18:56:00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12365.6 5734.76,'0'0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3-29T18:56:00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13211.6 5499.76,'0'0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3-29T18:56:00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13914.6 4627.76,'0'0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ED317-A77B-4EE4-AFE9-C3EEF805DE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91C4A-6211-45E0-9094-07889331A9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各位评审老师好，我是李云飞，我的答辩题目是《》。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我的答辩内容项目背景、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xxx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四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个方面。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首先，项目背景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在用户激增和业务场景复杂化的影响下，微服务架构广泛被使用，其</a:t>
            </a:r>
            <a:r>
              <a:rPr lang="en-US" altLang="zh-CN"/>
              <a:t>API</a:t>
            </a:r>
            <a:r>
              <a:rPr lang="zh-CN" altLang="en-US"/>
              <a:t>网关的性能及稳定性的要求日益增加，微服务类型及服务间通信协议出现多样化的特点。</a:t>
            </a:r>
            <a:endParaRPr lang="zh-CN" altLang="en-US"/>
          </a:p>
          <a:p>
            <a:r>
              <a:rPr lang="zh-CN" altLang="en-US"/>
              <a:t>对于传统的</a:t>
            </a:r>
            <a:r>
              <a:rPr lang="en-US" altLang="zh-CN"/>
              <a:t>API</a:t>
            </a:r>
            <a:r>
              <a:rPr lang="zh-CN" altLang="en-US"/>
              <a:t>网关开源组件，大多无法支持多类型服务的直接调用，且性能和监控能力较弱，企业往往</a:t>
            </a:r>
            <a:r>
              <a:rPr lang="zh-CN" altLang="en-US">
                <a:sym typeface="+mn-ea"/>
              </a:rPr>
              <a:t>需要进行二次开发，造成成本增加的问题。</a:t>
            </a:r>
            <a:endParaRPr lang="zh-CN" altLang="en-US">
              <a:sym typeface="+mn-ea"/>
            </a:endParaRPr>
          </a:p>
          <a:p>
            <a:r>
              <a:rPr lang="zh-CN" altLang="en-US"/>
              <a:t>本文主要工作则是设计一个支持多协议转换的</a:t>
            </a:r>
            <a:r>
              <a:rPr lang="en-US" altLang="zh-CN"/>
              <a:t>API</a:t>
            </a:r>
            <a:r>
              <a:rPr lang="zh-CN" altLang="en-US"/>
              <a:t>网关，并采用高性能和监控技术，提升其性能和监控能力。</a:t>
            </a:r>
            <a:endParaRPr lang="zh-CN" altLang="en-US"/>
          </a:p>
          <a:p>
            <a:r>
              <a:rPr lang="en-US" altLang="zh-CN"/>
              <a:t>-------------------------------------------------------------------------------------------------------------</a:t>
            </a:r>
            <a:endParaRPr lang="zh-CN" altLang="en-US"/>
          </a:p>
          <a:p>
            <a:r>
              <a:rPr lang="zh-CN" altLang="en-US"/>
              <a:t>》》》》》通过本文的研究，可以有效降低企业自研成本，提微服务治理能力。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API</a:t>
            </a:r>
            <a:r>
              <a:rPr lang="zh-CN" altLang="en-US"/>
              <a:t>网关在微服务架构作为流量入口，主要起着：</a:t>
            </a:r>
            <a:endParaRPr lang="zh-CN" altLang="en-US"/>
          </a:p>
          <a:p>
            <a:r>
              <a:rPr lang="zh-CN" altLang="en-US"/>
              <a:t>事前的安全防护、事中的路由调用、事后的监控反馈作用。</a:t>
            </a:r>
            <a:endParaRPr lang="zh-CN" altLang="en-US"/>
          </a:p>
          <a:p>
            <a:r>
              <a:rPr lang="zh-CN" altLang="en-US"/>
              <a:t>而本文的研究重点在于事中、事后的增强。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20</a:t>
            </a:r>
            <a:r>
              <a:rPr lang="zh-CN" altLang="en-US"/>
              <a:t>秒。第一部分大概</a:t>
            </a:r>
            <a:r>
              <a:rPr lang="en-US" altLang="zh-CN"/>
              <a:t>1min40s(</a:t>
            </a:r>
            <a:r>
              <a:rPr lang="zh-CN" altLang="en-US"/>
              <a:t>含开篇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第二部分，需求分析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本系统主要包括请求用户、开发人员、运维人员三种角色。</a:t>
            </a:r>
            <a:endParaRPr lang="zh-CN" altLang="en-US"/>
          </a:p>
          <a:p>
            <a:r>
              <a:rPr lang="zh-CN" altLang="en-US"/>
              <a:t>对于开发人员需要进行插件的定义和业务服务的接入，</a:t>
            </a:r>
            <a:endParaRPr lang="zh-CN" altLang="en-US"/>
          </a:p>
          <a:p>
            <a:r>
              <a:rPr lang="zh-CN" altLang="en-US"/>
              <a:t>运维人员需要对服务、插件、规则等信息查询或增删改管理，以及能够实现监控网关，接收告警通知。</a:t>
            </a:r>
            <a:endParaRPr lang="zh-CN" altLang="en-US"/>
          </a:p>
          <a:p>
            <a:r>
              <a:rPr lang="zh-CN" altLang="en-US">
                <a:sym typeface="+mn-ea"/>
              </a:rPr>
              <a:t>请求用户进行请求网关，网关服务能够实现相应的插件过滤以及协议转换。</a:t>
            </a:r>
            <a:endParaRPr lang="zh-CN" altLang="en-US"/>
          </a:p>
          <a:p>
            <a:r>
              <a:rPr lang="zh-CN" altLang="en-US"/>
              <a:t>根据用户的需求，功能设计可分为</a:t>
            </a:r>
            <a:r>
              <a:rPr lang="zh-CN" altLang="en-US" dirty="0">
                <a:latin typeface="+mn-ea"/>
                <a:sym typeface="+mn-ea"/>
              </a:rPr>
              <a:t>业务服务接入、通信协议转换、动态插件管理、运维管理、监控管理几个关键功能。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本系统的业务基本流程为</a:t>
            </a:r>
            <a:endParaRPr lang="zh-CN" altLang="en-US"/>
          </a:p>
          <a:p>
            <a:r>
              <a:rPr lang="zh-CN" altLang="en-US"/>
              <a:t>首先，开发人员定义插件并运行网关服务，引入本</a:t>
            </a:r>
            <a:r>
              <a:rPr lang="en-US" altLang="zh-CN"/>
              <a:t>SDK</a:t>
            </a:r>
            <a:r>
              <a:rPr lang="zh-CN" altLang="en-US"/>
              <a:t>并开发业务服务。然后，运维人员在运维管理后台编排插件、添加规则，为</a:t>
            </a:r>
            <a:r>
              <a:rPr lang="en-US" altLang="zh-CN"/>
              <a:t>API</a:t>
            </a:r>
            <a:r>
              <a:rPr lang="zh-CN" altLang="en-US"/>
              <a:t>接口配置规则。请求用户再请求网关，网关进行中间过滤并响应。运维人员则可在运维管理后台及监控系统查看相关指标信息。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第三部分，系统设计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本系统的架构设计采用分层设计。</a:t>
            </a:r>
            <a:endParaRPr lang="zh-CN" altLang="en-US"/>
          </a:p>
          <a:p>
            <a:r>
              <a:rPr lang="zh-CN" altLang="en-US"/>
              <a:t>应用层：为用户提供了直接的操作界面或接口，采用</a:t>
            </a:r>
            <a:r>
              <a:rPr lang="en-US" altLang="zh-CN"/>
              <a:t>Vue</a:t>
            </a:r>
            <a:r>
              <a:rPr lang="zh-CN" altLang="en-US"/>
              <a:t>实现的</a:t>
            </a:r>
            <a:r>
              <a:rPr lang="en-US" altLang="zh-CN"/>
              <a:t>xxx,</a:t>
            </a:r>
            <a:r>
              <a:rPr lang="zh-CN" altLang="en-US"/>
              <a:t>以及</a:t>
            </a:r>
            <a:r>
              <a:rPr lang="en-US" altLang="zh-CN"/>
              <a:t>Prometheus</a:t>
            </a:r>
            <a:r>
              <a:rPr lang="zh-CN" altLang="en-US"/>
              <a:t>的</a:t>
            </a:r>
            <a:r>
              <a:rPr lang="en-US" altLang="zh-CN"/>
              <a:t>Web</a:t>
            </a:r>
            <a:r>
              <a:rPr lang="zh-CN" altLang="en-US"/>
              <a:t>，</a:t>
            </a:r>
            <a:endParaRPr lang="en-US" altLang="zh-CN"/>
          </a:p>
          <a:p>
            <a:r>
              <a:rPr lang="zh-CN" altLang="en-US"/>
              <a:t>业务层：实现系统的关键处理逻辑，包括，轻量级的业务服务接入</a:t>
            </a:r>
            <a:r>
              <a:rPr lang="en-US" altLang="zh-CN"/>
              <a:t>SDK</a:t>
            </a:r>
            <a:r>
              <a:rPr lang="zh-CN" altLang="en-US"/>
              <a:t>，采用</a:t>
            </a:r>
            <a:r>
              <a:rPr lang="en-US" altLang="zh-CN"/>
              <a:t>--Netty</a:t>
            </a:r>
            <a:r>
              <a:rPr lang="zh-CN" altLang="en-US"/>
              <a:t>实现的网关服务，基于</a:t>
            </a:r>
            <a:r>
              <a:rPr lang="en-US" altLang="zh-CN"/>
              <a:t>SpringBoot</a:t>
            </a:r>
            <a:r>
              <a:rPr lang="zh-CN" altLang="en-US"/>
              <a:t>实现的运维管理后台，基于</a:t>
            </a:r>
            <a:r>
              <a:rPr lang="en-US" altLang="zh-CN"/>
              <a:t>Kafka</a:t>
            </a:r>
            <a:r>
              <a:rPr lang="zh-CN" altLang="en-US"/>
              <a:t>实现数据同步。</a:t>
            </a:r>
            <a:endParaRPr lang="zh-CN" altLang="en-US"/>
          </a:p>
          <a:p>
            <a:r>
              <a:rPr lang="zh-CN" altLang="en-US"/>
              <a:t>存储层：实现系统的数据存储，采用</a:t>
            </a:r>
            <a:r>
              <a:rPr lang="en-US" altLang="zh-CN"/>
              <a:t>MySQL</a:t>
            </a:r>
            <a:r>
              <a:rPr lang="zh-CN" altLang="en-US"/>
              <a:t>存储规则等信息，采用</a:t>
            </a:r>
            <a:r>
              <a:rPr lang="en-US" altLang="zh-CN"/>
              <a:t>Etcd</a:t>
            </a:r>
            <a:r>
              <a:rPr lang="zh-CN" altLang="en-US"/>
              <a:t>实现的注册中心存储服务、实例等信息，采用</a:t>
            </a:r>
            <a:r>
              <a:rPr lang="en-US" altLang="zh-CN"/>
              <a:t>ES</a:t>
            </a:r>
            <a:r>
              <a:rPr lang="zh-CN" altLang="en-US"/>
              <a:t>实现日志数据的存储和全文检索。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然后是系统模块划分。系统划分为七个模块</a:t>
            </a:r>
            <a:endParaRPr lang="zh-CN" altLang="en-US"/>
          </a:p>
          <a:p>
            <a:r>
              <a:rPr lang="zh-CN" altLang="en-US">
                <a:sym typeface="+mn-ea"/>
              </a:rPr>
              <a:t>业务服务接入模块，负责通过注解进行多种类型服务的接入。</a:t>
            </a:r>
            <a:endParaRPr lang="zh-CN" altLang="en-US"/>
          </a:p>
          <a:p>
            <a:r>
              <a:rPr lang="zh-CN" altLang="en-US">
                <a:sym typeface="+mn-ea"/>
              </a:rPr>
              <a:t>通信协议转换模块，负责对用户的请求解析并转换为目标服务的协议、然后进行泛化调用响应。</a:t>
            </a:r>
            <a:endParaRPr lang="zh-CN" altLang="en-US"/>
          </a:p>
          <a:p>
            <a:r>
              <a:rPr lang="zh-CN" altLang="en-US">
                <a:sym typeface="+mn-ea"/>
              </a:rPr>
              <a:t>动态插件管理模块，负责插件的定义、加载、编排管理。</a:t>
            </a:r>
            <a:endParaRPr lang="zh-CN" altLang="en-US"/>
          </a:p>
          <a:p>
            <a:r>
              <a:rPr lang="zh-CN" altLang="en-US">
                <a:sym typeface="+mn-ea"/>
              </a:rPr>
              <a:t>运维管理模块，负责对服务、实例、插件、规则等信息查询、添加管理</a:t>
            </a:r>
            <a:endParaRPr lang="zh-CN" altLang="en-US"/>
          </a:p>
          <a:p>
            <a:r>
              <a:rPr lang="zh-CN" altLang="en-US">
                <a:sym typeface="+mn-ea"/>
              </a:rPr>
              <a:t>监控告警模块，负责对网关、机器节点的监控指标采集、查看分析、告警通知。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信息配置管理模块：实现服务、配置信息的管理。服通用模块，负责缓存、数据同步。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数据库设计，左图展示了本系统的表结构和关系。</a:t>
            </a:r>
            <a:endParaRPr lang="zh-CN" altLang="en-US"/>
          </a:p>
          <a:p>
            <a:r>
              <a:rPr lang="zh-CN" altLang="en-US"/>
              <a:t>右边三张表则展示了本系统的关键的表设计。分布为插件表、插件配置表、规则表。</a:t>
            </a:r>
            <a:endParaRPr lang="zh-CN" altLang="en-US"/>
          </a:p>
          <a:p>
            <a:r>
              <a:rPr lang="zh-CN" altLang="en-US"/>
              <a:t>插件表，描述，包括</a:t>
            </a:r>
            <a:r>
              <a:rPr lang="en-US" altLang="zh-CN"/>
              <a:t>xxx</a:t>
            </a:r>
            <a:r>
              <a:rPr lang="zh-CN" altLang="en-US"/>
              <a:t>字段。</a:t>
            </a:r>
            <a:endParaRPr lang="zh-CN" altLang="en-US"/>
          </a:p>
          <a:p>
            <a:r>
              <a:rPr lang="en-US" altLang="zh-CN"/>
              <a:t>xx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第四部分，系统实现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左图则展示了通过</a:t>
            </a:r>
            <a:r>
              <a:rPr lang="en-US" altLang="zh-CN"/>
              <a:t>API</a:t>
            </a:r>
            <a:r>
              <a:rPr lang="zh-CN" altLang="en-US"/>
              <a:t>网关进行</a:t>
            </a:r>
            <a:r>
              <a:rPr lang="en-US" altLang="zh-CN"/>
              <a:t>Dubbo</a:t>
            </a:r>
            <a:r>
              <a:rPr lang="zh-CN" altLang="en-US"/>
              <a:t>服务类型调用的效果，右图展示了进行</a:t>
            </a:r>
            <a:r>
              <a:rPr lang="en-US" altLang="zh-CN"/>
              <a:t>SpringMVC</a:t>
            </a:r>
            <a:r>
              <a:rPr lang="zh-CN" altLang="en-US"/>
              <a:t>服务的调用效果。表明了本系统对</a:t>
            </a:r>
            <a:r>
              <a:rPr lang="en-US" altLang="zh-CN"/>
              <a:t>Dubbo</a:t>
            </a:r>
            <a:r>
              <a:rPr lang="zh-CN" altLang="en-US"/>
              <a:t>、</a:t>
            </a:r>
            <a:r>
              <a:rPr lang="en-US" altLang="zh-CN"/>
              <a:t>SpringMVC</a:t>
            </a:r>
            <a:r>
              <a:rPr lang="zh-CN" altLang="en-US"/>
              <a:t>的服务代理及其协议转换的能力。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左表两张表展示了直接访问业务服务和通过服务访问的压测情况，右边图展示了对比常见开源组件，本网关的平均响应耗时情况。展示了本系统的性能表现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运维管理：</a:t>
            </a:r>
            <a:endParaRPr lang="zh-CN" altLang="en-US"/>
          </a:p>
          <a:p>
            <a:r>
              <a:rPr lang="zh-CN" altLang="en-US"/>
              <a:t>左上图展示了服务列表的效果图，左下图则展示了插件的基本信息情况列表。</a:t>
            </a:r>
            <a:endParaRPr lang="zh-CN" altLang="en-US"/>
          </a:p>
          <a:p>
            <a:r>
              <a:rPr lang="zh-CN" altLang="en-US">
                <a:sym typeface="+mn-ea"/>
              </a:rPr>
              <a:t>运维人员可在运维管理后台界面进行服务定义信息的查询。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右图展示了，通过</a:t>
            </a:r>
            <a:r>
              <a:rPr lang="en-US" altLang="zh-CN"/>
              <a:t>JSON</a:t>
            </a:r>
            <a:r>
              <a:rPr lang="zh-CN" altLang="en-US"/>
              <a:t>格式进行规则添加，通过规则可以为</a:t>
            </a:r>
            <a:r>
              <a:rPr lang="en-US" altLang="zh-CN"/>
              <a:t>API</a:t>
            </a:r>
            <a:r>
              <a:rPr lang="zh-CN" altLang="en-US"/>
              <a:t>接口配置规则实现插件过滤的能力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监控告警，</a:t>
            </a:r>
            <a:endParaRPr lang="zh-CN" altLang="en-US"/>
          </a:p>
          <a:p>
            <a:r>
              <a:rPr lang="zh-CN" altLang="en-US"/>
              <a:t>该图展示了，通过</a:t>
            </a:r>
            <a:r>
              <a:rPr lang="en-US" altLang="zh-CN"/>
              <a:t>Prometheus  Web</a:t>
            </a:r>
            <a:r>
              <a:rPr lang="zh-CN" altLang="en-US"/>
              <a:t>进行查看</a:t>
            </a:r>
            <a:r>
              <a:rPr lang="en-US" altLang="zh-CN"/>
              <a:t>API</a:t>
            </a:r>
            <a:r>
              <a:rPr lang="zh-CN" altLang="en-US"/>
              <a:t>调用统计指标情况的效果。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以上是我答辩的所有</a:t>
            </a:r>
            <a:r>
              <a:rPr lang="zh-CN" altLang="en-US"/>
              <a:t>内容，敬请各位老师批评指正！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customXml" Target="../ink/ink4.xml"/><Relationship Id="rId7" Type="http://schemas.openxmlformats.org/officeDocument/2006/relationships/customXml" Target="../ink/ink3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Relationship Id="rId3" Type="http://schemas.openxmlformats.org/officeDocument/2006/relationships/image" Target="../media/image5.png"/><Relationship Id="rId2" Type="http://schemas.openxmlformats.org/officeDocument/2006/relationships/tags" Target="../tags/tag9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3209476"/>
            <a:ext cx="12192000" cy="1520449"/>
          </a:xfrm>
          <a:prstGeom prst="rect">
            <a:avLst/>
          </a:prstGeom>
          <a:solidFill>
            <a:srgbClr val="6B0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000" y="3429000"/>
            <a:ext cx="10815955" cy="815340"/>
          </a:xfrm>
        </p:spPr>
        <p:txBody>
          <a:bodyPr>
            <a:normAutofit fontScale="90000"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支持多协议的</a:t>
            </a:r>
            <a:r>
              <a:rPr lang="en-US" altLang="zh-CN" sz="4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API</a:t>
            </a:r>
            <a:r>
              <a:rPr lang="zh-CN" altLang="en-US" sz="4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网关及监控系统的设计与实现</a:t>
            </a:r>
            <a:endParaRPr lang="zh-CN" altLang="en-US" sz="4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5644775"/>
            <a:ext cx="9144000" cy="447649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6B0060"/>
                </a:solidFill>
              </a:rPr>
              <a:t>答辩人：</a:t>
            </a:r>
            <a:r>
              <a:rPr lang="zh-CN" altLang="en-US" dirty="0">
                <a:solidFill>
                  <a:schemeClr val="tx1"/>
                </a:solidFill>
              </a:rPr>
              <a:t>李云飞</a:t>
            </a:r>
            <a:r>
              <a:rPr lang="en-US" altLang="zh-CN" dirty="0"/>
              <a:t>        </a:t>
            </a:r>
            <a:r>
              <a:rPr lang="zh-CN" altLang="en-US" b="1" dirty="0">
                <a:solidFill>
                  <a:srgbClr val="6B0060"/>
                </a:solidFill>
              </a:rPr>
              <a:t>导师：</a:t>
            </a:r>
            <a:r>
              <a:rPr lang="zh-CN" altLang="en-US" dirty="0"/>
              <a:t>葛季栋</a:t>
            </a:r>
            <a:r>
              <a:rPr lang="en-US" altLang="zh-CN" dirty="0"/>
              <a:t>          </a:t>
            </a:r>
            <a:r>
              <a:rPr lang="zh-CN" altLang="en-US" b="1" dirty="0">
                <a:solidFill>
                  <a:srgbClr val="6B0060"/>
                </a:solidFill>
              </a:rPr>
              <a:t>时间：</a:t>
            </a:r>
            <a:r>
              <a:rPr lang="en-US" altLang="zh-CN" dirty="0"/>
              <a:t>2024.05.16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 flipV="1">
            <a:off x="318083" y="4417868"/>
            <a:ext cx="1155583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42" y="251084"/>
            <a:ext cx="4038600" cy="7143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2" y="657408"/>
            <a:ext cx="2335634" cy="210417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187547" y="2114514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6B0060"/>
                </a:solidFill>
              </a:rPr>
              <a:t>硕士毕业论文答辩</a:t>
            </a:r>
            <a:endParaRPr lang="zh-CN" altLang="en-US" sz="3200" b="1" dirty="0">
              <a:solidFill>
                <a:srgbClr val="6B0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79834" y="1798260"/>
            <a:ext cx="2725425" cy="90810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/>
              <a:t>项目背景</a:t>
            </a:r>
            <a:endParaRPr lang="en-US" altLang="zh-CN" sz="2800" b="1" dirty="0"/>
          </a:p>
        </p:txBody>
      </p:sp>
      <p:sp>
        <p:nvSpPr>
          <p:cNvPr id="6" name="矩形 5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487551" y="3063754"/>
            <a:ext cx="1516020" cy="1474318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525813" y="3370029"/>
            <a:ext cx="143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41668" y="3877106"/>
            <a:ext cx="24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CONTENTS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798409" y="1955540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798409" y="1955540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9834" y="2278651"/>
            <a:ext cx="218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Project Background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副标题 2"/>
          <p:cNvSpPr txBox="1"/>
          <p:nvPr/>
        </p:nvSpPr>
        <p:spPr>
          <a:xfrm>
            <a:off x="6379834" y="2865983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需求分析</a:t>
            </a:r>
            <a:endParaRPr lang="en-US" altLang="zh-CN" sz="2800" b="1" dirty="0"/>
          </a:p>
        </p:txBody>
      </p:sp>
      <p:sp>
        <p:nvSpPr>
          <p:cNvPr id="21" name="椭圆 20"/>
          <p:cNvSpPr/>
          <p:nvPr/>
        </p:nvSpPr>
        <p:spPr>
          <a:xfrm>
            <a:off x="5798409" y="3023263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5798409" y="3023263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79834" y="3401661"/>
            <a:ext cx="201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Requirement Analysis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副标题 2"/>
          <p:cNvSpPr txBox="1"/>
          <p:nvPr/>
        </p:nvSpPr>
        <p:spPr>
          <a:xfrm>
            <a:off x="6379834" y="3858066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系统设计</a:t>
            </a:r>
            <a:endParaRPr lang="en-US" altLang="zh-CN" sz="2800" b="1" dirty="0"/>
          </a:p>
        </p:txBody>
      </p:sp>
      <p:sp>
        <p:nvSpPr>
          <p:cNvPr id="25" name="椭圆 24"/>
          <p:cNvSpPr/>
          <p:nvPr/>
        </p:nvSpPr>
        <p:spPr>
          <a:xfrm>
            <a:off x="5798409" y="4015346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798409" y="4015346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79834" y="4338457"/>
            <a:ext cx="2601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Design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副标题 2"/>
          <p:cNvSpPr txBox="1"/>
          <p:nvPr/>
        </p:nvSpPr>
        <p:spPr>
          <a:xfrm>
            <a:off x="6379834" y="4848936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系统实现</a:t>
            </a:r>
            <a:endParaRPr lang="en-US" altLang="zh-CN" sz="2800" b="1" dirty="0"/>
          </a:p>
        </p:txBody>
      </p:sp>
      <p:sp>
        <p:nvSpPr>
          <p:cNvPr id="29" name="椭圆 28"/>
          <p:cNvSpPr/>
          <p:nvPr/>
        </p:nvSpPr>
        <p:spPr>
          <a:xfrm>
            <a:off x="5798409" y="5006216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5798409" y="5006216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14692" y="5413503"/>
            <a:ext cx="2205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Implementation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one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988036" y="3527513"/>
            <a:ext cx="1999276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Project Background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项目背景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01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项目背景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7" name="椭圆 29"/>
          <p:cNvSpPr/>
          <p:nvPr/>
        </p:nvSpPr>
        <p:spPr bwMode="auto">
          <a:xfrm>
            <a:off x="4264013" y="3201197"/>
            <a:ext cx="3085729" cy="3085728"/>
          </a:xfrm>
          <a:prstGeom prst="ellipse">
            <a:avLst/>
          </a:prstGeom>
          <a:noFill/>
          <a:ln w="44450" cap="flat">
            <a:solidFill>
              <a:srgbClr val="6B006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 err="1">
              <a:solidFill>
                <a:schemeClr val="accent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8" name="文本框 28"/>
          <p:cNvSpPr txBox="1"/>
          <p:nvPr/>
        </p:nvSpPr>
        <p:spPr>
          <a:xfrm>
            <a:off x="5088732" y="4470000"/>
            <a:ext cx="1436291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项目背景</a:t>
            </a:r>
            <a:endParaRPr lang="en-US" sz="2800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9" name="组合 209"/>
          <p:cNvGrpSpPr>
            <a:grpSpLocks noChangeAspect="1"/>
          </p:cNvGrpSpPr>
          <p:nvPr/>
        </p:nvGrpSpPr>
        <p:grpSpPr>
          <a:xfrm>
            <a:off x="5203373" y="2649839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10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11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 dirty="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3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14" name="组合 4"/>
          <p:cNvGrpSpPr>
            <a:grpSpLocks noChangeAspect="1"/>
          </p:cNvGrpSpPr>
          <p:nvPr/>
        </p:nvGrpSpPr>
        <p:grpSpPr bwMode="auto">
          <a:xfrm>
            <a:off x="5542520" y="2978298"/>
            <a:ext cx="549275" cy="547687"/>
            <a:chOff x="3483" y="1309"/>
            <a:chExt cx="346" cy="345"/>
          </a:xfrm>
          <a:solidFill>
            <a:schemeClr val="bg1"/>
          </a:solidFill>
        </p:grpSpPr>
        <p:sp>
          <p:nvSpPr>
            <p:cNvPr id="15" name="Freeform 5"/>
            <p:cNvSpPr/>
            <p:nvPr/>
          </p:nvSpPr>
          <p:spPr bwMode="auto">
            <a:xfrm>
              <a:off x="3606" y="1432"/>
              <a:ext cx="99" cy="99"/>
            </a:xfrm>
            <a:custGeom>
              <a:avLst/>
              <a:gdLst>
                <a:gd name="T0" fmla="*/ 74 w 107"/>
                <a:gd name="T1" fmla="*/ 4 h 107"/>
                <a:gd name="T2" fmla="*/ 74 w 107"/>
                <a:gd name="T3" fmla="*/ 4 h 107"/>
                <a:gd name="T4" fmla="*/ 54 w 107"/>
                <a:gd name="T5" fmla="*/ 0 h 107"/>
                <a:gd name="T6" fmla="*/ 33 w 107"/>
                <a:gd name="T7" fmla="*/ 4 h 107"/>
                <a:gd name="T8" fmla="*/ 16 w 107"/>
                <a:gd name="T9" fmla="*/ 16 h 107"/>
                <a:gd name="T10" fmla="*/ 5 w 107"/>
                <a:gd name="T11" fmla="*/ 33 h 107"/>
                <a:gd name="T12" fmla="*/ 0 w 107"/>
                <a:gd name="T13" fmla="*/ 53 h 107"/>
                <a:gd name="T14" fmla="*/ 5 w 107"/>
                <a:gd name="T15" fmla="*/ 74 h 107"/>
                <a:gd name="T16" fmla="*/ 16 w 107"/>
                <a:gd name="T17" fmla="*/ 91 h 107"/>
                <a:gd name="T18" fmla="*/ 33 w 107"/>
                <a:gd name="T19" fmla="*/ 102 h 107"/>
                <a:gd name="T20" fmla="*/ 54 w 107"/>
                <a:gd name="T21" fmla="*/ 107 h 107"/>
                <a:gd name="T22" fmla="*/ 74 w 107"/>
                <a:gd name="T23" fmla="*/ 102 h 107"/>
                <a:gd name="T24" fmla="*/ 91 w 107"/>
                <a:gd name="T25" fmla="*/ 91 h 107"/>
                <a:gd name="T26" fmla="*/ 103 w 107"/>
                <a:gd name="T27" fmla="*/ 74 h 107"/>
                <a:gd name="T28" fmla="*/ 107 w 107"/>
                <a:gd name="T29" fmla="*/ 53 h 107"/>
                <a:gd name="T30" fmla="*/ 103 w 107"/>
                <a:gd name="T31" fmla="*/ 33 h 107"/>
                <a:gd name="T32" fmla="*/ 91 w 107"/>
                <a:gd name="T33" fmla="*/ 16 h 107"/>
                <a:gd name="T34" fmla="*/ 74 w 107"/>
                <a:gd name="T35" fmla="*/ 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107">
                  <a:moveTo>
                    <a:pt x="74" y="4"/>
                  </a:moveTo>
                  <a:lnTo>
                    <a:pt x="74" y="4"/>
                  </a:lnTo>
                  <a:cubicBezTo>
                    <a:pt x="68" y="1"/>
                    <a:pt x="61" y="0"/>
                    <a:pt x="54" y="0"/>
                  </a:cubicBezTo>
                  <a:cubicBezTo>
                    <a:pt x="46" y="0"/>
                    <a:pt x="40" y="1"/>
                    <a:pt x="33" y="4"/>
                  </a:cubicBezTo>
                  <a:cubicBezTo>
                    <a:pt x="27" y="7"/>
                    <a:pt x="21" y="11"/>
                    <a:pt x="16" y="16"/>
                  </a:cubicBezTo>
                  <a:cubicBezTo>
                    <a:pt x="11" y="20"/>
                    <a:pt x="8" y="26"/>
                    <a:pt x="5" y="33"/>
                  </a:cubicBezTo>
                  <a:cubicBezTo>
                    <a:pt x="2" y="39"/>
                    <a:pt x="0" y="46"/>
                    <a:pt x="0" y="53"/>
                  </a:cubicBezTo>
                  <a:cubicBezTo>
                    <a:pt x="0" y="61"/>
                    <a:pt x="2" y="67"/>
                    <a:pt x="5" y="74"/>
                  </a:cubicBezTo>
                  <a:cubicBezTo>
                    <a:pt x="8" y="80"/>
                    <a:pt x="11" y="86"/>
                    <a:pt x="16" y="91"/>
                  </a:cubicBezTo>
                  <a:cubicBezTo>
                    <a:pt x="21" y="96"/>
                    <a:pt x="27" y="99"/>
                    <a:pt x="33" y="102"/>
                  </a:cubicBezTo>
                  <a:cubicBezTo>
                    <a:pt x="40" y="105"/>
                    <a:pt x="46" y="107"/>
                    <a:pt x="54" y="107"/>
                  </a:cubicBezTo>
                  <a:cubicBezTo>
                    <a:pt x="61" y="107"/>
                    <a:pt x="68" y="105"/>
                    <a:pt x="74" y="102"/>
                  </a:cubicBezTo>
                  <a:cubicBezTo>
                    <a:pt x="81" y="99"/>
                    <a:pt x="87" y="96"/>
                    <a:pt x="91" y="91"/>
                  </a:cubicBezTo>
                  <a:cubicBezTo>
                    <a:pt x="96" y="86"/>
                    <a:pt x="100" y="80"/>
                    <a:pt x="103" y="74"/>
                  </a:cubicBezTo>
                  <a:cubicBezTo>
                    <a:pt x="106" y="67"/>
                    <a:pt x="107" y="61"/>
                    <a:pt x="107" y="53"/>
                  </a:cubicBezTo>
                  <a:cubicBezTo>
                    <a:pt x="107" y="46"/>
                    <a:pt x="106" y="39"/>
                    <a:pt x="103" y="33"/>
                  </a:cubicBezTo>
                  <a:cubicBezTo>
                    <a:pt x="100" y="26"/>
                    <a:pt x="96" y="20"/>
                    <a:pt x="91" y="16"/>
                  </a:cubicBezTo>
                  <a:cubicBezTo>
                    <a:pt x="87" y="11"/>
                    <a:pt x="81" y="7"/>
                    <a:pt x="74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6" name="Freeform 6"/>
            <p:cNvSpPr/>
            <p:nvPr/>
          </p:nvSpPr>
          <p:spPr bwMode="auto">
            <a:xfrm>
              <a:off x="3719" y="1432"/>
              <a:ext cx="110" cy="152"/>
            </a:xfrm>
            <a:custGeom>
              <a:avLst/>
              <a:gdLst>
                <a:gd name="T0" fmla="*/ 111 w 119"/>
                <a:gd name="T1" fmla="*/ 0 h 164"/>
                <a:gd name="T2" fmla="*/ 111 w 119"/>
                <a:gd name="T3" fmla="*/ 0 h 164"/>
                <a:gd name="T4" fmla="*/ 0 w 119"/>
                <a:gd name="T5" fmla="*/ 0 h 164"/>
                <a:gd name="T6" fmla="*/ 82 w 119"/>
                <a:gd name="T7" fmla="*/ 164 h 164"/>
                <a:gd name="T8" fmla="*/ 109 w 119"/>
                <a:gd name="T9" fmla="*/ 111 h 164"/>
                <a:gd name="T10" fmla="*/ 119 w 119"/>
                <a:gd name="T11" fmla="*/ 53 h 164"/>
                <a:gd name="T12" fmla="*/ 111 w 119"/>
                <a:gd name="T13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64">
                  <a:moveTo>
                    <a:pt x="111" y="0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82" y="164"/>
                  </a:lnTo>
                  <a:cubicBezTo>
                    <a:pt x="94" y="148"/>
                    <a:pt x="103" y="130"/>
                    <a:pt x="109" y="111"/>
                  </a:cubicBezTo>
                  <a:cubicBezTo>
                    <a:pt x="115" y="92"/>
                    <a:pt x="119" y="73"/>
                    <a:pt x="119" y="53"/>
                  </a:cubicBezTo>
                  <a:cubicBezTo>
                    <a:pt x="119" y="35"/>
                    <a:pt x="116" y="17"/>
                    <a:pt x="11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3483" y="1380"/>
              <a:ext cx="110" cy="150"/>
            </a:xfrm>
            <a:custGeom>
              <a:avLst/>
              <a:gdLst>
                <a:gd name="T0" fmla="*/ 37 w 119"/>
                <a:gd name="T1" fmla="*/ 0 h 163"/>
                <a:gd name="T2" fmla="*/ 37 w 119"/>
                <a:gd name="T3" fmla="*/ 0 h 163"/>
                <a:gd name="T4" fmla="*/ 10 w 119"/>
                <a:gd name="T5" fmla="*/ 52 h 163"/>
                <a:gd name="T6" fmla="*/ 0 w 119"/>
                <a:gd name="T7" fmla="*/ 110 h 163"/>
                <a:gd name="T8" fmla="*/ 8 w 119"/>
                <a:gd name="T9" fmla="*/ 163 h 163"/>
                <a:gd name="T10" fmla="*/ 119 w 119"/>
                <a:gd name="T11" fmla="*/ 163 h 163"/>
                <a:gd name="T12" fmla="*/ 37 w 119"/>
                <a:gd name="T1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63">
                  <a:moveTo>
                    <a:pt x="37" y="0"/>
                  </a:moveTo>
                  <a:lnTo>
                    <a:pt x="37" y="0"/>
                  </a:lnTo>
                  <a:cubicBezTo>
                    <a:pt x="25" y="16"/>
                    <a:pt x="16" y="33"/>
                    <a:pt x="10" y="52"/>
                  </a:cubicBezTo>
                  <a:cubicBezTo>
                    <a:pt x="3" y="71"/>
                    <a:pt x="0" y="90"/>
                    <a:pt x="0" y="110"/>
                  </a:cubicBezTo>
                  <a:cubicBezTo>
                    <a:pt x="0" y="128"/>
                    <a:pt x="3" y="146"/>
                    <a:pt x="8" y="163"/>
                  </a:cubicBezTo>
                  <a:lnTo>
                    <a:pt x="119" y="163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3630" y="1311"/>
              <a:ext cx="181" cy="101"/>
            </a:xfrm>
            <a:custGeom>
              <a:avLst/>
              <a:gdLst>
                <a:gd name="T0" fmla="*/ 14 w 196"/>
                <a:gd name="T1" fmla="*/ 106 h 109"/>
                <a:gd name="T2" fmla="*/ 14 w 196"/>
                <a:gd name="T3" fmla="*/ 106 h 109"/>
                <a:gd name="T4" fmla="*/ 28 w 196"/>
                <a:gd name="T5" fmla="*/ 104 h 109"/>
                <a:gd name="T6" fmla="*/ 196 w 196"/>
                <a:gd name="T7" fmla="*/ 104 h 109"/>
                <a:gd name="T8" fmla="*/ 171 w 196"/>
                <a:gd name="T9" fmla="*/ 66 h 109"/>
                <a:gd name="T10" fmla="*/ 139 w 196"/>
                <a:gd name="T11" fmla="*/ 34 h 109"/>
                <a:gd name="T12" fmla="*/ 99 w 196"/>
                <a:gd name="T13" fmla="*/ 12 h 109"/>
                <a:gd name="T14" fmla="*/ 55 w 196"/>
                <a:gd name="T15" fmla="*/ 0 h 109"/>
                <a:gd name="T16" fmla="*/ 0 w 196"/>
                <a:gd name="T17" fmla="*/ 109 h 109"/>
                <a:gd name="T18" fmla="*/ 14 w 196"/>
                <a:gd name="T19" fmla="*/ 10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09">
                  <a:moveTo>
                    <a:pt x="14" y="106"/>
                  </a:moveTo>
                  <a:lnTo>
                    <a:pt x="14" y="106"/>
                  </a:lnTo>
                  <a:cubicBezTo>
                    <a:pt x="18" y="105"/>
                    <a:pt x="23" y="104"/>
                    <a:pt x="28" y="104"/>
                  </a:cubicBezTo>
                  <a:lnTo>
                    <a:pt x="196" y="104"/>
                  </a:lnTo>
                  <a:cubicBezTo>
                    <a:pt x="190" y="90"/>
                    <a:pt x="181" y="77"/>
                    <a:pt x="171" y="66"/>
                  </a:cubicBezTo>
                  <a:cubicBezTo>
                    <a:pt x="162" y="54"/>
                    <a:pt x="151" y="43"/>
                    <a:pt x="139" y="34"/>
                  </a:cubicBezTo>
                  <a:cubicBezTo>
                    <a:pt x="126" y="25"/>
                    <a:pt x="113" y="18"/>
                    <a:pt x="99" y="12"/>
                  </a:cubicBezTo>
                  <a:cubicBezTo>
                    <a:pt x="85" y="6"/>
                    <a:pt x="70" y="2"/>
                    <a:pt x="55" y="0"/>
                  </a:cubicBezTo>
                  <a:lnTo>
                    <a:pt x="0" y="109"/>
                  </a:lnTo>
                  <a:cubicBezTo>
                    <a:pt x="5" y="108"/>
                    <a:pt x="9" y="106"/>
                    <a:pt x="14" y="1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3535" y="1309"/>
              <a:ext cx="119" cy="144"/>
            </a:xfrm>
            <a:custGeom>
              <a:avLst/>
              <a:gdLst>
                <a:gd name="T0" fmla="*/ 129 w 129"/>
                <a:gd name="T1" fmla="*/ 0 h 156"/>
                <a:gd name="T2" fmla="*/ 129 w 129"/>
                <a:gd name="T3" fmla="*/ 0 h 156"/>
                <a:gd name="T4" fmla="*/ 59 w 129"/>
                <a:gd name="T5" fmla="*/ 14 h 156"/>
                <a:gd name="T6" fmla="*/ 0 w 129"/>
                <a:gd name="T7" fmla="*/ 54 h 156"/>
                <a:gd name="T8" fmla="*/ 51 w 129"/>
                <a:gd name="T9" fmla="*/ 156 h 156"/>
                <a:gd name="T10" fmla="*/ 129 w 129"/>
                <a:gd name="T1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156">
                  <a:moveTo>
                    <a:pt x="129" y="0"/>
                  </a:moveTo>
                  <a:lnTo>
                    <a:pt x="129" y="0"/>
                  </a:lnTo>
                  <a:cubicBezTo>
                    <a:pt x="105" y="0"/>
                    <a:pt x="82" y="5"/>
                    <a:pt x="59" y="14"/>
                  </a:cubicBezTo>
                  <a:cubicBezTo>
                    <a:pt x="37" y="23"/>
                    <a:pt x="17" y="36"/>
                    <a:pt x="0" y="54"/>
                  </a:cubicBezTo>
                  <a:lnTo>
                    <a:pt x="51" y="156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20" name="Freeform 10"/>
            <p:cNvSpPr/>
            <p:nvPr/>
          </p:nvSpPr>
          <p:spPr bwMode="auto">
            <a:xfrm>
              <a:off x="3500" y="1550"/>
              <a:ext cx="182" cy="102"/>
            </a:xfrm>
            <a:custGeom>
              <a:avLst/>
              <a:gdLst>
                <a:gd name="T0" fmla="*/ 183 w 197"/>
                <a:gd name="T1" fmla="*/ 4 h 110"/>
                <a:gd name="T2" fmla="*/ 183 w 197"/>
                <a:gd name="T3" fmla="*/ 4 h 110"/>
                <a:gd name="T4" fmla="*/ 169 w 197"/>
                <a:gd name="T5" fmla="*/ 5 h 110"/>
                <a:gd name="T6" fmla="*/ 0 w 197"/>
                <a:gd name="T7" fmla="*/ 5 h 110"/>
                <a:gd name="T8" fmla="*/ 25 w 197"/>
                <a:gd name="T9" fmla="*/ 44 h 110"/>
                <a:gd name="T10" fmla="*/ 58 w 197"/>
                <a:gd name="T11" fmla="*/ 75 h 110"/>
                <a:gd name="T12" fmla="*/ 98 w 197"/>
                <a:gd name="T13" fmla="*/ 97 h 110"/>
                <a:gd name="T14" fmla="*/ 142 w 197"/>
                <a:gd name="T15" fmla="*/ 110 h 110"/>
                <a:gd name="T16" fmla="*/ 197 w 197"/>
                <a:gd name="T17" fmla="*/ 0 h 110"/>
                <a:gd name="T18" fmla="*/ 183 w 197"/>
                <a:gd name="T19" fmla="*/ 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7" h="110">
                  <a:moveTo>
                    <a:pt x="183" y="4"/>
                  </a:moveTo>
                  <a:lnTo>
                    <a:pt x="183" y="4"/>
                  </a:lnTo>
                  <a:cubicBezTo>
                    <a:pt x="178" y="5"/>
                    <a:pt x="174" y="5"/>
                    <a:pt x="169" y="5"/>
                  </a:cubicBezTo>
                  <a:lnTo>
                    <a:pt x="0" y="5"/>
                  </a:lnTo>
                  <a:cubicBezTo>
                    <a:pt x="7" y="19"/>
                    <a:pt x="15" y="32"/>
                    <a:pt x="25" y="44"/>
                  </a:cubicBezTo>
                  <a:cubicBezTo>
                    <a:pt x="35" y="56"/>
                    <a:pt x="46" y="66"/>
                    <a:pt x="58" y="75"/>
                  </a:cubicBezTo>
                  <a:cubicBezTo>
                    <a:pt x="70" y="84"/>
                    <a:pt x="83" y="91"/>
                    <a:pt x="98" y="97"/>
                  </a:cubicBezTo>
                  <a:cubicBezTo>
                    <a:pt x="112" y="103"/>
                    <a:pt x="126" y="107"/>
                    <a:pt x="142" y="110"/>
                  </a:cubicBezTo>
                  <a:lnTo>
                    <a:pt x="197" y="0"/>
                  </a:lnTo>
                  <a:cubicBezTo>
                    <a:pt x="192" y="2"/>
                    <a:pt x="188" y="3"/>
                    <a:pt x="183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21" name="Freeform 11"/>
            <p:cNvSpPr/>
            <p:nvPr/>
          </p:nvSpPr>
          <p:spPr bwMode="auto">
            <a:xfrm>
              <a:off x="3657" y="1509"/>
              <a:ext cx="120" cy="145"/>
            </a:xfrm>
            <a:custGeom>
              <a:avLst/>
              <a:gdLst>
                <a:gd name="T0" fmla="*/ 0 w 130"/>
                <a:gd name="T1" fmla="*/ 157 h 157"/>
                <a:gd name="T2" fmla="*/ 0 w 130"/>
                <a:gd name="T3" fmla="*/ 157 h 157"/>
                <a:gd name="T4" fmla="*/ 70 w 130"/>
                <a:gd name="T5" fmla="*/ 142 h 157"/>
                <a:gd name="T6" fmla="*/ 130 w 130"/>
                <a:gd name="T7" fmla="*/ 103 h 157"/>
                <a:gd name="T8" fmla="*/ 79 w 130"/>
                <a:gd name="T9" fmla="*/ 0 h 157"/>
                <a:gd name="T10" fmla="*/ 0 w 130"/>
                <a:gd name="T11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57">
                  <a:moveTo>
                    <a:pt x="0" y="157"/>
                  </a:moveTo>
                  <a:lnTo>
                    <a:pt x="0" y="157"/>
                  </a:lnTo>
                  <a:cubicBezTo>
                    <a:pt x="25" y="157"/>
                    <a:pt x="48" y="152"/>
                    <a:pt x="70" y="142"/>
                  </a:cubicBezTo>
                  <a:cubicBezTo>
                    <a:pt x="93" y="133"/>
                    <a:pt x="113" y="120"/>
                    <a:pt x="130" y="103"/>
                  </a:cubicBezTo>
                  <a:lnTo>
                    <a:pt x="79" y="0"/>
                  </a:lnTo>
                  <a:lnTo>
                    <a:pt x="0" y="15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sp>
        <p:nvSpPr>
          <p:cNvPr id="22" name="文本框 78"/>
          <p:cNvSpPr txBox="1"/>
          <p:nvPr/>
        </p:nvSpPr>
        <p:spPr>
          <a:xfrm>
            <a:off x="5420083" y="2318347"/>
            <a:ext cx="8128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业务背景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23" name="组合 209"/>
          <p:cNvGrpSpPr>
            <a:grpSpLocks noChangeAspect="1"/>
          </p:cNvGrpSpPr>
          <p:nvPr/>
        </p:nvGrpSpPr>
        <p:grpSpPr>
          <a:xfrm>
            <a:off x="3881726" y="481327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4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25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6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7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28" name="组合 209"/>
          <p:cNvGrpSpPr>
            <a:grpSpLocks noChangeAspect="1"/>
          </p:cNvGrpSpPr>
          <p:nvPr/>
        </p:nvGrpSpPr>
        <p:grpSpPr>
          <a:xfrm>
            <a:off x="6571037" y="481327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3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33" name="组合 14"/>
          <p:cNvGrpSpPr>
            <a:grpSpLocks noChangeAspect="1"/>
          </p:cNvGrpSpPr>
          <p:nvPr/>
        </p:nvGrpSpPr>
        <p:grpSpPr bwMode="auto">
          <a:xfrm>
            <a:off x="4287586" y="5167129"/>
            <a:ext cx="395287" cy="496887"/>
            <a:chOff x="5064" y="1460"/>
            <a:chExt cx="249" cy="313"/>
          </a:xfrm>
          <a:solidFill>
            <a:srgbClr val="FFFFFF"/>
          </a:solidFill>
        </p:grpSpPr>
        <p:sp>
          <p:nvSpPr>
            <p:cNvPr id="34" name="Freeform 15"/>
            <p:cNvSpPr/>
            <p:nvPr/>
          </p:nvSpPr>
          <p:spPr bwMode="auto">
            <a:xfrm>
              <a:off x="5064" y="1460"/>
              <a:ext cx="202" cy="246"/>
            </a:xfrm>
            <a:custGeom>
              <a:avLst/>
              <a:gdLst>
                <a:gd name="T0" fmla="*/ 140 w 240"/>
                <a:gd name="T1" fmla="*/ 220 h 293"/>
                <a:gd name="T2" fmla="*/ 140 w 240"/>
                <a:gd name="T3" fmla="*/ 220 h 293"/>
                <a:gd name="T4" fmla="*/ 33 w 240"/>
                <a:gd name="T5" fmla="*/ 113 h 293"/>
                <a:gd name="T6" fmla="*/ 89 w 240"/>
                <a:gd name="T7" fmla="*/ 57 h 293"/>
                <a:gd name="T8" fmla="*/ 140 w 240"/>
                <a:gd name="T9" fmla="*/ 107 h 293"/>
                <a:gd name="T10" fmla="*/ 208 w 240"/>
                <a:gd name="T11" fmla="*/ 39 h 293"/>
                <a:gd name="T12" fmla="*/ 205 w 240"/>
                <a:gd name="T13" fmla="*/ 35 h 293"/>
                <a:gd name="T14" fmla="*/ 167 w 240"/>
                <a:gd name="T15" fmla="*/ 9 h 293"/>
                <a:gd name="T16" fmla="*/ 120 w 240"/>
                <a:gd name="T17" fmla="*/ 0 h 293"/>
                <a:gd name="T18" fmla="*/ 73 w 240"/>
                <a:gd name="T19" fmla="*/ 9 h 293"/>
                <a:gd name="T20" fmla="*/ 35 w 240"/>
                <a:gd name="T21" fmla="*/ 35 h 293"/>
                <a:gd name="T22" fmla="*/ 9 w 240"/>
                <a:gd name="T23" fmla="*/ 73 h 293"/>
                <a:gd name="T24" fmla="*/ 0 w 240"/>
                <a:gd name="T25" fmla="*/ 120 h 293"/>
                <a:gd name="T26" fmla="*/ 9 w 240"/>
                <a:gd name="T27" fmla="*/ 165 h 293"/>
                <a:gd name="T28" fmla="*/ 36 w 240"/>
                <a:gd name="T29" fmla="*/ 203 h 293"/>
                <a:gd name="T30" fmla="*/ 66 w 240"/>
                <a:gd name="T31" fmla="*/ 244 h 293"/>
                <a:gd name="T32" fmla="*/ 79 w 240"/>
                <a:gd name="T33" fmla="*/ 293 h 293"/>
                <a:gd name="T34" fmla="*/ 161 w 240"/>
                <a:gd name="T35" fmla="*/ 293 h 293"/>
                <a:gd name="T36" fmla="*/ 174 w 240"/>
                <a:gd name="T37" fmla="*/ 244 h 293"/>
                <a:gd name="T38" fmla="*/ 204 w 240"/>
                <a:gd name="T39" fmla="*/ 203 h 293"/>
                <a:gd name="T40" fmla="*/ 231 w 240"/>
                <a:gd name="T41" fmla="*/ 165 h 293"/>
                <a:gd name="T42" fmla="*/ 240 w 240"/>
                <a:gd name="T43" fmla="*/ 120 h 293"/>
                <a:gd name="T44" fmla="*/ 140 w 240"/>
                <a:gd name="T45" fmla="*/ 22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0" h="293">
                  <a:moveTo>
                    <a:pt x="140" y="220"/>
                  </a:moveTo>
                  <a:lnTo>
                    <a:pt x="140" y="220"/>
                  </a:lnTo>
                  <a:lnTo>
                    <a:pt x="33" y="113"/>
                  </a:lnTo>
                  <a:lnTo>
                    <a:pt x="89" y="57"/>
                  </a:lnTo>
                  <a:lnTo>
                    <a:pt x="140" y="107"/>
                  </a:lnTo>
                  <a:lnTo>
                    <a:pt x="208" y="39"/>
                  </a:lnTo>
                  <a:cubicBezTo>
                    <a:pt x="207" y="37"/>
                    <a:pt x="206" y="36"/>
                    <a:pt x="205" y="35"/>
                  </a:cubicBezTo>
                  <a:cubicBezTo>
                    <a:pt x="194" y="24"/>
                    <a:pt x="181" y="15"/>
                    <a:pt x="167" y="9"/>
                  </a:cubicBezTo>
                  <a:cubicBezTo>
                    <a:pt x="152" y="3"/>
                    <a:pt x="137" y="0"/>
                    <a:pt x="120" y="0"/>
                  </a:cubicBezTo>
                  <a:cubicBezTo>
                    <a:pt x="103" y="0"/>
                    <a:pt x="88" y="3"/>
                    <a:pt x="73" y="9"/>
                  </a:cubicBezTo>
                  <a:cubicBezTo>
                    <a:pt x="59" y="15"/>
                    <a:pt x="46" y="24"/>
                    <a:pt x="35" y="35"/>
                  </a:cubicBezTo>
                  <a:cubicBezTo>
                    <a:pt x="24" y="46"/>
                    <a:pt x="16" y="58"/>
                    <a:pt x="9" y="73"/>
                  </a:cubicBezTo>
                  <a:cubicBezTo>
                    <a:pt x="3" y="87"/>
                    <a:pt x="0" y="103"/>
                    <a:pt x="0" y="120"/>
                  </a:cubicBezTo>
                  <a:cubicBezTo>
                    <a:pt x="0" y="136"/>
                    <a:pt x="3" y="151"/>
                    <a:pt x="9" y="165"/>
                  </a:cubicBezTo>
                  <a:cubicBezTo>
                    <a:pt x="15" y="179"/>
                    <a:pt x="24" y="192"/>
                    <a:pt x="36" y="203"/>
                  </a:cubicBezTo>
                  <a:cubicBezTo>
                    <a:pt x="48" y="216"/>
                    <a:pt x="58" y="230"/>
                    <a:pt x="66" y="244"/>
                  </a:cubicBezTo>
                  <a:cubicBezTo>
                    <a:pt x="73" y="259"/>
                    <a:pt x="78" y="275"/>
                    <a:pt x="79" y="293"/>
                  </a:cubicBezTo>
                  <a:lnTo>
                    <a:pt x="161" y="293"/>
                  </a:lnTo>
                  <a:cubicBezTo>
                    <a:pt x="162" y="275"/>
                    <a:pt x="167" y="259"/>
                    <a:pt x="174" y="244"/>
                  </a:cubicBezTo>
                  <a:cubicBezTo>
                    <a:pt x="182" y="230"/>
                    <a:pt x="192" y="216"/>
                    <a:pt x="204" y="203"/>
                  </a:cubicBezTo>
                  <a:cubicBezTo>
                    <a:pt x="216" y="192"/>
                    <a:pt x="225" y="179"/>
                    <a:pt x="231" y="165"/>
                  </a:cubicBezTo>
                  <a:cubicBezTo>
                    <a:pt x="237" y="151"/>
                    <a:pt x="240" y="136"/>
                    <a:pt x="240" y="120"/>
                  </a:cubicBezTo>
                  <a:lnTo>
                    <a:pt x="140" y="22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5" name="Freeform 16"/>
            <p:cNvSpPr/>
            <p:nvPr/>
          </p:nvSpPr>
          <p:spPr bwMode="auto">
            <a:xfrm>
              <a:off x="5131" y="1729"/>
              <a:ext cx="67" cy="44"/>
            </a:xfrm>
            <a:custGeom>
              <a:avLst/>
              <a:gdLst>
                <a:gd name="T0" fmla="*/ 0 w 80"/>
                <a:gd name="T1" fmla="*/ 40 h 53"/>
                <a:gd name="T2" fmla="*/ 0 w 80"/>
                <a:gd name="T3" fmla="*/ 40 h 53"/>
                <a:gd name="T4" fmla="*/ 4 w 80"/>
                <a:gd name="T5" fmla="*/ 49 h 53"/>
                <a:gd name="T6" fmla="*/ 13 w 80"/>
                <a:gd name="T7" fmla="*/ 53 h 53"/>
                <a:gd name="T8" fmla="*/ 67 w 80"/>
                <a:gd name="T9" fmla="*/ 53 h 53"/>
                <a:gd name="T10" fmla="*/ 76 w 80"/>
                <a:gd name="T11" fmla="*/ 49 h 53"/>
                <a:gd name="T12" fmla="*/ 80 w 80"/>
                <a:gd name="T13" fmla="*/ 40 h 53"/>
                <a:gd name="T14" fmla="*/ 80 w 80"/>
                <a:gd name="T15" fmla="*/ 0 h 53"/>
                <a:gd name="T16" fmla="*/ 0 w 80"/>
                <a:gd name="T17" fmla="*/ 0 h 53"/>
                <a:gd name="T18" fmla="*/ 0 w 80"/>
                <a:gd name="T19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53">
                  <a:moveTo>
                    <a:pt x="0" y="40"/>
                  </a:moveTo>
                  <a:lnTo>
                    <a:pt x="0" y="40"/>
                  </a:lnTo>
                  <a:cubicBezTo>
                    <a:pt x="0" y="43"/>
                    <a:pt x="1" y="46"/>
                    <a:pt x="4" y="49"/>
                  </a:cubicBezTo>
                  <a:cubicBezTo>
                    <a:pt x="7" y="52"/>
                    <a:pt x="10" y="53"/>
                    <a:pt x="13" y="53"/>
                  </a:cubicBezTo>
                  <a:lnTo>
                    <a:pt x="67" y="53"/>
                  </a:lnTo>
                  <a:cubicBezTo>
                    <a:pt x="70" y="53"/>
                    <a:pt x="73" y="52"/>
                    <a:pt x="76" y="49"/>
                  </a:cubicBezTo>
                  <a:cubicBezTo>
                    <a:pt x="79" y="46"/>
                    <a:pt x="80" y="43"/>
                    <a:pt x="80" y="40"/>
                  </a:cubicBezTo>
                  <a:lnTo>
                    <a:pt x="80" y="0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6" name="Freeform 17"/>
            <p:cNvSpPr/>
            <p:nvPr/>
          </p:nvSpPr>
          <p:spPr bwMode="auto">
            <a:xfrm>
              <a:off x="5123" y="1466"/>
              <a:ext cx="190" cy="147"/>
            </a:xfrm>
            <a:custGeom>
              <a:avLst/>
              <a:gdLst>
                <a:gd name="T0" fmla="*/ 207 w 226"/>
                <a:gd name="T1" fmla="*/ 0 h 174"/>
                <a:gd name="T2" fmla="*/ 207 w 226"/>
                <a:gd name="T3" fmla="*/ 0 h 174"/>
                <a:gd name="T4" fmla="*/ 154 w 226"/>
                <a:gd name="T5" fmla="*/ 52 h 174"/>
                <a:gd name="T6" fmla="*/ 70 w 226"/>
                <a:gd name="T7" fmla="*/ 137 h 174"/>
                <a:gd name="T8" fmla="*/ 19 w 226"/>
                <a:gd name="T9" fmla="*/ 86 h 174"/>
                <a:gd name="T10" fmla="*/ 0 w 226"/>
                <a:gd name="T11" fmla="*/ 105 h 174"/>
                <a:gd name="T12" fmla="*/ 70 w 226"/>
                <a:gd name="T13" fmla="*/ 174 h 174"/>
                <a:gd name="T14" fmla="*/ 165 w 226"/>
                <a:gd name="T15" fmla="*/ 79 h 174"/>
                <a:gd name="T16" fmla="*/ 226 w 226"/>
                <a:gd name="T17" fmla="*/ 18 h 174"/>
                <a:gd name="T18" fmla="*/ 207 w 226"/>
                <a:gd name="T19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" h="174">
                  <a:moveTo>
                    <a:pt x="207" y="0"/>
                  </a:moveTo>
                  <a:lnTo>
                    <a:pt x="207" y="0"/>
                  </a:lnTo>
                  <a:lnTo>
                    <a:pt x="154" y="52"/>
                  </a:lnTo>
                  <a:lnTo>
                    <a:pt x="70" y="137"/>
                  </a:lnTo>
                  <a:lnTo>
                    <a:pt x="19" y="86"/>
                  </a:lnTo>
                  <a:lnTo>
                    <a:pt x="0" y="105"/>
                  </a:lnTo>
                  <a:lnTo>
                    <a:pt x="70" y="174"/>
                  </a:lnTo>
                  <a:lnTo>
                    <a:pt x="165" y="79"/>
                  </a:lnTo>
                  <a:lnTo>
                    <a:pt x="226" y="18"/>
                  </a:lnTo>
                  <a:lnTo>
                    <a:pt x="20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grpSp>
        <p:nvGrpSpPr>
          <p:cNvPr id="37" name="组合 20"/>
          <p:cNvGrpSpPr>
            <a:grpSpLocks noChangeAspect="1"/>
          </p:cNvGrpSpPr>
          <p:nvPr/>
        </p:nvGrpSpPr>
        <p:grpSpPr bwMode="auto">
          <a:xfrm>
            <a:off x="6968960" y="5127441"/>
            <a:ext cx="411162" cy="536575"/>
            <a:chOff x="5245" y="2879"/>
            <a:chExt cx="259" cy="338"/>
          </a:xfrm>
          <a:solidFill>
            <a:schemeClr val="bg1"/>
          </a:solidFill>
        </p:grpSpPr>
        <p:sp>
          <p:nvSpPr>
            <p:cNvPr id="38" name="Freeform 21"/>
            <p:cNvSpPr/>
            <p:nvPr/>
          </p:nvSpPr>
          <p:spPr bwMode="auto">
            <a:xfrm>
              <a:off x="5284" y="2879"/>
              <a:ext cx="179" cy="88"/>
            </a:xfrm>
            <a:custGeom>
              <a:avLst/>
              <a:gdLst>
                <a:gd name="T0" fmla="*/ 33 w 213"/>
                <a:gd name="T1" fmla="*/ 77 h 105"/>
                <a:gd name="T2" fmla="*/ 33 w 213"/>
                <a:gd name="T3" fmla="*/ 77 h 105"/>
                <a:gd name="T4" fmla="*/ 50 w 213"/>
                <a:gd name="T5" fmla="*/ 51 h 105"/>
                <a:gd name="T6" fmla="*/ 75 w 213"/>
                <a:gd name="T7" fmla="*/ 33 h 105"/>
                <a:gd name="T8" fmla="*/ 107 w 213"/>
                <a:gd name="T9" fmla="*/ 27 h 105"/>
                <a:gd name="T10" fmla="*/ 139 w 213"/>
                <a:gd name="T11" fmla="*/ 33 h 105"/>
                <a:gd name="T12" fmla="*/ 164 w 213"/>
                <a:gd name="T13" fmla="*/ 51 h 105"/>
                <a:gd name="T14" fmla="*/ 181 w 213"/>
                <a:gd name="T15" fmla="*/ 77 h 105"/>
                <a:gd name="T16" fmla="*/ 187 w 213"/>
                <a:gd name="T17" fmla="*/ 105 h 105"/>
                <a:gd name="T18" fmla="*/ 213 w 213"/>
                <a:gd name="T19" fmla="*/ 105 h 105"/>
                <a:gd name="T20" fmla="*/ 205 w 213"/>
                <a:gd name="T21" fmla="*/ 66 h 105"/>
                <a:gd name="T22" fmla="*/ 183 w 213"/>
                <a:gd name="T23" fmla="*/ 32 h 105"/>
                <a:gd name="T24" fmla="*/ 149 w 213"/>
                <a:gd name="T25" fmla="*/ 8 h 105"/>
                <a:gd name="T26" fmla="*/ 107 w 213"/>
                <a:gd name="T27" fmla="*/ 0 h 105"/>
                <a:gd name="T28" fmla="*/ 65 w 213"/>
                <a:gd name="T29" fmla="*/ 8 h 105"/>
                <a:gd name="T30" fmla="*/ 31 w 213"/>
                <a:gd name="T31" fmla="*/ 32 h 105"/>
                <a:gd name="T32" fmla="*/ 8 w 213"/>
                <a:gd name="T33" fmla="*/ 66 h 105"/>
                <a:gd name="T34" fmla="*/ 0 w 213"/>
                <a:gd name="T35" fmla="*/ 105 h 105"/>
                <a:gd name="T36" fmla="*/ 27 w 213"/>
                <a:gd name="T37" fmla="*/ 105 h 105"/>
                <a:gd name="T38" fmla="*/ 33 w 213"/>
                <a:gd name="T39" fmla="*/ 77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3" h="105">
                  <a:moveTo>
                    <a:pt x="33" y="77"/>
                  </a:moveTo>
                  <a:lnTo>
                    <a:pt x="33" y="77"/>
                  </a:lnTo>
                  <a:cubicBezTo>
                    <a:pt x="37" y="67"/>
                    <a:pt x="43" y="58"/>
                    <a:pt x="50" y="51"/>
                  </a:cubicBezTo>
                  <a:cubicBezTo>
                    <a:pt x="57" y="43"/>
                    <a:pt x="65" y="37"/>
                    <a:pt x="75" y="33"/>
                  </a:cubicBezTo>
                  <a:cubicBezTo>
                    <a:pt x="85" y="29"/>
                    <a:pt x="95" y="27"/>
                    <a:pt x="107" y="27"/>
                  </a:cubicBezTo>
                  <a:cubicBezTo>
                    <a:pt x="118" y="27"/>
                    <a:pt x="129" y="29"/>
                    <a:pt x="139" y="33"/>
                  </a:cubicBezTo>
                  <a:cubicBezTo>
                    <a:pt x="148" y="37"/>
                    <a:pt x="157" y="43"/>
                    <a:pt x="164" y="51"/>
                  </a:cubicBezTo>
                  <a:cubicBezTo>
                    <a:pt x="171" y="58"/>
                    <a:pt x="177" y="67"/>
                    <a:pt x="181" y="77"/>
                  </a:cubicBezTo>
                  <a:cubicBezTo>
                    <a:pt x="184" y="86"/>
                    <a:pt x="186" y="95"/>
                    <a:pt x="187" y="105"/>
                  </a:cubicBezTo>
                  <a:lnTo>
                    <a:pt x="213" y="105"/>
                  </a:lnTo>
                  <a:cubicBezTo>
                    <a:pt x="213" y="91"/>
                    <a:pt x="210" y="78"/>
                    <a:pt x="205" y="66"/>
                  </a:cubicBezTo>
                  <a:cubicBezTo>
                    <a:pt x="200" y="53"/>
                    <a:pt x="192" y="42"/>
                    <a:pt x="183" y="32"/>
                  </a:cubicBezTo>
                  <a:cubicBezTo>
                    <a:pt x="173" y="22"/>
                    <a:pt x="162" y="14"/>
                    <a:pt x="149" y="8"/>
                  </a:cubicBezTo>
                  <a:cubicBezTo>
                    <a:pt x="136" y="3"/>
                    <a:pt x="122" y="0"/>
                    <a:pt x="107" y="0"/>
                  </a:cubicBezTo>
                  <a:cubicBezTo>
                    <a:pt x="92" y="0"/>
                    <a:pt x="78" y="3"/>
                    <a:pt x="65" y="8"/>
                  </a:cubicBezTo>
                  <a:cubicBezTo>
                    <a:pt x="52" y="14"/>
                    <a:pt x="40" y="22"/>
                    <a:pt x="31" y="32"/>
                  </a:cubicBezTo>
                  <a:cubicBezTo>
                    <a:pt x="21" y="42"/>
                    <a:pt x="14" y="53"/>
                    <a:pt x="8" y="66"/>
                  </a:cubicBezTo>
                  <a:cubicBezTo>
                    <a:pt x="3" y="78"/>
                    <a:pt x="1" y="91"/>
                    <a:pt x="0" y="105"/>
                  </a:cubicBezTo>
                  <a:lnTo>
                    <a:pt x="27" y="105"/>
                  </a:lnTo>
                  <a:cubicBezTo>
                    <a:pt x="28" y="95"/>
                    <a:pt x="29" y="86"/>
                    <a:pt x="33" y="77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9" name="Freeform 22"/>
            <p:cNvSpPr>
              <a:spLocks noEditPoints="1"/>
            </p:cNvSpPr>
            <p:nvPr/>
          </p:nvSpPr>
          <p:spPr bwMode="auto">
            <a:xfrm>
              <a:off x="5245" y="2967"/>
              <a:ext cx="259" cy="227"/>
            </a:xfrm>
            <a:custGeom>
              <a:avLst/>
              <a:gdLst>
                <a:gd name="T0" fmla="*/ 70 w 308"/>
                <a:gd name="T1" fmla="*/ 51 h 270"/>
                <a:gd name="T2" fmla="*/ 70 w 308"/>
                <a:gd name="T3" fmla="*/ 51 h 270"/>
                <a:gd name="T4" fmla="*/ 61 w 308"/>
                <a:gd name="T5" fmla="*/ 55 h 270"/>
                <a:gd name="T6" fmla="*/ 51 w 308"/>
                <a:gd name="T7" fmla="*/ 51 h 270"/>
                <a:gd name="T8" fmla="*/ 47 w 308"/>
                <a:gd name="T9" fmla="*/ 42 h 270"/>
                <a:gd name="T10" fmla="*/ 51 w 308"/>
                <a:gd name="T11" fmla="*/ 32 h 270"/>
                <a:gd name="T12" fmla="*/ 61 w 308"/>
                <a:gd name="T13" fmla="*/ 28 h 270"/>
                <a:gd name="T14" fmla="*/ 70 w 308"/>
                <a:gd name="T15" fmla="*/ 32 h 270"/>
                <a:gd name="T16" fmla="*/ 74 w 308"/>
                <a:gd name="T17" fmla="*/ 42 h 270"/>
                <a:gd name="T18" fmla="*/ 70 w 308"/>
                <a:gd name="T19" fmla="*/ 51 h 270"/>
                <a:gd name="T20" fmla="*/ 238 w 308"/>
                <a:gd name="T21" fmla="*/ 32 h 270"/>
                <a:gd name="T22" fmla="*/ 238 w 308"/>
                <a:gd name="T23" fmla="*/ 32 h 270"/>
                <a:gd name="T24" fmla="*/ 247 w 308"/>
                <a:gd name="T25" fmla="*/ 28 h 270"/>
                <a:gd name="T26" fmla="*/ 257 w 308"/>
                <a:gd name="T27" fmla="*/ 32 h 270"/>
                <a:gd name="T28" fmla="*/ 261 w 308"/>
                <a:gd name="T29" fmla="*/ 42 h 270"/>
                <a:gd name="T30" fmla="*/ 257 w 308"/>
                <a:gd name="T31" fmla="*/ 51 h 270"/>
                <a:gd name="T32" fmla="*/ 247 w 308"/>
                <a:gd name="T33" fmla="*/ 55 h 270"/>
                <a:gd name="T34" fmla="*/ 238 w 308"/>
                <a:gd name="T35" fmla="*/ 51 h 270"/>
                <a:gd name="T36" fmla="*/ 234 w 308"/>
                <a:gd name="T37" fmla="*/ 42 h 270"/>
                <a:gd name="T38" fmla="*/ 238 w 308"/>
                <a:gd name="T39" fmla="*/ 32 h 270"/>
                <a:gd name="T40" fmla="*/ 154 w 308"/>
                <a:gd name="T41" fmla="*/ 197 h 270"/>
                <a:gd name="T42" fmla="*/ 154 w 308"/>
                <a:gd name="T43" fmla="*/ 197 h 270"/>
                <a:gd name="T44" fmla="*/ 165 w 308"/>
                <a:gd name="T45" fmla="*/ 202 h 270"/>
                <a:gd name="T46" fmla="*/ 308 w 308"/>
                <a:gd name="T47" fmla="*/ 270 h 270"/>
                <a:gd name="T48" fmla="*/ 308 w 308"/>
                <a:gd name="T49" fmla="*/ 82 h 270"/>
                <a:gd name="T50" fmla="*/ 308 w 308"/>
                <a:gd name="T51" fmla="*/ 0 h 270"/>
                <a:gd name="T52" fmla="*/ 260 w 308"/>
                <a:gd name="T53" fmla="*/ 0 h 270"/>
                <a:gd name="T54" fmla="*/ 234 w 308"/>
                <a:gd name="T55" fmla="*/ 0 h 270"/>
                <a:gd name="T56" fmla="*/ 74 w 308"/>
                <a:gd name="T57" fmla="*/ 0 h 270"/>
                <a:gd name="T58" fmla="*/ 47 w 308"/>
                <a:gd name="T59" fmla="*/ 0 h 270"/>
                <a:gd name="T60" fmla="*/ 0 w 308"/>
                <a:gd name="T61" fmla="*/ 0 h 270"/>
                <a:gd name="T62" fmla="*/ 0 w 308"/>
                <a:gd name="T63" fmla="*/ 82 h 270"/>
                <a:gd name="T64" fmla="*/ 0 w 308"/>
                <a:gd name="T65" fmla="*/ 270 h 270"/>
                <a:gd name="T66" fmla="*/ 143 w 308"/>
                <a:gd name="T67" fmla="*/ 202 h 270"/>
                <a:gd name="T68" fmla="*/ 154 w 308"/>
                <a:gd name="T69" fmla="*/ 19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8" h="270">
                  <a:moveTo>
                    <a:pt x="70" y="51"/>
                  </a:moveTo>
                  <a:lnTo>
                    <a:pt x="70" y="51"/>
                  </a:lnTo>
                  <a:cubicBezTo>
                    <a:pt x="67" y="54"/>
                    <a:pt x="64" y="55"/>
                    <a:pt x="61" y="55"/>
                  </a:cubicBezTo>
                  <a:cubicBezTo>
                    <a:pt x="57" y="55"/>
                    <a:pt x="54" y="54"/>
                    <a:pt x="51" y="51"/>
                  </a:cubicBezTo>
                  <a:cubicBezTo>
                    <a:pt x="48" y="48"/>
                    <a:pt x="47" y="45"/>
                    <a:pt x="47" y="42"/>
                  </a:cubicBezTo>
                  <a:cubicBezTo>
                    <a:pt x="47" y="38"/>
                    <a:pt x="48" y="35"/>
                    <a:pt x="51" y="32"/>
                  </a:cubicBezTo>
                  <a:cubicBezTo>
                    <a:pt x="54" y="30"/>
                    <a:pt x="57" y="28"/>
                    <a:pt x="61" y="28"/>
                  </a:cubicBezTo>
                  <a:cubicBezTo>
                    <a:pt x="64" y="28"/>
                    <a:pt x="67" y="30"/>
                    <a:pt x="70" y="32"/>
                  </a:cubicBezTo>
                  <a:cubicBezTo>
                    <a:pt x="73" y="35"/>
                    <a:pt x="74" y="38"/>
                    <a:pt x="74" y="42"/>
                  </a:cubicBezTo>
                  <a:cubicBezTo>
                    <a:pt x="74" y="45"/>
                    <a:pt x="73" y="48"/>
                    <a:pt x="70" y="51"/>
                  </a:cubicBezTo>
                  <a:close/>
                  <a:moveTo>
                    <a:pt x="238" y="32"/>
                  </a:moveTo>
                  <a:lnTo>
                    <a:pt x="238" y="32"/>
                  </a:lnTo>
                  <a:cubicBezTo>
                    <a:pt x="240" y="30"/>
                    <a:pt x="244" y="28"/>
                    <a:pt x="247" y="28"/>
                  </a:cubicBezTo>
                  <a:cubicBezTo>
                    <a:pt x="251" y="28"/>
                    <a:pt x="254" y="30"/>
                    <a:pt x="257" y="32"/>
                  </a:cubicBezTo>
                  <a:cubicBezTo>
                    <a:pt x="259" y="35"/>
                    <a:pt x="261" y="38"/>
                    <a:pt x="261" y="42"/>
                  </a:cubicBezTo>
                  <a:cubicBezTo>
                    <a:pt x="261" y="45"/>
                    <a:pt x="259" y="48"/>
                    <a:pt x="257" y="51"/>
                  </a:cubicBezTo>
                  <a:cubicBezTo>
                    <a:pt x="254" y="54"/>
                    <a:pt x="251" y="55"/>
                    <a:pt x="247" y="55"/>
                  </a:cubicBezTo>
                  <a:cubicBezTo>
                    <a:pt x="244" y="55"/>
                    <a:pt x="240" y="54"/>
                    <a:pt x="238" y="51"/>
                  </a:cubicBezTo>
                  <a:cubicBezTo>
                    <a:pt x="235" y="48"/>
                    <a:pt x="234" y="45"/>
                    <a:pt x="234" y="42"/>
                  </a:cubicBezTo>
                  <a:cubicBezTo>
                    <a:pt x="234" y="38"/>
                    <a:pt x="235" y="35"/>
                    <a:pt x="238" y="32"/>
                  </a:cubicBezTo>
                  <a:close/>
                  <a:moveTo>
                    <a:pt x="154" y="197"/>
                  </a:moveTo>
                  <a:lnTo>
                    <a:pt x="154" y="197"/>
                  </a:lnTo>
                  <a:lnTo>
                    <a:pt x="165" y="202"/>
                  </a:lnTo>
                  <a:lnTo>
                    <a:pt x="308" y="270"/>
                  </a:lnTo>
                  <a:lnTo>
                    <a:pt x="308" y="82"/>
                  </a:lnTo>
                  <a:lnTo>
                    <a:pt x="308" y="0"/>
                  </a:lnTo>
                  <a:lnTo>
                    <a:pt x="260" y="0"/>
                  </a:lnTo>
                  <a:lnTo>
                    <a:pt x="234" y="0"/>
                  </a:lnTo>
                  <a:lnTo>
                    <a:pt x="74" y="0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270"/>
                  </a:lnTo>
                  <a:lnTo>
                    <a:pt x="143" y="202"/>
                  </a:lnTo>
                  <a:lnTo>
                    <a:pt x="154" y="197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0" name="Freeform 23"/>
            <p:cNvSpPr/>
            <p:nvPr/>
          </p:nvSpPr>
          <p:spPr bwMode="auto">
            <a:xfrm>
              <a:off x="5284" y="2991"/>
              <a:ext cx="23" cy="23"/>
            </a:xfrm>
            <a:custGeom>
              <a:avLst/>
              <a:gdLst>
                <a:gd name="T0" fmla="*/ 13 w 27"/>
                <a:gd name="T1" fmla="*/ 0 h 27"/>
                <a:gd name="T2" fmla="*/ 13 w 27"/>
                <a:gd name="T3" fmla="*/ 0 h 27"/>
                <a:gd name="T4" fmla="*/ 4 w 27"/>
                <a:gd name="T5" fmla="*/ 4 h 27"/>
                <a:gd name="T6" fmla="*/ 0 w 27"/>
                <a:gd name="T7" fmla="*/ 14 h 27"/>
                <a:gd name="T8" fmla="*/ 4 w 27"/>
                <a:gd name="T9" fmla="*/ 23 h 27"/>
                <a:gd name="T10" fmla="*/ 13 w 27"/>
                <a:gd name="T11" fmla="*/ 27 h 27"/>
                <a:gd name="T12" fmla="*/ 23 w 27"/>
                <a:gd name="T13" fmla="*/ 23 h 27"/>
                <a:gd name="T14" fmla="*/ 27 w 27"/>
                <a:gd name="T15" fmla="*/ 14 h 27"/>
                <a:gd name="T16" fmla="*/ 23 w 27"/>
                <a:gd name="T17" fmla="*/ 4 h 27"/>
                <a:gd name="T18" fmla="*/ 13 w 27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13" y="0"/>
                  </a:moveTo>
                  <a:lnTo>
                    <a:pt x="13" y="0"/>
                  </a:lnTo>
                  <a:cubicBezTo>
                    <a:pt x="10" y="0"/>
                    <a:pt x="7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0"/>
                    <a:pt x="4" y="23"/>
                  </a:cubicBezTo>
                  <a:cubicBezTo>
                    <a:pt x="7" y="26"/>
                    <a:pt x="10" y="27"/>
                    <a:pt x="13" y="27"/>
                  </a:cubicBezTo>
                  <a:cubicBezTo>
                    <a:pt x="17" y="27"/>
                    <a:pt x="20" y="26"/>
                    <a:pt x="23" y="23"/>
                  </a:cubicBezTo>
                  <a:cubicBezTo>
                    <a:pt x="25" y="20"/>
                    <a:pt x="27" y="17"/>
                    <a:pt x="27" y="14"/>
                  </a:cubicBezTo>
                  <a:cubicBezTo>
                    <a:pt x="27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1" name="Freeform 24"/>
            <p:cNvSpPr/>
            <p:nvPr/>
          </p:nvSpPr>
          <p:spPr bwMode="auto">
            <a:xfrm>
              <a:off x="5442" y="2991"/>
              <a:ext cx="21" cy="23"/>
            </a:xfrm>
            <a:custGeom>
              <a:avLst/>
              <a:gdLst>
                <a:gd name="T0" fmla="*/ 13 w 26"/>
                <a:gd name="T1" fmla="*/ 27 h 27"/>
                <a:gd name="T2" fmla="*/ 13 w 26"/>
                <a:gd name="T3" fmla="*/ 27 h 27"/>
                <a:gd name="T4" fmla="*/ 23 w 26"/>
                <a:gd name="T5" fmla="*/ 23 h 27"/>
                <a:gd name="T6" fmla="*/ 26 w 26"/>
                <a:gd name="T7" fmla="*/ 14 h 27"/>
                <a:gd name="T8" fmla="*/ 23 w 26"/>
                <a:gd name="T9" fmla="*/ 4 h 27"/>
                <a:gd name="T10" fmla="*/ 13 w 26"/>
                <a:gd name="T11" fmla="*/ 0 h 27"/>
                <a:gd name="T12" fmla="*/ 4 w 26"/>
                <a:gd name="T13" fmla="*/ 4 h 27"/>
                <a:gd name="T14" fmla="*/ 0 w 26"/>
                <a:gd name="T15" fmla="*/ 14 h 27"/>
                <a:gd name="T16" fmla="*/ 4 w 26"/>
                <a:gd name="T17" fmla="*/ 23 h 27"/>
                <a:gd name="T18" fmla="*/ 13 w 26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7">
                  <a:moveTo>
                    <a:pt x="13" y="27"/>
                  </a:moveTo>
                  <a:lnTo>
                    <a:pt x="13" y="27"/>
                  </a:lnTo>
                  <a:cubicBezTo>
                    <a:pt x="17" y="27"/>
                    <a:pt x="20" y="26"/>
                    <a:pt x="23" y="23"/>
                  </a:cubicBezTo>
                  <a:cubicBezTo>
                    <a:pt x="25" y="20"/>
                    <a:pt x="26" y="17"/>
                    <a:pt x="26" y="14"/>
                  </a:cubicBezTo>
                  <a:cubicBezTo>
                    <a:pt x="26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ubicBezTo>
                    <a:pt x="10" y="0"/>
                    <a:pt x="6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0"/>
                    <a:pt x="4" y="23"/>
                  </a:cubicBezTo>
                  <a:cubicBezTo>
                    <a:pt x="6" y="26"/>
                    <a:pt x="10" y="27"/>
                    <a:pt x="13" y="27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2" name="Freeform 25"/>
            <p:cNvSpPr/>
            <p:nvPr/>
          </p:nvSpPr>
          <p:spPr bwMode="auto">
            <a:xfrm>
              <a:off x="5246" y="3157"/>
              <a:ext cx="256" cy="60"/>
            </a:xfrm>
            <a:custGeom>
              <a:avLst/>
              <a:gdLst>
                <a:gd name="T0" fmla="*/ 153 w 305"/>
                <a:gd name="T1" fmla="*/ 0 h 72"/>
                <a:gd name="T2" fmla="*/ 153 w 305"/>
                <a:gd name="T3" fmla="*/ 0 h 72"/>
                <a:gd name="T4" fmla="*/ 0 w 305"/>
                <a:gd name="T5" fmla="*/ 72 h 72"/>
                <a:gd name="T6" fmla="*/ 153 w 305"/>
                <a:gd name="T7" fmla="*/ 72 h 72"/>
                <a:gd name="T8" fmla="*/ 305 w 305"/>
                <a:gd name="T9" fmla="*/ 72 h 72"/>
                <a:gd name="T10" fmla="*/ 153 w 305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" h="72">
                  <a:moveTo>
                    <a:pt x="153" y="0"/>
                  </a:moveTo>
                  <a:lnTo>
                    <a:pt x="153" y="0"/>
                  </a:lnTo>
                  <a:lnTo>
                    <a:pt x="0" y="72"/>
                  </a:lnTo>
                  <a:lnTo>
                    <a:pt x="153" y="72"/>
                  </a:lnTo>
                  <a:lnTo>
                    <a:pt x="305" y="72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sp>
        <p:nvSpPr>
          <p:cNvPr id="43" name="文本框 78"/>
          <p:cNvSpPr txBox="1"/>
          <p:nvPr/>
        </p:nvSpPr>
        <p:spPr>
          <a:xfrm>
            <a:off x="3486277" y="6049938"/>
            <a:ext cx="12192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传统解决方案</a:t>
            </a:r>
            <a:endParaRPr 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4" name="文本框 78"/>
          <p:cNvSpPr txBox="1"/>
          <p:nvPr/>
        </p:nvSpPr>
        <p:spPr>
          <a:xfrm>
            <a:off x="7198366" y="6040704"/>
            <a:ext cx="1219200" cy="245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本文关键工作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5" name="对话气泡: 矩形 44"/>
          <p:cNvSpPr/>
          <p:nvPr/>
        </p:nvSpPr>
        <p:spPr>
          <a:xfrm>
            <a:off x="100330" y="4035425"/>
            <a:ext cx="3313430" cy="2407920"/>
          </a:xfrm>
          <a:prstGeom prst="wedgeRectCallout">
            <a:avLst>
              <a:gd name="adj1" fmla="val 80203"/>
              <a:gd name="adj2" fmla="val 9296"/>
            </a:avLst>
          </a:prstGeom>
          <a:solidFill>
            <a:srgbClr val="E7ABDC">
              <a:alpha val="20000"/>
            </a:srgb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传统解决方案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1.</a:t>
            </a:r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开源组件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- </a:t>
            </a:r>
            <a:r>
              <a:rPr lang="zh-CN" altLang="en-US" sz="12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大多无法满足多类型的服务的直接调用</a:t>
            </a:r>
            <a:endParaRPr lang="zh-CN" altLang="en-US" sz="12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- </a:t>
            </a:r>
            <a:r>
              <a:rPr lang="zh-CN" altLang="en-US" sz="12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性能、监控能力较弱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2.</a:t>
            </a:r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基于开源组件自研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-</a:t>
            </a:r>
            <a:r>
              <a:rPr lang="zh-CN" altLang="en-US" sz="12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改造成本较大</a:t>
            </a:r>
            <a:endParaRPr lang="zh-CN" altLang="en-US" sz="12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3.</a:t>
            </a:r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托管云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-</a:t>
            </a:r>
            <a:r>
              <a:rPr lang="zh-CN" altLang="en-US" sz="12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存在风险及可控问题</a:t>
            </a:r>
            <a:endParaRPr lang="zh-CN" altLang="en-US" sz="12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2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6" name="对话气泡: 矩形 45"/>
          <p:cNvSpPr/>
          <p:nvPr/>
        </p:nvSpPr>
        <p:spPr>
          <a:xfrm>
            <a:off x="346710" y="1177925"/>
            <a:ext cx="4225925" cy="2237105"/>
          </a:xfrm>
          <a:prstGeom prst="wedgeRectCallout">
            <a:avLst>
              <a:gd name="adj1" fmla="val 80206"/>
              <a:gd name="adj2" fmla="val 41512"/>
            </a:avLst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业务背景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 indent="0">
              <a:lnSpc>
                <a:spcPct val="130000"/>
              </a:lnSpc>
              <a:buNone/>
            </a:pPr>
            <a:r>
              <a:rPr lang="en-US" altLang="zh-CN" sz="1400" dirty="0">
                <a:solidFill>
                  <a:schemeClr val="tx1"/>
                </a:solidFill>
                <a:sym typeface="等线" panose="02010600030101010101" pitchFamily="2" charset="-122"/>
              </a:rPr>
              <a:t>1.</a:t>
            </a:r>
            <a:r>
              <a:rPr lang="zh-CN" altLang="en-US" sz="1400" dirty="0">
                <a:solidFill>
                  <a:schemeClr val="tx1"/>
                </a:solidFill>
                <a:sym typeface="等线" panose="02010600030101010101" pitchFamily="2" charset="-122"/>
              </a:rPr>
              <a:t>软件行业发展迅猛，用户激增、业务场景复杂化</a:t>
            </a:r>
            <a:endParaRPr lang="zh-CN" altLang="en-US" sz="14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 indent="0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chemeClr val="tx1"/>
                </a:solidFill>
                <a:sym typeface="等线" panose="02010600030101010101" pitchFamily="2" charset="-122"/>
              </a:rPr>
              <a:t>导致软件开发协作方式以及架构的革新，多样化</a:t>
            </a:r>
            <a:endParaRPr lang="en-US" altLang="zh-CN" sz="10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 indent="0">
              <a:lnSpc>
                <a:spcPct val="130000"/>
              </a:lnSpc>
              <a:buNone/>
            </a:pPr>
            <a:r>
              <a:rPr lang="en-US" altLang="zh-CN" sz="1400" dirty="0">
                <a:solidFill>
                  <a:schemeClr val="tx1"/>
                </a:solidFill>
                <a:sym typeface="等线" panose="02010600030101010101" pitchFamily="2" charset="-122"/>
              </a:rPr>
              <a:t>2.</a:t>
            </a:r>
            <a:r>
              <a:rPr lang="zh-CN" altLang="en-US" sz="1400" dirty="0">
                <a:solidFill>
                  <a:schemeClr val="tx1"/>
                </a:solidFill>
                <a:sym typeface="等线" panose="02010600030101010101" pitchFamily="2" charset="-122"/>
              </a:rPr>
              <a:t>微服务架构的广泛应用，</a:t>
            </a:r>
            <a:r>
              <a:rPr lang="en-US" altLang="zh-CN" sz="1400" dirty="0">
                <a:solidFill>
                  <a:schemeClr val="tx1"/>
                </a:solidFill>
                <a:sym typeface="等线" panose="02010600030101010101" pitchFamily="2" charset="-122"/>
              </a:rPr>
              <a:t>API</a:t>
            </a:r>
            <a:r>
              <a:rPr lang="zh-CN" altLang="en-US" sz="1400" dirty="0">
                <a:solidFill>
                  <a:schemeClr val="tx1"/>
                </a:solidFill>
                <a:sym typeface="等线" panose="02010600030101010101" pitchFamily="2" charset="-122"/>
              </a:rPr>
              <a:t>网关面临新挑战</a:t>
            </a:r>
            <a:endParaRPr lang="zh-CN" altLang="en-US" sz="14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000" dirty="0">
                <a:solidFill>
                  <a:schemeClr val="tx1"/>
                </a:solidFill>
                <a:sym typeface="等线" panose="02010600030101010101" pitchFamily="2" charset="-122"/>
              </a:rPr>
              <a:t>API</a:t>
            </a:r>
            <a:r>
              <a:rPr lang="zh-CN" altLang="en-US" sz="1000" dirty="0">
                <a:solidFill>
                  <a:schemeClr val="tx1"/>
                </a:solidFill>
                <a:sym typeface="等线" panose="02010600030101010101" pitchFamily="2" charset="-122"/>
              </a:rPr>
              <a:t>网关成为其必备关键组件，性能及稳定性要求日益增加</a:t>
            </a:r>
            <a:endParaRPr lang="zh-CN" altLang="en-US" sz="10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sym typeface="等线" panose="02010600030101010101" pitchFamily="2" charset="-122"/>
              </a:rPr>
              <a:t>3.</a:t>
            </a:r>
            <a:r>
              <a:rPr lang="zh-CN" altLang="en-US" sz="1400" dirty="0">
                <a:solidFill>
                  <a:schemeClr val="tx1"/>
                </a:solidFill>
                <a:sym typeface="等线" panose="02010600030101010101" pitchFamily="2" charset="-122"/>
              </a:rPr>
              <a:t>微服务的类型及通信协议多样化</a:t>
            </a:r>
            <a:endParaRPr lang="zh-CN" altLang="en-US" sz="14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sym typeface="等线" panose="02010600030101010101" pitchFamily="2" charset="-122"/>
              </a:rPr>
              <a:t>对于微服务的实现方式出现</a:t>
            </a:r>
            <a:r>
              <a:rPr lang="en-US" altLang="zh-CN" sz="1000" dirty="0">
                <a:solidFill>
                  <a:schemeClr val="tx1"/>
                </a:solidFill>
                <a:sym typeface="等线" panose="02010600030101010101" pitchFamily="2" charset="-122"/>
              </a:rPr>
              <a:t>Dubbo</a:t>
            </a:r>
            <a:r>
              <a:rPr lang="zh-CN" altLang="en-US" sz="1000" dirty="0">
                <a:solidFill>
                  <a:schemeClr val="tx1"/>
                </a:solidFill>
                <a:sym typeface="等线" panose="02010600030101010101" pitchFamily="2" charset="-122"/>
              </a:rPr>
              <a:t>，</a:t>
            </a:r>
            <a:r>
              <a:rPr lang="en-US" altLang="zh-CN" sz="1000" dirty="0">
                <a:solidFill>
                  <a:schemeClr val="tx1"/>
                </a:solidFill>
                <a:sym typeface="等线" panose="02010600030101010101" pitchFamily="2" charset="-122"/>
              </a:rPr>
              <a:t>gRPC</a:t>
            </a:r>
            <a:r>
              <a:rPr lang="zh-CN" altLang="en-US" sz="1000" dirty="0">
                <a:solidFill>
                  <a:schemeClr val="tx1"/>
                </a:solidFill>
                <a:sym typeface="等线" panose="02010600030101010101" pitchFamily="2" charset="-122"/>
              </a:rPr>
              <a:t>等系列类型服务</a:t>
            </a:r>
            <a:endParaRPr lang="zh-CN" altLang="en-US" sz="10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  <p:sp>
        <p:nvSpPr>
          <p:cNvPr id="47" name="对话气泡: 矩形 46"/>
          <p:cNvSpPr/>
          <p:nvPr/>
        </p:nvSpPr>
        <p:spPr>
          <a:xfrm>
            <a:off x="8199755" y="2018030"/>
            <a:ext cx="3705860" cy="4023360"/>
          </a:xfrm>
          <a:prstGeom prst="wedgeRectCallout">
            <a:avLst>
              <a:gd name="adj1" fmla="val -67236"/>
              <a:gd name="adj2" fmla="val 4389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本文关键工作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1. </a:t>
            </a:r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设计支持多协议转换，能够接入多类型微服务能力的</a:t>
            </a:r>
            <a:r>
              <a:rPr lang="en-US" altLang="zh-CN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API</a:t>
            </a:r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网关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2.</a:t>
            </a:r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采用高性能及监控技术，提升</a:t>
            </a:r>
            <a:r>
              <a:rPr lang="en-US" altLang="zh-CN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API</a:t>
            </a:r>
            <a:r>
              <a:rPr lang="zh-CN" altLang="en-US" sz="16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网关的性能和监控能力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u="sng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通过本文研究的系统，可有效地为企业降低自研成本、提升</a:t>
            </a:r>
            <a:r>
              <a:rPr lang="en-US" altLang="zh-CN" b="1" u="sng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API</a:t>
            </a:r>
            <a:r>
              <a:rPr lang="zh-CN" altLang="en-US" b="1" u="sng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性能及监控能力进而增加微服务治理能力和用户体验</a:t>
            </a:r>
            <a:endParaRPr lang="zh-CN" altLang="en-US" b="1" u="sng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2.08333E-7 -2.22222E-6 L -2.08333E-7 0.0257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7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" fill="hold"/>
                                        <p:tgtEl>
                                          <p:spTgt spid="9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4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2.91667E-6 1.11111E-6 L -2.91667E-6 -0.02662 " pathEditMode="relative" rAng="0" ptsTypes="AA">
                                      <p:cBhvr>
                                        <p:cTn id="21" dur="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" fill="hold"/>
                                        <p:tgtEl>
                                          <p:spTgt spid="28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4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4.375E-6 -3.7037E-7 L 4.375E-6 -0.02662 " pathEditMode="relative" rAng="0" ptsTypes="AA">
                                      <p:cBhvr>
                                        <p:cTn id="30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4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1.45833E-6 -3.7037E-7 L -1.45833E-6 -0.02662 " pathEditMode="relative" rAng="0" ptsTypes="AA">
                                      <p:cBhvr>
                                        <p:cTn id="35" dur="5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14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00" fill="hold"/>
                                        <p:tgtEl>
                                          <p:spTgt spid="23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200" fill="hold"/>
                                        <p:tgtEl>
                                          <p:spTgt spid="33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" dur="200" fill="hold"/>
                                        <p:tgtEl>
                                          <p:spTgt spid="37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11111E-6 L -2.91667E-6 -0.02662 " pathEditMode="relative" rAng="0" ptsTypes="AA">
                                      <p:cBhvr>
                                        <p:cTn id="57" dur="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7.40741E-7 L 8.33333E-7 -0.02662 " pathEditMode="relative" rAng="0" ptsTypes="AA">
                                      <p:cBhvr>
                                        <p:cTn id="63" dur="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07407E-6 L -2.70833E-6 -0.02662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8" grpId="1"/>
      <p:bldP spid="22" grpId="0"/>
      <p:bldP spid="22" grpId="1"/>
      <p:bldP spid="43" grpId="0"/>
      <p:bldP spid="43" grpId="1"/>
      <p:bldP spid="44" grpId="0"/>
      <p:bldP spid="44" grpId="1"/>
      <p:bldP spid="45" grpId="0" bldLvl="0" animBg="1"/>
      <p:bldP spid="45" grpId="1" bldLvl="0" animBg="1"/>
      <p:bldP spid="46" grpId="0" bldLvl="0" animBg="1"/>
      <p:bldP spid="46" grpId="1" bldLvl="0" animBg="1"/>
      <p:bldP spid="47" grpId="0" bldLvl="0" animBg="1"/>
      <p:bldP spid="47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+mn-ea"/>
                <a:sym typeface="等线" panose="02010600030101010101" pitchFamily="2" charset="-122"/>
              </a:rPr>
              <a:t>01 </a:t>
            </a:r>
            <a:r>
              <a:rPr lang="zh-CN" altLang="en-US" sz="3600" b="1" dirty="0">
                <a:solidFill>
                  <a:schemeClr val="bg1"/>
                </a:solidFill>
                <a:latin typeface="+mn-ea"/>
                <a:sym typeface="等线" panose="02010600030101010101" pitchFamily="2" charset="-122"/>
              </a:rPr>
              <a:t>项目背景</a:t>
            </a:r>
            <a:endParaRPr lang="zh-CN" altLang="en-US" sz="3600" b="1" dirty="0">
              <a:solidFill>
                <a:schemeClr val="bg1"/>
              </a:solidFill>
              <a:latin typeface="+mn-ea"/>
              <a:sym typeface="等线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9" name="对话气泡: 矩形 8"/>
          <p:cNvSpPr/>
          <p:nvPr/>
        </p:nvSpPr>
        <p:spPr>
          <a:xfrm>
            <a:off x="7526970" y="2170974"/>
            <a:ext cx="4307426" cy="890753"/>
          </a:xfrm>
          <a:prstGeom prst="wedgeRectCallout">
            <a:avLst>
              <a:gd name="adj1" fmla="val 49590"/>
              <a:gd name="adj2" fmla="val 2747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Tx/>
              <a:buChar char="-"/>
              <a:defRPr/>
            </a:pPr>
            <a:r>
              <a:rPr lang="zh-CN" altLang="en-US" sz="2000" dirty="0">
                <a:latin typeface="+mn-ea"/>
                <a:ea typeface="+mn-ea"/>
                <a:sym typeface="等线" panose="02010600030101010101" pitchFamily="2" charset="-122"/>
              </a:rPr>
              <a:t>事前：安全防护</a:t>
            </a:r>
            <a:endParaRPr lang="en-US" altLang="zh-CN" sz="2000" dirty="0">
              <a:latin typeface="+mn-ea"/>
              <a:ea typeface="+mn-ea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sym typeface="等线" panose="02010600030101010101" pitchFamily="2" charset="-122"/>
              </a:rPr>
              <a:t>  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sym typeface="等线" panose="02010600030101010101" pitchFamily="2" charset="-122"/>
              </a:rPr>
              <a:t>用户鉴权、安全认证、流量标记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sym typeface="等线" panose="02010600030101010101" pitchFamily="2" charset="-122"/>
            </a:endParaRPr>
          </a:p>
        </p:txBody>
      </p:sp>
      <p:sp>
        <p:nvSpPr>
          <p:cNvPr id="10" name="对话气泡: 矩形 9"/>
          <p:cNvSpPr/>
          <p:nvPr/>
        </p:nvSpPr>
        <p:spPr>
          <a:xfrm>
            <a:off x="7652385" y="1407795"/>
            <a:ext cx="3456305" cy="396240"/>
          </a:xfrm>
          <a:prstGeom prst="wedgeRectCallout">
            <a:avLst>
              <a:gd name="adj1" fmla="val 49590"/>
              <a:gd name="adj2" fmla="val 2747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200" b="1" dirty="0">
                <a:latin typeface="+mn-ea"/>
                <a:ea typeface="+mn-ea"/>
                <a:sym typeface="等线" panose="02010600030101010101" pitchFamily="2" charset="-122"/>
              </a:rPr>
              <a:t>API</a:t>
            </a:r>
            <a:r>
              <a:rPr lang="zh-CN" altLang="en-US" sz="2200" b="1" dirty="0">
                <a:latin typeface="+mn-ea"/>
                <a:ea typeface="+mn-ea"/>
                <a:sym typeface="等线" panose="02010600030101010101" pitchFamily="2" charset="-122"/>
              </a:rPr>
              <a:t>网关治理</a:t>
            </a:r>
            <a:r>
              <a:rPr lang="en-US" altLang="zh-CN" sz="2200" b="1" dirty="0">
                <a:latin typeface="+mn-ea"/>
                <a:ea typeface="+mn-ea"/>
                <a:sym typeface="等线" panose="02010600030101010101" pitchFamily="2" charset="-122"/>
              </a:rPr>
              <a:t>-</a:t>
            </a:r>
            <a:r>
              <a:rPr lang="zh-CN" altLang="en-US" sz="2200" b="1" dirty="0">
                <a:latin typeface="+mn-ea"/>
                <a:ea typeface="+mn-ea"/>
                <a:sym typeface="等线" panose="02010600030101010101" pitchFamily="2" charset="-122"/>
              </a:rPr>
              <a:t>基本作用</a:t>
            </a:r>
            <a:endParaRPr lang="zh-CN" altLang="en-US" sz="2200" b="1" dirty="0">
              <a:latin typeface="+mn-ea"/>
              <a:ea typeface="+mn-ea"/>
              <a:sym typeface="等线" panose="02010600030101010101" pitchFamily="2" charset="-122"/>
            </a:endParaRPr>
          </a:p>
        </p:txBody>
      </p:sp>
      <p:sp>
        <p:nvSpPr>
          <p:cNvPr id="11" name="对话气泡: 矩形 10"/>
          <p:cNvSpPr/>
          <p:nvPr/>
        </p:nvSpPr>
        <p:spPr>
          <a:xfrm>
            <a:off x="7526970" y="3332451"/>
            <a:ext cx="3993010" cy="890753"/>
          </a:xfrm>
          <a:prstGeom prst="wedgeRectCallout">
            <a:avLst>
              <a:gd name="adj1" fmla="val 49590"/>
              <a:gd name="adj2" fmla="val 2747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Tx/>
              <a:buChar char="-"/>
              <a:defRPr/>
            </a:pPr>
            <a:r>
              <a:rPr lang="zh-CN" altLang="en-US" sz="2000" dirty="0">
                <a:latin typeface="+mn-ea"/>
                <a:ea typeface="+mn-ea"/>
                <a:sym typeface="等线" panose="02010600030101010101" pitchFamily="2" charset="-122"/>
              </a:rPr>
              <a:t>事中：流量分发</a:t>
            </a:r>
            <a:endParaRPr lang="en-US" altLang="zh-CN" sz="2000" dirty="0">
              <a:latin typeface="+mn-ea"/>
              <a:ea typeface="+mn-ea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sym typeface="等线" panose="02010600030101010101" pitchFamily="2" charset="-122"/>
              </a:rPr>
              <a:t>  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sym typeface="等线" panose="02010600030101010101" pitchFamily="2" charset="-122"/>
              </a:rPr>
              <a:t>负载均衡、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  <a:ea typeface="+mn-ea"/>
                <a:sym typeface="等线" panose="02010600030101010101" pitchFamily="2" charset="-122"/>
              </a:rPr>
              <a:t>路由调用、协议转换</a:t>
            </a:r>
            <a:endParaRPr lang="zh-CN" altLang="en-US" sz="1400" b="1" dirty="0">
              <a:solidFill>
                <a:srgbClr val="FF0000"/>
              </a:solidFill>
              <a:latin typeface="+mn-ea"/>
              <a:ea typeface="+mn-ea"/>
              <a:sym typeface="等线" panose="02010600030101010101" pitchFamily="2" charset="-122"/>
            </a:endParaRPr>
          </a:p>
        </p:txBody>
      </p:sp>
      <p:sp>
        <p:nvSpPr>
          <p:cNvPr id="12" name="对话气泡: 矩形 11"/>
          <p:cNvSpPr/>
          <p:nvPr/>
        </p:nvSpPr>
        <p:spPr>
          <a:xfrm>
            <a:off x="7527605" y="4602604"/>
            <a:ext cx="3993009" cy="890753"/>
          </a:xfrm>
          <a:prstGeom prst="wedgeRectCallout">
            <a:avLst>
              <a:gd name="adj1" fmla="val 49590"/>
              <a:gd name="adj2" fmla="val 2747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Tx/>
              <a:buChar char="-"/>
              <a:defRPr/>
            </a:pPr>
            <a:r>
              <a:rPr lang="zh-CN" altLang="en-US" sz="2000" dirty="0">
                <a:latin typeface="+mn-ea"/>
                <a:ea typeface="+mn-ea"/>
                <a:sym typeface="等线" panose="02010600030101010101" pitchFamily="2" charset="-122"/>
              </a:rPr>
              <a:t>事后：监控反馈</a:t>
            </a:r>
            <a:endParaRPr lang="en-US" altLang="zh-CN" sz="2000" dirty="0">
              <a:latin typeface="+mn-ea"/>
              <a:ea typeface="+mn-ea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sym typeface="等线" panose="02010600030101010101" pitchFamily="2" charset="-122"/>
              </a:rPr>
              <a:t>  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sym typeface="等线" panose="02010600030101010101" pitchFamily="2" charset="-122"/>
              </a:rPr>
              <a:t>统计分析、报警通知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sym typeface="等线" panose="02010600030101010101" pitchFamily="2" charset="-122"/>
            </a:endParaRPr>
          </a:p>
        </p:txBody>
      </p:sp>
      <p:sp>
        <p:nvSpPr>
          <p:cNvPr id="3" name="标题 1"/>
          <p:cNvSpPr txBox="1"/>
          <p:nvPr>
            <p:custDataLst>
              <p:tags r:id="rId2"/>
            </p:custDataLst>
          </p:nvPr>
        </p:nvSpPr>
        <p:spPr>
          <a:xfrm>
            <a:off x="2266950" y="5427980"/>
            <a:ext cx="1242060" cy="3162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600" dirty="0">
                <a:latin typeface="+mn-ea"/>
                <a:ea typeface="+mn-ea"/>
              </a:rPr>
              <a:t>应用场景</a:t>
            </a:r>
            <a:r>
              <a:rPr lang="zh-CN" altLang="en-US" sz="1600" dirty="0">
                <a:latin typeface="+mn-ea"/>
                <a:ea typeface="+mn-ea"/>
              </a:rPr>
              <a:t>图</a:t>
            </a:r>
            <a:endParaRPr lang="zh-CN" altLang="en-US" sz="1600" dirty="0"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" y="1750060"/>
            <a:ext cx="5002530" cy="36772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4" name="墨迹 13"/>
              <p14:cNvContentPartPr/>
              <p14:nvPr/>
            </p14:nvContentPartPr>
            <p14:xfrm>
              <a:off x="2785745" y="5187315"/>
              <a:ext cx="635" cy="6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5"/>
            </p:blipFill>
            <p:spPr>
              <a:xfrm>
                <a:off x="2785745" y="518731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5" name="墨迹 14"/>
              <p14:cNvContentPartPr/>
              <p14:nvPr/>
            </p14:nvContentPartPr>
            <p14:xfrm>
              <a:off x="2636520" y="5228590"/>
              <a:ext cx="635" cy="63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5"/>
            </p:blipFill>
            <p:spPr>
              <a:xfrm>
                <a:off x="2636520" y="522859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6" name="墨迹 15"/>
              <p14:cNvContentPartPr/>
              <p14:nvPr/>
            </p14:nvContentPartPr>
            <p14:xfrm>
              <a:off x="7852410" y="3905885"/>
              <a:ext cx="635" cy="63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5"/>
            </p:blipFill>
            <p:spPr>
              <a:xfrm>
                <a:off x="7852410" y="390588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7" name="墨迹 16"/>
              <p14:cNvContentPartPr/>
              <p14:nvPr/>
            </p14:nvContentPartPr>
            <p14:xfrm>
              <a:off x="8389620" y="3756660"/>
              <a:ext cx="635" cy="63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5"/>
            </p:blipFill>
            <p:spPr>
              <a:xfrm>
                <a:off x="8389620" y="37566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8" name="墨迹 17"/>
              <p14:cNvContentPartPr/>
              <p14:nvPr/>
            </p14:nvContentPartPr>
            <p14:xfrm>
              <a:off x="8836025" y="3202940"/>
              <a:ext cx="635" cy="63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5"/>
            </p:blipFill>
            <p:spPr>
              <a:xfrm>
                <a:off x="8836025" y="3202940"/>
                <a:ext cx="635" cy="635"/>
              </a:xfrm>
              <a:prstGeom prst="rect"/>
            </p:spPr>
          </p:pic>
        </mc:Fallback>
      </mc:AlternateContent>
      <p:cxnSp>
        <p:nvCxnSpPr>
          <p:cNvPr id="20" name="直接箭头连接符 19"/>
          <p:cNvCxnSpPr/>
          <p:nvPr/>
        </p:nvCxnSpPr>
        <p:spPr>
          <a:xfrm flipV="1">
            <a:off x="4352290" y="2912110"/>
            <a:ext cx="2975610" cy="16510"/>
          </a:xfrm>
          <a:prstGeom prst="straightConnector1">
            <a:avLst/>
          </a:prstGeom>
          <a:ln w="571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335405" y="2662555"/>
            <a:ext cx="3001010" cy="50419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652385" y="3833495"/>
            <a:ext cx="3001010" cy="50419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652385" y="5109210"/>
            <a:ext cx="3001010" cy="50419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652385" y="2638425"/>
            <a:ext cx="3001010" cy="50419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80670" y="1034415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基本应用场景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59259E-6 L -2.08333E-6 -0.02662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-3.95833E-6 -0.02663 " pathEditMode="relative" rAng="0" ptsTypes="AA">
                                      <p:cBhvr>
                                        <p:cTn id="15" dur="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-1.45833E-6 -0.02662 " pathEditMode="relative" rAng="0" ptsTypes="AA">
                                      <p:cBhvr>
                                        <p:cTn id="21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11111E-6 L -1.45833E-6 -0.02662 " pathEditMode="relative" rAng="0" ptsTypes="AA">
                                      <p:cBhvr>
                                        <p:cTn id="27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bldLvl="0" animBg="1"/>
      <p:bldP spid="10" grpId="0" bldLvl="0" animBg="1"/>
      <p:bldP spid="10" grpId="1" bldLvl="0" animBg="1"/>
      <p:bldP spid="11" grpId="0" bldLvl="0" animBg="1"/>
      <p:bldP spid="11" grpId="1" bldLvl="0" animBg="1"/>
      <p:bldP spid="12" grpId="0" bldLvl="0" animBg="1"/>
      <p:bldP spid="12" grpId="1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two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897775" y="3539625"/>
            <a:ext cx="2185225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Requirement Analysis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需求分析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02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需求分析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79305" y="1276272"/>
            <a:ext cx="1749832" cy="50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功能性需求：</a:t>
            </a:r>
            <a:endParaRPr lang="en-US" altLang="zh-CN" sz="2000" dirty="0"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98565" y="4493895"/>
            <a:ext cx="2214880" cy="505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非功能性需求：</a:t>
            </a:r>
            <a:endParaRPr lang="en-US" altLang="zh-CN" sz="2000" dirty="0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03340" y="1905635"/>
            <a:ext cx="4421505" cy="1908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85750">
              <a:buFontTx/>
              <a:buChar char="-"/>
            </a:pPr>
            <a:r>
              <a:rPr lang="zh-CN" altLang="en-US" sz="1600" dirty="0">
                <a:latin typeface="+mn-ea"/>
              </a:rPr>
              <a:t>业务服务接入：支持多种类型服务的接入</a:t>
            </a:r>
            <a:endParaRPr lang="en-US" altLang="zh-CN" sz="1600" dirty="0">
              <a:latin typeface="+mn-ea"/>
            </a:endParaRPr>
          </a:p>
          <a:p>
            <a:pPr indent="-285750">
              <a:buFontTx/>
              <a:buChar char="-"/>
            </a:pPr>
            <a:endParaRPr lang="en-US" altLang="zh-CN" sz="1600" dirty="0">
              <a:latin typeface="+mn-ea"/>
            </a:endParaRPr>
          </a:p>
          <a:p>
            <a:pPr indent="-285750">
              <a:buFontTx/>
              <a:buChar char="-"/>
            </a:pPr>
            <a:r>
              <a:rPr lang="zh-CN" altLang="en-US" sz="1600" dirty="0">
                <a:latin typeface="+mn-ea"/>
              </a:rPr>
              <a:t>通信协议转换：跨服务调用时，协议转换</a:t>
            </a:r>
            <a:endParaRPr lang="zh-CN" altLang="en-US" sz="1600" dirty="0">
              <a:latin typeface="+mn-ea"/>
            </a:endParaRPr>
          </a:p>
          <a:p>
            <a:pPr indent="-285750">
              <a:buFontTx/>
              <a:buChar char="-"/>
            </a:pPr>
            <a:endParaRPr lang="en-US" altLang="zh-CN" sz="1600" dirty="0">
              <a:latin typeface="+mn-ea"/>
            </a:endParaRPr>
          </a:p>
          <a:p>
            <a:pPr indent="-285750">
              <a:buFontTx/>
              <a:buChar char="-"/>
            </a:pPr>
            <a:r>
              <a:rPr lang="zh-CN" altLang="en-US" sz="1600" dirty="0">
                <a:latin typeface="+mn-ea"/>
              </a:rPr>
              <a:t>动态插件管理：插件的编排组合、配置管理</a:t>
            </a:r>
            <a:endParaRPr lang="zh-CN" altLang="en-US" sz="1600" dirty="0">
              <a:latin typeface="+mn-ea"/>
            </a:endParaRPr>
          </a:p>
          <a:p>
            <a:pPr indent="-285750">
              <a:buFontTx/>
              <a:buChar char="-"/>
            </a:pPr>
            <a:endParaRPr lang="zh-CN" altLang="en-US" sz="1600" dirty="0">
              <a:latin typeface="+mn-ea"/>
            </a:endParaRPr>
          </a:p>
          <a:p>
            <a:pPr indent="-285750">
              <a:buFontTx/>
              <a:buChar char="-"/>
            </a:pPr>
            <a:r>
              <a:rPr lang="zh-CN" altLang="en-US" sz="1600" dirty="0">
                <a:latin typeface="+mn-ea"/>
              </a:rPr>
              <a:t>运维管理：服务及插件等信息查看管理</a:t>
            </a:r>
            <a:endParaRPr lang="zh-CN" altLang="en-US" sz="1600" dirty="0">
              <a:latin typeface="+mn-ea"/>
            </a:endParaRPr>
          </a:p>
          <a:p>
            <a:pPr indent="-285750">
              <a:buFontTx/>
              <a:buChar char="-"/>
            </a:pPr>
            <a:endParaRPr lang="zh-CN" altLang="en-US" sz="1600" dirty="0">
              <a:latin typeface="+mn-ea"/>
            </a:endParaRPr>
          </a:p>
          <a:p>
            <a:pPr indent="-285750">
              <a:buFontTx/>
              <a:buChar char="-"/>
            </a:pPr>
            <a:r>
              <a:rPr lang="zh-CN" altLang="en-US" sz="1600" dirty="0">
                <a:latin typeface="+mn-ea"/>
              </a:rPr>
              <a:t>监控管理：监控指标分析及报警通知</a:t>
            </a:r>
            <a:endParaRPr lang="zh-CN" altLang="en-US" sz="1600" dirty="0">
              <a:latin typeface="+mn-ea"/>
            </a:endParaRPr>
          </a:p>
          <a:p>
            <a:pPr indent="-285750">
              <a:buFontTx/>
              <a:buChar char="-"/>
            </a:pPr>
            <a:endParaRPr lang="zh-CN" altLang="en-US" sz="1600" dirty="0">
              <a:latin typeface="+mn-ea"/>
            </a:endParaRPr>
          </a:p>
          <a:p>
            <a:pPr indent="0">
              <a:buFontTx/>
              <a:buNone/>
            </a:pPr>
            <a:endParaRPr lang="en-US" altLang="zh-CN" sz="1600" dirty="0">
              <a:latin typeface="+mn-ea"/>
            </a:endParaRPr>
          </a:p>
          <a:p>
            <a:pPr indent="-285750">
              <a:buFontTx/>
              <a:buChar char="-"/>
            </a:pPr>
            <a:endParaRPr lang="en-US" altLang="zh-CN" sz="1600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03340" y="4888865"/>
            <a:ext cx="574548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ts val="3300"/>
              </a:lnSpc>
              <a:buFontTx/>
              <a:buChar char="-"/>
            </a:pPr>
            <a:r>
              <a:rPr lang="zh-CN" altLang="en-US" sz="1600" dirty="0">
                <a:latin typeface="+mn-ea"/>
              </a:rPr>
              <a:t>性能：用户请求响应时间</a:t>
            </a:r>
            <a:r>
              <a:rPr lang="en-US" altLang="zh-CN" sz="1600" dirty="0">
                <a:latin typeface="+mn-ea"/>
              </a:rPr>
              <a:t>1s</a:t>
            </a:r>
            <a:r>
              <a:rPr lang="zh-CN" altLang="en-US" sz="1600" dirty="0">
                <a:latin typeface="+mn-ea"/>
              </a:rPr>
              <a:t>之内</a:t>
            </a:r>
            <a:endParaRPr lang="en-US" altLang="zh-CN" sz="1600" dirty="0">
              <a:latin typeface="+mn-ea"/>
            </a:endParaRPr>
          </a:p>
          <a:p>
            <a:pPr indent="-285750">
              <a:lnSpc>
                <a:spcPts val="3300"/>
              </a:lnSpc>
              <a:buFontTx/>
              <a:buChar char="-"/>
            </a:pPr>
            <a:r>
              <a:rPr lang="zh-CN" altLang="en-US" sz="1600" dirty="0">
                <a:latin typeface="+mn-ea"/>
              </a:rPr>
              <a:t>扩展性：插件化设计、灵活拓展功能</a:t>
            </a:r>
            <a:endParaRPr lang="en-US" altLang="zh-CN" sz="1600" dirty="0">
              <a:latin typeface="+mn-ea"/>
            </a:endParaRPr>
          </a:p>
          <a:p>
            <a:pPr indent="-285750">
              <a:lnSpc>
                <a:spcPts val="3300"/>
              </a:lnSpc>
              <a:buFontTx/>
              <a:buChar char="-"/>
            </a:pPr>
            <a:r>
              <a:rPr lang="zh-CN" altLang="en-US" sz="1600" dirty="0">
                <a:latin typeface="+mn-ea"/>
              </a:rPr>
              <a:t>易用性：注解配置、支持多注册中心、多种类型服务接入</a:t>
            </a:r>
            <a:endParaRPr lang="zh-CN" altLang="en-US" sz="1600" dirty="0">
              <a:latin typeface="+mn-ea"/>
            </a:endParaRPr>
          </a:p>
          <a:p>
            <a:pPr indent="-285750">
              <a:lnSpc>
                <a:spcPts val="3300"/>
              </a:lnSpc>
              <a:buFontTx/>
              <a:buChar char="-"/>
            </a:pPr>
            <a:r>
              <a:rPr lang="zh-CN" altLang="en-US" sz="1600" dirty="0">
                <a:latin typeface="+mn-ea"/>
              </a:rPr>
              <a:t>安全性：配置监控系统，实时告警通知</a:t>
            </a:r>
            <a:endParaRPr lang="zh-CN" altLang="en-US" sz="16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77440" y="6223635"/>
            <a:ext cx="14655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600" dirty="0">
                <a:latin typeface="+mn-ea"/>
                <a:sym typeface="+mn-ea"/>
              </a:rPr>
              <a:t>系统</a:t>
            </a:r>
            <a:r>
              <a:rPr lang="zh-CN" altLang="en-US" sz="1600" dirty="0">
                <a:latin typeface="+mn-ea"/>
                <a:sym typeface="+mn-ea"/>
              </a:rPr>
              <a:t>用例图</a:t>
            </a:r>
            <a:endParaRPr lang="zh-CN" altLang="en-US" sz="1600" dirty="0">
              <a:latin typeface="+mn-ea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03340" y="1850390"/>
            <a:ext cx="4344035" cy="233235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403340" y="4989830"/>
            <a:ext cx="5553710" cy="168275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80670" y="1034415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用例分析及需求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1723390"/>
            <a:ext cx="5153660" cy="4500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02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需求分析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80670" y="1034415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业务基本流程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261225" y="2513965"/>
            <a:ext cx="4768850" cy="348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关键流程：</a:t>
            </a:r>
            <a:endParaRPr lang="zh-CN" altLang="en-US" b="1"/>
          </a:p>
          <a:p>
            <a:endParaRPr lang="en-US" altLang="zh-CN"/>
          </a:p>
          <a:p>
            <a:r>
              <a:rPr lang="en-US" altLang="zh-CN" sz="1600"/>
              <a:t>1</a:t>
            </a:r>
            <a:r>
              <a:rPr lang="zh-CN" altLang="en-US" sz="1600"/>
              <a:t>、开发人员定义插件并运行网关服务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2</a:t>
            </a:r>
            <a:r>
              <a:rPr lang="zh-CN" altLang="en-US" sz="1600"/>
              <a:t>、开发人员引入本</a:t>
            </a:r>
            <a:r>
              <a:rPr lang="en-US" altLang="zh-CN" sz="1600"/>
              <a:t>SDK</a:t>
            </a:r>
            <a:r>
              <a:rPr lang="zh-CN" altLang="en-US" sz="1600"/>
              <a:t>并开发业务服务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3</a:t>
            </a:r>
            <a:r>
              <a:rPr lang="zh-CN" altLang="en-US" sz="1600"/>
              <a:t>、运维人员在运维管理后台为</a:t>
            </a:r>
            <a:r>
              <a:rPr lang="en-US" altLang="zh-CN" sz="1600"/>
              <a:t>API</a:t>
            </a:r>
            <a:r>
              <a:rPr lang="zh-CN" altLang="en-US" sz="1600"/>
              <a:t>接口配置规则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4</a:t>
            </a:r>
            <a:r>
              <a:rPr lang="zh-CN" altLang="en-US" sz="1600"/>
              <a:t>、请求用户请求网关，网关中间插件过滤并响应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5</a:t>
            </a:r>
            <a:r>
              <a:rPr lang="zh-CN" altLang="en-US" sz="1600"/>
              <a:t>、运维人员在运维管理后台及监控系统查看</a:t>
            </a:r>
            <a:endParaRPr lang="zh-CN" altLang="en-US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0" y="1737995"/>
            <a:ext cx="6486525" cy="4181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three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7290748" y="3539625"/>
            <a:ext cx="1540818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Design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系统设计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系统设计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170" y="1072515"/>
            <a:ext cx="31248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总体设计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架构层次设计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93535" y="1816100"/>
            <a:ext cx="5585460" cy="4709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应用层（</a:t>
            </a:r>
            <a:r>
              <a:rPr lang="en-US" altLang="zh-CN" sz="2000" b="1"/>
              <a:t>View</a:t>
            </a:r>
            <a:r>
              <a:rPr lang="zh-CN" altLang="en-US" sz="2000" b="1"/>
              <a:t>）：</a:t>
            </a:r>
            <a:endParaRPr lang="zh-CN" altLang="en-US" sz="2000" b="1"/>
          </a:p>
          <a:p>
            <a:r>
              <a:rPr lang="en-US" altLang="zh-CN"/>
              <a:t>1.</a:t>
            </a:r>
            <a:r>
              <a:rPr lang="zh-CN" altLang="en-US"/>
              <a:t>运维管理后台前端</a:t>
            </a:r>
            <a:r>
              <a:rPr lang="en-US" altLang="zh-CN"/>
              <a:t>Web</a:t>
            </a:r>
            <a:r>
              <a:rPr lang="zh-CN" altLang="en-US"/>
              <a:t>（</a:t>
            </a:r>
            <a:r>
              <a:rPr lang="en-US" altLang="zh-CN"/>
              <a:t>Vue.js</a:t>
            </a:r>
            <a:r>
              <a:rPr lang="zh-CN" altLang="en-US"/>
              <a:t>实现）</a:t>
            </a:r>
            <a:endParaRPr lang="zh-CN" altLang="en-US"/>
          </a:p>
          <a:p>
            <a:r>
              <a:rPr lang="en-US" altLang="zh-CN"/>
              <a:t>2.Prometheus Web</a:t>
            </a:r>
            <a:r>
              <a:rPr lang="zh-CN" altLang="en-US"/>
              <a:t>、</a:t>
            </a:r>
            <a:r>
              <a:rPr lang="en-US" altLang="zh-CN"/>
              <a:t>Grafana</a:t>
            </a:r>
            <a:r>
              <a:rPr lang="zh-CN" altLang="en-US"/>
              <a:t>、通知应用等三方工具</a:t>
            </a:r>
            <a:endParaRPr lang="zh-CN" altLang="en-US"/>
          </a:p>
          <a:p>
            <a:endParaRPr lang="en-US" altLang="zh-CN"/>
          </a:p>
          <a:p>
            <a:endParaRPr lang="zh-CN" altLang="en-US" sz="2000" b="1"/>
          </a:p>
          <a:p>
            <a:r>
              <a:rPr lang="zh-CN" altLang="en-US" sz="2000" b="1"/>
              <a:t>业务层（</a:t>
            </a:r>
            <a:r>
              <a:rPr lang="en-US" altLang="zh-CN" sz="2000" b="1"/>
              <a:t>Service</a:t>
            </a:r>
            <a:r>
              <a:rPr lang="zh-CN" altLang="en-US" sz="2000" b="1"/>
              <a:t>）：</a:t>
            </a:r>
            <a:endParaRPr lang="zh-CN" altLang="en-US" sz="2000" b="1"/>
          </a:p>
          <a:p>
            <a:r>
              <a:rPr lang="en-US" altLang="zh-CN">
                <a:sym typeface="+mn-ea"/>
              </a:rPr>
              <a:t>1.</a:t>
            </a:r>
            <a:r>
              <a:rPr lang="zh-CN">
                <a:sym typeface="+mn-ea"/>
              </a:rPr>
              <a:t>业务服务接入</a:t>
            </a:r>
            <a:r>
              <a:rPr lang="en-US" altLang="zh-CN">
                <a:sym typeface="+mn-ea"/>
              </a:rPr>
              <a:t>SDK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jar</a:t>
            </a:r>
            <a:r>
              <a:rPr lang="zh-CN" altLang="en-US">
                <a:sym typeface="+mn-ea"/>
              </a:rPr>
              <a:t>包）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网关服务（基于</a:t>
            </a:r>
            <a:r>
              <a:rPr lang="en-US" altLang="zh-CN">
                <a:sym typeface="+mn-ea"/>
              </a:rPr>
              <a:t>Netty</a:t>
            </a:r>
            <a:r>
              <a:rPr lang="zh-CN" altLang="en-US">
                <a:sym typeface="+mn-ea"/>
              </a:rPr>
              <a:t>框架的</a:t>
            </a:r>
            <a:r>
              <a:rPr lang="en-US" altLang="zh-CN">
                <a:sym typeface="+mn-ea"/>
              </a:rPr>
              <a:t>Java</a:t>
            </a:r>
            <a:r>
              <a:rPr lang="zh-CN" altLang="en-US">
                <a:sym typeface="+mn-ea"/>
              </a:rPr>
              <a:t>程序）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运维管理后台（基于</a:t>
            </a:r>
            <a:r>
              <a:rPr lang="en-US" altLang="zh-CN">
                <a:sym typeface="+mn-ea"/>
              </a:rPr>
              <a:t>SpringBoot</a:t>
            </a:r>
            <a:r>
              <a:rPr lang="zh-CN" altLang="en-US">
                <a:sym typeface="+mn-ea"/>
              </a:rPr>
              <a:t>框架的服务）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</a:t>
            </a:r>
            <a:r>
              <a:rPr lang="zh-CN" altLang="en-US">
                <a:sym typeface="+mn-ea"/>
              </a:rPr>
              <a:t>同步组件（</a:t>
            </a:r>
            <a:r>
              <a:rPr lang="en-US" altLang="zh-CN">
                <a:sym typeface="+mn-ea"/>
              </a:rPr>
              <a:t>Kafka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通用组件（</a:t>
            </a:r>
            <a:r>
              <a:rPr lang="en-US" altLang="zh-CN">
                <a:sym typeface="+mn-ea"/>
              </a:rPr>
              <a:t>Disruptor</a:t>
            </a:r>
            <a:r>
              <a:rPr lang="zh-CN" altLang="en-US">
                <a:sym typeface="+mn-ea"/>
              </a:rPr>
              <a:t>、缓存Caffeine）</a:t>
            </a:r>
            <a:endParaRPr lang="zh-CN" altLang="en-US" sz="2000" b="1">
              <a:sym typeface="+mn-ea"/>
            </a:endParaRPr>
          </a:p>
          <a:p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存储层（</a:t>
            </a:r>
            <a:r>
              <a:rPr lang="en-US" altLang="zh-CN" sz="2000" b="1">
                <a:sym typeface="+mn-ea"/>
              </a:rPr>
              <a:t>Storage</a:t>
            </a:r>
            <a:r>
              <a:rPr lang="zh-CN" altLang="en-US" sz="2000" b="1">
                <a:sym typeface="+mn-ea"/>
              </a:rPr>
              <a:t>）：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1.MySQL</a:t>
            </a:r>
            <a:r>
              <a:rPr lang="zh-CN" altLang="en-US">
                <a:sym typeface="+mn-ea"/>
              </a:rPr>
              <a:t>，用于运维管理后台的规则等信息存储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2.Etcd</a:t>
            </a:r>
            <a:r>
              <a:rPr lang="zh-CN" altLang="en-US">
                <a:sym typeface="+mn-ea"/>
              </a:rPr>
              <a:t>，用于服务与实例节点信息的存储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3.ElasticSearch</a:t>
            </a:r>
            <a:r>
              <a:rPr lang="zh-CN" altLang="en-US">
                <a:sym typeface="+mn-ea"/>
              </a:rPr>
              <a:t>，用于监控指标与日志的存储</a:t>
            </a:r>
            <a:endParaRPr lang="zh-CN" altLang="en-US">
              <a:sym typeface="+mn-ea"/>
            </a:endParaRPr>
          </a:p>
          <a:p>
            <a:endParaRPr lang="en-US" altLang="zh-CN" sz="2000" b="1"/>
          </a:p>
          <a:p>
            <a:endParaRPr lang="en-US" altLang="zh-CN" sz="20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" y="1840230"/>
            <a:ext cx="6162675" cy="4581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46020" y="6318250"/>
            <a:ext cx="177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架构设计图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系统设计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170" y="1072515"/>
            <a:ext cx="31261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总体设计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模块层次划分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" y="1733550"/>
            <a:ext cx="6010275" cy="45300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24270" y="1790700"/>
            <a:ext cx="5797550" cy="4792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ym typeface="+mn-ea"/>
              </a:rPr>
              <a:t>业务服务接入模块：</a:t>
            </a:r>
            <a:endParaRPr lang="zh-CN" altLang="en-US" sz="2000" b="1">
              <a:sym typeface="+mn-ea"/>
            </a:endParaRPr>
          </a:p>
          <a:p>
            <a:r>
              <a:rPr lang="en-US" altLang="zh-CN">
                <a:sym typeface="+mn-ea"/>
              </a:rPr>
              <a:t>- </a:t>
            </a:r>
            <a:r>
              <a:rPr lang="zh-CN" altLang="en-US" u="sng">
                <a:sym typeface="+mn-ea"/>
              </a:rPr>
              <a:t>负责通过注解进行多种类型服务的接入本系统管理。</a:t>
            </a:r>
            <a:endParaRPr lang="zh-CN" altLang="en-US" sz="2000" u="sng">
              <a:sym typeface="+mn-ea"/>
            </a:endParaRPr>
          </a:p>
          <a:p>
            <a:r>
              <a:rPr lang="zh-CN" altLang="en-US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通信协议转换模块</a:t>
            </a:r>
            <a:r>
              <a:rPr lang="en-US" altLang="zh-CN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:</a:t>
            </a:r>
            <a:endParaRPr lang="zh-CN" altLang="en-US" sz="2000" b="1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  <a:sym typeface="+mn-ea"/>
            </a:endParaRPr>
          </a:p>
          <a:p>
            <a:r>
              <a:rPr lang="en-US" altLang="zh-CN">
                <a:sym typeface="+mn-ea"/>
              </a:rPr>
              <a:t>- </a:t>
            </a:r>
            <a:r>
              <a:rPr lang="zh-CN" altLang="en-US" u="sng">
                <a:sym typeface="+mn-ea"/>
              </a:rPr>
              <a:t>负责对用户的请求解析并转换为目标服务的协议以及泛化调用响应。</a:t>
            </a:r>
            <a:endParaRPr lang="zh-CN" altLang="en-US"/>
          </a:p>
          <a:p>
            <a:r>
              <a:rPr lang="zh-CN" altLang="en-US" sz="2000" b="1">
                <a:sym typeface="+mn-ea"/>
              </a:rPr>
              <a:t>动态插件管理模块</a:t>
            </a:r>
            <a:r>
              <a:rPr lang="en-US" altLang="zh-CN" sz="2000" b="1">
                <a:sym typeface="+mn-ea"/>
              </a:rPr>
              <a:t>:</a:t>
            </a:r>
            <a:endParaRPr lang="zh-CN" altLang="en-US" sz="2000" b="1">
              <a:sym typeface="+mn-ea"/>
            </a:endParaRPr>
          </a:p>
          <a:p>
            <a:r>
              <a:rPr lang="en-US" altLang="zh-CN">
                <a:sym typeface="+mn-ea"/>
              </a:rPr>
              <a:t>- </a:t>
            </a:r>
            <a:r>
              <a:rPr lang="zh-CN" altLang="en-US" u="sng">
                <a:sym typeface="+mn-ea"/>
              </a:rPr>
              <a:t>负责插件的定义、加载、同步与编排管理。</a:t>
            </a:r>
            <a:endParaRPr lang="zh-CN" altLang="en-US" u="sng"/>
          </a:p>
          <a:p>
            <a:r>
              <a:rPr lang="zh-CN" altLang="en-US" sz="2000" b="1">
                <a:sym typeface="+mn-ea"/>
              </a:rPr>
              <a:t>运维管理模块</a:t>
            </a:r>
            <a:r>
              <a:rPr lang="en-US" altLang="zh-CN" sz="2000" b="1">
                <a:sym typeface="+mn-ea"/>
              </a:rPr>
              <a:t>:</a:t>
            </a:r>
            <a:endParaRPr lang="zh-CN" altLang="en-US" sz="2000" b="1">
              <a:sym typeface="+mn-ea"/>
            </a:endParaRPr>
          </a:p>
          <a:p>
            <a:r>
              <a:rPr lang="en-US" altLang="zh-CN">
                <a:sym typeface="+mn-ea"/>
              </a:rPr>
              <a:t>- </a:t>
            </a:r>
            <a:r>
              <a:rPr lang="zh-CN" altLang="en-US" u="sng">
                <a:sym typeface="+mn-ea"/>
              </a:rPr>
              <a:t>负责对服务、插件、规则等信息进行增删改查操作。</a:t>
            </a:r>
            <a:endParaRPr lang="zh-CN" altLang="en-US"/>
          </a:p>
          <a:p>
            <a:r>
              <a:rPr lang="zh-CN" altLang="en-US" sz="2000" b="1">
                <a:sym typeface="+mn-ea"/>
              </a:rPr>
              <a:t>监控告警模块</a:t>
            </a:r>
            <a:r>
              <a:rPr lang="en-US" altLang="zh-CN" sz="2000" b="1">
                <a:sym typeface="+mn-ea"/>
              </a:rPr>
              <a:t>:</a:t>
            </a:r>
            <a:endParaRPr lang="zh-CN" altLang="en-US" sz="2000" b="1">
              <a:sym typeface="+mn-ea"/>
            </a:endParaRPr>
          </a:p>
          <a:p>
            <a:r>
              <a:rPr lang="en-US" altLang="zh-CN">
                <a:sym typeface="+mn-ea"/>
              </a:rPr>
              <a:t>- </a:t>
            </a:r>
            <a:r>
              <a:rPr lang="zh-CN" altLang="en-US" u="sng">
                <a:sym typeface="+mn-ea"/>
              </a:rPr>
              <a:t>负责对系统的监控指标采集、查看分析以及告警通知。</a:t>
            </a:r>
            <a:endParaRPr lang="zh-CN" altLang="en-US">
              <a:sym typeface="+mn-ea"/>
            </a:endParaRPr>
          </a:p>
          <a:p>
            <a:r>
              <a:rPr lang="zh-CN" altLang="en-US" sz="2000" b="1">
                <a:sym typeface="+mn-ea"/>
              </a:rPr>
              <a:t>信息配置管理模块：</a:t>
            </a:r>
            <a:endParaRPr lang="zh-CN" altLang="en-US" sz="2000" b="1">
              <a:sym typeface="+mn-ea"/>
            </a:endParaRPr>
          </a:p>
          <a:p>
            <a:r>
              <a:rPr lang="en-US" altLang="zh-CN">
                <a:sym typeface="+mn-ea"/>
              </a:rPr>
              <a:t>- </a:t>
            </a:r>
            <a:r>
              <a:rPr lang="zh-CN" altLang="en-US" u="sng">
                <a:sym typeface="+mn-ea"/>
              </a:rPr>
              <a:t>负责服务实例、配置信息的持久化与监听订阅管理。</a:t>
            </a:r>
            <a:endParaRPr lang="zh-CN" altLang="en-US" u="sng">
              <a:sym typeface="+mn-ea"/>
            </a:endParaRPr>
          </a:p>
          <a:p>
            <a:r>
              <a:rPr lang="zh-CN" altLang="en-US" b="1">
                <a:sym typeface="+mn-ea"/>
              </a:rPr>
              <a:t>服务通用模块：</a:t>
            </a:r>
            <a:endParaRPr lang="zh-CN" altLang="en-US" b="1">
              <a:sym typeface="+mn-ea"/>
            </a:endParaRPr>
          </a:p>
          <a:p>
            <a:r>
              <a:rPr lang="en-US" altLang="zh-CN">
                <a:sym typeface="+mn-ea"/>
              </a:rPr>
              <a:t>- </a:t>
            </a:r>
            <a:r>
              <a:rPr lang="zh-CN" altLang="en-US" u="sng">
                <a:sym typeface="+mn-ea"/>
              </a:rPr>
              <a:t>负责通用数据缓存以及信息同步管理。</a:t>
            </a:r>
            <a:endParaRPr lang="en-US" altLang="zh-CN" u="sng"/>
          </a:p>
          <a:p>
            <a:endParaRPr lang="en-US" altLang="zh-CN" sz="2000" b="1"/>
          </a:p>
          <a:p>
            <a:endParaRPr lang="en-US" altLang="zh-CN" sz="2000" b="1"/>
          </a:p>
        </p:txBody>
      </p:sp>
      <p:sp>
        <p:nvSpPr>
          <p:cNvPr id="5" name="文本框 4"/>
          <p:cNvSpPr txBox="1"/>
          <p:nvPr/>
        </p:nvSpPr>
        <p:spPr>
          <a:xfrm>
            <a:off x="2313940" y="6263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模块层次划分图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系统设计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170" y="1072515"/>
            <a:ext cx="31261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总体设计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数据库设计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" y="1672590"/>
            <a:ext cx="5173345" cy="47675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410" y="1672590"/>
            <a:ext cx="5429250" cy="17049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985" y="3481705"/>
            <a:ext cx="5429250" cy="13811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145" y="4966335"/>
            <a:ext cx="5372100" cy="1543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68830" y="6440170"/>
            <a:ext cx="149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E-R</a:t>
            </a:r>
            <a:r>
              <a:rPr lang="zh-CN" altLang="en-US"/>
              <a:t>关系图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 four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868356" y="3539625"/>
            <a:ext cx="2385601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Implementation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系统实现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04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系统实现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94945" y="1130935"/>
            <a:ext cx="3171190" cy="303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latin typeface="+mn-ea"/>
                <a:ea typeface="+mn-ea"/>
              </a:rPr>
              <a:t>服务调用</a:t>
            </a:r>
            <a:endParaRPr lang="zh-CN" altLang="en-US" sz="2000" b="1" dirty="0"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" y="1647190"/>
            <a:ext cx="7012305" cy="47180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r="67667"/>
          <a:stretch>
            <a:fillRect/>
          </a:stretch>
        </p:blipFill>
        <p:spPr>
          <a:xfrm>
            <a:off x="7521575" y="1663700"/>
            <a:ext cx="4419600" cy="471868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2044700" y="6454140"/>
            <a:ext cx="3695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</a:t>
            </a:r>
            <a:r>
              <a:rPr lang="en-US" altLang="zh-CN"/>
              <a:t>API</a:t>
            </a:r>
            <a:r>
              <a:rPr lang="zh-CN" altLang="en-US"/>
              <a:t>网关进行</a:t>
            </a:r>
            <a:r>
              <a:rPr lang="en-US" altLang="zh-CN"/>
              <a:t>Dubbo</a:t>
            </a:r>
            <a:r>
              <a:rPr lang="zh-CN" altLang="en-US"/>
              <a:t>服务调用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99375" y="6454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</a:t>
            </a:r>
            <a:r>
              <a:rPr lang="en-US" altLang="zh-CN"/>
              <a:t>API</a:t>
            </a:r>
            <a:r>
              <a:rPr lang="zh-CN" altLang="en-US"/>
              <a:t>网关进行</a:t>
            </a:r>
            <a:r>
              <a:rPr lang="en-US" altLang="zh-CN"/>
              <a:t>SpringMVC</a:t>
            </a:r>
            <a:r>
              <a:rPr lang="zh-CN" altLang="en-US"/>
              <a:t>服务调用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04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系统实现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94945" y="1130935"/>
            <a:ext cx="3171190" cy="303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latin typeface="+mn-ea"/>
                <a:ea typeface="+mn-ea"/>
              </a:rPr>
              <a:t>压测效果</a:t>
            </a:r>
            <a:endParaRPr lang="zh-CN" altLang="en-US" sz="2000" b="1" dirty="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" y="1833245"/>
            <a:ext cx="5915660" cy="20078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25" y="4239895"/>
            <a:ext cx="5808980" cy="19850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1652905"/>
            <a:ext cx="5483225" cy="45815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53235" y="37592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ym typeface="+mn-ea"/>
              </a:rPr>
              <a:t>直接访问业务服务压测表</a:t>
            </a:r>
            <a:endParaRPr lang="zh-CN" altLang="en-US" sz="1600"/>
          </a:p>
        </p:txBody>
      </p:sp>
      <p:sp>
        <p:nvSpPr>
          <p:cNvPr id="14" name="文本框 13"/>
          <p:cNvSpPr txBox="1"/>
          <p:nvPr/>
        </p:nvSpPr>
        <p:spPr>
          <a:xfrm>
            <a:off x="1617980" y="616394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ym typeface="+mn-ea"/>
              </a:rPr>
              <a:t>通过网关访问业务服务压测表</a:t>
            </a:r>
            <a:endParaRPr lang="zh-CN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04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系统实现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94945" y="1130935"/>
            <a:ext cx="3171190" cy="303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latin typeface="+mn-ea"/>
                <a:ea typeface="+mn-ea"/>
              </a:rPr>
              <a:t>运维管理</a:t>
            </a:r>
            <a:endParaRPr lang="zh-CN" altLang="en-US" sz="2000" b="1" dirty="0">
              <a:latin typeface="+mn-ea"/>
              <a:ea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r="8622"/>
          <a:stretch>
            <a:fillRect/>
          </a:stretch>
        </p:blipFill>
        <p:spPr>
          <a:xfrm>
            <a:off x="260985" y="1547495"/>
            <a:ext cx="6673215" cy="206248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r="23988" b="2470"/>
          <a:stretch>
            <a:fillRect/>
          </a:stretch>
        </p:blipFill>
        <p:spPr>
          <a:xfrm>
            <a:off x="260985" y="3990340"/>
            <a:ext cx="6673850" cy="236791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548130"/>
            <a:ext cx="4906010" cy="48094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3" name="文本框 12"/>
          <p:cNvSpPr txBox="1"/>
          <p:nvPr/>
        </p:nvSpPr>
        <p:spPr>
          <a:xfrm>
            <a:off x="2476500" y="6489700"/>
            <a:ext cx="228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插件列表效果图</a:t>
            </a:r>
            <a:endParaRPr lang="zh-CN"/>
          </a:p>
        </p:txBody>
      </p:sp>
      <p:sp>
        <p:nvSpPr>
          <p:cNvPr id="14" name="文本框 13"/>
          <p:cNvSpPr txBox="1"/>
          <p:nvPr/>
        </p:nvSpPr>
        <p:spPr>
          <a:xfrm>
            <a:off x="2501900" y="3606800"/>
            <a:ext cx="228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服务列表效果图</a:t>
            </a:r>
            <a:endParaRPr lang="zh-CN"/>
          </a:p>
        </p:txBody>
      </p:sp>
      <p:sp>
        <p:nvSpPr>
          <p:cNvPr id="15" name="文本框 14"/>
          <p:cNvSpPr txBox="1"/>
          <p:nvPr/>
        </p:nvSpPr>
        <p:spPr>
          <a:xfrm>
            <a:off x="8585200" y="6489700"/>
            <a:ext cx="228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规则配置效果图</a:t>
            </a:r>
            <a:endParaRPr 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04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系统实现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94945" y="1130935"/>
            <a:ext cx="3171190" cy="303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latin typeface="+mn-ea"/>
                <a:ea typeface="+mn-ea"/>
              </a:rPr>
              <a:t>监控管理</a:t>
            </a:r>
            <a:endParaRPr lang="zh-CN" altLang="en-US" sz="2000" b="1" dirty="0"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" y="1513840"/>
            <a:ext cx="6386830" cy="48006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3" name="文本框 12"/>
          <p:cNvSpPr txBox="1"/>
          <p:nvPr/>
        </p:nvSpPr>
        <p:spPr>
          <a:xfrm>
            <a:off x="1359535" y="6393815"/>
            <a:ext cx="461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通过</a:t>
            </a:r>
            <a:r>
              <a:rPr lang="en-US" altLang="zh-CN"/>
              <a:t>Prometheus</a:t>
            </a:r>
            <a:r>
              <a:rPr lang="zh-CN" altLang="en-US"/>
              <a:t>查看指标数据效果图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185" y="1514475"/>
            <a:ext cx="5114290" cy="48799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26705" y="6394450"/>
            <a:ext cx="3563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通过</a:t>
            </a:r>
            <a:r>
              <a:rPr lang="en-US" altLang="zh-CN"/>
              <a:t>Prometheus</a:t>
            </a:r>
            <a:r>
              <a:rPr lang="zh-CN" altLang="en-US"/>
              <a:t>实现告警通知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3209476"/>
            <a:ext cx="12192000" cy="1520449"/>
          </a:xfrm>
          <a:prstGeom prst="rect">
            <a:avLst/>
          </a:prstGeom>
          <a:solidFill>
            <a:srgbClr val="6B0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41206" y="3429000"/>
            <a:ext cx="9892683" cy="815063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敬请各位老师批评指正</a:t>
            </a:r>
            <a:endParaRPr lang="zh-CN" altLang="en-US" sz="4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5644775"/>
            <a:ext cx="9144000" cy="447649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6B0060"/>
                </a:solidFill>
              </a:rPr>
              <a:t>答辩人：李云飞</a:t>
            </a:r>
            <a:r>
              <a:rPr lang="en-US" altLang="zh-CN" dirty="0"/>
              <a:t>       </a:t>
            </a:r>
            <a:r>
              <a:rPr lang="zh-CN" altLang="en-US" b="1" dirty="0">
                <a:solidFill>
                  <a:srgbClr val="6B0060"/>
                </a:solidFill>
              </a:rPr>
              <a:t>导师：</a:t>
            </a:r>
            <a:r>
              <a:rPr lang="zh-CN" altLang="en-US" dirty="0"/>
              <a:t>葛季栋</a:t>
            </a:r>
            <a:r>
              <a:rPr lang="en-US" altLang="zh-CN" dirty="0"/>
              <a:t>          </a:t>
            </a:r>
            <a:r>
              <a:rPr lang="zh-CN" altLang="en-US" b="1" dirty="0">
                <a:solidFill>
                  <a:srgbClr val="6B0060"/>
                </a:solidFill>
              </a:rPr>
              <a:t>时间：</a:t>
            </a:r>
            <a:r>
              <a:rPr lang="en-US" altLang="zh-CN" dirty="0"/>
              <a:t>2024.05.16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 flipV="1">
            <a:off x="318083" y="4417868"/>
            <a:ext cx="1155583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66" y="93720"/>
            <a:ext cx="4038600" cy="714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2" y="657408"/>
            <a:ext cx="2335634" cy="210417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187547" y="2114514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6B0060"/>
                </a:solidFill>
              </a:rPr>
              <a:t>硕士毕业论文答辩</a:t>
            </a:r>
            <a:endParaRPr lang="zh-CN" altLang="en-US" sz="3200" b="1" dirty="0">
              <a:solidFill>
                <a:srgbClr val="6B006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7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8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11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12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3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14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15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6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17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18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9.xml><?xml version="1.0" encoding="utf-8"?>
<p:tagLst xmlns:p="http://schemas.openxmlformats.org/presentationml/2006/main">
  <p:tag name="commondata" val="eyJoZGlkIjoiNTljNmJhMDIyMDk3OThiMWI2MDUyZjdjNjMzN2I5NT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1891</Words>
  <Application>WPS 演示</Application>
  <PresentationFormat>宽屏</PresentationFormat>
  <Paragraphs>267</Paragraphs>
  <Slides>18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黑体</vt:lpstr>
      <vt:lpstr>等线</vt:lpstr>
      <vt:lpstr>Times New Roman</vt:lpstr>
      <vt:lpstr>Calibri</vt:lpstr>
      <vt:lpstr>微软雅黑</vt:lpstr>
      <vt:lpstr>Segoe UI</vt:lpstr>
      <vt:lpstr>Microsoft YaHei UI</vt:lpstr>
      <vt:lpstr>Arial Unicode MS</vt:lpstr>
      <vt:lpstr>等线 Light</vt:lpstr>
      <vt:lpstr>Office 主题​​</vt:lpstr>
      <vt:lpstr>支持多协议的API网关及监控系统的设计与实现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敬请各位老师批评指正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法院律师服务系统的设计与实现</dc:title>
  <dc:creator>香香 张</dc:creator>
  <cp:lastModifiedBy>李亦希conp</cp:lastModifiedBy>
  <cp:revision>130</cp:revision>
  <dcterms:created xsi:type="dcterms:W3CDTF">2024-03-27T09:04:00Z</dcterms:created>
  <dcterms:modified xsi:type="dcterms:W3CDTF">2024-05-15T10:54:26Z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56CE841ABE164B6CBE45FB2C42E4AD9C_12</vt:lpwstr>
  </property>
  <property fmtid="{D5CDD505-2E9C-101B-9397-08002B2CF9AE}" pid="3" name="KSOProductBuildVer">
    <vt:lpwstr>2052-12.1.0.16729</vt:lpwstr>
  </property>
</Properties>
</file>